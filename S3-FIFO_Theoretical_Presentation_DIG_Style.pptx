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5"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our group will introduce a research paper called FIFO Queues Are All You Need for Cache Eviction. It was published at SOSP in 2023. The paper introduces a new cache eviction algorithm called S3-FIFO.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what is a cache? A cache is a small and fast storage space that keeps data we may need again. For example, when a computer reads the same data many times, getting it from the cache is faster than getting it from slower storage.</a:t>
            </a:r>
          </a:p>
          <a:p/>
          <a:p>
            <a:r>
              <a:t>However, cache space is limited. When the cache is full, the system must decide which data to remove. This process is called cache eviction.</a:t>
            </a:r>
          </a:p>
          <a:p/>
          <a:p>
            <a:r>
              <a:t>In other words, the system needs a smart way to decide what should stay and what should go.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common methods: FIFO and LRU.</a:t>
            </a:r>
          </a:p>
          <a:p/>
          <a:p>
            <a:r>
              <a:t>FIFO means First In, First Out. It removes the data that entered the cache first. FIFO is simple and fast, but it may remove useful data.</a:t>
            </a:r>
          </a:p>
          <a:p/>
          <a:p>
            <a:r>
              <a:t>LRU means Least Recently Used. It removes data that has not been used for the longest time. LRU can be more effective, but it needs to update the order of objects whenever they are accessed. This can slow down the system when many threads work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researchers noticed another problem. Many objects are used only once before they leave the cache. The paper calls these objects one-hit wonders.</a:t>
            </a:r>
          </a:p>
          <a:p/>
          <a:p>
            <a:r>
              <a:t>The researchers found that these objects are especially common in short access sequences. This means some data take up cache space without being used again.（讲diagram：Like this diagram, if the sequence length is long, the ratio of one hit wonders is quite low. But,as the sequence length decrease,the ratio of one hit wonders become much higher.）</a:t>
            </a:r>
          </a:p>
          <a:p/>
          <a:p>
            <a:r>
              <a:t>So, the main idea is to remove less useful objects quickly and keep frequently used objects for longer. The researchers call this quick demotion.</a:t>
            </a:r>
          </a:p>
          <a:p/>
          <a:p>
            <a:r>
              <a:t>This leads to an important question: Can we combine the simplicity of FIFO with better cache efficiency?</a:t>
            </a:r>
          </a:p>
          <a:p/>
          <a:p>
            <a:r>
              <a:t>To answer this question, the researchers designed S3-FIFO.</a:t>
            </a:r>
          </a:p>
          <a:p/>
          <a:p>
            <a:r>
              <a:t>Now, my teammate will explain how this algorithm works.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Now, I will explain how S3-FIFO works.</a:t>
            </a:r>
          </a:p>
          <a:p/>
          <a:p>
            <a:r>
              <a:t>The main idea of S3-FIFO is simple. Instead of using one cache queue, it uses three FIFO queues. These are the Small Queue, the Main Queue, and the Ghost Queue.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Small Queue, or S, uses about 10 percent of the cache space. New objects usually enter this queue first. We can think of it as a testing area. If an object is not used again, it can leave the cache quickly.</a:t>
            </a:r>
          </a:p>
          <a:p/>
          <a:p>
            <a:r>
              <a:t>Second, the Main Queue, or M, uses the remaining 90 percent of the cache space. This queue mainly keeps objects that have shown they are useful.</a:t>
            </a:r>
          </a:p>
          <a:p/>
          <a:p>
            <a:r>
              <a:t>Third, the Ghost Queue, or G, is a little different. It does not store the actual data. It only remembers the IDs of recently removed objects. This helps the system recognize objects that may be useful again.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see what happens when the system receives a request.</a:t>
            </a:r>
          </a:p>
          <a:p/>
          <a:p>
            <a:r>
              <a:t>If the requested object is already in the Small Queue or the Main Queue, this is called a cache hit. S3-FIFO increases a small access counter for that object. The maximum value of this counter is three.</a:t>
            </a:r>
          </a:p>
          <a:p/>
          <a:p>
            <a:r>
              <a:t>Unlike LRU, S3-FIFO does not need to move an object to the front of the queue after every cache hit.</a:t>
            </a:r>
          </a:p>
          <a:p/>
          <a:p>
            <a:r>
              <a:t>If the object is not in the cache, this is called a cache miss. If the object is not recorded in the Ghost Queue, it enters the Small Queue. But if the Ghost Queue remembers it, the object enters the Main Queue directly.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what happens when the cache becomes full?</a:t>
            </a:r>
          </a:p>
          <a:p/>
          <a:p>
            <a:r>
              <a:t>S3-FIFO first checks the Small Queue. If an object has been accessed enough times, it can move to the Main Queue. Otherwise, it leaves the cache, and its ID is recorded in the Ghost Queue.</a:t>
            </a:r>
          </a:p>
          <a:p/>
          <a:p>
            <a:r>
              <a:t>The Main Queue works differently. When an object reaches the end of this queue, the system checks its access counter. If the counter is greater than zero, the object gets another chance and returns to the front of the queue. Its counter decreases by one. If the counter is zero, the object is removed.</a:t>
            </a:r>
          </a:p>
          <a:p/>
          <a:p>
            <a:r>
              <a:t>In this way, the three queues work together. The Small Queue filters new objects, the Main Queue protects useful objects, and the Ghost Queue remembers recently removed objects.</a:t>
            </a:r>
          </a:p>
          <a:p/>
          <a:p>
            <a:r>
              <a:t>The key advantage is that S3-FIFO can remove less useful data quickly without updating the queue order after every cache hit.</a:t>
            </a:r>
          </a:p>
          <a:p/>
          <a:p>
            <a:r>
              <a:t>Now, let's look at the experimental results and see how well this design works.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Next, I’ll go over the test results and key findings of this paper.</a:t>
            </a:r>
          </a:p>
          <a:p/>
          <a:p>
            <a:r>
              <a:t>The research team tested S3-FIFO using 6,594 real cache records from 14 data</a:t>
            </a:r>
          </a:p>
          <a:p/>
          <a:p>
            <a:r>
              <a:t>groups. These covered different types of data, such as storage blocks, key-value data,</a:t>
            </a:r>
          </a:p>
          <a:p/>
          <a:p>
            <a:r>
              <a:t>and web content.</a:t>
            </a:r>
          </a:p>
          <a:p/>
          <a:p>
            <a:r>
              <a:t>They compared S3-FIFO with FIFO, LRU, and several other cache replacement</a:t>
            </a:r>
          </a:p>
          <a:p/>
          <a:p>
            <a:r>
              <a:t>methods.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let’s look at the miss ratio.</a:t>
            </a:r>
          </a:p>
          <a:p/>
          <a:p>
            <a:r>
              <a:t>A cache miss means the requested data is not stored in the cache. A lower miss ratio</a:t>
            </a:r>
          </a:p>
          <a:p/>
          <a:p>
            <a:r>
              <a:t>is better, because more requests can be answered directly from the cache.</a:t>
            </a:r>
          </a:p>
          <a:p/>
          <a:p>
            <a:r>
              <a:t>Figure 6 in the paper compares the miss ratio performance of different methods. The</a:t>
            </a:r>
          </a:p>
          <a:p/>
          <a:p>
            <a:r>
              <a:t>results show that S3-FIFO works well across many workloads. With a fairly large</a:t>
            </a:r>
          </a:p>
          <a:p/>
          <a:p>
            <a:r>
              <a:t>cache, S3-FIFO had the lowest average miss ratio in 10 out of 14 data groups.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key point is throughput. Throughput is how many requests a system can</a:t>
            </a:r>
          </a:p>
          <a:p/>
          <a:p>
            <a:r>
              <a:t>handle in one second.</a:t>
            </a:r>
          </a:p>
          <a:p/>
          <a:p>
            <a:r>
              <a:t>Figure 8 shows how each method performs as the number of threads grows.</a:t>
            </a:r>
          </a:p>
          <a:p/>
          <a:p>
            <a:r>
              <a:t>In the team’s tests, S3-FIFO reached over six times the throughput of a tuned LRU</a:t>
            </a:r>
          </a:p>
          <a:p/>
          <a:p>
            <a:r>
              <a:t>version with 16 threads. This means S3-FIFO works better when lots of requests are</a:t>
            </a:r>
          </a:p>
          <a:p/>
          <a:p>
            <a:r>
              <a:t>processed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S3-FIFO also has downsides. Sometimes a data entry is removed from the</a:t>
            </a:r>
          </a:p>
          <a:p/>
          <a:p>
            <a:r>
              <a:t>Small Queue before its second request comes in. This can cause an extra cache miss.</a:t>
            </a:r>
          </a:p>
          <a:p/>
          <a:p>
            <a:r>
              <a:t>So its performance still depends on how users access the 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 up, this paper shows that a simple cache algorithm can still deliver strong</a:t>
            </a:r>
          </a:p>
          <a:p/>
          <a:p>
            <a:r>
              <a:t>performance.</a:t>
            </a:r>
          </a:p>
          <a:p/>
          <a:p>
            <a:r>
              <a:t>By using three FIFO queues, S3-FIFO quickly removes less useful data while keeping</a:t>
            </a:r>
          </a:p>
          <a:p/>
          <a:p>
            <a:r>
              <a:t>useful data for longer. Its main advantages are lower miss ratios and better</a:t>
            </a:r>
          </a:p>
          <a:p/>
          <a:p>
            <a:r>
              <a:t>scalability.</a:t>
            </a:r>
          </a:p>
          <a:p/>
          <a:p>
            <a:r>
              <a:t>Thank you for listening.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oi.org/10.1145/3600006.3613147" TargetMode="External"/><Relationship Id="rId3" Type="http://schemas.openxmlformats.org/officeDocument/2006/relationships/hyperlink" Target="https://github.com/TheSys-lab/sosp23-s3fifo" TargetMode="External"/><Relationship Id="rId4"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640080" y="640080"/>
            <a:ext cx="5303520" cy="365760"/>
          </a:xfrm>
          <a:prstGeom prst="rect">
            <a:avLst/>
          </a:prstGeom>
          <a:noFill/>
        </p:spPr>
        <p:txBody>
          <a:bodyPr wrap="square" lIns="0" rIns="0" tIns="0" bIns="0">
            <a:spAutoFit/>
          </a:bodyPr>
          <a:lstStyle/>
          <a:p>
            <a:pPr algn="l">
              <a:lnSpc>
                <a:spcPct val="112000"/>
              </a:lnSpc>
              <a:spcBef>
                <a:spcPts val="0"/>
              </a:spcBef>
              <a:spcAft>
                <a:spcPts val="500"/>
              </a:spcAft>
            </a:pPr>
            <a:r>
              <a:rPr sz="1400" b="1">
                <a:solidFill>
                  <a:srgbClr val="F5B841"/>
                </a:solidFill>
                <a:latin typeface="Aptos"/>
              </a:rPr>
              <a:t>OPERATING SYSTEMS · PAPER PRESENTATION</a:t>
            </a:r>
          </a:p>
        </p:txBody>
      </p:sp>
      <p:sp>
        <p:nvSpPr>
          <p:cNvPr id="3" name="TextBox 2"/>
          <p:cNvSpPr txBox="1"/>
          <p:nvPr/>
        </p:nvSpPr>
        <p:spPr>
          <a:xfrm>
            <a:off x="640080" y="1417320"/>
            <a:ext cx="5285232" cy="1554480"/>
          </a:xfrm>
          <a:prstGeom prst="rect">
            <a:avLst/>
          </a:prstGeom>
          <a:noFill/>
        </p:spPr>
        <p:txBody>
          <a:bodyPr wrap="square" lIns="0" rIns="0" tIns="0" bIns="0">
            <a:spAutoFit/>
          </a:bodyPr>
          <a:lstStyle/>
          <a:p>
            <a:pPr algn="l">
              <a:lnSpc>
                <a:spcPct val="112000"/>
              </a:lnSpc>
              <a:spcBef>
                <a:spcPts val="0"/>
              </a:spcBef>
              <a:spcAft>
                <a:spcPts val="500"/>
              </a:spcAft>
            </a:pPr>
            <a:r>
              <a:rPr sz="4200" b="1">
                <a:solidFill>
                  <a:srgbClr val="FFFFFF"/>
                </a:solidFill>
                <a:latin typeface="Aptos Display"/>
              </a:rPr>
              <a:t>S3-FIFO:</a:t>
            </a:r>
          </a:p>
          <a:p>
            <a:pPr algn="l">
              <a:lnSpc>
                <a:spcPct val="112000"/>
              </a:lnSpc>
              <a:spcBef>
                <a:spcPts val="0"/>
              </a:spcBef>
              <a:spcAft>
                <a:spcPts val="500"/>
              </a:spcAft>
            </a:pPr>
            <a:r>
              <a:rPr sz="4200" b="1">
                <a:solidFill>
                  <a:srgbClr val="FFFFFF"/>
                </a:solidFill>
                <a:latin typeface="Aptos Display"/>
              </a:rPr>
              <a:t>Cache Eviction</a:t>
            </a:r>
          </a:p>
        </p:txBody>
      </p:sp>
      <p:sp>
        <p:nvSpPr>
          <p:cNvPr id="4" name="TextBox 3"/>
          <p:cNvSpPr txBox="1"/>
          <p:nvPr/>
        </p:nvSpPr>
        <p:spPr>
          <a:xfrm>
            <a:off x="676656" y="3227832"/>
            <a:ext cx="5212080" cy="960120"/>
          </a:xfrm>
          <a:prstGeom prst="rect">
            <a:avLst/>
          </a:prstGeom>
          <a:noFill/>
        </p:spPr>
        <p:txBody>
          <a:bodyPr wrap="square" lIns="0" rIns="0" tIns="0" bIns="0">
            <a:spAutoFit/>
          </a:bodyPr>
          <a:lstStyle/>
          <a:p>
            <a:pPr algn="l">
              <a:lnSpc>
                <a:spcPct val="112000"/>
              </a:lnSpc>
              <a:spcBef>
                <a:spcPts val="0"/>
              </a:spcBef>
              <a:spcAft>
                <a:spcPts val="500"/>
              </a:spcAft>
            </a:pPr>
            <a:r>
              <a:rPr sz="2200" b="0">
                <a:solidFill>
                  <a:srgbClr val="BED6F0"/>
                </a:solidFill>
                <a:latin typeface="Aptos"/>
              </a:rPr>
              <a:t>FIFO Queues Are All You Need</a:t>
            </a:r>
          </a:p>
          <a:p>
            <a:pPr algn="l">
              <a:lnSpc>
                <a:spcPct val="112000"/>
              </a:lnSpc>
              <a:spcBef>
                <a:spcPts val="0"/>
              </a:spcBef>
              <a:spcAft>
                <a:spcPts val="500"/>
              </a:spcAft>
            </a:pPr>
            <a:r>
              <a:rPr sz="2200" b="0">
                <a:solidFill>
                  <a:srgbClr val="BED6F0"/>
                </a:solidFill>
                <a:latin typeface="Aptos"/>
              </a:rPr>
              <a:t>for Cache Eviction</a:t>
            </a:r>
          </a:p>
        </p:txBody>
      </p:sp>
      <p:sp>
        <p:nvSpPr>
          <p:cNvPr id="5" name="Rounded Rectangle 4"/>
          <p:cNvSpPr/>
          <p:nvPr/>
        </p:nvSpPr>
        <p:spPr>
          <a:xfrm>
            <a:off x="640080" y="4892040"/>
            <a:ext cx="5394960" cy="1051560"/>
          </a:xfrm>
          <a:prstGeom prst="roundRect">
            <a:avLst>
              <a:gd name="adj" fmla="val 12000"/>
            </a:avLst>
          </a:prstGeom>
          <a:solidFill>
            <a:srgbClr val="1F3B63"/>
          </a:solidFill>
          <a:ln>
            <a:noFill/>
          </a:ln>
        </p:spPr>
        <p:txBody>
          <a:bodyPr rtlCol="0" anchor="ctr"/>
          <a:lstStyle/>
          <a:p>
            <a:pPr algn="ctr"/>
          </a:p>
        </p:txBody>
      </p:sp>
      <p:sp>
        <p:nvSpPr>
          <p:cNvPr id="6" name="TextBox 5"/>
          <p:cNvSpPr txBox="1"/>
          <p:nvPr/>
        </p:nvSpPr>
        <p:spPr>
          <a:xfrm>
            <a:off x="914400" y="5093208"/>
            <a:ext cx="4800600" cy="347472"/>
          </a:xfrm>
          <a:prstGeom prst="rect">
            <a:avLst/>
          </a:prstGeom>
          <a:noFill/>
        </p:spPr>
        <p:txBody>
          <a:bodyPr wrap="square" lIns="0" rIns="0" tIns="0" bIns="0">
            <a:spAutoFit/>
          </a:bodyPr>
          <a:lstStyle/>
          <a:p>
            <a:pPr algn="l">
              <a:lnSpc>
                <a:spcPct val="112000"/>
              </a:lnSpc>
              <a:spcBef>
                <a:spcPts val="0"/>
              </a:spcBef>
              <a:spcAft>
                <a:spcPts val="500"/>
              </a:spcAft>
            </a:pPr>
            <a:r>
              <a:rPr sz="2100" b="1">
                <a:solidFill>
                  <a:srgbClr val="FFFFFF"/>
                </a:solidFill>
                <a:latin typeface="Aptos"/>
              </a:rPr>
              <a:t>Three members · 10 minutes</a:t>
            </a:r>
          </a:p>
        </p:txBody>
      </p:sp>
      <p:sp>
        <p:nvSpPr>
          <p:cNvPr id="7" name="TextBox 6"/>
          <p:cNvSpPr txBox="1"/>
          <p:nvPr/>
        </p:nvSpPr>
        <p:spPr>
          <a:xfrm>
            <a:off x="914400" y="5559552"/>
            <a:ext cx="4800600" cy="228600"/>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CFE8FF"/>
                </a:solidFill>
                <a:latin typeface="Aptos"/>
              </a:rPr>
              <a:t>SOSP 2023 · Juncheng Yang et al.</a:t>
            </a:r>
          </a:p>
        </p:txBody>
      </p:sp>
      <p:sp>
        <p:nvSpPr>
          <p:cNvPr id="8" name="Rounded Rectangle 7"/>
          <p:cNvSpPr/>
          <p:nvPr/>
        </p:nvSpPr>
        <p:spPr>
          <a:xfrm>
            <a:off x="6336792" y="1554480"/>
            <a:ext cx="5212080" cy="3337560"/>
          </a:xfrm>
          <a:prstGeom prst="roundRect">
            <a:avLst>
              <a:gd name="adj" fmla="val 12000"/>
            </a:avLst>
          </a:prstGeom>
          <a:solidFill>
            <a:srgbClr val="FFFFFF"/>
          </a:solidFill>
          <a:ln w="9525">
            <a:solidFill>
              <a:srgbClr val="DCE5EF"/>
            </a:solidFill>
          </a:ln>
        </p:spPr>
        <p:txBody>
          <a:bodyPr rtlCol="0" anchor="ctr"/>
          <a:lstStyle/>
          <a:p>
            <a:pPr algn="ctr"/>
          </a:p>
        </p:txBody>
      </p:sp>
      <p:pic>
        <p:nvPicPr>
          <p:cNvPr id="9" name="Picture 8" descr="image.png"/>
          <p:cNvPicPr>
            <a:picLocks noChangeAspect="1"/>
          </p:cNvPicPr>
          <p:nvPr/>
        </p:nvPicPr>
        <p:blipFill>
          <a:blip r:embed="rId2"/>
          <a:stretch>
            <a:fillRect/>
          </a:stretch>
        </p:blipFill>
        <p:spPr>
          <a:xfrm>
            <a:off x="6492240" y="2004770"/>
            <a:ext cx="4901184" cy="2372971"/>
          </a:xfrm>
          <a:prstGeom prst="rect">
            <a:avLst/>
          </a:prstGeom>
        </p:spPr>
      </p:pic>
      <p:sp>
        <p:nvSpPr>
          <p:cNvPr id="10" name="TextBox 9"/>
          <p:cNvSpPr txBox="1"/>
          <p:nvPr/>
        </p:nvSpPr>
        <p:spPr>
          <a:xfrm>
            <a:off x="6492240" y="5084064"/>
            <a:ext cx="4901184" cy="594360"/>
          </a:xfrm>
          <a:prstGeom prst="rect">
            <a:avLst/>
          </a:prstGeom>
          <a:noFill/>
        </p:spPr>
        <p:txBody>
          <a:bodyPr wrap="square" lIns="0" rIns="0" tIns="0" bIns="0">
            <a:spAutoFit/>
          </a:bodyPr>
          <a:lstStyle/>
          <a:p>
            <a:pPr algn="l">
              <a:lnSpc>
                <a:spcPct val="112000"/>
              </a:lnSpc>
              <a:spcBef>
                <a:spcPts val="0"/>
              </a:spcBef>
              <a:spcAft>
                <a:spcPts val="500"/>
              </a:spcAft>
            </a:pPr>
            <a:r>
              <a:rPr sz="1100" b="0">
                <a:solidFill>
                  <a:srgbClr val="BED6F0"/>
                </a:solidFill>
                <a:latin typeface="Aptos"/>
              </a:rPr>
              <a:t>Original Figure 5 · S3-FIFO architecture</a:t>
            </a:r>
          </a:p>
          <a:p>
            <a:pPr algn="l">
              <a:lnSpc>
                <a:spcPct val="112000"/>
              </a:lnSpc>
              <a:spcBef>
                <a:spcPts val="0"/>
              </a:spcBef>
              <a:spcAft>
                <a:spcPts val="500"/>
              </a:spcAft>
            </a:pPr>
            <a:r>
              <a:rPr sz="1100" b="0">
                <a:solidFill>
                  <a:srgbClr val="BED6F0"/>
                </a:solidFill>
                <a:latin typeface="Aptos"/>
              </a:rPr>
              <a:t>Source: Yang et al., SOSP 2023</a:t>
            </a:r>
          </a:p>
        </p:txBody>
      </p:sp>
      <p:sp>
        <p:nvSpPr>
          <p:cNvPr id="11" name="TextBox 10"/>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B8CBE0"/>
                </a:solidFill>
                <a:latin typeface="Aptos"/>
              </a:rPr>
              <a:t>Yang et al., SOSP 2023 · Operating Systems · Theoretical Presentation</a:t>
            </a:r>
          </a:p>
        </p:txBody>
      </p:sp>
      <p:sp>
        <p:nvSpPr>
          <p:cNvPr id="12" name="TextBox 11"/>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B8CBE0"/>
                </a:solidFill>
                <a:latin typeface="Aptos"/>
              </a:rPr>
              <a:t>Slide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Opening</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Team Structure &amp; Timing</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Three speakers follow the supplied script: background, algorithm, then evaluation.</a:t>
            </a:r>
          </a:p>
        </p:txBody>
      </p:sp>
      <p:sp>
        <p:nvSpPr>
          <p:cNvPr id="7" name="Rounded Rectangle 6"/>
          <p:cNvSpPr/>
          <p:nvPr/>
        </p:nvSpPr>
        <p:spPr>
          <a:xfrm>
            <a:off x="685800" y="1764792"/>
            <a:ext cx="10789920" cy="3520440"/>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32688" y="1993392"/>
            <a:ext cx="1828800" cy="320040"/>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5B6472"/>
                </a:solidFill>
                <a:latin typeface="Aptos"/>
              </a:rPr>
              <a:t>Speaker</a:t>
            </a:r>
          </a:p>
        </p:txBody>
      </p:sp>
      <p:sp>
        <p:nvSpPr>
          <p:cNvPr id="9" name="TextBox 8"/>
          <p:cNvSpPr txBox="1"/>
          <p:nvPr/>
        </p:nvSpPr>
        <p:spPr>
          <a:xfrm>
            <a:off x="2852928" y="1993392"/>
            <a:ext cx="1097280" cy="320040"/>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5B6472"/>
                </a:solidFill>
                <a:latin typeface="Aptos"/>
              </a:rPr>
              <a:t>Time</a:t>
            </a:r>
          </a:p>
        </p:txBody>
      </p:sp>
      <p:sp>
        <p:nvSpPr>
          <p:cNvPr id="10" name="TextBox 9"/>
          <p:cNvSpPr txBox="1"/>
          <p:nvPr/>
        </p:nvSpPr>
        <p:spPr>
          <a:xfrm>
            <a:off x="4224528" y="1993392"/>
            <a:ext cx="6812280" cy="320040"/>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5B6472"/>
                </a:solidFill>
                <a:latin typeface="Aptos"/>
              </a:rPr>
              <a:t>Main responsibility</a:t>
            </a:r>
          </a:p>
        </p:txBody>
      </p:sp>
      <p:sp>
        <p:nvSpPr>
          <p:cNvPr id="11" name="Rectangle 10"/>
          <p:cNvSpPr/>
          <p:nvPr/>
        </p:nvSpPr>
        <p:spPr>
          <a:xfrm>
            <a:off x="877824" y="2542032"/>
            <a:ext cx="10378440" cy="685800"/>
          </a:xfrm>
          <a:prstGeom prst="rect">
            <a:avLst/>
          </a:prstGeom>
          <a:solidFill>
            <a:srgbClr val="F1F6FD"/>
          </a:solidFill>
          <a:ln>
            <a:noFill/>
          </a:ln>
        </p:spPr>
        <p:txBody>
          <a:bodyPr rtlCol="0" anchor="ctr"/>
          <a:lstStyle/>
          <a:p>
            <a:pPr algn="ctr"/>
          </a:p>
        </p:txBody>
      </p:sp>
      <p:sp>
        <p:nvSpPr>
          <p:cNvPr id="12" name="TextBox 11"/>
          <p:cNvSpPr txBox="1"/>
          <p:nvPr/>
        </p:nvSpPr>
        <p:spPr>
          <a:xfrm>
            <a:off x="950976" y="2615184"/>
            <a:ext cx="1783080" cy="365760"/>
          </a:xfrm>
          <a:prstGeom prst="rect">
            <a:avLst/>
          </a:prstGeom>
          <a:noFill/>
        </p:spPr>
        <p:txBody>
          <a:bodyPr wrap="square" lIns="0" rIns="0" tIns="0" bIns="0">
            <a:spAutoFit/>
          </a:bodyPr>
          <a:lstStyle/>
          <a:p>
            <a:pPr algn="l">
              <a:lnSpc>
                <a:spcPct val="112000"/>
              </a:lnSpc>
              <a:spcBef>
                <a:spcPts val="0"/>
              </a:spcBef>
              <a:spcAft>
                <a:spcPts val="500"/>
              </a:spcAft>
            </a:pPr>
            <a:r>
              <a:rPr sz="2100" b="1">
                <a:solidFill>
                  <a:srgbClr val="172033"/>
                </a:solidFill>
                <a:latin typeface="Aptos"/>
              </a:rPr>
              <a:t>Member 1</a:t>
            </a:r>
          </a:p>
        </p:txBody>
      </p:sp>
      <p:sp>
        <p:nvSpPr>
          <p:cNvPr id="13" name="TextBox 12"/>
          <p:cNvSpPr txBox="1"/>
          <p:nvPr/>
        </p:nvSpPr>
        <p:spPr>
          <a:xfrm>
            <a:off x="2852928" y="2615184"/>
            <a:ext cx="1143000" cy="365760"/>
          </a:xfrm>
          <a:prstGeom prst="rect">
            <a:avLst/>
          </a:prstGeom>
          <a:noFill/>
        </p:spPr>
        <p:txBody>
          <a:bodyPr wrap="square" lIns="0" rIns="0" tIns="0" bIns="0">
            <a:spAutoFit/>
          </a:bodyPr>
          <a:lstStyle/>
          <a:p>
            <a:pPr algn="l">
              <a:lnSpc>
                <a:spcPct val="112000"/>
              </a:lnSpc>
              <a:spcBef>
                <a:spcPts val="0"/>
              </a:spcBef>
              <a:spcAft>
                <a:spcPts val="500"/>
              </a:spcAft>
            </a:pPr>
            <a:r>
              <a:rPr sz="2000" b="0">
                <a:solidFill>
                  <a:srgbClr val="2D6DAF"/>
                </a:solidFill>
                <a:latin typeface="Aptos"/>
              </a:rPr>
              <a:t>3 min</a:t>
            </a:r>
          </a:p>
        </p:txBody>
      </p:sp>
      <p:sp>
        <p:nvSpPr>
          <p:cNvPr id="14" name="TextBox 13"/>
          <p:cNvSpPr txBox="1"/>
          <p:nvPr/>
        </p:nvSpPr>
        <p:spPr>
          <a:xfrm>
            <a:off x="4224528" y="2615184"/>
            <a:ext cx="6693408" cy="566928"/>
          </a:xfrm>
          <a:prstGeom prst="rect">
            <a:avLst/>
          </a:prstGeom>
          <a:noFill/>
        </p:spPr>
        <p:txBody>
          <a:bodyPr wrap="square" lIns="0" rIns="0" tIns="0" bIns="0">
            <a:spAutoFit/>
          </a:bodyPr>
          <a:lstStyle/>
          <a:p>
            <a:pPr algn="l">
              <a:lnSpc>
                <a:spcPct val="112000"/>
              </a:lnSpc>
              <a:spcBef>
                <a:spcPts val="0"/>
              </a:spcBef>
              <a:spcAft>
                <a:spcPts val="500"/>
              </a:spcAft>
            </a:pPr>
            <a:r>
              <a:rPr sz="1900" b="0">
                <a:solidFill>
                  <a:srgbClr val="172033"/>
                </a:solidFill>
                <a:latin typeface="Aptos"/>
              </a:rPr>
              <a:t>Background, cache eviction, FIFO / LRU, one-hit wonders.</a:t>
            </a:r>
          </a:p>
        </p:txBody>
      </p:sp>
      <p:sp>
        <p:nvSpPr>
          <p:cNvPr id="15" name="TextBox 14"/>
          <p:cNvSpPr txBox="1"/>
          <p:nvPr/>
        </p:nvSpPr>
        <p:spPr>
          <a:xfrm>
            <a:off x="950976" y="3392424"/>
            <a:ext cx="1783080" cy="365760"/>
          </a:xfrm>
          <a:prstGeom prst="rect">
            <a:avLst/>
          </a:prstGeom>
          <a:noFill/>
        </p:spPr>
        <p:txBody>
          <a:bodyPr wrap="square" lIns="0" rIns="0" tIns="0" bIns="0">
            <a:spAutoFit/>
          </a:bodyPr>
          <a:lstStyle/>
          <a:p>
            <a:pPr algn="l">
              <a:lnSpc>
                <a:spcPct val="112000"/>
              </a:lnSpc>
              <a:spcBef>
                <a:spcPts val="0"/>
              </a:spcBef>
              <a:spcAft>
                <a:spcPts val="500"/>
              </a:spcAft>
            </a:pPr>
            <a:r>
              <a:rPr sz="2100" b="1">
                <a:solidFill>
                  <a:srgbClr val="172033"/>
                </a:solidFill>
                <a:latin typeface="Aptos"/>
              </a:rPr>
              <a:t>Member 2</a:t>
            </a:r>
          </a:p>
        </p:txBody>
      </p:sp>
      <p:sp>
        <p:nvSpPr>
          <p:cNvPr id="16" name="TextBox 15"/>
          <p:cNvSpPr txBox="1"/>
          <p:nvPr/>
        </p:nvSpPr>
        <p:spPr>
          <a:xfrm>
            <a:off x="2852928" y="3392424"/>
            <a:ext cx="1143000" cy="365760"/>
          </a:xfrm>
          <a:prstGeom prst="rect">
            <a:avLst/>
          </a:prstGeom>
          <a:noFill/>
        </p:spPr>
        <p:txBody>
          <a:bodyPr wrap="square" lIns="0" rIns="0" tIns="0" bIns="0">
            <a:spAutoFit/>
          </a:bodyPr>
          <a:lstStyle/>
          <a:p>
            <a:pPr algn="l">
              <a:lnSpc>
                <a:spcPct val="112000"/>
              </a:lnSpc>
              <a:spcBef>
                <a:spcPts val="0"/>
              </a:spcBef>
              <a:spcAft>
                <a:spcPts val="500"/>
              </a:spcAft>
            </a:pPr>
            <a:r>
              <a:rPr sz="2000" b="0">
                <a:solidFill>
                  <a:srgbClr val="2D6DAF"/>
                </a:solidFill>
                <a:latin typeface="Aptos"/>
              </a:rPr>
              <a:t>4 min</a:t>
            </a:r>
          </a:p>
        </p:txBody>
      </p:sp>
      <p:sp>
        <p:nvSpPr>
          <p:cNvPr id="17" name="TextBox 16"/>
          <p:cNvSpPr txBox="1"/>
          <p:nvPr/>
        </p:nvSpPr>
        <p:spPr>
          <a:xfrm>
            <a:off x="4224528" y="3392424"/>
            <a:ext cx="6693408" cy="566928"/>
          </a:xfrm>
          <a:prstGeom prst="rect">
            <a:avLst/>
          </a:prstGeom>
          <a:noFill/>
        </p:spPr>
        <p:txBody>
          <a:bodyPr wrap="square" lIns="0" rIns="0" tIns="0" bIns="0">
            <a:spAutoFit/>
          </a:bodyPr>
          <a:lstStyle/>
          <a:p>
            <a:pPr algn="l">
              <a:lnSpc>
                <a:spcPct val="112000"/>
              </a:lnSpc>
              <a:spcBef>
                <a:spcPts val="0"/>
              </a:spcBef>
              <a:spcAft>
                <a:spcPts val="500"/>
              </a:spcAft>
            </a:pPr>
            <a:r>
              <a:rPr sz="1900" b="0">
                <a:solidFill>
                  <a:srgbClr val="172033"/>
                </a:solidFill>
                <a:latin typeface="Aptos"/>
              </a:rPr>
              <a:t>Three FIFO queues, cache requests and eviction rules.</a:t>
            </a:r>
          </a:p>
        </p:txBody>
      </p:sp>
      <p:sp>
        <p:nvSpPr>
          <p:cNvPr id="18" name="Rectangle 17"/>
          <p:cNvSpPr/>
          <p:nvPr/>
        </p:nvSpPr>
        <p:spPr>
          <a:xfrm>
            <a:off x="877824" y="4096511"/>
            <a:ext cx="10378440" cy="685800"/>
          </a:xfrm>
          <a:prstGeom prst="rect">
            <a:avLst/>
          </a:prstGeom>
          <a:solidFill>
            <a:srgbClr val="F1F6FD"/>
          </a:solidFill>
          <a:ln>
            <a:noFill/>
          </a:ln>
        </p:spPr>
        <p:txBody>
          <a:bodyPr rtlCol="0" anchor="ctr"/>
          <a:lstStyle/>
          <a:p>
            <a:pPr algn="ctr"/>
          </a:p>
        </p:txBody>
      </p:sp>
      <p:sp>
        <p:nvSpPr>
          <p:cNvPr id="19" name="TextBox 18"/>
          <p:cNvSpPr txBox="1"/>
          <p:nvPr/>
        </p:nvSpPr>
        <p:spPr>
          <a:xfrm>
            <a:off x="950976" y="4169663"/>
            <a:ext cx="1783080" cy="365760"/>
          </a:xfrm>
          <a:prstGeom prst="rect">
            <a:avLst/>
          </a:prstGeom>
          <a:noFill/>
        </p:spPr>
        <p:txBody>
          <a:bodyPr wrap="square" lIns="0" rIns="0" tIns="0" bIns="0">
            <a:spAutoFit/>
          </a:bodyPr>
          <a:lstStyle/>
          <a:p>
            <a:pPr algn="l">
              <a:lnSpc>
                <a:spcPct val="112000"/>
              </a:lnSpc>
              <a:spcBef>
                <a:spcPts val="0"/>
              </a:spcBef>
              <a:spcAft>
                <a:spcPts val="500"/>
              </a:spcAft>
            </a:pPr>
            <a:r>
              <a:rPr sz="2100" b="1">
                <a:solidFill>
                  <a:srgbClr val="172033"/>
                </a:solidFill>
                <a:latin typeface="Aptos"/>
              </a:rPr>
              <a:t>Member 3</a:t>
            </a:r>
          </a:p>
        </p:txBody>
      </p:sp>
      <p:sp>
        <p:nvSpPr>
          <p:cNvPr id="20" name="TextBox 19"/>
          <p:cNvSpPr txBox="1"/>
          <p:nvPr/>
        </p:nvSpPr>
        <p:spPr>
          <a:xfrm>
            <a:off x="2852928" y="4169663"/>
            <a:ext cx="1143000" cy="365760"/>
          </a:xfrm>
          <a:prstGeom prst="rect">
            <a:avLst/>
          </a:prstGeom>
          <a:noFill/>
        </p:spPr>
        <p:txBody>
          <a:bodyPr wrap="square" lIns="0" rIns="0" tIns="0" bIns="0">
            <a:spAutoFit/>
          </a:bodyPr>
          <a:lstStyle/>
          <a:p>
            <a:pPr algn="l">
              <a:lnSpc>
                <a:spcPct val="112000"/>
              </a:lnSpc>
              <a:spcBef>
                <a:spcPts val="0"/>
              </a:spcBef>
              <a:spcAft>
                <a:spcPts val="500"/>
              </a:spcAft>
            </a:pPr>
            <a:r>
              <a:rPr sz="2000" b="0">
                <a:solidFill>
                  <a:srgbClr val="2D6DAF"/>
                </a:solidFill>
                <a:latin typeface="Aptos"/>
              </a:rPr>
              <a:t>3 min</a:t>
            </a:r>
          </a:p>
        </p:txBody>
      </p:sp>
      <p:sp>
        <p:nvSpPr>
          <p:cNvPr id="21" name="TextBox 20"/>
          <p:cNvSpPr txBox="1"/>
          <p:nvPr/>
        </p:nvSpPr>
        <p:spPr>
          <a:xfrm>
            <a:off x="4224528" y="4169663"/>
            <a:ext cx="6693408" cy="566928"/>
          </a:xfrm>
          <a:prstGeom prst="rect">
            <a:avLst/>
          </a:prstGeom>
          <a:noFill/>
        </p:spPr>
        <p:txBody>
          <a:bodyPr wrap="square" lIns="0" rIns="0" tIns="0" bIns="0">
            <a:spAutoFit/>
          </a:bodyPr>
          <a:lstStyle/>
          <a:p>
            <a:pPr algn="l">
              <a:lnSpc>
                <a:spcPct val="112000"/>
              </a:lnSpc>
              <a:spcBef>
                <a:spcPts val="0"/>
              </a:spcBef>
              <a:spcAft>
                <a:spcPts val="500"/>
              </a:spcAft>
            </a:pPr>
            <a:r>
              <a:rPr sz="1900" b="0">
                <a:solidFill>
                  <a:srgbClr val="172033"/>
                </a:solidFill>
                <a:latin typeface="Aptos"/>
              </a:rPr>
              <a:t>Experimental setup, results, limitations and conclusion.</a:t>
            </a:r>
          </a:p>
        </p:txBody>
      </p:sp>
      <p:sp>
        <p:nvSpPr>
          <p:cNvPr id="22" name="Rounded Rectangle 21"/>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23" name="TextBox 22"/>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13294B"/>
                </a:solidFill>
                <a:latin typeface="Aptos"/>
              </a:rPr>
              <a:t>10-minute theoretical presentation · Results are reported by the original paper’s authors.</a:t>
            </a:r>
          </a:p>
        </p:txBody>
      </p:sp>
      <p:sp>
        <p:nvSpPr>
          <p:cNvPr id="24" name="TextBox 23"/>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5" name="TextBox 24"/>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731520" y="960120"/>
            <a:ext cx="9144000" cy="365760"/>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F5B841"/>
                </a:solidFill>
                <a:latin typeface="Aptos"/>
              </a:rPr>
              <a:t>PART 1 · MEMBER 1</a:t>
            </a:r>
          </a:p>
        </p:txBody>
      </p:sp>
      <p:sp>
        <p:nvSpPr>
          <p:cNvPr id="3" name="TextBox 2"/>
          <p:cNvSpPr txBox="1"/>
          <p:nvPr/>
        </p:nvSpPr>
        <p:spPr>
          <a:xfrm>
            <a:off x="713232" y="1737360"/>
            <a:ext cx="10652760" cy="1005840"/>
          </a:xfrm>
          <a:prstGeom prst="rect">
            <a:avLst/>
          </a:prstGeom>
          <a:noFill/>
        </p:spPr>
        <p:txBody>
          <a:bodyPr wrap="square" lIns="0" rIns="0" tIns="0" bIns="0">
            <a:spAutoFit/>
          </a:bodyPr>
          <a:lstStyle/>
          <a:p>
            <a:pPr algn="l">
              <a:lnSpc>
                <a:spcPct val="112000"/>
              </a:lnSpc>
              <a:spcBef>
                <a:spcPts val="0"/>
              </a:spcBef>
              <a:spcAft>
                <a:spcPts val="500"/>
              </a:spcAft>
            </a:pPr>
            <a:r>
              <a:rPr sz="3700" b="1">
                <a:solidFill>
                  <a:srgbClr val="FFFFFF"/>
                </a:solidFill>
                <a:latin typeface="Aptos Display"/>
              </a:rPr>
              <a:t>Background &amp; Motivation</a:t>
            </a:r>
          </a:p>
        </p:txBody>
      </p:sp>
      <p:sp>
        <p:nvSpPr>
          <p:cNvPr id="4" name="TextBox 3"/>
          <p:cNvSpPr txBox="1"/>
          <p:nvPr/>
        </p:nvSpPr>
        <p:spPr>
          <a:xfrm>
            <a:off x="777240" y="2871216"/>
            <a:ext cx="9784080" cy="822960"/>
          </a:xfrm>
          <a:prstGeom prst="rect">
            <a:avLst/>
          </a:prstGeom>
          <a:noFill/>
        </p:spPr>
        <p:txBody>
          <a:bodyPr wrap="square" lIns="0" rIns="0" tIns="0" bIns="0">
            <a:spAutoFit/>
          </a:bodyPr>
          <a:lstStyle/>
          <a:p>
            <a:pPr algn="l">
              <a:lnSpc>
                <a:spcPct val="112000"/>
              </a:lnSpc>
              <a:spcBef>
                <a:spcPts val="0"/>
              </a:spcBef>
              <a:spcAft>
                <a:spcPts val="500"/>
              </a:spcAft>
            </a:pPr>
            <a:r>
              <a:rPr sz="2100" b="0">
                <a:solidFill>
                  <a:srgbClr val="BED6F0"/>
                </a:solidFill>
                <a:latin typeface="Aptos"/>
              </a:rPr>
              <a:t>Why does a cache need a better eviction policy?</a:t>
            </a:r>
          </a:p>
        </p:txBody>
      </p:sp>
      <p:sp>
        <p:nvSpPr>
          <p:cNvPr id="5" name="Rectangle 4"/>
          <p:cNvSpPr/>
          <p:nvPr/>
        </p:nvSpPr>
        <p:spPr>
          <a:xfrm>
            <a:off x="822960" y="3977639"/>
            <a:ext cx="10515600" cy="16459"/>
          </a:xfrm>
          <a:prstGeom prst="rect">
            <a:avLst/>
          </a:prstGeom>
          <a:solidFill>
            <a:srgbClr val="F5B841"/>
          </a:solidFill>
          <a:ln>
            <a:noFill/>
          </a:ln>
        </p:spPr>
        <p:txBody>
          <a:bodyPr rtlCol="0" anchor="ctr"/>
          <a:lstStyle/>
          <a:p>
            <a:pPr algn="ctr"/>
          </a:p>
        </p:txBody>
      </p:sp>
      <p:sp>
        <p:nvSpPr>
          <p:cNvPr id="6" name="TextBox 5"/>
          <p:cNvSpPr txBox="1"/>
          <p:nvPr/>
        </p:nvSpPr>
        <p:spPr>
          <a:xfrm>
            <a:off x="822960" y="4297680"/>
            <a:ext cx="9144000" cy="365760"/>
          </a:xfrm>
          <a:prstGeom prst="rect">
            <a:avLst/>
          </a:prstGeom>
          <a:noFill/>
        </p:spPr>
        <p:txBody>
          <a:bodyPr wrap="square" lIns="0" rIns="0" tIns="0" bIns="0">
            <a:spAutoFit/>
          </a:bodyPr>
          <a:lstStyle/>
          <a:p>
            <a:pPr algn="l">
              <a:lnSpc>
                <a:spcPct val="112000"/>
              </a:lnSpc>
              <a:spcBef>
                <a:spcPts val="0"/>
              </a:spcBef>
              <a:spcAft>
                <a:spcPts val="500"/>
              </a:spcAft>
            </a:pPr>
            <a:r>
              <a:rPr sz="1500" b="0">
                <a:solidFill>
                  <a:srgbClr val="BED6F0"/>
                </a:solidFill>
                <a:latin typeface="Aptos"/>
              </a:rPr>
              <a:t>Background → FIFO vs LRU → One-hit Wonders</a:t>
            </a:r>
          </a:p>
        </p:txBody>
      </p:sp>
      <p:sp>
        <p:nvSpPr>
          <p:cNvPr id="7" name="TextBox 6"/>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B8CBE0"/>
                </a:solidFill>
                <a:latin typeface="Aptos"/>
              </a:rPr>
              <a:t>Yang et al., SOSP 2023 · Operating Systems · Theoretical Presentation</a:t>
            </a:r>
          </a:p>
        </p:txBody>
      </p:sp>
      <p:sp>
        <p:nvSpPr>
          <p:cNvPr id="8" name="TextBox 7"/>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B8CBE0"/>
                </a:solidFill>
                <a:latin typeface="Aptos"/>
              </a:rPr>
              <a:t>Slide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1 · Background</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What Is Cache Eviction?</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Cache space is fast but limited; the system must decide what stays and what goes.</a:t>
            </a:r>
          </a:p>
        </p:txBody>
      </p:sp>
      <p:sp>
        <p:nvSpPr>
          <p:cNvPr id="7" name="Rounded Rectangle 6"/>
          <p:cNvSpPr/>
          <p:nvPr/>
        </p:nvSpPr>
        <p:spPr>
          <a:xfrm>
            <a:off x="685800" y="1773936"/>
            <a:ext cx="5074920" cy="3611880"/>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87552" y="2066543"/>
            <a:ext cx="4471416" cy="2999232"/>
          </a:xfrm>
          <a:prstGeom prst="rect">
            <a:avLst/>
          </a:prstGeom>
          <a:noFill/>
        </p:spPr>
        <p:txBody>
          <a:bodyPr wrap="square" lIns="0" rIns="0" tIns="0" bIns="0">
            <a:spAutoFit/>
          </a:bodyPr>
          <a:lstStyle/>
          <a:p>
            <a:pPr algn="l">
              <a:lnSpc>
                <a:spcPct val="114000"/>
              </a:lnSpc>
              <a:spcBef>
                <a:spcPts val="0"/>
              </a:spcBef>
              <a:spcAft>
                <a:spcPts val="1700"/>
              </a:spcAft>
            </a:pPr>
            <a:r>
              <a:rPr sz="2200">
                <a:solidFill>
                  <a:srgbClr val="172033"/>
                </a:solidFill>
                <a:latin typeface="Aptos"/>
              </a:rPr>
              <a:t>A cache is a small and fast storage space that keeps data we may need again.</a:t>
            </a:r>
          </a:p>
          <a:p>
            <a:pPr>
              <a:lnSpc>
                <a:spcPct val="114000"/>
              </a:lnSpc>
              <a:spcAft>
                <a:spcPts val="1700"/>
              </a:spcAft>
            </a:pPr>
            <a:r>
              <a:rPr sz="2200">
                <a:solidFill>
                  <a:srgbClr val="172033"/>
                </a:solidFill>
                <a:latin typeface="Aptos"/>
              </a:rPr>
              <a:t>When the cache is full, the system must decide which data to remove.</a:t>
            </a:r>
          </a:p>
          <a:p>
            <a:pPr>
              <a:lnSpc>
                <a:spcPct val="114000"/>
              </a:lnSpc>
              <a:spcAft>
                <a:spcPts val="1700"/>
              </a:spcAft>
            </a:pPr>
            <a:r>
              <a:rPr sz="2200">
                <a:solidFill>
                  <a:srgbClr val="172033"/>
                </a:solidFill>
                <a:latin typeface="Aptos"/>
              </a:rPr>
              <a:t>This process is called cache eviction.</a:t>
            </a:r>
          </a:p>
        </p:txBody>
      </p:sp>
      <p:sp>
        <p:nvSpPr>
          <p:cNvPr id="9" name="Rounded Rectangle 8"/>
          <p:cNvSpPr/>
          <p:nvPr/>
        </p:nvSpPr>
        <p:spPr>
          <a:xfrm>
            <a:off x="5971032" y="1773936"/>
            <a:ext cx="5504688" cy="3611880"/>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0" name="TextBox 9"/>
          <p:cNvSpPr txBox="1"/>
          <p:nvPr/>
        </p:nvSpPr>
        <p:spPr>
          <a:xfrm>
            <a:off x="6245352" y="2093976"/>
            <a:ext cx="4937760" cy="320040"/>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5B6472"/>
                </a:solidFill>
                <a:latin typeface="Aptos"/>
              </a:rPr>
              <a:t>CACHE: ALL SLOTS OCCUPIED</a:t>
            </a:r>
          </a:p>
        </p:txBody>
      </p:sp>
      <p:sp>
        <p:nvSpPr>
          <p:cNvPr id="11" name="Rounded Rectangle 10"/>
          <p:cNvSpPr/>
          <p:nvPr/>
        </p:nvSpPr>
        <p:spPr>
          <a:xfrm>
            <a:off x="6309360" y="2834640"/>
            <a:ext cx="896112" cy="914400"/>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2" name="TextBox 11"/>
          <p:cNvSpPr txBox="1"/>
          <p:nvPr/>
        </p:nvSpPr>
        <p:spPr>
          <a:xfrm>
            <a:off x="6419088" y="2980944"/>
            <a:ext cx="676656" cy="731520"/>
          </a:xfrm>
          <a:prstGeom prst="rect">
            <a:avLst/>
          </a:prstGeom>
          <a:noFill/>
        </p:spPr>
        <p:txBody>
          <a:bodyPr wrap="square" lIns="0" rIns="0" tIns="0" bIns="0">
            <a:spAutoFit/>
          </a:bodyPr>
          <a:lstStyle/>
          <a:p>
            <a:pPr algn="ctr">
              <a:lnSpc>
                <a:spcPct val="112000"/>
              </a:lnSpc>
              <a:spcBef>
                <a:spcPts val="0"/>
              </a:spcBef>
              <a:spcAft>
                <a:spcPts val="500"/>
              </a:spcAft>
            </a:pPr>
            <a:r>
              <a:rPr sz="2800" b="1">
                <a:solidFill>
                  <a:srgbClr val="2D6DAF"/>
                </a:solidFill>
                <a:latin typeface="Aptos"/>
              </a:rPr>
              <a:t>A</a:t>
            </a:r>
          </a:p>
        </p:txBody>
      </p:sp>
      <p:sp>
        <p:nvSpPr>
          <p:cNvPr id="13" name="Rounded Rectangle 12"/>
          <p:cNvSpPr/>
          <p:nvPr/>
        </p:nvSpPr>
        <p:spPr>
          <a:xfrm>
            <a:off x="7415783" y="2834640"/>
            <a:ext cx="896112" cy="914400"/>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4" name="TextBox 13"/>
          <p:cNvSpPr txBox="1"/>
          <p:nvPr/>
        </p:nvSpPr>
        <p:spPr>
          <a:xfrm>
            <a:off x="7525511" y="2980944"/>
            <a:ext cx="676656" cy="731520"/>
          </a:xfrm>
          <a:prstGeom prst="rect">
            <a:avLst/>
          </a:prstGeom>
          <a:noFill/>
        </p:spPr>
        <p:txBody>
          <a:bodyPr wrap="square" lIns="0" rIns="0" tIns="0" bIns="0">
            <a:spAutoFit/>
          </a:bodyPr>
          <a:lstStyle/>
          <a:p>
            <a:pPr algn="ctr">
              <a:lnSpc>
                <a:spcPct val="112000"/>
              </a:lnSpc>
              <a:spcBef>
                <a:spcPts val="0"/>
              </a:spcBef>
              <a:spcAft>
                <a:spcPts val="500"/>
              </a:spcAft>
            </a:pPr>
            <a:r>
              <a:rPr sz="2800" b="1">
                <a:solidFill>
                  <a:srgbClr val="2D6DAF"/>
                </a:solidFill>
                <a:latin typeface="Aptos"/>
              </a:rPr>
              <a:t>B</a:t>
            </a:r>
          </a:p>
        </p:txBody>
      </p:sp>
      <p:sp>
        <p:nvSpPr>
          <p:cNvPr id="15" name="Rounded Rectangle 14"/>
          <p:cNvSpPr/>
          <p:nvPr/>
        </p:nvSpPr>
        <p:spPr>
          <a:xfrm>
            <a:off x="8522208" y="2834640"/>
            <a:ext cx="896112" cy="914400"/>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6" name="TextBox 15"/>
          <p:cNvSpPr txBox="1"/>
          <p:nvPr/>
        </p:nvSpPr>
        <p:spPr>
          <a:xfrm>
            <a:off x="8631936" y="2980944"/>
            <a:ext cx="676656" cy="731520"/>
          </a:xfrm>
          <a:prstGeom prst="rect">
            <a:avLst/>
          </a:prstGeom>
          <a:noFill/>
        </p:spPr>
        <p:txBody>
          <a:bodyPr wrap="square" lIns="0" rIns="0" tIns="0" bIns="0">
            <a:spAutoFit/>
          </a:bodyPr>
          <a:lstStyle/>
          <a:p>
            <a:pPr algn="ctr">
              <a:lnSpc>
                <a:spcPct val="112000"/>
              </a:lnSpc>
              <a:spcBef>
                <a:spcPts val="0"/>
              </a:spcBef>
              <a:spcAft>
                <a:spcPts val="500"/>
              </a:spcAft>
            </a:pPr>
            <a:r>
              <a:rPr sz="2800" b="1">
                <a:solidFill>
                  <a:srgbClr val="2D6DAF"/>
                </a:solidFill>
                <a:latin typeface="Aptos"/>
              </a:rPr>
              <a:t>C</a:t>
            </a:r>
          </a:p>
        </p:txBody>
      </p:sp>
      <p:sp>
        <p:nvSpPr>
          <p:cNvPr id="17" name="Rounded Rectangle 16"/>
          <p:cNvSpPr/>
          <p:nvPr/>
        </p:nvSpPr>
        <p:spPr>
          <a:xfrm>
            <a:off x="10351008" y="2834640"/>
            <a:ext cx="850392" cy="914400"/>
          </a:xfrm>
          <a:prstGeom prst="roundRect">
            <a:avLst>
              <a:gd name="adj" fmla="val 12000"/>
            </a:avLst>
          </a:prstGeom>
          <a:solidFill>
            <a:srgbClr val="FFFFFF"/>
          </a:solidFill>
          <a:ln w="9525">
            <a:solidFill>
              <a:srgbClr val="D9852A"/>
            </a:solidFill>
          </a:ln>
        </p:spPr>
        <p:txBody>
          <a:bodyPr rtlCol="0" anchor="ctr"/>
          <a:lstStyle/>
          <a:p>
            <a:pPr algn="ctr"/>
          </a:p>
        </p:txBody>
      </p:sp>
      <p:sp>
        <p:nvSpPr>
          <p:cNvPr id="18" name="TextBox 17"/>
          <p:cNvSpPr txBox="1"/>
          <p:nvPr/>
        </p:nvSpPr>
        <p:spPr>
          <a:xfrm>
            <a:off x="10460736" y="2980944"/>
            <a:ext cx="630936" cy="731520"/>
          </a:xfrm>
          <a:prstGeom prst="rect">
            <a:avLst/>
          </a:prstGeom>
          <a:noFill/>
        </p:spPr>
        <p:txBody>
          <a:bodyPr wrap="square" lIns="0" rIns="0" tIns="0" bIns="0">
            <a:spAutoFit/>
          </a:bodyPr>
          <a:lstStyle/>
          <a:p>
            <a:pPr algn="ctr">
              <a:lnSpc>
                <a:spcPct val="112000"/>
              </a:lnSpc>
              <a:spcBef>
                <a:spcPts val="0"/>
              </a:spcBef>
              <a:spcAft>
                <a:spcPts val="500"/>
              </a:spcAft>
            </a:pPr>
            <a:r>
              <a:rPr sz="2800" b="1">
                <a:solidFill>
                  <a:srgbClr val="D9852A"/>
                </a:solidFill>
                <a:latin typeface="Aptos"/>
              </a:rPr>
              <a:t>D</a:t>
            </a:r>
          </a:p>
        </p:txBody>
      </p:sp>
      <p:cxnSp>
        <p:nvCxnSpPr>
          <p:cNvPr id="19" name="Connector 18"/>
          <p:cNvCxnSpPr/>
          <p:nvPr/>
        </p:nvCxnSpPr>
        <p:spPr>
          <a:xfrm flipH="1">
            <a:off x="9619488" y="3291840"/>
            <a:ext cx="603504" cy="0"/>
          </a:xfrm>
          <a:prstGeom prst="line">
            <a:avLst/>
          </a:prstGeom>
          <a:ln w="22860">
            <a:solidFill>
              <a:srgbClr val="D9852A"/>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030968" y="3968496"/>
            <a:ext cx="1463040" cy="365760"/>
          </a:xfrm>
          <a:prstGeom prst="rect">
            <a:avLst/>
          </a:prstGeom>
          <a:noFill/>
        </p:spPr>
        <p:txBody>
          <a:bodyPr wrap="square" lIns="0" rIns="0" tIns="0" bIns="0">
            <a:spAutoFit/>
          </a:bodyPr>
          <a:lstStyle/>
          <a:p>
            <a:pPr algn="ctr">
              <a:lnSpc>
                <a:spcPct val="112000"/>
              </a:lnSpc>
              <a:spcBef>
                <a:spcPts val="0"/>
              </a:spcBef>
              <a:spcAft>
                <a:spcPts val="500"/>
              </a:spcAft>
            </a:pPr>
            <a:r>
              <a:rPr sz="1400" b="0">
                <a:solidFill>
                  <a:srgbClr val="D9852A"/>
                </a:solidFill>
                <a:latin typeface="Aptos"/>
              </a:rPr>
              <a:t>New object</a:t>
            </a:r>
          </a:p>
        </p:txBody>
      </p:sp>
      <p:sp>
        <p:nvSpPr>
          <p:cNvPr id="21" name="TextBox 20"/>
          <p:cNvSpPr txBox="1"/>
          <p:nvPr/>
        </p:nvSpPr>
        <p:spPr>
          <a:xfrm>
            <a:off x="6336792" y="4599432"/>
            <a:ext cx="4718304" cy="548640"/>
          </a:xfrm>
          <a:prstGeom prst="rect">
            <a:avLst/>
          </a:prstGeom>
          <a:noFill/>
        </p:spPr>
        <p:txBody>
          <a:bodyPr wrap="square" lIns="0" rIns="0" tIns="0" bIns="0">
            <a:spAutoFit/>
          </a:bodyPr>
          <a:lstStyle/>
          <a:p>
            <a:pPr algn="l">
              <a:lnSpc>
                <a:spcPct val="112000"/>
              </a:lnSpc>
              <a:spcBef>
                <a:spcPts val="0"/>
              </a:spcBef>
              <a:spcAft>
                <a:spcPts val="500"/>
              </a:spcAft>
            </a:pPr>
            <a:r>
              <a:rPr sz="2200" b="1">
                <a:solidFill>
                  <a:srgbClr val="172033"/>
                </a:solidFill>
                <a:latin typeface="Aptos"/>
              </a:rPr>
              <a:t>Which object should leave?</a:t>
            </a:r>
          </a:p>
        </p:txBody>
      </p:sp>
      <p:sp>
        <p:nvSpPr>
          <p:cNvPr id="22" name="Rounded Rectangle 21"/>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23" name="TextBox 22"/>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13294B"/>
                </a:solidFill>
                <a:latin typeface="Aptos"/>
              </a:rPr>
              <a:t>Key question: what should stay in the cache, and what should go?</a:t>
            </a:r>
          </a:p>
        </p:txBody>
      </p:sp>
      <p:sp>
        <p:nvSpPr>
          <p:cNvPr id="24" name="TextBox 23"/>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Yang et al., SOSP 2023, §§1–2.</a:t>
            </a:r>
          </a:p>
        </p:txBody>
      </p:sp>
      <p:sp>
        <p:nvSpPr>
          <p:cNvPr id="25" name="TextBox 24"/>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6" name="TextBox 25"/>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1 · Traditional Algorithms</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FIFO vs LRU</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Both choose eviction candidates, but their update costs are different.</a:t>
            </a:r>
          </a:p>
        </p:txBody>
      </p:sp>
      <p:sp>
        <p:nvSpPr>
          <p:cNvPr id="7" name="Rounded Rectangle 6"/>
          <p:cNvSpPr/>
          <p:nvPr/>
        </p:nvSpPr>
        <p:spPr>
          <a:xfrm>
            <a:off x="685800" y="1783080"/>
            <a:ext cx="5285232"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60120" y="1993392"/>
            <a:ext cx="4736592" cy="502920"/>
          </a:xfrm>
          <a:prstGeom prst="rect">
            <a:avLst/>
          </a:prstGeom>
          <a:noFill/>
        </p:spPr>
        <p:txBody>
          <a:bodyPr wrap="square" lIns="0" rIns="0" tIns="0" bIns="0">
            <a:spAutoFit/>
          </a:bodyPr>
          <a:lstStyle/>
          <a:p>
            <a:pPr algn="l">
              <a:lnSpc>
                <a:spcPct val="112000"/>
              </a:lnSpc>
              <a:spcBef>
                <a:spcPts val="0"/>
              </a:spcBef>
              <a:spcAft>
                <a:spcPts val="500"/>
              </a:spcAft>
            </a:pPr>
            <a:r>
              <a:rPr sz="3000" b="1">
                <a:solidFill>
                  <a:srgbClr val="2D6DAF"/>
                </a:solidFill>
                <a:latin typeface="Aptos"/>
              </a:rPr>
              <a:t>FIFO</a:t>
            </a:r>
          </a:p>
        </p:txBody>
      </p:sp>
      <p:sp>
        <p:nvSpPr>
          <p:cNvPr id="9" name="TextBox 8"/>
          <p:cNvSpPr txBox="1"/>
          <p:nvPr/>
        </p:nvSpPr>
        <p:spPr>
          <a:xfrm>
            <a:off x="960120" y="2587752"/>
            <a:ext cx="4736592" cy="320040"/>
          </a:xfrm>
          <a:prstGeom prst="rect">
            <a:avLst/>
          </a:prstGeom>
          <a:noFill/>
        </p:spPr>
        <p:txBody>
          <a:bodyPr wrap="square" lIns="0" rIns="0" tIns="0" bIns="0">
            <a:spAutoFit/>
          </a:bodyPr>
          <a:lstStyle/>
          <a:p>
            <a:pPr algn="l">
              <a:lnSpc>
                <a:spcPct val="112000"/>
              </a:lnSpc>
              <a:spcBef>
                <a:spcPts val="0"/>
              </a:spcBef>
              <a:spcAft>
                <a:spcPts val="500"/>
              </a:spcAft>
            </a:pPr>
            <a:r>
              <a:rPr sz="1600" b="0">
                <a:solidFill>
                  <a:srgbClr val="5B6472"/>
                </a:solidFill>
                <a:latin typeface="Aptos"/>
              </a:rPr>
              <a:t>First In, First Out</a:t>
            </a:r>
          </a:p>
        </p:txBody>
      </p:sp>
      <p:sp>
        <p:nvSpPr>
          <p:cNvPr id="10" name="TextBox 9"/>
          <p:cNvSpPr txBox="1"/>
          <p:nvPr/>
        </p:nvSpPr>
        <p:spPr>
          <a:xfrm>
            <a:off x="960120" y="3108960"/>
            <a:ext cx="4709160" cy="2057400"/>
          </a:xfrm>
          <a:prstGeom prst="rect">
            <a:avLst/>
          </a:prstGeom>
          <a:noFill/>
        </p:spPr>
        <p:txBody>
          <a:bodyPr wrap="square" lIns="0" rIns="0" tIns="0" bIns="0">
            <a:spAutoFit/>
          </a:bodyPr>
          <a:lstStyle/>
          <a:p>
            <a:pPr algn="l">
              <a:lnSpc>
                <a:spcPct val="114000"/>
              </a:lnSpc>
              <a:spcBef>
                <a:spcPts val="0"/>
              </a:spcBef>
              <a:spcAft>
                <a:spcPts val="1800"/>
              </a:spcAft>
            </a:pPr>
            <a:r>
              <a:rPr sz="2100">
                <a:solidFill>
                  <a:srgbClr val="172033"/>
                </a:solidFill>
                <a:latin typeface="Aptos"/>
              </a:rPr>
              <a:t>It removes the data that entered the cache first.</a:t>
            </a:r>
          </a:p>
          <a:p>
            <a:pPr>
              <a:lnSpc>
                <a:spcPct val="114000"/>
              </a:lnSpc>
              <a:spcAft>
                <a:spcPts val="1800"/>
              </a:spcAft>
            </a:pPr>
            <a:r>
              <a:rPr sz="2100">
                <a:solidFill>
                  <a:srgbClr val="172033"/>
                </a:solidFill>
                <a:latin typeface="Aptos"/>
              </a:rPr>
              <a:t>FIFO is simple and fast, but it may remove useful data.</a:t>
            </a:r>
          </a:p>
        </p:txBody>
      </p:sp>
      <p:sp>
        <p:nvSpPr>
          <p:cNvPr id="11" name="Rounded Rectangle 10"/>
          <p:cNvSpPr/>
          <p:nvPr/>
        </p:nvSpPr>
        <p:spPr>
          <a:xfrm>
            <a:off x="6190488" y="1783080"/>
            <a:ext cx="5285232"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2" name="TextBox 11"/>
          <p:cNvSpPr txBox="1"/>
          <p:nvPr/>
        </p:nvSpPr>
        <p:spPr>
          <a:xfrm>
            <a:off x="6464807" y="1993392"/>
            <a:ext cx="4736592" cy="502920"/>
          </a:xfrm>
          <a:prstGeom prst="rect">
            <a:avLst/>
          </a:prstGeom>
          <a:noFill/>
        </p:spPr>
        <p:txBody>
          <a:bodyPr wrap="square" lIns="0" rIns="0" tIns="0" bIns="0">
            <a:spAutoFit/>
          </a:bodyPr>
          <a:lstStyle/>
          <a:p>
            <a:pPr algn="l">
              <a:lnSpc>
                <a:spcPct val="112000"/>
              </a:lnSpc>
              <a:spcBef>
                <a:spcPts val="0"/>
              </a:spcBef>
              <a:spcAft>
                <a:spcPts val="500"/>
              </a:spcAft>
            </a:pPr>
            <a:r>
              <a:rPr sz="3000" b="1">
                <a:solidFill>
                  <a:srgbClr val="238B6D"/>
                </a:solidFill>
                <a:latin typeface="Aptos"/>
              </a:rPr>
              <a:t>LRU</a:t>
            </a:r>
          </a:p>
        </p:txBody>
      </p:sp>
      <p:sp>
        <p:nvSpPr>
          <p:cNvPr id="13" name="TextBox 12"/>
          <p:cNvSpPr txBox="1"/>
          <p:nvPr/>
        </p:nvSpPr>
        <p:spPr>
          <a:xfrm>
            <a:off x="6464807" y="2587752"/>
            <a:ext cx="4736592" cy="320040"/>
          </a:xfrm>
          <a:prstGeom prst="rect">
            <a:avLst/>
          </a:prstGeom>
          <a:noFill/>
        </p:spPr>
        <p:txBody>
          <a:bodyPr wrap="square" lIns="0" rIns="0" tIns="0" bIns="0">
            <a:spAutoFit/>
          </a:bodyPr>
          <a:lstStyle/>
          <a:p>
            <a:pPr algn="l">
              <a:lnSpc>
                <a:spcPct val="112000"/>
              </a:lnSpc>
              <a:spcBef>
                <a:spcPts val="0"/>
              </a:spcBef>
              <a:spcAft>
                <a:spcPts val="500"/>
              </a:spcAft>
            </a:pPr>
            <a:r>
              <a:rPr sz="1600" b="0">
                <a:solidFill>
                  <a:srgbClr val="5B6472"/>
                </a:solidFill>
                <a:latin typeface="Aptos"/>
              </a:rPr>
              <a:t>Least Recently Used</a:t>
            </a:r>
          </a:p>
        </p:txBody>
      </p:sp>
      <p:sp>
        <p:nvSpPr>
          <p:cNvPr id="14" name="TextBox 13"/>
          <p:cNvSpPr txBox="1"/>
          <p:nvPr/>
        </p:nvSpPr>
        <p:spPr>
          <a:xfrm>
            <a:off x="6464807" y="3108960"/>
            <a:ext cx="4709160" cy="2057400"/>
          </a:xfrm>
          <a:prstGeom prst="rect">
            <a:avLst/>
          </a:prstGeom>
          <a:noFill/>
        </p:spPr>
        <p:txBody>
          <a:bodyPr wrap="square" lIns="0" rIns="0" tIns="0" bIns="0">
            <a:spAutoFit/>
          </a:bodyPr>
          <a:lstStyle/>
          <a:p>
            <a:pPr algn="l">
              <a:lnSpc>
                <a:spcPct val="114000"/>
              </a:lnSpc>
              <a:spcBef>
                <a:spcPts val="0"/>
              </a:spcBef>
              <a:spcAft>
                <a:spcPts val="1800"/>
              </a:spcAft>
            </a:pPr>
            <a:r>
              <a:rPr sz="2100">
                <a:solidFill>
                  <a:srgbClr val="172033"/>
                </a:solidFill>
                <a:latin typeface="Aptos"/>
              </a:rPr>
              <a:t>It removes data that has not been used for the longest time.</a:t>
            </a:r>
          </a:p>
          <a:p>
            <a:pPr>
              <a:lnSpc>
                <a:spcPct val="114000"/>
              </a:lnSpc>
              <a:spcAft>
                <a:spcPts val="1800"/>
              </a:spcAft>
            </a:pPr>
            <a:r>
              <a:rPr sz="2100">
                <a:solidFill>
                  <a:srgbClr val="172033"/>
                </a:solidFill>
                <a:latin typeface="Aptos"/>
              </a:rPr>
              <a:t>LRU updates object order on access. This can slow the system down when many threads work together.</a:t>
            </a:r>
          </a:p>
        </p:txBody>
      </p:sp>
      <p:sp>
        <p:nvSpPr>
          <p:cNvPr id="15" name="Rounded Rectangle 14"/>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16" name="TextBox 15"/>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13294B"/>
                </a:solidFill>
                <a:latin typeface="Aptos"/>
              </a:rPr>
              <a:t>The goal: combine FIFO’s simplicity with better cache efficiency.</a:t>
            </a:r>
          </a:p>
        </p:txBody>
      </p:sp>
      <p:sp>
        <p:nvSpPr>
          <p:cNvPr id="17" name="TextBox 16"/>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Yang et al., SOSP 2023, §2.2.</a:t>
            </a:r>
          </a:p>
        </p:txBody>
      </p:sp>
      <p:sp>
        <p:nvSpPr>
          <p:cNvPr id="18" name="TextBox 17"/>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19" name="TextBox 18"/>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1 · Research Motivation</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One-Hit Wonders &amp; Quick Demotion</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Shorter access sequences contain a higher fraction of objects with no reuse.</a:t>
            </a:r>
          </a:p>
        </p:txBody>
      </p:sp>
      <p:sp>
        <p:nvSpPr>
          <p:cNvPr id="7" name="Rounded Rectangle 6"/>
          <p:cNvSpPr/>
          <p:nvPr/>
        </p:nvSpPr>
        <p:spPr>
          <a:xfrm>
            <a:off x="685800" y="1773936"/>
            <a:ext cx="3895344" cy="3639312"/>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60120" y="2011680"/>
            <a:ext cx="3346704" cy="3127248"/>
          </a:xfrm>
          <a:prstGeom prst="rect">
            <a:avLst/>
          </a:prstGeom>
          <a:noFill/>
        </p:spPr>
        <p:txBody>
          <a:bodyPr wrap="square" lIns="0" rIns="0" tIns="0" bIns="0">
            <a:spAutoFit/>
          </a:bodyPr>
          <a:lstStyle/>
          <a:p>
            <a:pPr algn="l">
              <a:lnSpc>
                <a:spcPct val="114000"/>
              </a:lnSpc>
              <a:spcBef>
                <a:spcPts val="0"/>
              </a:spcBef>
              <a:spcAft>
                <a:spcPts val="1700"/>
              </a:spcAft>
            </a:pPr>
            <a:r>
              <a:rPr sz="2000">
                <a:solidFill>
                  <a:srgbClr val="172033"/>
                </a:solidFill>
                <a:latin typeface="Aptos"/>
              </a:rPr>
              <a:t>Many objects are used only once before they leave the cache: one-hit wonders.</a:t>
            </a:r>
          </a:p>
          <a:p>
            <a:pPr>
              <a:lnSpc>
                <a:spcPct val="114000"/>
              </a:lnSpc>
              <a:spcAft>
                <a:spcPts val="1700"/>
              </a:spcAft>
            </a:pPr>
            <a:r>
              <a:rPr sz="2000">
                <a:solidFill>
                  <a:srgbClr val="172033"/>
                </a:solidFill>
                <a:latin typeface="Aptos"/>
              </a:rPr>
              <a:t>They take up cache space without being used again.</a:t>
            </a:r>
          </a:p>
          <a:p>
            <a:pPr>
              <a:lnSpc>
                <a:spcPct val="114000"/>
              </a:lnSpc>
              <a:spcAft>
                <a:spcPts val="1700"/>
              </a:spcAft>
            </a:pPr>
            <a:r>
              <a:rPr sz="2000">
                <a:solidFill>
                  <a:srgbClr val="172033"/>
                </a:solidFill>
                <a:latin typeface="Aptos"/>
              </a:rPr>
              <a:t>Quick demotion removes less useful objects early.</a:t>
            </a:r>
          </a:p>
        </p:txBody>
      </p:sp>
      <p:sp>
        <p:nvSpPr>
          <p:cNvPr id="9" name="Rounded Rectangle 8"/>
          <p:cNvSpPr/>
          <p:nvPr/>
        </p:nvSpPr>
        <p:spPr>
          <a:xfrm>
            <a:off x="4791456" y="1773936"/>
            <a:ext cx="6684264" cy="3639312"/>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0" name="TextBox 9"/>
          <p:cNvSpPr txBox="1"/>
          <p:nvPr/>
        </p:nvSpPr>
        <p:spPr>
          <a:xfrm>
            <a:off x="5074920" y="2029968"/>
            <a:ext cx="6117336" cy="320040"/>
          </a:xfrm>
          <a:prstGeom prst="rect">
            <a:avLst/>
          </a:prstGeom>
          <a:noFill/>
        </p:spPr>
        <p:txBody>
          <a:bodyPr wrap="square" lIns="0" rIns="0" tIns="0" bIns="0">
            <a:spAutoFit/>
          </a:bodyPr>
          <a:lstStyle/>
          <a:p>
            <a:pPr algn="l">
              <a:lnSpc>
                <a:spcPct val="112000"/>
              </a:lnSpc>
              <a:spcBef>
                <a:spcPts val="0"/>
              </a:spcBef>
              <a:spcAft>
                <a:spcPts val="500"/>
              </a:spcAft>
            </a:pPr>
            <a:r>
              <a:rPr sz="1400" b="1">
                <a:solidFill>
                  <a:srgbClr val="2D6DAF"/>
                </a:solidFill>
                <a:latin typeface="Aptos"/>
              </a:rPr>
              <a:t>A SHORTER SEQUENCE → A HIGHER RATIO</a:t>
            </a:r>
          </a:p>
        </p:txBody>
      </p:sp>
      <p:pic>
        <p:nvPicPr>
          <p:cNvPr id="11" name="PRESERVED — Original One-hit Wonders Figure 1" descr="image.png"/>
          <p:cNvPicPr>
            <a:picLocks noChangeAspect="1"/>
          </p:cNvPicPr>
          <p:nvPr/>
        </p:nvPicPr>
        <p:blipFill>
          <a:blip r:embed="rId2"/>
          <a:stretch>
            <a:fillRect/>
          </a:stretch>
        </p:blipFill>
        <p:spPr>
          <a:xfrm>
            <a:off x="5029200" y="2624462"/>
            <a:ext cx="6208776" cy="1956547"/>
          </a:xfrm>
          <a:prstGeom prst="rect">
            <a:avLst/>
          </a:prstGeom>
        </p:spPr>
      </p:pic>
      <p:sp>
        <p:nvSpPr>
          <p:cNvPr id="12" name="TextBox 11"/>
          <p:cNvSpPr txBox="1"/>
          <p:nvPr/>
        </p:nvSpPr>
        <p:spPr>
          <a:xfrm>
            <a:off x="5074920" y="4773168"/>
            <a:ext cx="6117336" cy="438912"/>
          </a:xfrm>
          <a:prstGeom prst="rect">
            <a:avLst/>
          </a:prstGeom>
          <a:noFill/>
        </p:spPr>
        <p:txBody>
          <a:bodyPr wrap="square" lIns="0" rIns="0" tIns="0" bIns="0">
            <a:spAutoFit/>
          </a:bodyPr>
          <a:lstStyle/>
          <a:p>
            <a:pPr algn="l">
              <a:lnSpc>
                <a:spcPct val="112000"/>
              </a:lnSpc>
              <a:spcBef>
                <a:spcPts val="0"/>
              </a:spcBef>
              <a:spcAft>
                <a:spcPts val="500"/>
              </a:spcAft>
            </a:pPr>
            <a:r>
              <a:rPr sz="1100" b="0">
                <a:solidFill>
                  <a:srgbClr val="5B6472"/>
                </a:solidFill>
                <a:latin typeface="Aptos"/>
              </a:rPr>
              <a:t>Original Figure 1 · Source: Yang et al., SOSP 2023</a:t>
            </a:r>
          </a:p>
        </p:txBody>
      </p:sp>
      <p:sp>
        <p:nvSpPr>
          <p:cNvPr id="13" name="Rounded Rectangle 12"/>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14" name="TextBox 13"/>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Can we combine the simplicity of FIFO with better cache efficiency?</a:t>
            </a:r>
          </a:p>
        </p:txBody>
      </p:sp>
      <p:sp>
        <p:nvSpPr>
          <p:cNvPr id="15" name="TextBox 14"/>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original Figure 1 and §3, Yang et al., SOSP 2023.</a:t>
            </a:r>
          </a:p>
        </p:txBody>
      </p:sp>
      <p:sp>
        <p:nvSpPr>
          <p:cNvPr id="16" name="TextBox 15"/>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17" name="TextBox 16"/>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731520" y="960120"/>
            <a:ext cx="9144000" cy="365760"/>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F5B841"/>
                </a:solidFill>
                <a:latin typeface="Aptos"/>
              </a:rPr>
              <a:t>PART 2 · MEMBER 2</a:t>
            </a:r>
          </a:p>
        </p:txBody>
      </p:sp>
      <p:sp>
        <p:nvSpPr>
          <p:cNvPr id="3" name="TextBox 2"/>
          <p:cNvSpPr txBox="1"/>
          <p:nvPr/>
        </p:nvSpPr>
        <p:spPr>
          <a:xfrm>
            <a:off x="713232" y="1737360"/>
            <a:ext cx="10652760" cy="1005840"/>
          </a:xfrm>
          <a:prstGeom prst="rect">
            <a:avLst/>
          </a:prstGeom>
          <a:noFill/>
        </p:spPr>
        <p:txBody>
          <a:bodyPr wrap="square" lIns="0" rIns="0" tIns="0" bIns="0">
            <a:spAutoFit/>
          </a:bodyPr>
          <a:lstStyle/>
          <a:p>
            <a:pPr algn="l">
              <a:lnSpc>
                <a:spcPct val="112000"/>
              </a:lnSpc>
              <a:spcBef>
                <a:spcPts val="0"/>
              </a:spcBef>
              <a:spcAft>
                <a:spcPts val="500"/>
              </a:spcAft>
            </a:pPr>
            <a:r>
              <a:rPr sz="3700" b="1">
                <a:solidFill>
                  <a:srgbClr val="FFFFFF"/>
                </a:solidFill>
                <a:latin typeface="Aptos Display"/>
              </a:rPr>
              <a:t>S3-FIFO Design &amp; Algorithm</a:t>
            </a:r>
          </a:p>
        </p:txBody>
      </p:sp>
      <p:sp>
        <p:nvSpPr>
          <p:cNvPr id="4" name="TextBox 3"/>
          <p:cNvSpPr txBox="1"/>
          <p:nvPr/>
        </p:nvSpPr>
        <p:spPr>
          <a:xfrm>
            <a:off x="777240" y="2871216"/>
            <a:ext cx="9784080" cy="822960"/>
          </a:xfrm>
          <a:prstGeom prst="rect">
            <a:avLst/>
          </a:prstGeom>
          <a:noFill/>
        </p:spPr>
        <p:txBody>
          <a:bodyPr wrap="square" lIns="0" rIns="0" tIns="0" bIns="0">
            <a:spAutoFit/>
          </a:bodyPr>
          <a:lstStyle/>
          <a:p>
            <a:pPr algn="l">
              <a:lnSpc>
                <a:spcPct val="112000"/>
              </a:lnSpc>
              <a:spcBef>
                <a:spcPts val="0"/>
              </a:spcBef>
              <a:spcAft>
                <a:spcPts val="500"/>
              </a:spcAft>
            </a:pPr>
            <a:r>
              <a:rPr sz="2100" b="0">
                <a:solidFill>
                  <a:srgbClr val="BED6F0"/>
                </a:solidFill>
                <a:latin typeface="Aptos"/>
              </a:rPr>
              <a:t>How do three simple FIFO queues work together?</a:t>
            </a:r>
          </a:p>
        </p:txBody>
      </p:sp>
      <p:sp>
        <p:nvSpPr>
          <p:cNvPr id="5" name="Rectangle 4"/>
          <p:cNvSpPr/>
          <p:nvPr/>
        </p:nvSpPr>
        <p:spPr>
          <a:xfrm>
            <a:off x="822960" y="3977639"/>
            <a:ext cx="10515600" cy="16459"/>
          </a:xfrm>
          <a:prstGeom prst="rect">
            <a:avLst/>
          </a:prstGeom>
          <a:solidFill>
            <a:srgbClr val="F5B841"/>
          </a:solidFill>
          <a:ln>
            <a:noFill/>
          </a:ln>
        </p:spPr>
        <p:txBody>
          <a:bodyPr rtlCol="0" anchor="ctr"/>
          <a:lstStyle/>
          <a:p>
            <a:pPr algn="ctr"/>
          </a:p>
        </p:txBody>
      </p:sp>
      <p:sp>
        <p:nvSpPr>
          <p:cNvPr id="6" name="TextBox 5"/>
          <p:cNvSpPr txBox="1"/>
          <p:nvPr/>
        </p:nvSpPr>
        <p:spPr>
          <a:xfrm>
            <a:off x="822960" y="4297680"/>
            <a:ext cx="9144000" cy="365760"/>
          </a:xfrm>
          <a:prstGeom prst="rect">
            <a:avLst/>
          </a:prstGeom>
          <a:noFill/>
        </p:spPr>
        <p:txBody>
          <a:bodyPr wrap="square" lIns="0" rIns="0" tIns="0" bIns="0">
            <a:spAutoFit/>
          </a:bodyPr>
          <a:lstStyle/>
          <a:p>
            <a:pPr algn="l">
              <a:lnSpc>
                <a:spcPct val="112000"/>
              </a:lnSpc>
              <a:spcBef>
                <a:spcPts val="0"/>
              </a:spcBef>
              <a:spcAft>
                <a:spcPts val="500"/>
              </a:spcAft>
            </a:pPr>
            <a:r>
              <a:rPr sz="1500" b="0">
                <a:solidFill>
                  <a:srgbClr val="BED6F0"/>
                </a:solidFill>
                <a:latin typeface="Aptos"/>
              </a:rPr>
              <a:t>Small / Main / Ghost → Requests → Eviction</a:t>
            </a:r>
          </a:p>
        </p:txBody>
      </p:sp>
      <p:sp>
        <p:nvSpPr>
          <p:cNvPr id="7" name="TextBox 6"/>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B8CBE0"/>
                </a:solidFill>
                <a:latin typeface="Aptos"/>
              </a:rPr>
              <a:t>Yang et al., SOSP 2023 · Operating Systems · Theoretical Presentation</a:t>
            </a:r>
          </a:p>
        </p:txBody>
      </p:sp>
      <p:sp>
        <p:nvSpPr>
          <p:cNvPr id="8" name="TextBox 7"/>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B8CBE0"/>
                </a:solidFill>
                <a:latin typeface="Aptos"/>
              </a:rPr>
              <a:t>Slide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2 · Design Overview</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Three FIFO Queues, One Cache</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S3-FIFO uses Small, Main and Ghost queues instead of a single cache queue.</a:t>
            </a:r>
          </a:p>
        </p:txBody>
      </p:sp>
      <p:sp>
        <p:nvSpPr>
          <p:cNvPr id="7" name="Rounded Rectangle 6"/>
          <p:cNvSpPr/>
          <p:nvPr/>
        </p:nvSpPr>
        <p:spPr>
          <a:xfrm>
            <a:off x="685800" y="1773936"/>
            <a:ext cx="6702552" cy="3639312"/>
          </a:xfrm>
          <a:prstGeom prst="roundRect">
            <a:avLst>
              <a:gd name="adj" fmla="val 12000"/>
            </a:avLst>
          </a:prstGeom>
          <a:solidFill>
            <a:srgbClr val="FFFFFF"/>
          </a:solidFill>
          <a:ln w="9525">
            <a:solidFill>
              <a:srgbClr val="DCE5EF"/>
            </a:solidFill>
          </a:ln>
        </p:spPr>
        <p:txBody>
          <a:bodyPr rtlCol="0" anchor="ctr"/>
          <a:lstStyle/>
          <a:p>
            <a:pPr algn="ctr"/>
          </a:p>
        </p:txBody>
      </p:sp>
      <p:pic>
        <p:nvPicPr>
          <p:cNvPr id="8" name="Picture 7" descr="image.png"/>
          <p:cNvPicPr>
            <a:picLocks noChangeAspect="1"/>
          </p:cNvPicPr>
          <p:nvPr/>
        </p:nvPicPr>
        <p:blipFill>
          <a:blip r:embed="rId2"/>
          <a:stretch>
            <a:fillRect/>
          </a:stretch>
        </p:blipFill>
        <p:spPr>
          <a:xfrm>
            <a:off x="939738" y="1938528"/>
            <a:ext cx="6194675" cy="2999232"/>
          </a:xfrm>
          <a:prstGeom prst="rect">
            <a:avLst/>
          </a:prstGeom>
        </p:spPr>
      </p:pic>
      <p:sp>
        <p:nvSpPr>
          <p:cNvPr id="9" name="TextBox 8"/>
          <p:cNvSpPr txBox="1"/>
          <p:nvPr/>
        </p:nvSpPr>
        <p:spPr>
          <a:xfrm>
            <a:off x="960120" y="5093208"/>
            <a:ext cx="6126480" cy="182880"/>
          </a:xfrm>
          <a:prstGeom prst="rect">
            <a:avLst/>
          </a:prstGeom>
          <a:noFill/>
        </p:spPr>
        <p:txBody>
          <a:bodyPr wrap="square" lIns="0" rIns="0" tIns="0" bIns="0">
            <a:spAutoFit/>
          </a:bodyPr>
          <a:lstStyle/>
          <a:p>
            <a:pPr algn="l">
              <a:lnSpc>
                <a:spcPct val="112000"/>
              </a:lnSpc>
              <a:spcBef>
                <a:spcPts val="0"/>
              </a:spcBef>
              <a:spcAft>
                <a:spcPts val="500"/>
              </a:spcAft>
            </a:pPr>
            <a:r>
              <a:rPr sz="1050" b="0">
                <a:solidFill>
                  <a:srgbClr val="5B6472"/>
                </a:solidFill>
                <a:latin typeface="Aptos"/>
              </a:rPr>
              <a:t>Original Figure 5 · Source: Yang et al., SOSP 2023</a:t>
            </a:r>
          </a:p>
        </p:txBody>
      </p:sp>
      <p:sp>
        <p:nvSpPr>
          <p:cNvPr id="10" name="Rounded Rectangle 9"/>
          <p:cNvSpPr/>
          <p:nvPr/>
        </p:nvSpPr>
        <p:spPr>
          <a:xfrm>
            <a:off x="7607808" y="1773936"/>
            <a:ext cx="3867912" cy="3639312"/>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1" name="Rounded Rectangle 10"/>
          <p:cNvSpPr/>
          <p:nvPr/>
        </p:nvSpPr>
        <p:spPr>
          <a:xfrm>
            <a:off x="7909560" y="2075688"/>
            <a:ext cx="502920" cy="502920"/>
          </a:xfrm>
          <a:prstGeom prst="roundRect">
            <a:avLst>
              <a:gd name="adj" fmla="val 12000"/>
            </a:avLst>
          </a:prstGeom>
          <a:solidFill>
            <a:srgbClr val="D9852A"/>
          </a:solidFill>
          <a:ln>
            <a:noFill/>
          </a:ln>
        </p:spPr>
        <p:txBody>
          <a:bodyPr rtlCol="0" anchor="ctr"/>
          <a:lstStyle/>
          <a:p>
            <a:pPr algn="ctr"/>
          </a:p>
        </p:txBody>
      </p:sp>
      <p:sp>
        <p:nvSpPr>
          <p:cNvPr id="12" name="TextBox 11"/>
          <p:cNvSpPr txBox="1"/>
          <p:nvPr/>
        </p:nvSpPr>
        <p:spPr>
          <a:xfrm>
            <a:off x="7909560" y="2157984"/>
            <a:ext cx="502920" cy="365760"/>
          </a:xfrm>
          <a:prstGeom prst="rect">
            <a:avLst/>
          </a:prstGeom>
          <a:noFill/>
        </p:spPr>
        <p:txBody>
          <a:bodyPr wrap="square" lIns="0" rIns="0" tIns="0" bIns="0">
            <a:spAutoFit/>
          </a:bodyPr>
          <a:lstStyle/>
          <a:p>
            <a:pPr algn="ctr">
              <a:lnSpc>
                <a:spcPct val="112000"/>
              </a:lnSpc>
              <a:spcBef>
                <a:spcPts val="0"/>
              </a:spcBef>
              <a:spcAft>
                <a:spcPts val="500"/>
              </a:spcAft>
            </a:pPr>
            <a:r>
              <a:rPr sz="2100" b="1">
                <a:solidFill>
                  <a:srgbClr val="FFFFFF"/>
                </a:solidFill>
                <a:latin typeface="Aptos"/>
              </a:rPr>
              <a:t>S</a:t>
            </a:r>
          </a:p>
        </p:txBody>
      </p:sp>
      <p:sp>
        <p:nvSpPr>
          <p:cNvPr id="13" name="TextBox 12"/>
          <p:cNvSpPr txBox="1"/>
          <p:nvPr/>
        </p:nvSpPr>
        <p:spPr>
          <a:xfrm>
            <a:off x="8595360" y="2075688"/>
            <a:ext cx="2587752" cy="365760"/>
          </a:xfrm>
          <a:prstGeom prst="rect">
            <a:avLst/>
          </a:prstGeom>
          <a:noFill/>
        </p:spPr>
        <p:txBody>
          <a:bodyPr wrap="square" lIns="0" rIns="0" tIns="0" bIns="0">
            <a:spAutoFit/>
          </a:bodyPr>
          <a:lstStyle/>
          <a:p>
            <a:pPr algn="l">
              <a:lnSpc>
                <a:spcPct val="112000"/>
              </a:lnSpc>
              <a:spcBef>
                <a:spcPts val="0"/>
              </a:spcBef>
              <a:spcAft>
                <a:spcPts val="500"/>
              </a:spcAft>
            </a:pPr>
            <a:r>
              <a:rPr sz="2300" b="1">
                <a:solidFill>
                  <a:srgbClr val="D9852A"/>
                </a:solidFill>
                <a:latin typeface="Aptos"/>
              </a:rPr>
              <a:t>Small</a:t>
            </a:r>
          </a:p>
        </p:txBody>
      </p:sp>
      <p:sp>
        <p:nvSpPr>
          <p:cNvPr id="14" name="TextBox 13"/>
          <p:cNvSpPr txBox="1"/>
          <p:nvPr/>
        </p:nvSpPr>
        <p:spPr>
          <a:xfrm>
            <a:off x="8595360" y="2542032"/>
            <a:ext cx="2587752" cy="484632"/>
          </a:xfrm>
          <a:prstGeom prst="rect">
            <a:avLst/>
          </a:prstGeom>
          <a:noFill/>
        </p:spPr>
        <p:txBody>
          <a:bodyPr wrap="square" lIns="0" rIns="0" tIns="0" bIns="0">
            <a:spAutoFit/>
          </a:bodyPr>
          <a:lstStyle/>
          <a:p>
            <a:pPr algn="l">
              <a:lnSpc>
                <a:spcPct val="112000"/>
              </a:lnSpc>
              <a:spcBef>
                <a:spcPts val="0"/>
              </a:spcBef>
              <a:spcAft>
                <a:spcPts val="500"/>
              </a:spcAft>
            </a:pPr>
            <a:r>
              <a:rPr sz="1700" b="0">
                <a:solidFill>
                  <a:srgbClr val="5B6472"/>
                </a:solidFill>
                <a:latin typeface="Aptos"/>
              </a:rPr>
              <a:t>Filter new objects</a:t>
            </a:r>
          </a:p>
        </p:txBody>
      </p:sp>
      <p:sp>
        <p:nvSpPr>
          <p:cNvPr id="15" name="Rounded Rectangle 14"/>
          <p:cNvSpPr/>
          <p:nvPr/>
        </p:nvSpPr>
        <p:spPr>
          <a:xfrm>
            <a:off x="7909560" y="3127248"/>
            <a:ext cx="502920" cy="502920"/>
          </a:xfrm>
          <a:prstGeom prst="roundRect">
            <a:avLst>
              <a:gd name="adj" fmla="val 12000"/>
            </a:avLst>
          </a:prstGeom>
          <a:solidFill>
            <a:srgbClr val="2D6DAF"/>
          </a:solidFill>
          <a:ln>
            <a:noFill/>
          </a:ln>
        </p:spPr>
        <p:txBody>
          <a:bodyPr rtlCol="0" anchor="ctr"/>
          <a:lstStyle/>
          <a:p>
            <a:pPr algn="ctr"/>
          </a:p>
        </p:txBody>
      </p:sp>
      <p:sp>
        <p:nvSpPr>
          <p:cNvPr id="16" name="TextBox 15"/>
          <p:cNvSpPr txBox="1"/>
          <p:nvPr/>
        </p:nvSpPr>
        <p:spPr>
          <a:xfrm>
            <a:off x="7909560" y="3209544"/>
            <a:ext cx="502920" cy="365760"/>
          </a:xfrm>
          <a:prstGeom prst="rect">
            <a:avLst/>
          </a:prstGeom>
          <a:noFill/>
        </p:spPr>
        <p:txBody>
          <a:bodyPr wrap="square" lIns="0" rIns="0" tIns="0" bIns="0">
            <a:spAutoFit/>
          </a:bodyPr>
          <a:lstStyle/>
          <a:p>
            <a:pPr algn="ctr">
              <a:lnSpc>
                <a:spcPct val="112000"/>
              </a:lnSpc>
              <a:spcBef>
                <a:spcPts val="0"/>
              </a:spcBef>
              <a:spcAft>
                <a:spcPts val="500"/>
              </a:spcAft>
            </a:pPr>
            <a:r>
              <a:rPr sz="2100" b="1">
                <a:solidFill>
                  <a:srgbClr val="FFFFFF"/>
                </a:solidFill>
                <a:latin typeface="Aptos"/>
              </a:rPr>
              <a:t>M</a:t>
            </a:r>
          </a:p>
        </p:txBody>
      </p:sp>
      <p:sp>
        <p:nvSpPr>
          <p:cNvPr id="17" name="TextBox 16"/>
          <p:cNvSpPr txBox="1"/>
          <p:nvPr/>
        </p:nvSpPr>
        <p:spPr>
          <a:xfrm>
            <a:off x="8595360" y="3127248"/>
            <a:ext cx="2587752" cy="365760"/>
          </a:xfrm>
          <a:prstGeom prst="rect">
            <a:avLst/>
          </a:prstGeom>
          <a:noFill/>
        </p:spPr>
        <p:txBody>
          <a:bodyPr wrap="square" lIns="0" rIns="0" tIns="0" bIns="0">
            <a:spAutoFit/>
          </a:bodyPr>
          <a:lstStyle/>
          <a:p>
            <a:pPr algn="l">
              <a:lnSpc>
                <a:spcPct val="112000"/>
              </a:lnSpc>
              <a:spcBef>
                <a:spcPts val="0"/>
              </a:spcBef>
              <a:spcAft>
                <a:spcPts val="500"/>
              </a:spcAft>
            </a:pPr>
            <a:r>
              <a:rPr sz="2300" b="1">
                <a:solidFill>
                  <a:srgbClr val="2D6DAF"/>
                </a:solidFill>
                <a:latin typeface="Aptos"/>
              </a:rPr>
              <a:t>Main</a:t>
            </a:r>
          </a:p>
        </p:txBody>
      </p:sp>
      <p:sp>
        <p:nvSpPr>
          <p:cNvPr id="18" name="TextBox 17"/>
          <p:cNvSpPr txBox="1"/>
          <p:nvPr/>
        </p:nvSpPr>
        <p:spPr>
          <a:xfrm>
            <a:off x="8595360" y="3593591"/>
            <a:ext cx="2587752" cy="484632"/>
          </a:xfrm>
          <a:prstGeom prst="rect">
            <a:avLst/>
          </a:prstGeom>
          <a:noFill/>
        </p:spPr>
        <p:txBody>
          <a:bodyPr wrap="square" lIns="0" rIns="0" tIns="0" bIns="0">
            <a:spAutoFit/>
          </a:bodyPr>
          <a:lstStyle/>
          <a:p>
            <a:pPr algn="l">
              <a:lnSpc>
                <a:spcPct val="112000"/>
              </a:lnSpc>
              <a:spcBef>
                <a:spcPts val="0"/>
              </a:spcBef>
              <a:spcAft>
                <a:spcPts val="500"/>
              </a:spcAft>
            </a:pPr>
            <a:r>
              <a:rPr sz="1700" b="0">
                <a:solidFill>
                  <a:srgbClr val="5B6472"/>
                </a:solidFill>
                <a:latin typeface="Aptos"/>
              </a:rPr>
              <a:t>Keep useful objects</a:t>
            </a:r>
          </a:p>
        </p:txBody>
      </p:sp>
      <p:sp>
        <p:nvSpPr>
          <p:cNvPr id="19" name="Rounded Rectangle 18"/>
          <p:cNvSpPr/>
          <p:nvPr/>
        </p:nvSpPr>
        <p:spPr>
          <a:xfrm>
            <a:off x="7909560" y="4178808"/>
            <a:ext cx="502920" cy="502920"/>
          </a:xfrm>
          <a:prstGeom prst="roundRect">
            <a:avLst>
              <a:gd name="adj" fmla="val 12000"/>
            </a:avLst>
          </a:prstGeom>
          <a:solidFill>
            <a:srgbClr val="788594"/>
          </a:solidFill>
          <a:ln>
            <a:noFill/>
          </a:ln>
        </p:spPr>
        <p:txBody>
          <a:bodyPr rtlCol="0" anchor="ctr"/>
          <a:lstStyle/>
          <a:p>
            <a:pPr algn="ctr"/>
          </a:p>
        </p:txBody>
      </p:sp>
      <p:sp>
        <p:nvSpPr>
          <p:cNvPr id="20" name="TextBox 19"/>
          <p:cNvSpPr txBox="1"/>
          <p:nvPr/>
        </p:nvSpPr>
        <p:spPr>
          <a:xfrm>
            <a:off x="7909560" y="4261104"/>
            <a:ext cx="502920" cy="365760"/>
          </a:xfrm>
          <a:prstGeom prst="rect">
            <a:avLst/>
          </a:prstGeom>
          <a:noFill/>
        </p:spPr>
        <p:txBody>
          <a:bodyPr wrap="square" lIns="0" rIns="0" tIns="0" bIns="0">
            <a:spAutoFit/>
          </a:bodyPr>
          <a:lstStyle/>
          <a:p>
            <a:pPr algn="ctr">
              <a:lnSpc>
                <a:spcPct val="112000"/>
              </a:lnSpc>
              <a:spcBef>
                <a:spcPts val="0"/>
              </a:spcBef>
              <a:spcAft>
                <a:spcPts val="500"/>
              </a:spcAft>
            </a:pPr>
            <a:r>
              <a:rPr sz="2100" b="1">
                <a:solidFill>
                  <a:srgbClr val="FFFFFF"/>
                </a:solidFill>
                <a:latin typeface="Aptos"/>
              </a:rPr>
              <a:t>G</a:t>
            </a:r>
          </a:p>
        </p:txBody>
      </p:sp>
      <p:sp>
        <p:nvSpPr>
          <p:cNvPr id="21" name="TextBox 20"/>
          <p:cNvSpPr txBox="1"/>
          <p:nvPr/>
        </p:nvSpPr>
        <p:spPr>
          <a:xfrm>
            <a:off x="8595360" y="4178808"/>
            <a:ext cx="2587752" cy="365760"/>
          </a:xfrm>
          <a:prstGeom prst="rect">
            <a:avLst/>
          </a:prstGeom>
          <a:noFill/>
        </p:spPr>
        <p:txBody>
          <a:bodyPr wrap="square" lIns="0" rIns="0" tIns="0" bIns="0">
            <a:spAutoFit/>
          </a:bodyPr>
          <a:lstStyle/>
          <a:p>
            <a:pPr algn="l">
              <a:lnSpc>
                <a:spcPct val="112000"/>
              </a:lnSpc>
              <a:spcBef>
                <a:spcPts val="0"/>
              </a:spcBef>
              <a:spcAft>
                <a:spcPts val="500"/>
              </a:spcAft>
            </a:pPr>
            <a:r>
              <a:rPr sz="2300" b="1">
                <a:solidFill>
                  <a:srgbClr val="788594"/>
                </a:solidFill>
                <a:latin typeface="Aptos"/>
              </a:rPr>
              <a:t>Ghost</a:t>
            </a:r>
          </a:p>
        </p:txBody>
      </p:sp>
      <p:sp>
        <p:nvSpPr>
          <p:cNvPr id="22" name="TextBox 21"/>
          <p:cNvSpPr txBox="1"/>
          <p:nvPr/>
        </p:nvSpPr>
        <p:spPr>
          <a:xfrm>
            <a:off x="8595360" y="4645152"/>
            <a:ext cx="2587752" cy="484632"/>
          </a:xfrm>
          <a:prstGeom prst="rect">
            <a:avLst/>
          </a:prstGeom>
          <a:noFill/>
        </p:spPr>
        <p:txBody>
          <a:bodyPr wrap="square" lIns="0" rIns="0" tIns="0" bIns="0">
            <a:spAutoFit/>
          </a:bodyPr>
          <a:lstStyle/>
          <a:p>
            <a:pPr algn="l">
              <a:lnSpc>
                <a:spcPct val="112000"/>
              </a:lnSpc>
              <a:spcBef>
                <a:spcPts val="0"/>
              </a:spcBef>
              <a:spcAft>
                <a:spcPts val="500"/>
              </a:spcAft>
            </a:pPr>
            <a:r>
              <a:rPr sz="1700" b="0">
                <a:solidFill>
                  <a:srgbClr val="5B6472"/>
                </a:solidFill>
                <a:latin typeface="Aptos"/>
              </a:rPr>
              <a:t>Remember removed IDs</a:t>
            </a:r>
          </a:p>
        </p:txBody>
      </p:sp>
      <p:sp>
        <p:nvSpPr>
          <p:cNvPr id="23" name="Rounded Rectangle 22"/>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24" name="TextBox 23"/>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The main idea: use three FIFO queues to filter, protect and remember.</a:t>
            </a:r>
          </a:p>
        </p:txBody>
      </p:sp>
      <p:sp>
        <p:nvSpPr>
          <p:cNvPr id="25" name="TextBox 24"/>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Figure 5 and §4.1, Yang et al., SOSP 2023.</a:t>
            </a:r>
          </a:p>
        </p:txBody>
      </p:sp>
      <p:sp>
        <p:nvSpPr>
          <p:cNvPr id="26" name="TextBox 25"/>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7" name="TextBox 26"/>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2 · Queue Roles</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Small, Main and Ghost</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Small and Main store data; Ghost keeps only metadata for recently removed objects.</a:t>
            </a:r>
          </a:p>
        </p:txBody>
      </p:sp>
      <p:sp>
        <p:nvSpPr>
          <p:cNvPr id="7" name="Rectangle 6"/>
          <p:cNvSpPr/>
          <p:nvPr/>
        </p:nvSpPr>
        <p:spPr>
          <a:xfrm>
            <a:off x="731520" y="1810512"/>
            <a:ext cx="1078992" cy="502920"/>
          </a:xfrm>
          <a:prstGeom prst="rect">
            <a:avLst/>
          </a:prstGeom>
          <a:solidFill>
            <a:srgbClr val="D9852A"/>
          </a:solidFill>
          <a:ln>
            <a:noFill/>
          </a:ln>
        </p:spPr>
        <p:txBody>
          <a:bodyPr rtlCol="0" anchor="ctr"/>
          <a:lstStyle/>
          <a:p>
            <a:pPr algn="ctr"/>
          </a:p>
        </p:txBody>
      </p:sp>
      <p:sp>
        <p:nvSpPr>
          <p:cNvPr id="8" name="Rectangle 7"/>
          <p:cNvSpPr/>
          <p:nvPr/>
        </p:nvSpPr>
        <p:spPr>
          <a:xfrm>
            <a:off x="1828800" y="1810512"/>
            <a:ext cx="9646920" cy="502920"/>
          </a:xfrm>
          <a:prstGeom prst="rect">
            <a:avLst/>
          </a:prstGeom>
          <a:solidFill>
            <a:srgbClr val="2D6DAF"/>
          </a:solidFill>
          <a:ln>
            <a:noFill/>
          </a:ln>
        </p:spPr>
        <p:txBody>
          <a:bodyPr rtlCol="0" anchor="ctr"/>
          <a:lstStyle/>
          <a:p>
            <a:pPr algn="ctr"/>
          </a:p>
        </p:txBody>
      </p:sp>
      <p:sp>
        <p:nvSpPr>
          <p:cNvPr id="9" name="TextBox 8"/>
          <p:cNvSpPr txBox="1"/>
          <p:nvPr/>
        </p:nvSpPr>
        <p:spPr>
          <a:xfrm>
            <a:off x="731520" y="1920240"/>
            <a:ext cx="1078992" cy="274320"/>
          </a:xfrm>
          <a:prstGeom prst="rect">
            <a:avLst/>
          </a:prstGeom>
          <a:noFill/>
        </p:spPr>
        <p:txBody>
          <a:bodyPr wrap="square" lIns="0" rIns="0" tIns="0" bIns="0">
            <a:spAutoFit/>
          </a:bodyPr>
          <a:lstStyle/>
          <a:p>
            <a:pPr algn="ctr">
              <a:lnSpc>
                <a:spcPct val="112000"/>
              </a:lnSpc>
              <a:spcBef>
                <a:spcPts val="0"/>
              </a:spcBef>
              <a:spcAft>
                <a:spcPts val="500"/>
              </a:spcAft>
            </a:pPr>
            <a:r>
              <a:rPr sz="1500" b="1">
                <a:solidFill>
                  <a:srgbClr val="FFFFFF"/>
                </a:solidFill>
                <a:latin typeface="Aptos"/>
              </a:rPr>
              <a:t>S · 10%</a:t>
            </a:r>
          </a:p>
        </p:txBody>
      </p:sp>
      <p:sp>
        <p:nvSpPr>
          <p:cNvPr id="10" name="TextBox 9"/>
          <p:cNvSpPr txBox="1"/>
          <p:nvPr/>
        </p:nvSpPr>
        <p:spPr>
          <a:xfrm>
            <a:off x="2048256" y="1920240"/>
            <a:ext cx="9144000" cy="274320"/>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FFFFFF"/>
                </a:solidFill>
                <a:latin typeface="Aptos"/>
              </a:rPr>
              <a:t>M · 90% of cache space</a:t>
            </a:r>
          </a:p>
        </p:txBody>
      </p:sp>
      <p:sp>
        <p:nvSpPr>
          <p:cNvPr id="11" name="Rounded Rectangle 10"/>
          <p:cNvSpPr/>
          <p:nvPr/>
        </p:nvSpPr>
        <p:spPr>
          <a:xfrm>
            <a:off x="685800" y="2615184"/>
            <a:ext cx="3438144" cy="2798064"/>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2" name="TextBox 11"/>
          <p:cNvSpPr txBox="1"/>
          <p:nvPr/>
        </p:nvSpPr>
        <p:spPr>
          <a:xfrm>
            <a:off x="914400" y="2834640"/>
            <a:ext cx="2980944" cy="274320"/>
          </a:xfrm>
          <a:prstGeom prst="rect">
            <a:avLst/>
          </a:prstGeom>
          <a:noFill/>
        </p:spPr>
        <p:txBody>
          <a:bodyPr wrap="square" lIns="0" rIns="0" tIns="0" bIns="0">
            <a:spAutoFit/>
          </a:bodyPr>
          <a:lstStyle/>
          <a:p>
            <a:pPr algn="l">
              <a:lnSpc>
                <a:spcPct val="112000"/>
              </a:lnSpc>
              <a:spcBef>
                <a:spcPts val="0"/>
              </a:spcBef>
              <a:spcAft>
                <a:spcPts val="500"/>
              </a:spcAft>
            </a:pPr>
            <a:r>
              <a:rPr sz="1400" b="1">
                <a:solidFill>
                  <a:srgbClr val="D9852A"/>
                </a:solidFill>
                <a:latin typeface="Aptos"/>
              </a:rPr>
              <a:t>SMALL QUEUE</a:t>
            </a:r>
          </a:p>
        </p:txBody>
      </p:sp>
      <p:sp>
        <p:nvSpPr>
          <p:cNvPr id="13" name="TextBox 12"/>
          <p:cNvSpPr txBox="1"/>
          <p:nvPr/>
        </p:nvSpPr>
        <p:spPr>
          <a:xfrm>
            <a:off x="914400" y="3291840"/>
            <a:ext cx="2980944" cy="594360"/>
          </a:xfrm>
          <a:prstGeom prst="rect">
            <a:avLst/>
          </a:prstGeom>
          <a:noFill/>
        </p:spPr>
        <p:txBody>
          <a:bodyPr wrap="square" lIns="0" rIns="0" tIns="0" bIns="0">
            <a:spAutoFit/>
          </a:bodyPr>
          <a:lstStyle/>
          <a:p>
            <a:pPr algn="l">
              <a:lnSpc>
                <a:spcPct val="112000"/>
              </a:lnSpc>
              <a:spcBef>
                <a:spcPts val="0"/>
              </a:spcBef>
              <a:spcAft>
                <a:spcPts val="500"/>
              </a:spcAft>
            </a:pPr>
            <a:r>
              <a:rPr sz="3200" b="1">
                <a:solidFill>
                  <a:srgbClr val="D9852A"/>
                </a:solidFill>
                <a:latin typeface="Aptos"/>
              </a:rPr>
              <a:t>10%</a:t>
            </a:r>
          </a:p>
        </p:txBody>
      </p:sp>
      <p:sp>
        <p:nvSpPr>
          <p:cNvPr id="14" name="TextBox 13"/>
          <p:cNvSpPr txBox="1"/>
          <p:nvPr/>
        </p:nvSpPr>
        <p:spPr>
          <a:xfrm>
            <a:off x="914400" y="3931920"/>
            <a:ext cx="2980944" cy="1243584"/>
          </a:xfrm>
          <a:prstGeom prst="rect">
            <a:avLst/>
          </a:prstGeom>
          <a:noFill/>
        </p:spPr>
        <p:txBody>
          <a:bodyPr wrap="square" lIns="0" rIns="0" tIns="0" bIns="0">
            <a:spAutoFit/>
          </a:bodyPr>
          <a:lstStyle/>
          <a:p>
            <a:pPr algn="l">
              <a:lnSpc>
                <a:spcPct val="114000"/>
              </a:lnSpc>
              <a:spcBef>
                <a:spcPts val="0"/>
              </a:spcBef>
              <a:spcAft>
                <a:spcPts val="1000"/>
              </a:spcAft>
            </a:pPr>
            <a:r>
              <a:rPr sz="1650">
                <a:solidFill>
                  <a:srgbClr val="172033"/>
                </a:solidFill>
                <a:latin typeface="Aptos"/>
              </a:rPr>
              <a:t>New objects usually enter S first.</a:t>
            </a:r>
          </a:p>
          <a:p>
            <a:pPr>
              <a:lnSpc>
                <a:spcPct val="114000"/>
              </a:lnSpc>
              <a:spcAft>
                <a:spcPts val="1000"/>
              </a:spcAft>
            </a:pPr>
            <a:r>
              <a:rPr sz="1650">
                <a:solidFill>
                  <a:srgbClr val="172033"/>
                </a:solidFill>
                <a:latin typeface="Aptos"/>
              </a:rPr>
              <a:t>A testing area: objects with no reuse leave quickly.</a:t>
            </a:r>
          </a:p>
        </p:txBody>
      </p:sp>
      <p:sp>
        <p:nvSpPr>
          <p:cNvPr id="15" name="Rounded Rectangle 14"/>
          <p:cNvSpPr/>
          <p:nvPr/>
        </p:nvSpPr>
        <p:spPr>
          <a:xfrm>
            <a:off x="4361688" y="2615184"/>
            <a:ext cx="3438144" cy="2798064"/>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6" name="TextBox 15"/>
          <p:cNvSpPr txBox="1"/>
          <p:nvPr/>
        </p:nvSpPr>
        <p:spPr>
          <a:xfrm>
            <a:off x="4590288" y="2834640"/>
            <a:ext cx="2980944" cy="274320"/>
          </a:xfrm>
          <a:prstGeom prst="rect">
            <a:avLst/>
          </a:prstGeom>
          <a:noFill/>
        </p:spPr>
        <p:txBody>
          <a:bodyPr wrap="square" lIns="0" rIns="0" tIns="0" bIns="0">
            <a:spAutoFit/>
          </a:bodyPr>
          <a:lstStyle/>
          <a:p>
            <a:pPr algn="l">
              <a:lnSpc>
                <a:spcPct val="112000"/>
              </a:lnSpc>
              <a:spcBef>
                <a:spcPts val="0"/>
              </a:spcBef>
              <a:spcAft>
                <a:spcPts val="500"/>
              </a:spcAft>
            </a:pPr>
            <a:r>
              <a:rPr sz="1400" b="1">
                <a:solidFill>
                  <a:srgbClr val="2D6DAF"/>
                </a:solidFill>
                <a:latin typeface="Aptos"/>
              </a:rPr>
              <a:t>MAIN QUEUE</a:t>
            </a:r>
          </a:p>
        </p:txBody>
      </p:sp>
      <p:sp>
        <p:nvSpPr>
          <p:cNvPr id="17" name="TextBox 16"/>
          <p:cNvSpPr txBox="1"/>
          <p:nvPr/>
        </p:nvSpPr>
        <p:spPr>
          <a:xfrm>
            <a:off x="4590288" y="3291840"/>
            <a:ext cx="2980944" cy="594360"/>
          </a:xfrm>
          <a:prstGeom prst="rect">
            <a:avLst/>
          </a:prstGeom>
          <a:noFill/>
        </p:spPr>
        <p:txBody>
          <a:bodyPr wrap="square" lIns="0" rIns="0" tIns="0" bIns="0">
            <a:spAutoFit/>
          </a:bodyPr>
          <a:lstStyle/>
          <a:p>
            <a:pPr algn="l">
              <a:lnSpc>
                <a:spcPct val="112000"/>
              </a:lnSpc>
              <a:spcBef>
                <a:spcPts val="0"/>
              </a:spcBef>
              <a:spcAft>
                <a:spcPts val="500"/>
              </a:spcAft>
            </a:pPr>
            <a:r>
              <a:rPr sz="3200" b="1">
                <a:solidFill>
                  <a:srgbClr val="2D6DAF"/>
                </a:solidFill>
                <a:latin typeface="Aptos"/>
              </a:rPr>
              <a:t>90%</a:t>
            </a:r>
          </a:p>
        </p:txBody>
      </p:sp>
      <p:sp>
        <p:nvSpPr>
          <p:cNvPr id="18" name="TextBox 17"/>
          <p:cNvSpPr txBox="1"/>
          <p:nvPr/>
        </p:nvSpPr>
        <p:spPr>
          <a:xfrm>
            <a:off x="4590288" y="3931920"/>
            <a:ext cx="2980944" cy="1243584"/>
          </a:xfrm>
          <a:prstGeom prst="rect">
            <a:avLst/>
          </a:prstGeom>
          <a:noFill/>
        </p:spPr>
        <p:txBody>
          <a:bodyPr wrap="square" lIns="0" rIns="0" tIns="0" bIns="0">
            <a:spAutoFit/>
          </a:bodyPr>
          <a:lstStyle/>
          <a:p>
            <a:pPr algn="l">
              <a:lnSpc>
                <a:spcPct val="114000"/>
              </a:lnSpc>
              <a:spcBef>
                <a:spcPts val="0"/>
              </a:spcBef>
              <a:spcAft>
                <a:spcPts val="1000"/>
              </a:spcAft>
            </a:pPr>
            <a:r>
              <a:rPr sz="1650">
                <a:solidFill>
                  <a:srgbClr val="172033"/>
                </a:solidFill>
                <a:latin typeface="Aptos"/>
              </a:rPr>
              <a:t>M keeps objects that have shown they are useful.</a:t>
            </a:r>
          </a:p>
          <a:p>
            <a:pPr>
              <a:lnSpc>
                <a:spcPct val="114000"/>
              </a:lnSpc>
              <a:spcAft>
                <a:spcPts val="1000"/>
              </a:spcAft>
            </a:pPr>
            <a:r>
              <a:rPr sz="1650">
                <a:solidFill>
                  <a:srgbClr val="172033"/>
                </a:solidFill>
                <a:latin typeface="Aptos"/>
              </a:rPr>
              <a:t>Useful objects stay in cache for longer.</a:t>
            </a:r>
          </a:p>
        </p:txBody>
      </p:sp>
      <p:sp>
        <p:nvSpPr>
          <p:cNvPr id="19" name="Rounded Rectangle 18"/>
          <p:cNvSpPr/>
          <p:nvPr/>
        </p:nvSpPr>
        <p:spPr>
          <a:xfrm>
            <a:off x="8037575" y="2615184"/>
            <a:ext cx="3438144" cy="2798064"/>
          </a:xfrm>
          <a:prstGeom prst="roundRect">
            <a:avLst>
              <a:gd name="adj" fmla="val 12000"/>
            </a:avLst>
          </a:prstGeom>
          <a:solidFill>
            <a:srgbClr val="FFFFFF"/>
          </a:solidFill>
          <a:ln w="9525">
            <a:solidFill>
              <a:srgbClr val="DCE5EF"/>
            </a:solidFill>
          </a:ln>
        </p:spPr>
        <p:txBody>
          <a:bodyPr rtlCol="0" anchor="ctr"/>
          <a:lstStyle/>
          <a:p>
            <a:pPr algn="ctr"/>
          </a:p>
        </p:txBody>
      </p:sp>
      <p:sp>
        <p:nvSpPr>
          <p:cNvPr id="20" name="TextBox 19"/>
          <p:cNvSpPr txBox="1"/>
          <p:nvPr/>
        </p:nvSpPr>
        <p:spPr>
          <a:xfrm>
            <a:off x="8266175" y="2834640"/>
            <a:ext cx="2980944" cy="274320"/>
          </a:xfrm>
          <a:prstGeom prst="rect">
            <a:avLst/>
          </a:prstGeom>
          <a:noFill/>
        </p:spPr>
        <p:txBody>
          <a:bodyPr wrap="square" lIns="0" rIns="0" tIns="0" bIns="0">
            <a:spAutoFit/>
          </a:bodyPr>
          <a:lstStyle/>
          <a:p>
            <a:pPr algn="l">
              <a:lnSpc>
                <a:spcPct val="112000"/>
              </a:lnSpc>
              <a:spcBef>
                <a:spcPts val="0"/>
              </a:spcBef>
              <a:spcAft>
                <a:spcPts val="500"/>
              </a:spcAft>
            </a:pPr>
            <a:r>
              <a:rPr sz="1400" b="1">
                <a:solidFill>
                  <a:srgbClr val="788594"/>
                </a:solidFill>
                <a:latin typeface="Aptos"/>
              </a:rPr>
              <a:t>GHOST QUEUE</a:t>
            </a:r>
          </a:p>
        </p:txBody>
      </p:sp>
      <p:sp>
        <p:nvSpPr>
          <p:cNvPr id="21" name="TextBox 20"/>
          <p:cNvSpPr txBox="1"/>
          <p:nvPr/>
        </p:nvSpPr>
        <p:spPr>
          <a:xfrm>
            <a:off x="8266175" y="3291840"/>
            <a:ext cx="2980944" cy="594360"/>
          </a:xfrm>
          <a:prstGeom prst="rect">
            <a:avLst/>
          </a:prstGeom>
          <a:noFill/>
        </p:spPr>
        <p:txBody>
          <a:bodyPr wrap="square" lIns="0" rIns="0" tIns="0" bIns="0">
            <a:spAutoFit/>
          </a:bodyPr>
          <a:lstStyle/>
          <a:p>
            <a:pPr algn="l">
              <a:lnSpc>
                <a:spcPct val="112000"/>
              </a:lnSpc>
              <a:spcBef>
                <a:spcPts val="0"/>
              </a:spcBef>
              <a:spcAft>
                <a:spcPts val="500"/>
              </a:spcAft>
            </a:pPr>
            <a:r>
              <a:rPr sz="3200" b="1">
                <a:solidFill>
                  <a:srgbClr val="788594"/>
                </a:solidFill>
                <a:latin typeface="Aptos"/>
              </a:rPr>
              <a:t>IDs only</a:t>
            </a:r>
          </a:p>
        </p:txBody>
      </p:sp>
      <p:sp>
        <p:nvSpPr>
          <p:cNvPr id="22" name="TextBox 21"/>
          <p:cNvSpPr txBox="1"/>
          <p:nvPr/>
        </p:nvSpPr>
        <p:spPr>
          <a:xfrm>
            <a:off x="8266175" y="3931920"/>
            <a:ext cx="2980944" cy="1243584"/>
          </a:xfrm>
          <a:prstGeom prst="rect">
            <a:avLst/>
          </a:prstGeom>
          <a:noFill/>
        </p:spPr>
        <p:txBody>
          <a:bodyPr wrap="square" lIns="0" rIns="0" tIns="0" bIns="0">
            <a:spAutoFit/>
          </a:bodyPr>
          <a:lstStyle/>
          <a:p>
            <a:pPr algn="l">
              <a:lnSpc>
                <a:spcPct val="114000"/>
              </a:lnSpc>
              <a:spcBef>
                <a:spcPts val="0"/>
              </a:spcBef>
              <a:spcAft>
                <a:spcPts val="1000"/>
              </a:spcAft>
            </a:pPr>
            <a:r>
              <a:rPr sz="1650">
                <a:solidFill>
                  <a:srgbClr val="172033"/>
                </a:solidFill>
                <a:latin typeface="Aptos"/>
              </a:rPr>
              <a:t>G remembers recently removed object IDs.</a:t>
            </a:r>
          </a:p>
          <a:p>
            <a:pPr>
              <a:lnSpc>
                <a:spcPct val="114000"/>
              </a:lnSpc>
              <a:spcAft>
                <a:spcPts val="1000"/>
              </a:spcAft>
            </a:pPr>
            <a:r>
              <a:rPr sz="1650">
                <a:solidFill>
                  <a:srgbClr val="172033"/>
                </a:solidFill>
                <a:latin typeface="Aptos"/>
              </a:rPr>
              <a:t>It stores no actual cached data.</a:t>
            </a:r>
          </a:p>
        </p:txBody>
      </p:sp>
      <p:sp>
        <p:nvSpPr>
          <p:cNvPr id="23" name="Rounded Rectangle 22"/>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24" name="TextBox 23"/>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13294B"/>
                </a:solidFill>
                <a:latin typeface="Aptos"/>
              </a:rPr>
              <a:t>Ghost entries are metadata; they are not part of the cached data payload.</a:t>
            </a:r>
          </a:p>
        </p:txBody>
      </p:sp>
      <p:sp>
        <p:nvSpPr>
          <p:cNvPr id="25" name="TextBox 24"/>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§4.1, Yang et al., SOSP 2023.</a:t>
            </a:r>
          </a:p>
        </p:txBody>
      </p:sp>
      <p:sp>
        <p:nvSpPr>
          <p:cNvPr id="26" name="TextBox 25"/>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7" name="TextBox 26"/>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2 · Cache Requests</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Cache Hit and Cache Miss</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A hit updates a capped access counter; a miss uses Ghost history to choose a queue.</a:t>
            </a:r>
          </a:p>
        </p:txBody>
      </p:sp>
      <p:sp>
        <p:nvSpPr>
          <p:cNvPr id="7" name="Rounded Rectangle 6"/>
          <p:cNvSpPr/>
          <p:nvPr/>
        </p:nvSpPr>
        <p:spPr>
          <a:xfrm>
            <a:off x="685800" y="1783080"/>
            <a:ext cx="10789920" cy="3639312"/>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Rounded Rectangle 7"/>
          <p:cNvSpPr/>
          <p:nvPr/>
        </p:nvSpPr>
        <p:spPr>
          <a:xfrm>
            <a:off x="932688" y="2752344"/>
            <a:ext cx="1389888" cy="713232"/>
          </a:xfrm>
          <a:prstGeom prst="roundRect">
            <a:avLst>
              <a:gd name="adj" fmla="val 12000"/>
            </a:avLst>
          </a:prstGeom>
          <a:solidFill>
            <a:srgbClr val="FFFFFF"/>
          </a:solidFill>
          <a:ln w="9525">
            <a:solidFill>
              <a:srgbClr val="13294B"/>
            </a:solidFill>
          </a:ln>
        </p:spPr>
        <p:txBody>
          <a:bodyPr rtlCol="0" anchor="ctr"/>
          <a:lstStyle/>
          <a:p>
            <a:pPr algn="ctr"/>
          </a:p>
        </p:txBody>
      </p:sp>
      <p:sp>
        <p:nvSpPr>
          <p:cNvPr id="9" name="TextBox 8"/>
          <p:cNvSpPr txBox="1"/>
          <p:nvPr/>
        </p:nvSpPr>
        <p:spPr>
          <a:xfrm>
            <a:off x="1042416" y="2898648"/>
            <a:ext cx="1170432" cy="530352"/>
          </a:xfrm>
          <a:prstGeom prst="rect">
            <a:avLst/>
          </a:prstGeom>
          <a:noFill/>
        </p:spPr>
        <p:txBody>
          <a:bodyPr wrap="square" lIns="0" rIns="0" tIns="0" bIns="0">
            <a:spAutoFit/>
          </a:bodyPr>
          <a:lstStyle/>
          <a:p>
            <a:pPr algn="ctr">
              <a:lnSpc>
                <a:spcPct val="112000"/>
              </a:lnSpc>
              <a:spcBef>
                <a:spcPts val="0"/>
              </a:spcBef>
              <a:spcAft>
                <a:spcPts val="500"/>
              </a:spcAft>
            </a:pPr>
            <a:r>
              <a:rPr sz="2000" b="1">
                <a:solidFill>
                  <a:srgbClr val="13294B"/>
                </a:solidFill>
                <a:latin typeface="Aptos"/>
              </a:rPr>
              <a:t>Request</a:t>
            </a:r>
          </a:p>
        </p:txBody>
      </p:sp>
      <p:cxnSp>
        <p:nvCxnSpPr>
          <p:cNvPr id="10" name="Connector 9"/>
          <p:cNvCxnSpPr/>
          <p:nvPr/>
        </p:nvCxnSpPr>
        <p:spPr>
          <a:xfrm>
            <a:off x="2322576" y="3108960"/>
            <a:ext cx="420624" cy="0"/>
          </a:xfrm>
          <a:prstGeom prst="line">
            <a:avLst/>
          </a:prstGeom>
          <a:ln w="22860">
            <a:solidFill>
              <a:srgbClr val="2D6DAF"/>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743200" y="2752344"/>
            <a:ext cx="1920240" cy="713232"/>
          </a:xfrm>
          <a:prstGeom prst="roundRect">
            <a:avLst>
              <a:gd name="adj" fmla="val 12000"/>
            </a:avLst>
          </a:prstGeom>
          <a:solidFill>
            <a:srgbClr val="FFFFFF"/>
          </a:solidFill>
          <a:ln w="9525">
            <a:solidFill>
              <a:srgbClr val="13294B"/>
            </a:solidFill>
          </a:ln>
        </p:spPr>
        <p:txBody>
          <a:bodyPr rtlCol="0" anchor="ctr"/>
          <a:lstStyle/>
          <a:p>
            <a:pPr algn="ctr"/>
          </a:p>
        </p:txBody>
      </p:sp>
      <p:sp>
        <p:nvSpPr>
          <p:cNvPr id="12" name="TextBox 11"/>
          <p:cNvSpPr txBox="1"/>
          <p:nvPr/>
        </p:nvSpPr>
        <p:spPr>
          <a:xfrm>
            <a:off x="2852928" y="2898648"/>
            <a:ext cx="1700784" cy="530352"/>
          </a:xfrm>
          <a:prstGeom prst="rect">
            <a:avLst/>
          </a:prstGeom>
          <a:noFill/>
        </p:spPr>
        <p:txBody>
          <a:bodyPr wrap="square" lIns="0" rIns="0" tIns="0" bIns="0">
            <a:spAutoFit/>
          </a:bodyPr>
          <a:lstStyle/>
          <a:p>
            <a:pPr algn="ctr">
              <a:lnSpc>
                <a:spcPct val="112000"/>
              </a:lnSpc>
              <a:spcBef>
                <a:spcPts val="0"/>
              </a:spcBef>
              <a:spcAft>
                <a:spcPts val="500"/>
              </a:spcAft>
            </a:pPr>
            <a:r>
              <a:rPr sz="2000" b="1">
                <a:solidFill>
                  <a:srgbClr val="13294B"/>
                </a:solidFill>
                <a:latin typeface="Aptos"/>
              </a:rPr>
              <a:t>In S or M?</a:t>
            </a:r>
          </a:p>
        </p:txBody>
      </p:sp>
      <p:cxnSp>
        <p:nvCxnSpPr>
          <p:cNvPr id="13" name="Connector 12"/>
          <p:cNvCxnSpPr/>
          <p:nvPr/>
        </p:nvCxnSpPr>
        <p:spPr>
          <a:xfrm flipV="1">
            <a:off x="3703320" y="2468880"/>
            <a:ext cx="0" cy="283464"/>
          </a:xfrm>
          <a:prstGeom prst="line">
            <a:avLst/>
          </a:prstGeom>
          <a:ln w="22860">
            <a:solidFill>
              <a:srgbClr val="238B6D"/>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822191" y="2514600"/>
            <a:ext cx="640080" cy="228600"/>
          </a:xfrm>
          <a:prstGeom prst="rect">
            <a:avLst/>
          </a:prstGeom>
          <a:noFill/>
        </p:spPr>
        <p:txBody>
          <a:bodyPr wrap="square" lIns="0" rIns="0" tIns="0" bIns="0">
            <a:spAutoFit/>
          </a:bodyPr>
          <a:lstStyle/>
          <a:p>
            <a:pPr algn="l">
              <a:lnSpc>
                <a:spcPct val="112000"/>
              </a:lnSpc>
              <a:spcBef>
                <a:spcPts val="0"/>
              </a:spcBef>
              <a:spcAft>
                <a:spcPts val="500"/>
              </a:spcAft>
            </a:pPr>
            <a:r>
              <a:rPr sz="1200" b="0">
                <a:solidFill>
                  <a:srgbClr val="238B6D"/>
                </a:solidFill>
                <a:latin typeface="Aptos"/>
              </a:rPr>
              <a:t>Yes</a:t>
            </a:r>
          </a:p>
        </p:txBody>
      </p:sp>
      <p:sp>
        <p:nvSpPr>
          <p:cNvPr id="15" name="Rounded Rectangle 14"/>
          <p:cNvSpPr/>
          <p:nvPr/>
        </p:nvSpPr>
        <p:spPr>
          <a:xfrm>
            <a:off x="2057400" y="1929384"/>
            <a:ext cx="4754880" cy="557784"/>
          </a:xfrm>
          <a:prstGeom prst="roundRect">
            <a:avLst>
              <a:gd name="adj" fmla="val 12000"/>
            </a:avLst>
          </a:prstGeom>
          <a:solidFill>
            <a:srgbClr val="FFFFFF"/>
          </a:solidFill>
          <a:ln w="9525">
            <a:solidFill>
              <a:srgbClr val="238B6D"/>
            </a:solidFill>
          </a:ln>
        </p:spPr>
        <p:txBody>
          <a:bodyPr rtlCol="0" anchor="ctr"/>
          <a:lstStyle/>
          <a:p>
            <a:pPr algn="ctr"/>
          </a:p>
        </p:txBody>
      </p:sp>
      <p:sp>
        <p:nvSpPr>
          <p:cNvPr id="16" name="TextBox 15"/>
          <p:cNvSpPr txBox="1"/>
          <p:nvPr/>
        </p:nvSpPr>
        <p:spPr>
          <a:xfrm>
            <a:off x="2167128" y="2075688"/>
            <a:ext cx="4535424" cy="374904"/>
          </a:xfrm>
          <a:prstGeom prst="rect">
            <a:avLst/>
          </a:prstGeom>
          <a:noFill/>
        </p:spPr>
        <p:txBody>
          <a:bodyPr wrap="square" lIns="0" rIns="0" tIns="0" bIns="0">
            <a:spAutoFit/>
          </a:bodyPr>
          <a:lstStyle/>
          <a:p>
            <a:pPr algn="ctr">
              <a:lnSpc>
                <a:spcPct val="112000"/>
              </a:lnSpc>
              <a:spcBef>
                <a:spcPts val="0"/>
              </a:spcBef>
              <a:spcAft>
                <a:spcPts val="500"/>
              </a:spcAft>
            </a:pPr>
            <a:r>
              <a:rPr sz="1900" b="1">
                <a:solidFill>
                  <a:srgbClr val="238B6D"/>
                </a:solidFill>
                <a:latin typeface="Aptos"/>
              </a:rPr>
              <a:t>HIT: freq = min(freq + 1, 3)</a:t>
            </a:r>
          </a:p>
        </p:txBody>
      </p:sp>
      <p:cxnSp>
        <p:nvCxnSpPr>
          <p:cNvPr id="17" name="Connector 16"/>
          <p:cNvCxnSpPr/>
          <p:nvPr/>
        </p:nvCxnSpPr>
        <p:spPr>
          <a:xfrm>
            <a:off x="4663440" y="3108960"/>
            <a:ext cx="822960" cy="0"/>
          </a:xfrm>
          <a:prstGeom prst="line">
            <a:avLst/>
          </a:prstGeom>
          <a:ln w="22860">
            <a:solidFill>
              <a:srgbClr val="2D6DAF"/>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855464" y="2770632"/>
            <a:ext cx="594360" cy="228600"/>
          </a:xfrm>
          <a:prstGeom prst="rect">
            <a:avLst/>
          </a:prstGeom>
          <a:noFill/>
        </p:spPr>
        <p:txBody>
          <a:bodyPr wrap="square" lIns="0" rIns="0" tIns="0" bIns="0">
            <a:spAutoFit/>
          </a:bodyPr>
          <a:lstStyle/>
          <a:p>
            <a:pPr algn="l">
              <a:lnSpc>
                <a:spcPct val="112000"/>
              </a:lnSpc>
              <a:spcBef>
                <a:spcPts val="0"/>
              </a:spcBef>
              <a:spcAft>
                <a:spcPts val="500"/>
              </a:spcAft>
            </a:pPr>
            <a:r>
              <a:rPr sz="1200" b="0">
                <a:solidFill>
                  <a:srgbClr val="5B6472"/>
                </a:solidFill>
                <a:latin typeface="Aptos"/>
              </a:rPr>
              <a:t>No</a:t>
            </a:r>
          </a:p>
        </p:txBody>
      </p:sp>
      <p:sp>
        <p:nvSpPr>
          <p:cNvPr id="19" name="Rounded Rectangle 18"/>
          <p:cNvSpPr/>
          <p:nvPr/>
        </p:nvSpPr>
        <p:spPr>
          <a:xfrm>
            <a:off x="5486400" y="2752344"/>
            <a:ext cx="2048256" cy="713232"/>
          </a:xfrm>
          <a:prstGeom prst="roundRect">
            <a:avLst>
              <a:gd name="adj" fmla="val 12000"/>
            </a:avLst>
          </a:prstGeom>
          <a:solidFill>
            <a:srgbClr val="FFFFFF"/>
          </a:solidFill>
          <a:ln w="9525">
            <a:solidFill>
              <a:srgbClr val="788594"/>
            </a:solidFill>
          </a:ln>
        </p:spPr>
        <p:txBody>
          <a:bodyPr rtlCol="0" anchor="ctr"/>
          <a:lstStyle/>
          <a:p>
            <a:pPr algn="ctr"/>
          </a:p>
        </p:txBody>
      </p:sp>
      <p:sp>
        <p:nvSpPr>
          <p:cNvPr id="20" name="TextBox 19"/>
          <p:cNvSpPr txBox="1"/>
          <p:nvPr/>
        </p:nvSpPr>
        <p:spPr>
          <a:xfrm>
            <a:off x="5596128" y="2898648"/>
            <a:ext cx="1828800" cy="530352"/>
          </a:xfrm>
          <a:prstGeom prst="rect">
            <a:avLst/>
          </a:prstGeom>
          <a:noFill/>
        </p:spPr>
        <p:txBody>
          <a:bodyPr wrap="square" lIns="0" rIns="0" tIns="0" bIns="0">
            <a:spAutoFit/>
          </a:bodyPr>
          <a:lstStyle/>
          <a:p>
            <a:pPr algn="ctr">
              <a:lnSpc>
                <a:spcPct val="112000"/>
              </a:lnSpc>
              <a:spcBef>
                <a:spcPts val="0"/>
              </a:spcBef>
              <a:spcAft>
                <a:spcPts val="500"/>
              </a:spcAft>
            </a:pPr>
            <a:r>
              <a:rPr sz="1900" b="1">
                <a:solidFill>
                  <a:srgbClr val="788594"/>
                </a:solidFill>
                <a:latin typeface="Aptos"/>
              </a:rPr>
              <a:t>MISS: in G?</a:t>
            </a:r>
          </a:p>
        </p:txBody>
      </p:sp>
      <p:cxnSp>
        <p:nvCxnSpPr>
          <p:cNvPr id="21" name="Connector 20"/>
          <p:cNvCxnSpPr/>
          <p:nvPr/>
        </p:nvCxnSpPr>
        <p:spPr>
          <a:xfrm>
            <a:off x="7534656" y="3108960"/>
            <a:ext cx="950976" cy="0"/>
          </a:xfrm>
          <a:prstGeom prst="line">
            <a:avLst/>
          </a:prstGeom>
          <a:ln w="22860">
            <a:solidFill>
              <a:srgbClr val="2D6DAF"/>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54112" y="2770632"/>
            <a:ext cx="594360" cy="228600"/>
          </a:xfrm>
          <a:prstGeom prst="rect">
            <a:avLst/>
          </a:prstGeom>
          <a:noFill/>
        </p:spPr>
        <p:txBody>
          <a:bodyPr wrap="square" lIns="0" rIns="0" tIns="0" bIns="0">
            <a:spAutoFit/>
          </a:bodyPr>
          <a:lstStyle/>
          <a:p>
            <a:pPr algn="l">
              <a:lnSpc>
                <a:spcPct val="112000"/>
              </a:lnSpc>
              <a:spcBef>
                <a:spcPts val="0"/>
              </a:spcBef>
              <a:spcAft>
                <a:spcPts val="500"/>
              </a:spcAft>
            </a:pPr>
            <a:r>
              <a:rPr sz="1200" b="0">
                <a:solidFill>
                  <a:srgbClr val="2D6DAF"/>
                </a:solidFill>
                <a:latin typeface="Aptos"/>
              </a:rPr>
              <a:t>Yes</a:t>
            </a:r>
          </a:p>
        </p:txBody>
      </p:sp>
      <p:sp>
        <p:nvSpPr>
          <p:cNvPr id="23" name="Rounded Rectangle 22"/>
          <p:cNvSpPr/>
          <p:nvPr/>
        </p:nvSpPr>
        <p:spPr>
          <a:xfrm>
            <a:off x="8485632" y="2752344"/>
            <a:ext cx="2670048" cy="713232"/>
          </a:xfrm>
          <a:prstGeom prst="roundRect">
            <a:avLst>
              <a:gd name="adj" fmla="val 12000"/>
            </a:avLst>
          </a:prstGeom>
          <a:solidFill>
            <a:srgbClr val="FFFFFF"/>
          </a:solidFill>
          <a:ln w="9525">
            <a:solidFill>
              <a:srgbClr val="2D6DAF"/>
            </a:solidFill>
          </a:ln>
        </p:spPr>
        <p:txBody>
          <a:bodyPr rtlCol="0" anchor="ctr"/>
          <a:lstStyle/>
          <a:p>
            <a:pPr algn="ctr"/>
          </a:p>
        </p:txBody>
      </p:sp>
      <p:sp>
        <p:nvSpPr>
          <p:cNvPr id="24" name="TextBox 23"/>
          <p:cNvSpPr txBox="1"/>
          <p:nvPr/>
        </p:nvSpPr>
        <p:spPr>
          <a:xfrm>
            <a:off x="8595359" y="2898648"/>
            <a:ext cx="2450591" cy="530352"/>
          </a:xfrm>
          <a:prstGeom prst="rect">
            <a:avLst/>
          </a:prstGeom>
          <a:noFill/>
        </p:spPr>
        <p:txBody>
          <a:bodyPr wrap="square" lIns="0" rIns="0" tIns="0" bIns="0">
            <a:spAutoFit/>
          </a:bodyPr>
          <a:lstStyle/>
          <a:p>
            <a:pPr algn="ctr">
              <a:lnSpc>
                <a:spcPct val="112000"/>
              </a:lnSpc>
              <a:spcBef>
                <a:spcPts val="0"/>
              </a:spcBef>
              <a:spcAft>
                <a:spcPts val="500"/>
              </a:spcAft>
            </a:pPr>
            <a:r>
              <a:rPr sz="2000" b="1">
                <a:solidFill>
                  <a:srgbClr val="2D6DAF"/>
                </a:solidFill>
                <a:latin typeface="Aptos"/>
              </a:rPr>
              <a:t>Insert into M</a:t>
            </a:r>
          </a:p>
        </p:txBody>
      </p:sp>
      <p:cxnSp>
        <p:nvCxnSpPr>
          <p:cNvPr id="25" name="Connector 24"/>
          <p:cNvCxnSpPr/>
          <p:nvPr/>
        </p:nvCxnSpPr>
        <p:spPr>
          <a:xfrm>
            <a:off x="6510528" y="3465576"/>
            <a:ext cx="0" cy="740664"/>
          </a:xfrm>
          <a:prstGeom prst="line">
            <a:avLst/>
          </a:prstGeom>
          <a:ln w="22860">
            <a:solidFill>
              <a:srgbClr val="D9852A"/>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656832" y="3675887"/>
            <a:ext cx="594360" cy="274320"/>
          </a:xfrm>
          <a:prstGeom prst="rect">
            <a:avLst/>
          </a:prstGeom>
          <a:noFill/>
        </p:spPr>
        <p:txBody>
          <a:bodyPr wrap="square" lIns="0" rIns="0" tIns="0" bIns="0">
            <a:spAutoFit/>
          </a:bodyPr>
          <a:lstStyle/>
          <a:p>
            <a:pPr algn="l">
              <a:lnSpc>
                <a:spcPct val="112000"/>
              </a:lnSpc>
              <a:spcBef>
                <a:spcPts val="0"/>
              </a:spcBef>
              <a:spcAft>
                <a:spcPts val="500"/>
              </a:spcAft>
            </a:pPr>
            <a:r>
              <a:rPr sz="1200" b="0">
                <a:solidFill>
                  <a:srgbClr val="D9852A"/>
                </a:solidFill>
                <a:latin typeface="Aptos"/>
              </a:rPr>
              <a:t>No</a:t>
            </a:r>
          </a:p>
        </p:txBody>
      </p:sp>
      <p:sp>
        <p:nvSpPr>
          <p:cNvPr id="27" name="Rounded Rectangle 26"/>
          <p:cNvSpPr/>
          <p:nvPr/>
        </p:nvSpPr>
        <p:spPr>
          <a:xfrm>
            <a:off x="5193792" y="4206240"/>
            <a:ext cx="2633472" cy="713232"/>
          </a:xfrm>
          <a:prstGeom prst="roundRect">
            <a:avLst>
              <a:gd name="adj" fmla="val 12000"/>
            </a:avLst>
          </a:prstGeom>
          <a:solidFill>
            <a:srgbClr val="FFFFFF"/>
          </a:solidFill>
          <a:ln w="9525">
            <a:solidFill>
              <a:srgbClr val="D9852A"/>
            </a:solidFill>
          </a:ln>
        </p:spPr>
        <p:txBody>
          <a:bodyPr rtlCol="0" anchor="ctr"/>
          <a:lstStyle/>
          <a:p>
            <a:pPr algn="ctr"/>
          </a:p>
        </p:txBody>
      </p:sp>
      <p:sp>
        <p:nvSpPr>
          <p:cNvPr id="28" name="TextBox 27"/>
          <p:cNvSpPr txBox="1"/>
          <p:nvPr/>
        </p:nvSpPr>
        <p:spPr>
          <a:xfrm>
            <a:off x="5303520" y="4352544"/>
            <a:ext cx="2414015" cy="530352"/>
          </a:xfrm>
          <a:prstGeom prst="rect">
            <a:avLst/>
          </a:prstGeom>
          <a:noFill/>
        </p:spPr>
        <p:txBody>
          <a:bodyPr wrap="square" lIns="0" rIns="0" tIns="0" bIns="0">
            <a:spAutoFit/>
          </a:bodyPr>
          <a:lstStyle/>
          <a:p>
            <a:pPr algn="ctr">
              <a:lnSpc>
                <a:spcPct val="112000"/>
              </a:lnSpc>
              <a:spcBef>
                <a:spcPts val="0"/>
              </a:spcBef>
              <a:spcAft>
                <a:spcPts val="500"/>
              </a:spcAft>
            </a:pPr>
            <a:r>
              <a:rPr sz="2000" b="1">
                <a:solidFill>
                  <a:srgbClr val="D9852A"/>
                </a:solidFill>
                <a:latin typeface="Aptos"/>
              </a:rPr>
              <a:t>Insert into S</a:t>
            </a:r>
          </a:p>
        </p:txBody>
      </p:sp>
      <p:sp>
        <p:nvSpPr>
          <p:cNvPr id="29" name="TextBox 28"/>
          <p:cNvSpPr txBox="1"/>
          <p:nvPr/>
        </p:nvSpPr>
        <p:spPr>
          <a:xfrm>
            <a:off x="8485632" y="4270248"/>
            <a:ext cx="2670048" cy="566928"/>
          </a:xfrm>
          <a:prstGeom prst="rect">
            <a:avLst/>
          </a:prstGeom>
          <a:noFill/>
        </p:spPr>
        <p:txBody>
          <a:bodyPr wrap="square" lIns="0" rIns="0" tIns="0" bIns="0">
            <a:spAutoFit/>
          </a:bodyPr>
          <a:lstStyle/>
          <a:p>
            <a:pPr algn="l">
              <a:lnSpc>
                <a:spcPct val="112000"/>
              </a:lnSpc>
              <a:spcBef>
                <a:spcPts val="0"/>
              </a:spcBef>
              <a:spcAft>
                <a:spcPts val="500"/>
              </a:spcAft>
            </a:pPr>
            <a:r>
              <a:rPr sz="1700" b="0">
                <a:solidFill>
                  <a:srgbClr val="5B6472"/>
                </a:solidFill>
                <a:latin typeface="Aptos"/>
              </a:rPr>
              <a:t>New object counter:</a:t>
            </a:r>
          </a:p>
          <a:p>
            <a:pPr algn="l">
              <a:lnSpc>
                <a:spcPct val="112000"/>
              </a:lnSpc>
              <a:spcBef>
                <a:spcPts val="0"/>
              </a:spcBef>
              <a:spcAft>
                <a:spcPts val="500"/>
              </a:spcAft>
            </a:pPr>
            <a:r>
              <a:rPr sz="1700" b="0">
                <a:solidFill>
                  <a:srgbClr val="5B6472"/>
                </a:solidFill>
                <a:latin typeface="Aptos"/>
              </a:rPr>
              <a:t>freq = 0</a:t>
            </a:r>
          </a:p>
        </p:txBody>
      </p:sp>
      <p:sp>
        <p:nvSpPr>
          <p:cNvPr id="30" name="Rounded Rectangle 29"/>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31" name="TextBox 30"/>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Unlike LRU, S3-FIFO does not reorder objects after every cache hit.</a:t>
            </a:r>
          </a:p>
        </p:txBody>
      </p:sp>
      <p:sp>
        <p:nvSpPr>
          <p:cNvPr id="32" name="TextBox 31"/>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Algorithm 1, lines 1–13, Yang et al., SOSP 2023. Simplified editable flowchart.</a:t>
            </a:r>
          </a:p>
        </p:txBody>
      </p:sp>
      <p:sp>
        <p:nvSpPr>
          <p:cNvPr id="33" name="TextBox 32"/>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34" name="TextBox 33"/>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2 · Cache Eviction</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Eviction: Filter or Give Another Chance</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When space is needed, S filters low-reuse objects while M protects accessed objects.</a:t>
            </a:r>
          </a:p>
        </p:txBody>
      </p:sp>
      <p:sp>
        <p:nvSpPr>
          <p:cNvPr id="7" name="Rounded Rectangle 6"/>
          <p:cNvSpPr/>
          <p:nvPr/>
        </p:nvSpPr>
        <p:spPr>
          <a:xfrm>
            <a:off x="685800" y="1783080"/>
            <a:ext cx="5285232"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23544" y="1993392"/>
            <a:ext cx="4809744" cy="292608"/>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D9852A"/>
                </a:solidFill>
                <a:latin typeface="Aptos"/>
              </a:rPr>
              <a:t>SMALL QUEUE / S</a:t>
            </a:r>
          </a:p>
        </p:txBody>
      </p:sp>
      <p:sp>
        <p:nvSpPr>
          <p:cNvPr id="9" name="Rounded Rectangle 8"/>
          <p:cNvSpPr/>
          <p:nvPr/>
        </p:nvSpPr>
        <p:spPr>
          <a:xfrm>
            <a:off x="960120" y="2651760"/>
            <a:ext cx="4736592" cy="676656"/>
          </a:xfrm>
          <a:prstGeom prst="roundRect">
            <a:avLst>
              <a:gd name="adj" fmla="val 12000"/>
            </a:avLst>
          </a:prstGeom>
          <a:solidFill>
            <a:srgbClr val="FFFFFF"/>
          </a:solidFill>
          <a:ln w="9525">
            <a:solidFill>
              <a:srgbClr val="D9852A"/>
            </a:solidFill>
          </a:ln>
        </p:spPr>
        <p:txBody>
          <a:bodyPr rtlCol="0" anchor="ctr"/>
          <a:lstStyle/>
          <a:p>
            <a:pPr algn="ctr"/>
          </a:p>
        </p:txBody>
      </p:sp>
      <p:sp>
        <p:nvSpPr>
          <p:cNvPr id="10" name="TextBox 9"/>
          <p:cNvSpPr txBox="1"/>
          <p:nvPr/>
        </p:nvSpPr>
        <p:spPr>
          <a:xfrm>
            <a:off x="1069848" y="2798064"/>
            <a:ext cx="4517136" cy="493776"/>
          </a:xfrm>
          <a:prstGeom prst="rect">
            <a:avLst/>
          </a:prstGeom>
          <a:noFill/>
        </p:spPr>
        <p:txBody>
          <a:bodyPr wrap="square" lIns="0" rIns="0" tIns="0" bIns="0">
            <a:spAutoFit/>
          </a:bodyPr>
          <a:lstStyle/>
          <a:p>
            <a:pPr algn="ctr">
              <a:lnSpc>
                <a:spcPct val="112000"/>
              </a:lnSpc>
              <a:spcBef>
                <a:spcPts val="0"/>
              </a:spcBef>
              <a:spcAft>
                <a:spcPts val="500"/>
              </a:spcAft>
            </a:pPr>
            <a:r>
              <a:rPr sz="2000" b="1">
                <a:solidFill>
                  <a:srgbClr val="D9852A"/>
                </a:solidFill>
                <a:latin typeface="Aptos"/>
              </a:rPr>
              <a:t>Oldest object: freq &gt; 1?</a:t>
            </a:r>
          </a:p>
        </p:txBody>
      </p:sp>
      <p:cxnSp>
        <p:nvCxnSpPr>
          <p:cNvPr id="11" name="Connector 10"/>
          <p:cNvCxnSpPr/>
          <p:nvPr/>
        </p:nvCxnSpPr>
        <p:spPr>
          <a:xfrm>
            <a:off x="2029967" y="3328416"/>
            <a:ext cx="0" cy="603504"/>
          </a:xfrm>
          <a:prstGeom prst="line">
            <a:avLst/>
          </a:prstGeom>
          <a:ln w="22860">
            <a:solidFill>
              <a:srgbClr val="D9852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608576" y="3328416"/>
            <a:ext cx="0" cy="603504"/>
          </a:xfrm>
          <a:prstGeom prst="line">
            <a:avLst/>
          </a:prstGeom>
          <a:ln w="22860">
            <a:solidFill>
              <a:srgbClr val="788594"/>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157984" y="3493008"/>
            <a:ext cx="548640" cy="228600"/>
          </a:xfrm>
          <a:prstGeom prst="rect">
            <a:avLst/>
          </a:prstGeom>
          <a:noFill/>
        </p:spPr>
        <p:txBody>
          <a:bodyPr wrap="square" lIns="0" rIns="0" tIns="0" bIns="0">
            <a:spAutoFit/>
          </a:bodyPr>
          <a:lstStyle/>
          <a:p>
            <a:pPr algn="l">
              <a:lnSpc>
                <a:spcPct val="112000"/>
              </a:lnSpc>
              <a:spcBef>
                <a:spcPts val="0"/>
              </a:spcBef>
              <a:spcAft>
                <a:spcPts val="500"/>
              </a:spcAft>
            </a:pPr>
            <a:r>
              <a:rPr sz="1200" b="0">
                <a:solidFill>
                  <a:srgbClr val="D9852A"/>
                </a:solidFill>
                <a:latin typeface="Aptos"/>
              </a:rPr>
              <a:t>Yes</a:t>
            </a:r>
          </a:p>
        </p:txBody>
      </p:sp>
      <p:sp>
        <p:nvSpPr>
          <p:cNvPr id="14" name="TextBox 13"/>
          <p:cNvSpPr txBox="1"/>
          <p:nvPr/>
        </p:nvSpPr>
        <p:spPr>
          <a:xfrm>
            <a:off x="4736592" y="3493008"/>
            <a:ext cx="548640" cy="228600"/>
          </a:xfrm>
          <a:prstGeom prst="rect">
            <a:avLst/>
          </a:prstGeom>
          <a:noFill/>
        </p:spPr>
        <p:txBody>
          <a:bodyPr wrap="square" lIns="0" rIns="0" tIns="0" bIns="0">
            <a:spAutoFit/>
          </a:bodyPr>
          <a:lstStyle/>
          <a:p>
            <a:pPr algn="l">
              <a:lnSpc>
                <a:spcPct val="112000"/>
              </a:lnSpc>
              <a:spcBef>
                <a:spcPts val="0"/>
              </a:spcBef>
              <a:spcAft>
                <a:spcPts val="500"/>
              </a:spcAft>
            </a:pPr>
            <a:r>
              <a:rPr sz="1200" b="0">
                <a:solidFill>
                  <a:srgbClr val="788594"/>
                </a:solidFill>
                <a:latin typeface="Aptos"/>
              </a:rPr>
              <a:t>No</a:t>
            </a:r>
          </a:p>
        </p:txBody>
      </p:sp>
      <p:sp>
        <p:nvSpPr>
          <p:cNvPr id="15" name="Rounded Rectangle 14"/>
          <p:cNvSpPr/>
          <p:nvPr/>
        </p:nvSpPr>
        <p:spPr>
          <a:xfrm>
            <a:off x="868680" y="3931920"/>
            <a:ext cx="2331720" cy="841248"/>
          </a:xfrm>
          <a:prstGeom prst="roundRect">
            <a:avLst>
              <a:gd name="adj" fmla="val 12000"/>
            </a:avLst>
          </a:prstGeom>
          <a:solidFill>
            <a:srgbClr val="FFFFFF"/>
          </a:solidFill>
          <a:ln w="9525">
            <a:solidFill>
              <a:srgbClr val="D9852A"/>
            </a:solidFill>
          </a:ln>
        </p:spPr>
        <p:txBody>
          <a:bodyPr rtlCol="0" anchor="ctr"/>
          <a:lstStyle/>
          <a:p>
            <a:pPr algn="ctr"/>
          </a:p>
        </p:txBody>
      </p:sp>
      <p:sp>
        <p:nvSpPr>
          <p:cNvPr id="16" name="TextBox 15"/>
          <p:cNvSpPr txBox="1"/>
          <p:nvPr/>
        </p:nvSpPr>
        <p:spPr>
          <a:xfrm>
            <a:off x="978407" y="4078224"/>
            <a:ext cx="2112263" cy="658368"/>
          </a:xfrm>
          <a:prstGeom prst="rect">
            <a:avLst/>
          </a:prstGeom>
          <a:noFill/>
        </p:spPr>
        <p:txBody>
          <a:bodyPr wrap="square" lIns="0" rIns="0" tIns="0" bIns="0">
            <a:spAutoFit/>
          </a:bodyPr>
          <a:lstStyle/>
          <a:p>
            <a:pPr algn="ctr">
              <a:lnSpc>
                <a:spcPct val="112000"/>
              </a:lnSpc>
              <a:spcBef>
                <a:spcPts val="0"/>
              </a:spcBef>
              <a:spcAft>
                <a:spcPts val="500"/>
              </a:spcAft>
            </a:pPr>
            <a:r>
              <a:rPr sz="1700" b="1">
                <a:solidFill>
                  <a:srgbClr val="D9852A"/>
                </a:solidFill>
                <a:latin typeface="Aptos"/>
              </a:rPr>
              <a:t>Move to M</a:t>
            </a:r>
          </a:p>
        </p:txBody>
      </p:sp>
      <p:sp>
        <p:nvSpPr>
          <p:cNvPr id="17" name="Rounded Rectangle 16"/>
          <p:cNvSpPr/>
          <p:nvPr/>
        </p:nvSpPr>
        <p:spPr>
          <a:xfrm>
            <a:off x="3456432" y="3931920"/>
            <a:ext cx="2331720" cy="841248"/>
          </a:xfrm>
          <a:prstGeom prst="roundRect">
            <a:avLst>
              <a:gd name="adj" fmla="val 12000"/>
            </a:avLst>
          </a:prstGeom>
          <a:solidFill>
            <a:srgbClr val="FFFFFF"/>
          </a:solidFill>
          <a:ln w="9525">
            <a:solidFill>
              <a:srgbClr val="788594"/>
            </a:solidFill>
          </a:ln>
        </p:spPr>
        <p:txBody>
          <a:bodyPr rtlCol="0" anchor="ctr"/>
          <a:lstStyle/>
          <a:p>
            <a:pPr algn="ctr"/>
          </a:p>
        </p:txBody>
      </p:sp>
      <p:sp>
        <p:nvSpPr>
          <p:cNvPr id="18" name="TextBox 17"/>
          <p:cNvSpPr txBox="1"/>
          <p:nvPr/>
        </p:nvSpPr>
        <p:spPr>
          <a:xfrm>
            <a:off x="3566160" y="4078224"/>
            <a:ext cx="2112263" cy="658368"/>
          </a:xfrm>
          <a:prstGeom prst="rect">
            <a:avLst/>
          </a:prstGeom>
          <a:noFill/>
        </p:spPr>
        <p:txBody>
          <a:bodyPr wrap="square" lIns="0" rIns="0" tIns="0" bIns="0">
            <a:spAutoFit/>
          </a:bodyPr>
          <a:lstStyle/>
          <a:p>
            <a:pPr algn="ctr">
              <a:lnSpc>
                <a:spcPct val="112000"/>
              </a:lnSpc>
              <a:spcBef>
                <a:spcPts val="0"/>
              </a:spcBef>
              <a:spcAft>
                <a:spcPts val="500"/>
              </a:spcAft>
            </a:pPr>
            <a:r>
              <a:rPr sz="1700" b="1">
                <a:solidFill>
                  <a:srgbClr val="788594"/>
                </a:solidFill>
                <a:latin typeface="Aptos"/>
              </a:rPr>
              <a:t>Remove data;</a:t>
            </a:r>
          </a:p>
          <a:p>
            <a:pPr algn="ctr">
              <a:lnSpc>
                <a:spcPct val="112000"/>
              </a:lnSpc>
              <a:spcBef>
                <a:spcPts val="0"/>
              </a:spcBef>
              <a:spcAft>
                <a:spcPts val="500"/>
              </a:spcAft>
            </a:pPr>
            <a:r>
              <a:rPr sz="1700" b="1">
                <a:solidFill>
                  <a:srgbClr val="788594"/>
                </a:solidFill>
                <a:latin typeface="Aptos"/>
              </a:rPr>
              <a:t>ID → G</a:t>
            </a:r>
          </a:p>
        </p:txBody>
      </p:sp>
      <p:sp>
        <p:nvSpPr>
          <p:cNvPr id="19" name="TextBox 18"/>
          <p:cNvSpPr txBox="1"/>
          <p:nvPr/>
        </p:nvSpPr>
        <p:spPr>
          <a:xfrm>
            <a:off x="960120" y="4992624"/>
            <a:ext cx="4736592" cy="274320"/>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Objects with enough reuse enter Main.</a:t>
            </a:r>
          </a:p>
        </p:txBody>
      </p:sp>
      <p:sp>
        <p:nvSpPr>
          <p:cNvPr id="20" name="Rounded Rectangle 19"/>
          <p:cNvSpPr/>
          <p:nvPr/>
        </p:nvSpPr>
        <p:spPr>
          <a:xfrm>
            <a:off x="6190488" y="1783080"/>
            <a:ext cx="5285232"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21" name="TextBox 20"/>
          <p:cNvSpPr txBox="1"/>
          <p:nvPr/>
        </p:nvSpPr>
        <p:spPr>
          <a:xfrm>
            <a:off x="6428231" y="1993392"/>
            <a:ext cx="4809744" cy="292608"/>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2D6DAF"/>
                </a:solidFill>
                <a:latin typeface="Aptos"/>
              </a:rPr>
              <a:t>MAIN QUEUE / M</a:t>
            </a:r>
          </a:p>
        </p:txBody>
      </p:sp>
      <p:sp>
        <p:nvSpPr>
          <p:cNvPr id="22" name="Rounded Rectangle 21"/>
          <p:cNvSpPr/>
          <p:nvPr/>
        </p:nvSpPr>
        <p:spPr>
          <a:xfrm>
            <a:off x="6464807" y="2651760"/>
            <a:ext cx="4736592" cy="676656"/>
          </a:xfrm>
          <a:prstGeom prst="roundRect">
            <a:avLst>
              <a:gd name="adj" fmla="val 12000"/>
            </a:avLst>
          </a:prstGeom>
          <a:solidFill>
            <a:srgbClr val="FFFFFF"/>
          </a:solidFill>
          <a:ln w="9525">
            <a:solidFill>
              <a:srgbClr val="2D6DAF"/>
            </a:solidFill>
          </a:ln>
        </p:spPr>
        <p:txBody>
          <a:bodyPr rtlCol="0" anchor="ctr"/>
          <a:lstStyle/>
          <a:p>
            <a:pPr algn="ctr"/>
          </a:p>
        </p:txBody>
      </p:sp>
      <p:sp>
        <p:nvSpPr>
          <p:cNvPr id="23" name="TextBox 22"/>
          <p:cNvSpPr txBox="1"/>
          <p:nvPr/>
        </p:nvSpPr>
        <p:spPr>
          <a:xfrm>
            <a:off x="6574536" y="2798064"/>
            <a:ext cx="4517136" cy="493776"/>
          </a:xfrm>
          <a:prstGeom prst="rect">
            <a:avLst/>
          </a:prstGeom>
          <a:noFill/>
        </p:spPr>
        <p:txBody>
          <a:bodyPr wrap="square" lIns="0" rIns="0" tIns="0" bIns="0">
            <a:spAutoFit/>
          </a:bodyPr>
          <a:lstStyle/>
          <a:p>
            <a:pPr algn="ctr">
              <a:lnSpc>
                <a:spcPct val="112000"/>
              </a:lnSpc>
              <a:spcBef>
                <a:spcPts val="0"/>
              </a:spcBef>
              <a:spcAft>
                <a:spcPts val="500"/>
              </a:spcAft>
            </a:pPr>
            <a:r>
              <a:rPr sz="2000" b="1">
                <a:solidFill>
                  <a:srgbClr val="2D6DAF"/>
                </a:solidFill>
                <a:latin typeface="Aptos"/>
              </a:rPr>
              <a:t>Oldest object: freq &gt; 0?</a:t>
            </a:r>
          </a:p>
        </p:txBody>
      </p:sp>
      <p:cxnSp>
        <p:nvCxnSpPr>
          <p:cNvPr id="24" name="Connector 23"/>
          <p:cNvCxnSpPr/>
          <p:nvPr/>
        </p:nvCxnSpPr>
        <p:spPr>
          <a:xfrm>
            <a:off x="7534656" y="3328416"/>
            <a:ext cx="0" cy="603504"/>
          </a:xfrm>
          <a:prstGeom prst="line">
            <a:avLst/>
          </a:prstGeom>
          <a:ln w="22860">
            <a:solidFill>
              <a:srgbClr val="2D6DAF"/>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113263" y="3328416"/>
            <a:ext cx="0" cy="603504"/>
          </a:xfrm>
          <a:prstGeom prst="line">
            <a:avLst/>
          </a:prstGeom>
          <a:ln w="22860">
            <a:solidFill>
              <a:srgbClr val="788594"/>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662671" y="3493008"/>
            <a:ext cx="548640" cy="228600"/>
          </a:xfrm>
          <a:prstGeom prst="rect">
            <a:avLst/>
          </a:prstGeom>
          <a:noFill/>
        </p:spPr>
        <p:txBody>
          <a:bodyPr wrap="square" lIns="0" rIns="0" tIns="0" bIns="0">
            <a:spAutoFit/>
          </a:bodyPr>
          <a:lstStyle/>
          <a:p>
            <a:pPr algn="l">
              <a:lnSpc>
                <a:spcPct val="112000"/>
              </a:lnSpc>
              <a:spcBef>
                <a:spcPts val="0"/>
              </a:spcBef>
              <a:spcAft>
                <a:spcPts val="500"/>
              </a:spcAft>
            </a:pPr>
            <a:r>
              <a:rPr sz="1200" b="0">
                <a:solidFill>
                  <a:srgbClr val="2D6DAF"/>
                </a:solidFill>
                <a:latin typeface="Aptos"/>
              </a:rPr>
              <a:t>Yes</a:t>
            </a:r>
          </a:p>
        </p:txBody>
      </p:sp>
      <p:sp>
        <p:nvSpPr>
          <p:cNvPr id="27" name="TextBox 26"/>
          <p:cNvSpPr txBox="1"/>
          <p:nvPr/>
        </p:nvSpPr>
        <p:spPr>
          <a:xfrm>
            <a:off x="10241280" y="3493008"/>
            <a:ext cx="548640" cy="228600"/>
          </a:xfrm>
          <a:prstGeom prst="rect">
            <a:avLst/>
          </a:prstGeom>
          <a:noFill/>
        </p:spPr>
        <p:txBody>
          <a:bodyPr wrap="square" lIns="0" rIns="0" tIns="0" bIns="0">
            <a:spAutoFit/>
          </a:bodyPr>
          <a:lstStyle/>
          <a:p>
            <a:pPr algn="l">
              <a:lnSpc>
                <a:spcPct val="112000"/>
              </a:lnSpc>
              <a:spcBef>
                <a:spcPts val="0"/>
              </a:spcBef>
              <a:spcAft>
                <a:spcPts val="500"/>
              </a:spcAft>
            </a:pPr>
            <a:r>
              <a:rPr sz="1200" b="0">
                <a:solidFill>
                  <a:srgbClr val="788594"/>
                </a:solidFill>
                <a:latin typeface="Aptos"/>
              </a:rPr>
              <a:t>No</a:t>
            </a:r>
          </a:p>
        </p:txBody>
      </p:sp>
      <p:sp>
        <p:nvSpPr>
          <p:cNvPr id="28" name="Rounded Rectangle 27"/>
          <p:cNvSpPr/>
          <p:nvPr/>
        </p:nvSpPr>
        <p:spPr>
          <a:xfrm>
            <a:off x="6373368" y="3931920"/>
            <a:ext cx="2331720" cy="841248"/>
          </a:xfrm>
          <a:prstGeom prst="roundRect">
            <a:avLst>
              <a:gd name="adj" fmla="val 12000"/>
            </a:avLst>
          </a:prstGeom>
          <a:solidFill>
            <a:srgbClr val="FFFFFF"/>
          </a:solidFill>
          <a:ln w="9525">
            <a:solidFill>
              <a:srgbClr val="2D6DAF"/>
            </a:solidFill>
          </a:ln>
        </p:spPr>
        <p:txBody>
          <a:bodyPr rtlCol="0" anchor="ctr"/>
          <a:lstStyle/>
          <a:p>
            <a:pPr algn="ctr"/>
          </a:p>
        </p:txBody>
      </p:sp>
      <p:sp>
        <p:nvSpPr>
          <p:cNvPr id="29" name="TextBox 28"/>
          <p:cNvSpPr txBox="1"/>
          <p:nvPr/>
        </p:nvSpPr>
        <p:spPr>
          <a:xfrm>
            <a:off x="6483096" y="4078224"/>
            <a:ext cx="2112263" cy="658368"/>
          </a:xfrm>
          <a:prstGeom prst="rect">
            <a:avLst/>
          </a:prstGeom>
          <a:noFill/>
        </p:spPr>
        <p:txBody>
          <a:bodyPr wrap="square" lIns="0" rIns="0" tIns="0" bIns="0">
            <a:spAutoFit/>
          </a:bodyPr>
          <a:lstStyle/>
          <a:p>
            <a:pPr algn="ctr">
              <a:lnSpc>
                <a:spcPct val="112000"/>
              </a:lnSpc>
              <a:spcBef>
                <a:spcPts val="0"/>
              </a:spcBef>
              <a:spcAft>
                <a:spcPts val="500"/>
              </a:spcAft>
            </a:pPr>
            <a:r>
              <a:rPr sz="1700" b="1">
                <a:solidFill>
                  <a:srgbClr val="2D6DAF"/>
                </a:solidFill>
                <a:latin typeface="Aptos"/>
              </a:rPr>
              <a:t>Reinsert into M;</a:t>
            </a:r>
          </a:p>
          <a:p>
            <a:pPr algn="ctr">
              <a:lnSpc>
                <a:spcPct val="112000"/>
              </a:lnSpc>
              <a:spcBef>
                <a:spcPts val="0"/>
              </a:spcBef>
              <a:spcAft>
                <a:spcPts val="500"/>
              </a:spcAft>
            </a:pPr>
            <a:r>
              <a:rPr sz="1700" b="1">
                <a:solidFill>
                  <a:srgbClr val="2D6DAF"/>
                </a:solidFill>
                <a:latin typeface="Aptos"/>
              </a:rPr>
              <a:t>freq decreases by 1</a:t>
            </a:r>
          </a:p>
        </p:txBody>
      </p:sp>
      <p:sp>
        <p:nvSpPr>
          <p:cNvPr id="30" name="Rounded Rectangle 29"/>
          <p:cNvSpPr/>
          <p:nvPr/>
        </p:nvSpPr>
        <p:spPr>
          <a:xfrm>
            <a:off x="8961119" y="3931920"/>
            <a:ext cx="2331720" cy="841248"/>
          </a:xfrm>
          <a:prstGeom prst="roundRect">
            <a:avLst>
              <a:gd name="adj" fmla="val 12000"/>
            </a:avLst>
          </a:prstGeom>
          <a:solidFill>
            <a:srgbClr val="FFFFFF"/>
          </a:solidFill>
          <a:ln w="9525">
            <a:solidFill>
              <a:srgbClr val="788594"/>
            </a:solidFill>
          </a:ln>
        </p:spPr>
        <p:txBody>
          <a:bodyPr rtlCol="0" anchor="ctr"/>
          <a:lstStyle/>
          <a:p>
            <a:pPr algn="ctr"/>
          </a:p>
        </p:txBody>
      </p:sp>
      <p:sp>
        <p:nvSpPr>
          <p:cNvPr id="31" name="TextBox 30"/>
          <p:cNvSpPr txBox="1"/>
          <p:nvPr/>
        </p:nvSpPr>
        <p:spPr>
          <a:xfrm>
            <a:off x="9070847" y="4078224"/>
            <a:ext cx="2112263" cy="658368"/>
          </a:xfrm>
          <a:prstGeom prst="rect">
            <a:avLst/>
          </a:prstGeom>
          <a:noFill/>
        </p:spPr>
        <p:txBody>
          <a:bodyPr wrap="square" lIns="0" rIns="0" tIns="0" bIns="0">
            <a:spAutoFit/>
          </a:bodyPr>
          <a:lstStyle/>
          <a:p>
            <a:pPr algn="ctr">
              <a:lnSpc>
                <a:spcPct val="112000"/>
              </a:lnSpc>
              <a:spcBef>
                <a:spcPts val="0"/>
              </a:spcBef>
              <a:spcAft>
                <a:spcPts val="500"/>
              </a:spcAft>
            </a:pPr>
            <a:r>
              <a:rPr sz="1700" b="1">
                <a:solidFill>
                  <a:srgbClr val="788594"/>
                </a:solidFill>
                <a:latin typeface="Aptos"/>
              </a:rPr>
              <a:t>Evict object</a:t>
            </a:r>
          </a:p>
        </p:txBody>
      </p:sp>
      <p:sp>
        <p:nvSpPr>
          <p:cNvPr id="32" name="TextBox 31"/>
          <p:cNvSpPr txBox="1"/>
          <p:nvPr/>
        </p:nvSpPr>
        <p:spPr>
          <a:xfrm>
            <a:off x="6464807" y="4992624"/>
            <a:ext cx="4736592" cy="274320"/>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An accessed object gets another chance.</a:t>
            </a:r>
          </a:p>
        </p:txBody>
      </p:sp>
      <p:sp>
        <p:nvSpPr>
          <p:cNvPr id="33" name="Rounded Rectangle 32"/>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34" name="TextBox 33"/>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Quick demotion + selective reinsertion → fewer queue-order updates on cache hits.</a:t>
            </a:r>
          </a:p>
        </p:txBody>
      </p:sp>
      <p:sp>
        <p:nvSpPr>
          <p:cNvPr id="35" name="TextBox 34"/>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Algorithm 1, lines 14–40, Yang et al., SOSP 2023. Simplified editable flowcharts.</a:t>
            </a:r>
          </a:p>
        </p:txBody>
      </p:sp>
      <p:sp>
        <p:nvSpPr>
          <p:cNvPr id="36" name="TextBox 35"/>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37" name="TextBox 36"/>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731520" y="960120"/>
            <a:ext cx="9144000" cy="365760"/>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F5B841"/>
                </a:solidFill>
                <a:latin typeface="Aptos"/>
              </a:rPr>
              <a:t>PART 3 · MEMBER 3</a:t>
            </a:r>
          </a:p>
        </p:txBody>
      </p:sp>
      <p:sp>
        <p:nvSpPr>
          <p:cNvPr id="3" name="TextBox 2"/>
          <p:cNvSpPr txBox="1"/>
          <p:nvPr/>
        </p:nvSpPr>
        <p:spPr>
          <a:xfrm>
            <a:off x="713232" y="1737360"/>
            <a:ext cx="10652760" cy="1005840"/>
          </a:xfrm>
          <a:prstGeom prst="rect">
            <a:avLst/>
          </a:prstGeom>
          <a:noFill/>
        </p:spPr>
        <p:txBody>
          <a:bodyPr wrap="square" lIns="0" rIns="0" tIns="0" bIns="0">
            <a:spAutoFit/>
          </a:bodyPr>
          <a:lstStyle/>
          <a:p>
            <a:pPr algn="l">
              <a:lnSpc>
                <a:spcPct val="112000"/>
              </a:lnSpc>
              <a:spcBef>
                <a:spcPts val="0"/>
              </a:spcBef>
              <a:spcAft>
                <a:spcPts val="500"/>
              </a:spcAft>
            </a:pPr>
            <a:r>
              <a:rPr sz="3700" b="1">
                <a:solidFill>
                  <a:srgbClr val="FFFFFF"/>
                </a:solidFill>
                <a:latin typeface="Aptos Display"/>
              </a:rPr>
              <a:t>Evaluation &amp; Conclusion</a:t>
            </a:r>
          </a:p>
        </p:txBody>
      </p:sp>
      <p:sp>
        <p:nvSpPr>
          <p:cNvPr id="4" name="TextBox 3"/>
          <p:cNvSpPr txBox="1"/>
          <p:nvPr/>
        </p:nvSpPr>
        <p:spPr>
          <a:xfrm>
            <a:off x="777240" y="2871216"/>
            <a:ext cx="9784080" cy="822960"/>
          </a:xfrm>
          <a:prstGeom prst="rect">
            <a:avLst/>
          </a:prstGeom>
          <a:noFill/>
        </p:spPr>
        <p:txBody>
          <a:bodyPr wrap="square" lIns="0" rIns="0" tIns="0" bIns="0">
            <a:spAutoFit/>
          </a:bodyPr>
          <a:lstStyle/>
          <a:p>
            <a:pPr algn="l">
              <a:lnSpc>
                <a:spcPct val="112000"/>
              </a:lnSpc>
              <a:spcBef>
                <a:spcPts val="0"/>
              </a:spcBef>
              <a:spcAft>
                <a:spcPts val="500"/>
              </a:spcAft>
            </a:pPr>
            <a:r>
              <a:rPr sz="2100" b="0">
                <a:solidFill>
                  <a:srgbClr val="BED6F0"/>
                </a:solidFill>
                <a:latin typeface="Aptos"/>
              </a:rPr>
              <a:t>What do the paper’s experiments show?</a:t>
            </a:r>
          </a:p>
        </p:txBody>
      </p:sp>
      <p:sp>
        <p:nvSpPr>
          <p:cNvPr id="5" name="Rectangle 4"/>
          <p:cNvSpPr/>
          <p:nvPr/>
        </p:nvSpPr>
        <p:spPr>
          <a:xfrm>
            <a:off x="822960" y="3977639"/>
            <a:ext cx="10515600" cy="16459"/>
          </a:xfrm>
          <a:prstGeom prst="rect">
            <a:avLst/>
          </a:prstGeom>
          <a:solidFill>
            <a:srgbClr val="F5B841"/>
          </a:solidFill>
          <a:ln>
            <a:noFill/>
          </a:ln>
        </p:spPr>
        <p:txBody>
          <a:bodyPr rtlCol="0" anchor="ctr"/>
          <a:lstStyle/>
          <a:p>
            <a:pPr algn="ctr"/>
          </a:p>
        </p:txBody>
      </p:sp>
      <p:sp>
        <p:nvSpPr>
          <p:cNvPr id="6" name="TextBox 5"/>
          <p:cNvSpPr txBox="1"/>
          <p:nvPr/>
        </p:nvSpPr>
        <p:spPr>
          <a:xfrm>
            <a:off x="822960" y="4297680"/>
            <a:ext cx="9144000" cy="365760"/>
          </a:xfrm>
          <a:prstGeom prst="rect">
            <a:avLst/>
          </a:prstGeom>
          <a:noFill/>
        </p:spPr>
        <p:txBody>
          <a:bodyPr wrap="square" lIns="0" rIns="0" tIns="0" bIns="0">
            <a:spAutoFit/>
          </a:bodyPr>
          <a:lstStyle/>
          <a:p>
            <a:pPr algn="l">
              <a:lnSpc>
                <a:spcPct val="112000"/>
              </a:lnSpc>
              <a:spcBef>
                <a:spcPts val="0"/>
              </a:spcBef>
              <a:spcAft>
                <a:spcPts val="500"/>
              </a:spcAft>
            </a:pPr>
            <a:r>
              <a:rPr sz="1500" b="0">
                <a:solidFill>
                  <a:srgbClr val="BED6F0"/>
                </a:solidFill>
                <a:latin typeface="Aptos"/>
              </a:rPr>
              <a:t>Experimental setup → Efficiency → Scalability</a:t>
            </a:r>
          </a:p>
        </p:txBody>
      </p:sp>
      <p:sp>
        <p:nvSpPr>
          <p:cNvPr id="7" name="TextBox 6"/>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B8CBE0"/>
                </a:solidFill>
                <a:latin typeface="Aptos"/>
              </a:rPr>
              <a:t>Yang et al., SOSP 2023 · Operating Systems · Theoretical Presentation</a:t>
            </a:r>
          </a:p>
        </p:txBody>
      </p:sp>
      <p:sp>
        <p:nvSpPr>
          <p:cNvPr id="8" name="TextBox 7"/>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B8CBE0"/>
                </a:solidFill>
                <a:latin typeface="Aptos"/>
              </a:rPr>
              <a:t>Slide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3 · Evaluation</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Experimental Setup</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The researchers compared S3-FIFO with FIFO, LRU and other cache replacement methods.</a:t>
            </a: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87552" y="2020824"/>
            <a:ext cx="3474720" cy="713232"/>
          </a:xfrm>
          <a:prstGeom prst="rect">
            <a:avLst/>
          </a:prstGeom>
          <a:noFill/>
        </p:spPr>
        <p:txBody>
          <a:bodyPr wrap="square" lIns="0" rIns="0" tIns="0" bIns="0">
            <a:spAutoFit/>
          </a:bodyPr>
          <a:lstStyle/>
          <a:p>
            <a:pPr algn="l">
              <a:lnSpc>
                <a:spcPct val="112000"/>
              </a:lnSpc>
              <a:spcBef>
                <a:spcPts val="0"/>
              </a:spcBef>
              <a:spcAft>
                <a:spcPts val="500"/>
              </a:spcAft>
            </a:pPr>
            <a:r>
              <a:rPr sz="4300" b="1">
                <a:solidFill>
                  <a:srgbClr val="2D6DAF"/>
                </a:solidFill>
                <a:latin typeface="Aptos"/>
              </a:rPr>
              <a:t>6,594</a:t>
            </a:r>
          </a:p>
        </p:txBody>
      </p:sp>
      <p:sp>
        <p:nvSpPr>
          <p:cNvPr id="9" name="TextBox 8"/>
          <p:cNvSpPr txBox="1"/>
          <p:nvPr/>
        </p:nvSpPr>
        <p:spPr>
          <a:xfrm>
            <a:off x="987552" y="2788920"/>
            <a:ext cx="3474720" cy="338328"/>
          </a:xfrm>
          <a:prstGeom prst="rect">
            <a:avLst/>
          </a:prstGeom>
          <a:noFill/>
        </p:spPr>
        <p:txBody>
          <a:bodyPr wrap="square" lIns="0" rIns="0" tIns="0" bIns="0">
            <a:spAutoFit/>
          </a:bodyPr>
          <a:lstStyle/>
          <a:p>
            <a:pPr algn="l">
              <a:lnSpc>
                <a:spcPct val="112000"/>
              </a:lnSpc>
              <a:spcBef>
                <a:spcPts val="0"/>
              </a:spcBef>
              <a:spcAft>
                <a:spcPts val="500"/>
              </a:spcAft>
            </a:pPr>
            <a:r>
              <a:rPr sz="2000" b="0">
                <a:solidFill>
                  <a:srgbClr val="5B6472"/>
                </a:solidFill>
                <a:latin typeface="Aptos"/>
              </a:rPr>
              <a:t>real cache traces</a:t>
            </a:r>
          </a:p>
        </p:txBody>
      </p:sp>
      <p:sp>
        <p:nvSpPr>
          <p:cNvPr id="10" name="TextBox 9"/>
          <p:cNvSpPr txBox="1"/>
          <p:nvPr/>
        </p:nvSpPr>
        <p:spPr>
          <a:xfrm>
            <a:off x="4690872" y="2020824"/>
            <a:ext cx="3474720" cy="713232"/>
          </a:xfrm>
          <a:prstGeom prst="rect">
            <a:avLst/>
          </a:prstGeom>
          <a:noFill/>
        </p:spPr>
        <p:txBody>
          <a:bodyPr wrap="square" lIns="0" rIns="0" tIns="0" bIns="0">
            <a:spAutoFit/>
          </a:bodyPr>
          <a:lstStyle/>
          <a:p>
            <a:pPr algn="l">
              <a:lnSpc>
                <a:spcPct val="112000"/>
              </a:lnSpc>
              <a:spcBef>
                <a:spcPts val="0"/>
              </a:spcBef>
              <a:spcAft>
                <a:spcPts val="500"/>
              </a:spcAft>
            </a:pPr>
            <a:r>
              <a:rPr sz="4300" b="1">
                <a:solidFill>
                  <a:srgbClr val="2D6DAF"/>
                </a:solidFill>
                <a:latin typeface="Aptos"/>
              </a:rPr>
              <a:t>14</a:t>
            </a:r>
          </a:p>
        </p:txBody>
      </p:sp>
      <p:sp>
        <p:nvSpPr>
          <p:cNvPr id="11" name="TextBox 10"/>
          <p:cNvSpPr txBox="1"/>
          <p:nvPr/>
        </p:nvSpPr>
        <p:spPr>
          <a:xfrm>
            <a:off x="4690872" y="2788920"/>
            <a:ext cx="3474720" cy="338328"/>
          </a:xfrm>
          <a:prstGeom prst="rect">
            <a:avLst/>
          </a:prstGeom>
          <a:noFill/>
        </p:spPr>
        <p:txBody>
          <a:bodyPr wrap="square" lIns="0" rIns="0" tIns="0" bIns="0">
            <a:spAutoFit/>
          </a:bodyPr>
          <a:lstStyle/>
          <a:p>
            <a:pPr algn="l">
              <a:lnSpc>
                <a:spcPct val="112000"/>
              </a:lnSpc>
              <a:spcBef>
                <a:spcPts val="0"/>
              </a:spcBef>
              <a:spcAft>
                <a:spcPts val="500"/>
              </a:spcAft>
            </a:pPr>
            <a:r>
              <a:rPr sz="2000" b="0">
                <a:solidFill>
                  <a:srgbClr val="5B6472"/>
                </a:solidFill>
                <a:latin typeface="Aptos"/>
              </a:rPr>
              <a:t>datasets / data groups</a:t>
            </a:r>
          </a:p>
        </p:txBody>
      </p:sp>
      <p:sp>
        <p:nvSpPr>
          <p:cNvPr id="12" name="Rectangle 11"/>
          <p:cNvSpPr/>
          <p:nvPr/>
        </p:nvSpPr>
        <p:spPr>
          <a:xfrm>
            <a:off x="987552" y="3438144"/>
            <a:ext cx="10040112" cy="13716"/>
          </a:xfrm>
          <a:prstGeom prst="rect">
            <a:avLst/>
          </a:prstGeom>
          <a:solidFill>
            <a:srgbClr val="DCE5EF"/>
          </a:solidFill>
          <a:ln>
            <a:noFill/>
          </a:ln>
        </p:spPr>
        <p:txBody>
          <a:bodyPr rtlCol="0" anchor="ctr"/>
          <a:lstStyle/>
          <a:p>
            <a:pPr algn="ctr"/>
          </a:p>
        </p:txBody>
      </p:sp>
      <p:sp>
        <p:nvSpPr>
          <p:cNvPr id="13" name="TextBox 12"/>
          <p:cNvSpPr txBox="1"/>
          <p:nvPr/>
        </p:nvSpPr>
        <p:spPr>
          <a:xfrm>
            <a:off x="987552" y="3749039"/>
            <a:ext cx="9966960" cy="1344168"/>
          </a:xfrm>
          <a:prstGeom prst="rect">
            <a:avLst/>
          </a:prstGeom>
          <a:noFill/>
        </p:spPr>
        <p:txBody>
          <a:bodyPr wrap="square" lIns="0" rIns="0" tIns="0" bIns="0">
            <a:spAutoFit/>
          </a:bodyPr>
          <a:lstStyle/>
          <a:p>
            <a:pPr algn="l">
              <a:lnSpc>
                <a:spcPct val="114000"/>
              </a:lnSpc>
              <a:spcBef>
                <a:spcPts val="0"/>
              </a:spcBef>
              <a:spcAft>
                <a:spcPts val="1700"/>
              </a:spcAft>
            </a:pPr>
            <a:r>
              <a:rPr sz="2300">
                <a:solidFill>
                  <a:srgbClr val="172033"/>
                </a:solidFill>
                <a:latin typeface="Aptos"/>
              </a:rPr>
              <a:t>The data covered storage blocks, key-value data and web content.</a:t>
            </a:r>
          </a:p>
          <a:p>
            <a:pPr>
              <a:lnSpc>
                <a:spcPct val="114000"/>
              </a:lnSpc>
              <a:spcAft>
                <a:spcPts val="1700"/>
              </a:spcAft>
            </a:pPr>
            <a:r>
              <a:rPr sz="2300">
                <a:solidFill>
                  <a:srgbClr val="172033"/>
                </a:solidFill>
                <a:latin typeface="Aptos"/>
              </a:rPr>
              <a:t>The two key measures are miss ratio and throughput.</a:t>
            </a:r>
          </a:p>
        </p:txBody>
      </p:sp>
      <p:sp>
        <p:nvSpPr>
          <p:cNvPr id="14" name="Rounded Rectangle 13"/>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15" name="TextBox 14"/>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13294B"/>
                </a:solidFill>
                <a:latin typeface="Aptos"/>
              </a:rPr>
              <a:t>All experimental results are reported by the original paper’s authors.</a:t>
            </a:r>
          </a:p>
        </p:txBody>
      </p:sp>
      <p:sp>
        <p:nvSpPr>
          <p:cNvPr id="16" name="TextBox 15"/>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Table 1 and §5.1, Yang et al., SOSP 2023. This is a theoretical presentation, not a replication.</a:t>
            </a:r>
          </a:p>
        </p:txBody>
      </p:sp>
      <p:sp>
        <p:nvSpPr>
          <p:cNvPr id="17" name="TextBox 16"/>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18" name="TextBox 17"/>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3 · Results</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Result 1: Cache Efficiency</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A lower miss ratio means more requests can be answered directly from the cache.</a:t>
            </a:r>
          </a:p>
        </p:txBody>
      </p:sp>
      <p:sp>
        <p:nvSpPr>
          <p:cNvPr id="7" name="Rounded Rectangle 6"/>
          <p:cNvSpPr/>
          <p:nvPr/>
        </p:nvSpPr>
        <p:spPr>
          <a:xfrm>
            <a:off x="685800" y="1783080"/>
            <a:ext cx="10789920" cy="2761488"/>
          </a:xfrm>
          <a:prstGeom prst="roundRect">
            <a:avLst>
              <a:gd name="adj" fmla="val 12000"/>
            </a:avLst>
          </a:prstGeom>
          <a:solidFill>
            <a:srgbClr val="FFFFFF"/>
          </a:solidFill>
          <a:ln w="9525">
            <a:solidFill>
              <a:srgbClr val="DCE5EF"/>
            </a:solidFill>
          </a:ln>
        </p:spPr>
        <p:txBody>
          <a:bodyPr rtlCol="0" anchor="ctr"/>
          <a:lstStyle/>
          <a:p>
            <a:pPr algn="ctr"/>
          </a:p>
        </p:txBody>
      </p:sp>
      <p:pic>
        <p:nvPicPr>
          <p:cNvPr id="8" name="Picture 7" descr="image.png"/>
          <p:cNvPicPr>
            <a:picLocks noChangeAspect="1"/>
          </p:cNvPicPr>
          <p:nvPr/>
        </p:nvPicPr>
        <p:blipFill>
          <a:blip r:embed="rId2"/>
          <a:stretch>
            <a:fillRect/>
          </a:stretch>
        </p:blipFill>
        <p:spPr>
          <a:xfrm>
            <a:off x="859536" y="1904251"/>
            <a:ext cx="10442448" cy="2381984"/>
          </a:xfrm>
          <a:prstGeom prst="rect">
            <a:avLst/>
          </a:prstGeom>
        </p:spPr>
      </p:pic>
      <p:sp>
        <p:nvSpPr>
          <p:cNvPr id="9" name="TextBox 8"/>
          <p:cNvSpPr txBox="1"/>
          <p:nvPr/>
        </p:nvSpPr>
        <p:spPr>
          <a:xfrm>
            <a:off x="914400" y="4297680"/>
            <a:ext cx="10287000" cy="201168"/>
          </a:xfrm>
          <a:prstGeom prst="rect">
            <a:avLst/>
          </a:prstGeom>
          <a:noFill/>
        </p:spPr>
        <p:txBody>
          <a:bodyPr wrap="square" lIns="0" rIns="0" tIns="0" bIns="0">
            <a:spAutoFit/>
          </a:bodyPr>
          <a:lstStyle/>
          <a:p>
            <a:pPr algn="l">
              <a:lnSpc>
                <a:spcPct val="112000"/>
              </a:lnSpc>
              <a:spcBef>
                <a:spcPts val="0"/>
              </a:spcBef>
              <a:spcAft>
                <a:spcPts val="500"/>
              </a:spcAft>
            </a:pPr>
            <a:r>
              <a:rPr sz="1100" b="0">
                <a:solidFill>
                  <a:srgbClr val="5B6472"/>
                </a:solidFill>
                <a:latin typeface="Aptos"/>
              </a:rPr>
              <a:t>Original Figure 6 · Miss-ratio reduction relative to FIFO: a larger reduction is better.</a:t>
            </a:r>
          </a:p>
        </p:txBody>
      </p:sp>
      <p:sp>
        <p:nvSpPr>
          <p:cNvPr id="10" name="Rounded Rectangle 9"/>
          <p:cNvSpPr/>
          <p:nvPr/>
        </p:nvSpPr>
        <p:spPr>
          <a:xfrm>
            <a:off x="731520" y="4773168"/>
            <a:ext cx="2468880" cy="585216"/>
          </a:xfrm>
          <a:prstGeom prst="roundRect">
            <a:avLst>
              <a:gd name="adj" fmla="val 12000"/>
            </a:avLst>
          </a:prstGeom>
          <a:solidFill>
            <a:srgbClr val="EAF3FF"/>
          </a:solidFill>
          <a:ln>
            <a:noFill/>
          </a:ln>
        </p:spPr>
        <p:txBody>
          <a:bodyPr rtlCol="0" anchor="ctr"/>
          <a:lstStyle/>
          <a:p>
            <a:pPr algn="ctr"/>
          </a:p>
        </p:txBody>
      </p:sp>
      <p:sp>
        <p:nvSpPr>
          <p:cNvPr id="11" name="TextBox 10"/>
          <p:cNvSpPr txBox="1"/>
          <p:nvPr/>
        </p:nvSpPr>
        <p:spPr>
          <a:xfrm>
            <a:off x="932688" y="4837176"/>
            <a:ext cx="2066543" cy="457200"/>
          </a:xfrm>
          <a:prstGeom prst="rect">
            <a:avLst/>
          </a:prstGeom>
          <a:noFill/>
        </p:spPr>
        <p:txBody>
          <a:bodyPr wrap="square" lIns="0" rIns="0" tIns="0" bIns="0">
            <a:spAutoFit/>
          </a:bodyPr>
          <a:lstStyle/>
          <a:p>
            <a:pPr algn="l">
              <a:lnSpc>
                <a:spcPct val="112000"/>
              </a:lnSpc>
              <a:spcBef>
                <a:spcPts val="0"/>
              </a:spcBef>
              <a:spcAft>
                <a:spcPts val="500"/>
              </a:spcAft>
            </a:pPr>
            <a:r>
              <a:rPr sz="2600" b="1">
                <a:solidFill>
                  <a:srgbClr val="2D6DAF"/>
                </a:solidFill>
                <a:latin typeface="Aptos"/>
              </a:rPr>
              <a:t>10 / 14</a:t>
            </a:r>
          </a:p>
        </p:txBody>
      </p:sp>
      <p:sp>
        <p:nvSpPr>
          <p:cNvPr id="12" name="TextBox 11"/>
          <p:cNvSpPr txBox="1"/>
          <p:nvPr/>
        </p:nvSpPr>
        <p:spPr>
          <a:xfrm>
            <a:off x="3447288" y="4782312"/>
            <a:ext cx="7790688" cy="585216"/>
          </a:xfrm>
          <a:prstGeom prst="rect">
            <a:avLst/>
          </a:prstGeom>
          <a:noFill/>
        </p:spPr>
        <p:txBody>
          <a:bodyPr wrap="square" lIns="0" rIns="0" tIns="0" bIns="0">
            <a:spAutoFit/>
          </a:bodyPr>
          <a:lstStyle/>
          <a:p>
            <a:pPr algn="l">
              <a:lnSpc>
                <a:spcPct val="112000"/>
              </a:lnSpc>
              <a:spcBef>
                <a:spcPts val="0"/>
              </a:spcBef>
              <a:spcAft>
                <a:spcPts val="500"/>
              </a:spcAft>
            </a:pPr>
            <a:r>
              <a:rPr sz="1800" b="1">
                <a:solidFill>
                  <a:srgbClr val="172033"/>
                </a:solidFill>
                <a:latin typeface="Aptos"/>
              </a:rPr>
              <a:t>Lowest average miss ratio in 10 of 14 datasets</a:t>
            </a:r>
          </a:p>
          <a:p>
            <a:pPr algn="l">
              <a:lnSpc>
                <a:spcPct val="112000"/>
              </a:lnSpc>
              <a:spcBef>
                <a:spcPts val="0"/>
              </a:spcBef>
              <a:spcAft>
                <a:spcPts val="500"/>
              </a:spcAft>
            </a:pPr>
            <a:r>
              <a:rPr sz="1800" b="1">
                <a:solidFill>
                  <a:srgbClr val="172033"/>
                </a:solidFill>
                <a:latin typeface="Aptos"/>
              </a:rPr>
              <a:t>with a relatively large cache.</a:t>
            </a:r>
          </a:p>
        </p:txBody>
      </p:sp>
      <p:sp>
        <p:nvSpPr>
          <p:cNvPr id="13" name="Rounded Rectangle 12"/>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14" name="TextBox 13"/>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S3-FIFO performs well across many workloads.</a:t>
            </a:r>
          </a:p>
        </p:txBody>
      </p:sp>
      <p:sp>
        <p:nvSpPr>
          <p:cNvPr id="15" name="TextBox 14"/>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Figure 6 and §5.2, Yang et al., SOSP 2023. The 10/14 dataset result is reported in §5.2 / Figure 7.</a:t>
            </a:r>
          </a:p>
        </p:txBody>
      </p:sp>
      <p:sp>
        <p:nvSpPr>
          <p:cNvPr id="16" name="TextBox 15"/>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17" name="TextBox 16"/>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3 · Results</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Result 2: Throughput &amp; Scalability</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Throughput means how many requests a system can handle in one second.</a:t>
            </a:r>
          </a:p>
        </p:txBody>
      </p:sp>
      <p:sp>
        <p:nvSpPr>
          <p:cNvPr id="7" name="Rounded Rectangle 6"/>
          <p:cNvSpPr/>
          <p:nvPr/>
        </p:nvSpPr>
        <p:spPr>
          <a:xfrm>
            <a:off x="685800" y="1783080"/>
            <a:ext cx="7461504" cy="3639312"/>
          </a:xfrm>
          <a:prstGeom prst="roundRect">
            <a:avLst>
              <a:gd name="adj" fmla="val 12000"/>
            </a:avLst>
          </a:prstGeom>
          <a:solidFill>
            <a:srgbClr val="FFFFFF"/>
          </a:solidFill>
          <a:ln w="9525">
            <a:solidFill>
              <a:srgbClr val="DCE5EF"/>
            </a:solidFill>
          </a:ln>
        </p:spPr>
        <p:txBody>
          <a:bodyPr rtlCol="0" anchor="ctr"/>
          <a:lstStyle/>
          <a:p>
            <a:pPr algn="ctr"/>
          </a:p>
        </p:txBody>
      </p:sp>
      <p:pic>
        <p:nvPicPr>
          <p:cNvPr id="8" name="Picture 7" descr="image.png"/>
          <p:cNvPicPr>
            <a:picLocks noChangeAspect="1"/>
          </p:cNvPicPr>
          <p:nvPr/>
        </p:nvPicPr>
        <p:blipFill>
          <a:blip r:embed="rId2"/>
          <a:stretch>
            <a:fillRect/>
          </a:stretch>
        </p:blipFill>
        <p:spPr>
          <a:xfrm>
            <a:off x="896112" y="1993392"/>
            <a:ext cx="7040879" cy="3017520"/>
          </a:xfrm>
          <a:prstGeom prst="rect">
            <a:avLst/>
          </a:prstGeom>
        </p:spPr>
      </p:pic>
      <p:sp>
        <p:nvSpPr>
          <p:cNvPr id="9" name="TextBox 8"/>
          <p:cNvSpPr txBox="1"/>
          <p:nvPr/>
        </p:nvSpPr>
        <p:spPr>
          <a:xfrm>
            <a:off x="914400" y="5157216"/>
            <a:ext cx="6995160" cy="201168"/>
          </a:xfrm>
          <a:prstGeom prst="rect">
            <a:avLst/>
          </a:prstGeom>
          <a:noFill/>
        </p:spPr>
        <p:txBody>
          <a:bodyPr wrap="square" lIns="0" rIns="0" tIns="0" bIns="0">
            <a:spAutoFit/>
          </a:bodyPr>
          <a:lstStyle/>
          <a:p>
            <a:pPr algn="l">
              <a:lnSpc>
                <a:spcPct val="112000"/>
              </a:lnSpc>
              <a:spcBef>
                <a:spcPts val="0"/>
              </a:spcBef>
              <a:spcAft>
                <a:spcPts val="500"/>
              </a:spcAft>
            </a:pPr>
            <a:r>
              <a:rPr sz="1100" b="0">
                <a:solidFill>
                  <a:srgbClr val="5B6472"/>
                </a:solidFill>
                <a:latin typeface="Aptos"/>
              </a:rPr>
              <a:t>Original Figure 8 · Synthetic Zipf workload (α = 1.0)</a:t>
            </a:r>
          </a:p>
        </p:txBody>
      </p:sp>
      <p:sp>
        <p:nvSpPr>
          <p:cNvPr id="10" name="Rounded Rectangle 9"/>
          <p:cNvSpPr/>
          <p:nvPr/>
        </p:nvSpPr>
        <p:spPr>
          <a:xfrm>
            <a:off x="8366760" y="1783080"/>
            <a:ext cx="3108960" cy="3639312"/>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1" name="TextBox 10"/>
          <p:cNvSpPr txBox="1"/>
          <p:nvPr/>
        </p:nvSpPr>
        <p:spPr>
          <a:xfrm>
            <a:off x="8641080" y="2103120"/>
            <a:ext cx="2560320" cy="822960"/>
          </a:xfrm>
          <a:prstGeom prst="rect">
            <a:avLst/>
          </a:prstGeom>
          <a:noFill/>
        </p:spPr>
        <p:txBody>
          <a:bodyPr wrap="square" lIns="0" rIns="0" tIns="0" bIns="0">
            <a:spAutoFit/>
          </a:bodyPr>
          <a:lstStyle/>
          <a:p>
            <a:pPr algn="l">
              <a:lnSpc>
                <a:spcPct val="112000"/>
              </a:lnSpc>
              <a:spcBef>
                <a:spcPts val="0"/>
              </a:spcBef>
              <a:spcAft>
                <a:spcPts val="500"/>
              </a:spcAft>
            </a:pPr>
            <a:r>
              <a:rPr sz="4300" b="1">
                <a:solidFill>
                  <a:srgbClr val="2D6DAF"/>
                </a:solidFill>
                <a:latin typeface="Aptos"/>
              </a:rPr>
              <a:t>&gt;6×</a:t>
            </a:r>
          </a:p>
        </p:txBody>
      </p:sp>
      <p:sp>
        <p:nvSpPr>
          <p:cNvPr id="12" name="TextBox 11"/>
          <p:cNvSpPr txBox="1"/>
          <p:nvPr/>
        </p:nvSpPr>
        <p:spPr>
          <a:xfrm>
            <a:off x="8641080" y="3054096"/>
            <a:ext cx="2560320" cy="2048256"/>
          </a:xfrm>
          <a:prstGeom prst="rect">
            <a:avLst/>
          </a:prstGeom>
          <a:noFill/>
        </p:spPr>
        <p:txBody>
          <a:bodyPr wrap="square" lIns="0" rIns="0" tIns="0" bIns="0">
            <a:spAutoFit/>
          </a:bodyPr>
          <a:lstStyle/>
          <a:p>
            <a:pPr algn="l">
              <a:lnSpc>
                <a:spcPct val="114000"/>
              </a:lnSpc>
              <a:spcBef>
                <a:spcPts val="0"/>
              </a:spcBef>
              <a:spcAft>
                <a:spcPts val="1500"/>
              </a:spcAft>
            </a:pPr>
            <a:r>
              <a:rPr sz="1800">
                <a:solidFill>
                  <a:srgbClr val="172033"/>
                </a:solidFill>
                <a:latin typeface="Aptos"/>
              </a:rPr>
              <a:t>Compared with optimized LRU at 16 threads.</a:t>
            </a:r>
          </a:p>
          <a:p>
            <a:pPr>
              <a:lnSpc>
                <a:spcPct val="114000"/>
              </a:lnSpc>
              <a:spcAft>
                <a:spcPts val="1500"/>
              </a:spcAft>
            </a:pPr>
            <a:r>
              <a:rPr sz="1800">
                <a:solidFill>
                  <a:srgbClr val="172033"/>
                </a:solidFill>
                <a:latin typeface="Aptos"/>
              </a:rPr>
              <a:t>S3-FIFO scales as the number of threads grows.</a:t>
            </a:r>
          </a:p>
        </p:txBody>
      </p:sp>
      <p:sp>
        <p:nvSpPr>
          <p:cNvPr id="13" name="Rounded Rectangle 12"/>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14" name="TextBox 13"/>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Fewer operations on cache hits support better performance under concurrency.</a:t>
            </a:r>
          </a:p>
        </p:txBody>
      </p:sp>
      <p:sp>
        <p:nvSpPr>
          <p:cNvPr id="15" name="TextBox 14"/>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original Figure 8 and §5.3, Yang et al., SOSP 2023. Reported authors’ experiments.</a:t>
            </a:r>
          </a:p>
        </p:txBody>
      </p:sp>
      <p:sp>
        <p:nvSpPr>
          <p:cNvPr id="16" name="TextBox 15"/>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17" name="TextBox 16"/>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3 · Limitations</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A Limitation: The Second Request May Arrive Late</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Performance still depends on how users access the data.</a:t>
            </a: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1005840" y="2093976"/>
            <a:ext cx="10149840" cy="1508760"/>
          </a:xfrm>
          <a:prstGeom prst="rect">
            <a:avLst/>
          </a:prstGeom>
          <a:noFill/>
        </p:spPr>
        <p:txBody>
          <a:bodyPr wrap="square" lIns="0" rIns="0" tIns="0" bIns="0">
            <a:spAutoFit/>
          </a:bodyPr>
          <a:lstStyle/>
          <a:p>
            <a:pPr algn="l">
              <a:lnSpc>
                <a:spcPct val="114000"/>
              </a:lnSpc>
              <a:spcBef>
                <a:spcPts val="0"/>
              </a:spcBef>
              <a:spcAft>
                <a:spcPts val="1700"/>
              </a:spcAft>
            </a:pPr>
            <a:r>
              <a:rPr sz="2500">
                <a:solidFill>
                  <a:srgbClr val="172033"/>
                </a:solidFill>
                <a:latin typeface="Aptos"/>
              </a:rPr>
              <a:t>Sometimes an object is removed from the Small Queue before its second request arrives.</a:t>
            </a:r>
          </a:p>
          <a:p>
            <a:pPr>
              <a:lnSpc>
                <a:spcPct val="114000"/>
              </a:lnSpc>
              <a:spcAft>
                <a:spcPts val="1700"/>
              </a:spcAft>
            </a:pPr>
            <a:r>
              <a:rPr sz="2500">
                <a:solidFill>
                  <a:srgbClr val="172033"/>
                </a:solidFill>
                <a:latin typeface="Aptos"/>
              </a:rPr>
              <a:t>This can cause an extra cache miss.</a:t>
            </a:r>
          </a:p>
        </p:txBody>
      </p:sp>
      <p:sp>
        <p:nvSpPr>
          <p:cNvPr id="9" name="Rounded Rectangle 8"/>
          <p:cNvSpPr/>
          <p:nvPr/>
        </p:nvSpPr>
        <p:spPr>
          <a:xfrm>
            <a:off x="1042415" y="4315968"/>
            <a:ext cx="2377440" cy="658368"/>
          </a:xfrm>
          <a:prstGeom prst="roundRect">
            <a:avLst>
              <a:gd name="adj" fmla="val 12000"/>
            </a:avLst>
          </a:prstGeom>
          <a:solidFill>
            <a:srgbClr val="FFFFFF"/>
          </a:solidFill>
          <a:ln w="9525">
            <a:solidFill>
              <a:srgbClr val="D9852A"/>
            </a:solidFill>
          </a:ln>
        </p:spPr>
        <p:txBody>
          <a:bodyPr rtlCol="0" anchor="ctr"/>
          <a:lstStyle/>
          <a:p>
            <a:pPr algn="ctr"/>
          </a:p>
        </p:txBody>
      </p:sp>
      <p:sp>
        <p:nvSpPr>
          <p:cNvPr id="10" name="TextBox 9"/>
          <p:cNvSpPr txBox="1"/>
          <p:nvPr/>
        </p:nvSpPr>
        <p:spPr>
          <a:xfrm>
            <a:off x="1152143" y="4462272"/>
            <a:ext cx="2157984" cy="475488"/>
          </a:xfrm>
          <a:prstGeom prst="rect">
            <a:avLst/>
          </a:prstGeom>
          <a:noFill/>
        </p:spPr>
        <p:txBody>
          <a:bodyPr wrap="square" lIns="0" rIns="0" tIns="0" bIns="0">
            <a:spAutoFit/>
          </a:bodyPr>
          <a:lstStyle/>
          <a:p>
            <a:pPr algn="ctr">
              <a:lnSpc>
                <a:spcPct val="112000"/>
              </a:lnSpc>
              <a:spcBef>
                <a:spcPts val="0"/>
              </a:spcBef>
              <a:spcAft>
                <a:spcPts val="500"/>
              </a:spcAft>
            </a:pPr>
            <a:r>
              <a:rPr sz="1900" b="1">
                <a:solidFill>
                  <a:srgbClr val="D9852A"/>
                </a:solidFill>
                <a:latin typeface="Aptos"/>
              </a:rPr>
              <a:t>Object enters S</a:t>
            </a:r>
          </a:p>
        </p:txBody>
      </p:sp>
      <p:cxnSp>
        <p:nvCxnSpPr>
          <p:cNvPr id="11" name="Connector 10"/>
          <p:cNvCxnSpPr/>
          <p:nvPr/>
        </p:nvCxnSpPr>
        <p:spPr>
          <a:xfrm>
            <a:off x="3419856" y="4645152"/>
            <a:ext cx="457200" cy="0"/>
          </a:xfrm>
          <a:prstGeom prst="line">
            <a:avLst/>
          </a:prstGeom>
          <a:ln w="22860">
            <a:solidFill>
              <a:srgbClr val="788594"/>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877056" y="4315968"/>
            <a:ext cx="2743200" cy="658368"/>
          </a:xfrm>
          <a:prstGeom prst="roundRect">
            <a:avLst>
              <a:gd name="adj" fmla="val 12000"/>
            </a:avLst>
          </a:prstGeom>
          <a:solidFill>
            <a:srgbClr val="FFFFFF"/>
          </a:solidFill>
          <a:ln w="9525">
            <a:solidFill>
              <a:srgbClr val="788594"/>
            </a:solidFill>
          </a:ln>
        </p:spPr>
        <p:txBody>
          <a:bodyPr rtlCol="0" anchor="ctr"/>
          <a:lstStyle/>
          <a:p>
            <a:pPr algn="ctr"/>
          </a:p>
        </p:txBody>
      </p:sp>
      <p:sp>
        <p:nvSpPr>
          <p:cNvPr id="13" name="TextBox 12"/>
          <p:cNvSpPr txBox="1"/>
          <p:nvPr/>
        </p:nvSpPr>
        <p:spPr>
          <a:xfrm>
            <a:off x="3986784" y="4462272"/>
            <a:ext cx="2523744" cy="475488"/>
          </a:xfrm>
          <a:prstGeom prst="rect">
            <a:avLst/>
          </a:prstGeom>
          <a:noFill/>
        </p:spPr>
        <p:txBody>
          <a:bodyPr wrap="square" lIns="0" rIns="0" tIns="0" bIns="0">
            <a:spAutoFit/>
          </a:bodyPr>
          <a:lstStyle/>
          <a:p>
            <a:pPr algn="ctr">
              <a:lnSpc>
                <a:spcPct val="112000"/>
              </a:lnSpc>
              <a:spcBef>
                <a:spcPts val="0"/>
              </a:spcBef>
              <a:spcAft>
                <a:spcPts val="500"/>
              </a:spcAft>
            </a:pPr>
            <a:r>
              <a:rPr sz="1900" b="1">
                <a:solidFill>
                  <a:srgbClr val="788594"/>
                </a:solidFill>
                <a:latin typeface="Aptos"/>
              </a:rPr>
              <a:t>Removed from S</a:t>
            </a:r>
          </a:p>
        </p:txBody>
      </p:sp>
      <p:cxnSp>
        <p:nvCxnSpPr>
          <p:cNvPr id="14" name="Connector 13"/>
          <p:cNvCxnSpPr/>
          <p:nvPr/>
        </p:nvCxnSpPr>
        <p:spPr>
          <a:xfrm>
            <a:off x="6620256" y="4645152"/>
            <a:ext cx="457200" cy="0"/>
          </a:xfrm>
          <a:prstGeom prst="line">
            <a:avLst/>
          </a:prstGeom>
          <a:ln w="22860">
            <a:solidFill>
              <a:srgbClr val="788594"/>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077456" y="4315968"/>
            <a:ext cx="3931920" cy="658368"/>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6" name="TextBox 15"/>
          <p:cNvSpPr txBox="1"/>
          <p:nvPr/>
        </p:nvSpPr>
        <p:spPr>
          <a:xfrm>
            <a:off x="7187184" y="4462272"/>
            <a:ext cx="3712463" cy="475488"/>
          </a:xfrm>
          <a:prstGeom prst="rect">
            <a:avLst/>
          </a:prstGeom>
          <a:noFill/>
        </p:spPr>
        <p:txBody>
          <a:bodyPr wrap="square" lIns="0" rIns="0" tIns="0" bIns="0">
            <a:spAutoFit/>
          </a:bodyPr>
          <a:lstStyle/>
          <a:p>
            <a:pPr algn="ctr">
              <a:lnSpc>
                <a:spcPct val="112000"/>
              </a:lnSpc>
              <a:spcBef>
                <a:spcPts val="0"/>
              </a:spcBef>
              <a:spcAft>
                <a:spcPts val="500"/>
              </a:spcAft>
            </a:pPr>
            <a:r>
              <a:rPr sz="1900" b="1">
                <a:solidFill>
                  <a:srgbClr val="2D6DAF"/>
                </a:solidFill>
                <a:latin typeface="Aptos"/>
              </a:rPr>
              <a:t>Second request → cache miss</a:t>
            </a:r>
          </a:p>
        </p:txBody>
      </p:sp>
      <p:sp>
        <p:nvSpPr>
          <p:cNvPr id="17" name="Rounded Rectangle 16"/>
          <p:cNvSpPr/>
          <p:nvPr/>
        </p:nvSpPr>
        <p:spPr>
          <a:xfrm>
            <a:off x="731520" y="5632704"/>
            <a:ext cx="10789920" cy="475488"/>
          </a:xfrm>
          <a:prstGeom prst="roundRect">
            <a:avLst>
              <a:gd name="adj" fmla="val 12000"/>
            </a:avLst>
          </a:prstGeom>
          <a:solidFill>
            <a:srgbClr val="FFF6E2"/>
          </a:solidFill>
          <a:ln>
            <a:noFill/>
          </a:ln>
        </p:spPr>
        <p:txBody>
          <a:bodyPr rtlCol="0" anchor="ctr"/>
          <a:lstStyle/>
          <a:p>
            <a:pPr algn="ctr"/>
          </a:p>
        </p:txBody>
      </p:sp>
      <p:sp>
        <p:nvSpPr>
          <p:cNvPr id="18" name="TextBox 17"/>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946812"/>
                </a:solidFill>
                <a:latin typeface="Aptos"/>
              </a:rPr>
              <a:t>Quick demotion is useful, but a late reuse can still cause an additional miss.</a:t>
            </a:r>
          </a:p>
        </p:txBody>
      </p:sp>
      <p:sp>
        <p:nvSpPr>
          <p:cNvPr id="19" name="TextBox 18"/>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§5.2, Yang et al., SOSP 2023.</a:t>
            </a:r>
          </a:p>
        </p:txBody>
      </p:sp>
      <p:sp>
        <p:nvSpPr>
          <p:cNvPr id="20" name="TextBox 19"/>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1" name="TextBox 20"/>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731520" y="777240"/>
            <a:ext cx="9144000" cy="411480"/>
          </a:xfrm>
          <a:prstGeom prst="rect">
            <a:avLst/>
          </a:prstGeom>
          <a:noFill/>
        </p:spPr>
        <p:txBody>
          <a:bodyPr wrap="square" lIns="0" rIns="0" tIns="0" bIns="0">
            <a:spAutoFit/>
          </a:bodyPr>
          <a:lstStyle/>
          <a:p>
            <a:pPr algn="l">
              <a:lnSpc>
                <a:spcPct val="112000"/>
              </a:lnSpc>
              <a:spcBef>
                <a:spcPts val="0"/>
              </a:spcBef>
              <a:spcAft>
                <a:spcPts val="500"/>
              </a:spcAft>
            </a:pPr>
            <a:r>
              <a:rPr sz="2400" b="1">
                <a:solidFill>
                  <a:srgbClr val="F5B841"/>
                </a:solidFill>
                <a:latin typeface="Aptos"/>
              </a:rPr>
              <a:t>Final Takeaway</a:t>
            </a:r>
          </a:p>
        </p:txBody>
      </p:sp>
      <p:sp>
        <p:nvSpPr>
          <p:cNvPr id="3" name="TextBox 2"/>
          <p:cNvSpPr txBox="1"/>
          <p:nvPr/>
        </p:nvSpPr>
        <p:spPr>
          <a:xfrm>
            <a:off x="731520" y="1673352"/>
            <a:ext cx="10698480" cy="1325880"/>
          </a:xfrm>
          <a:prstGeom prst="rect">
            <a:avLst/>
          </a:prstGeom>
          <a:noFill/>
        </p:spPr>
        <p:txBody>
          <a:bodyPr wrap="square" lIns="0" rIns="0" tIns="0" bIns="0">
            <a:spAutoFit/>
          </a:bodyPr>
          <a:lstStyle/>
          <a:p>
            <a:pPr algn="l">
              <a:lnSpc>
                <a:spcPct val="112000"/>
              </a:lnSpc>
              <a:spcBef>
                <a:spcPts val="0"/>
              </a:spcBef>
              <a:spcAft>
                <a:spcPts val="500"/>
              </a:spcAft>
            </a:pPr>
            <a:r>
              <a:rPr sz="3400" b="1">
                <a:solidFill>
                  <a:srgbClr val="FFFFFF"/>
                </a:solidFill>
                <a:latin typeface="Aptos Display"/>
              </a:rPr>
              <a:t>A simple cache algorithm can still</a:t>
            </a:r>
          </a:p>
          <a:p>
            <a:pPr algn="l">
              <a:lnSpc>
                <a:spcPct val="112000"/>
              </a:lnSpc>
              <a:spcBef>
                <a:spcPts val="0"/>
              </a:spcBef>
              <a:spcAft>
                <a:spcPts val="500"/>
              </a:spcAft>
            </a:pPr>
            <a:r>
              <a:rPr sz="3400" b="1">
                <a:solidFill>
                  <a:srgbClr val="FFFFFF"/>
                </a:solidFill>
                <a:latin typeface="Aptos Display"/>
              </a:rPr>
              <a:t>deliver strong performance.</a:t>
            </a:r>
          </a:p>
        </p:txBody>
      </p:sp>
      <p:sp>
        <p:nvSpPr>
          <p:cNvPr id="4" name="TextBox 3"/>
          <p:cNvSpPr txBox="1"/>
          <p:nvPr/>
        </p:nvSpPr>
        <p:spPr>
          <a:xfrm>
            <a:off x="768096" y="3227832"/>
            <a:ext cx="10561320" cy="914400"/>
          </a:xfrm>
          <a:prstGeom prst="rect">
            <a:avLst/>
          </a:prstGeom>
          <a:noFill/>
        </p:spPr>
        <p:txBody>
          <a:bodyPr wrap="square" lIns="0" rIns="0" tIns="0" bIns="0">
            <a:spAutoFit/>
          </a:bodyPr>
          <a:lstStyle/>
          <a:p>
            <a:pPr algn="l">
              <a:lnSpc>
                <a:spcPct val="112000"/>
              </a:lnSpc>
              <a:spcBef>
                <a:spcPts val="0"/>
              </a:spcBef>
              <a:spcAft>
                <a:spcPts val="500"/>
              </a:spcAft>
            </a:pPr>
            <a:r>
              <a:rPr sz="2300" b="0">
                <a:solidFill>
                  <a:srgbClr val="BED6F0"/>
                </a:solidFill>
                <a:latin typeface="Aptos"/>
              </a:rPr>
              <a:t>Three FIFO queues remove less useful data quickly</a:t>
            </a:r>
          </a:p>
          <a:p>
            <a:pPr algn="l">
              <a:lnSpc>
                <a:spcPct val="112000"/>
              </a:lnSpc>
              <a:spcBef>
                <a:spcPts val="0"/>
              </a:spcBef>
              <a:spcAft>
                <a:spcPts val="500"/>
              </a:spcAft>
            </a:pPr>
            <a:r>
              <a:rPr sz="2300" b="0">
                <a:solidFill>
                  <a:srgbClr val="BED6F0"/>
                </a:solidFill>
                <a:latin typeface="Aptos"/>
              </a:rPr>
              <a:t>while keeping useful data for longer.</a:t>
            </a:r>
          </a:p>
        </p:txBody>
      </p:sp>
      <p:sp>
        <p:nvSpPr>
          <p:cNvPr id="5" name="TextBox 4"/>
          <p:cNvSpPr txBox="1"/>
          <p:nvPr/>
        </p:nvSpPr>
        <p:spPr>
          <a:xfrm>
            <a:off x="768096" y="4434840"/>
            <a:ext cx="10561320" cy="457200"/>
          </a:xfrm>
          <a:prstGeom prst="rect">
            <a:avLst/>
          </a:prstGeom>
          <a:noFill/>
        </p:spPr>
        <p:txBody>
          <a:bodyPr wrap="square" lIns="0" rIns="0" tIns="0" bIns="0">
            <a:spAutoFit/>
          </a:bodyPr>
          <a:lstStyle/>
          <a:p>
            <a:pPr algn="l">
              <a:lnSpc>
                <a:spcPct val="112000"/>
              </a:lnSpc>
              <a:spcBef>
                <a:spcPts val="0"/>
              </a:spcBef>
              <a:spcAft>
                <a:spcPts val="500"/>
              </a:spcAft>
            </a:pPr>
            <a:r>
              <a:rPr sz="2400" b="1">
                <a:solidFill>
                  <a:srgbClr val="F5B841"/>
                </a:solidFill>
                <a:latin typeface="Aptos"/>
              </a:rPr>
              <a:t>Lower miss ratios · Better scalability</a:t>
            </a:r>
          </a:p>
        </p:txBody>
      </p:sp>
      <p:sp>
        <p:nvSpPr>
          <p:cNvPr id="6" name="Rounded Rectangle 5"/>
          <p:cNvSpPr/>
          <p:nvPr/>
        </p:nvSpPr>
        <p:spPr>
          <a:xfrm>
            <a:off x="822960" y="5276088"/>
            <a:ext cx="10515600" cy="777240"/>
          </a:xfrm>
          <a:prstGeom prst="roundRect">
            <a:avLst>
              <a:gd name="adj" fmla="val 12000"/>
            </a:avLst>
          </a:prstGeom>
          <a:solidFill>
            <a:srgbClr val="1F3B63"/>
          </a:solidFill>
          <a:ln>
            <a:noFill/>
          </a:ln>
        </p:spPr>
        <p:txBody>
          <a:bodyPr rtlCol="0" anchor="ctr"/>
          <a:lstStyle/>
          <a:p>
            <a:pPr algn="ctr"/>
          </a:p>
        </p:txBody>
      </p:sp>
      <p:sp>
        <p:nvSpPr>
          <p:cNvPr id="7" name="TextBox 6"/>
          <p:cNvSpPr txBox="1"/>
          <p:nvPr/>
        </p:nvSpPr>
        <p:spPr>
          <a:xfrm>
            <a:off x="1005840" y="5449824"/>
            <a:ext cx="10149840" cy="457200"/>
          </a:xfrm>
          <a:prstGeom prst="rect">
            <a:avLst/>
          </a:prstGeom>
          <a:noFill/>
        </p:spPr>
        <p:txBody>
          <a:bodyPr wrap="square" lIns="0" rIns="0" tIns="0" bIns="0">
            <a:spAutoFit/>
          </a:bodyPr>
          <a:lstStyle/>
          <a:p>
            <a:pPr algn="ctr">
              <a:lnSpc>
                <a:spcPct val="112000"/>
              </a:lnSpc>
              <a:spcBef>
                <a:spcPts val="0"/>
              </a:spcBef>
              <a:spcAft>
                <a:spcPts val="500"/>
              </a:spcAft>
            </a:pPr>
            <a:r>
              <a:rPr sz="2900" b="0">
                <a:solidFill>
                  <a:srgbClr val="FFFFFF"/>
                </a:solidFill>
                <a:latin typeface="Aptos"/>
              </a:rPr>
              <a:t>Thank you for listening.</a:t>
            </a:r>
          </a:p>
        </p:txBody>
      </p:sp>
      <p:sp>
        <p:nvSpPr>
          <p:cNvPr id="8" name="TextBox 7"/>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B8CBE0"/>
                </a:solidFill>
                <a:latin typeface="Aptos"/>
              </a:rPr>
              <a:t>Yang et al., SOSP 2023 · Operating Systems · Theoretical Presentation</a:t>
            </a:r>
          </a:p>
        </p:txBody>
      </p:sp>
      <p:sp>
        <p:nvSpPr>
          <p:cNvPr id="9" name="TextBox 8"/>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B8CBE0"/>
                </a:solidFill>
                <a:latin typeface="Aptos"/>
              </a:rPr>
              <a:t>Slide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References</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References</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Primary paper, original figures, and the official code and data.</a:t>
            </a:r>
          </a:p>
        </p:txBody>
      </p:sp>
      <p:sp>
        <p:nvSpPr>
          <p:cNvPr id="7" name="Rounded Rectangle 6"/>
          <p:cNvSpPr/>
          <p:nvPr/>
        </p:nvSpPr>
        <p:spPr>
          <a:xfrm>
            <a:off x="685800" y="1783080"/>
            <a:ext cx="10789920" cy="43159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87552" y="2057400"/>
            <a:ext cx="10012680" cy="274320"/>
          </a:xfrm>
          <a:prstGeom prst="rect">
            <a:avLst/>
          </a:prstGeom>
          <a:noFill/>
        </p:spPr>
        <p:txBody>
          <a:bodyPr wrap="square" lIns="0" rIns="0" tIns="0" bIns="0">
            <a:spAutoFit/>
          </a:bodyPr>
          <a:lstStyle/>
          <a:p>
            <a:pPr algn="l">
              <a:lnSpc>
                <a:spcPct val="112000"/>
              </a:lnSpc>
              <a:spcBef>
                <a:spcPts val="0"/>
              </a:spcBef>
              <a:spcAft>
                <a:spcPts val="500"/>
              </a:spcAft>
            </a:pPr>
            <a:r>
              <a:rPr sz="1400" b="1">
                <a:solidFill>
                  <a:srgbClr val="2D6DAF"/>
                </a:solidFill>
                <a:latin typeface="Aptos"/>
              </a:rPr>
              <a:t>PRIMARY PAPER</a:t>
            </a:r>
          </a:p>
        </p:txBody>
      </p:sp>
      <p:sp>
        <p:nvSpPr>
          <p:cNvPr id="9" name="TextBox 8"/>
          <p:cNvSpPr txBox="1"/>
          <p:nvPr/>
        </p:nvSpPr>
        <p:spPr>
          <a:xfrm>
            <a:off x="987552" y="2569464"/>
            <a:ext cx="10012680" cy="1161288"/>
          </a:xfrm>
          <a:prstGeom prst="rect">
            <a:avLst/>
          </a:prstGeom>
          <a:noFill/>
        </p:spPr>
        <p:txBody>
          <a:bodyPr wrap="square" lIns="0" rIns="0" tIns="0" bIns="0">
            <a:spAutoFit/>
          </a:bodyPr>
          <a:lstStyle/>
          <a:p>
            <a:pPr algn="l">
              <a:lnSpc>
                <a:spcPct val="114000"/>
              </a:lnSpc>
              <a:spcBef>
                <a:spcPts val="0"/>
              </a:spcBef>
              <a:spcAft>
                <a:spcPts val="1000"/>
              </a:spcAft>
            </a:pPr>
            <a:r>
              <a:rPr sz="2200">
                <a:solidFill>
                  <a:srgbClr val="172033"/>
                </a:solidFill>
                <a:latin typeface="Aptos"/>
              </a:rPr>
              <a:t>Yang, J., Zhang, Y., Qiu, Z., Yue, Y., &amp; Rashmi, K. V. (2023).</a:t>
            </a:r>
          </a:p>
          <a:p>
            <a:pPr>
              <a:lnSpc>
                <a:spcPct val="114000"/>
              </a:lnSpc>
              <a:spcAft>
                <a:spcPts val="1000"/>
              </a:spcAft>
            </a:pPr>
            <a:r>
              <a:rPr sz="2200">
                <a:solidFill>
                  <a:srgbClr val="172033"/>
                </a:solidFill>
                <a:latin typeface="Aptos"/>
              </a:rPr>
              <a:t>FIFO Queues Are All You Need for Cache Eviction. SOSP ’23.</a:t>
            </a:r>
          </a:p>
        </p:txBody>
      </p:sp>
      <p:sp>
        <p:nvSpPr>
          <p:cNvPr id="10" name="TextBox 9"/>
          <p:cNvSpPr txBox="1"/>
          <p:nvPr/>
        </p:nvSpPr>
        <p:spPr>
          <a:xfrm>
            <a:off x="987552" y="4041648"/>
            <a:ext cx="10012680" cy="256032"/>
          </a:xfrm>
          <a:prstGeom prst="rect">
            <a:avLst/>
          </a:prstGeom>
          <a:noFill/>
        </p:spPr>
        <p:txBody>
          <a:bodyPr wrap="square" lIns="0" rIns="0" tIns="0" bIns="0">
            <a:spAutoFit/>
          </a:bodyPr>
          <a:lstStyle/>
          <a:p>
            <a:pPr algn="l">
              <a:lnSpc>
                <a:spcPct val="112000"/>
              </a:lnSpc>
              <a:spcBef>
                <a:spcPts val="0"/>
              </a:spcBef>
              <a:spcAft>
                <a:spcPts val="500"/>
              </a:spcAft>
            </a:pPr>
            <a:r>
              <a:rPr sz="1300" b="1">
                <a:solidFill>
                  <a:srgbClr val="2D6DAF"/>
                </a:solidFill>
                <a:latin typeface="Aptos"/>
              </a:rPr>
              <a:t>DOI</a:t>
            </a:r>
          </a:p>
        </p:txBody>
      </p:sp>
      <p:sp>
        <p:nvSpPr>
          <p:cNvPr id="11" name="TextBox 10"/>
          <p:cNvSpPr txBox="1"/>
          <p:nvPr/>
        </p:nvSpPr>
        <p:spPr>
          <a:xfrm>
            <a:off x="987552" y="4425696"/>
            <a:ext cx="10012680" cy="384048"/>
          </a:xfrm>
          <a:prstGeom prst="rect">
            <a:avLst/>
          </a:prstGeom>
          <a:noFill/>
        </p:spPr>
        <p:txBody>
          <a:bodyPr wrap="square" lIns="0" rIns="0" tIns="0" bIns="0">
            <a:spAutoFit/>
          </a:bodyPr>
          <a:lstStyle/>
          <a:p>
            <a:pPr algn="l">
              <a:lnSpc>
                <a:spcPct val="112000"/>
              </a:lnSpc>
              <a:spcBef>
                <a:spcPts val="0"/>
              </a:spcBef>
              <a:spcAft>
                <a:spcPts val="500"/>
              </a:spcAft>
            </a:pPr>
            <a:r>
              <a:rPr sz="2000" b="0">
                <a:solidFill>
                  <a:srgbClr val="13294B"/>
                </a:solidFill>
                <a:latin typeface="Aptos"/>
                <a:hlinkClick r:id="rId2"/>
              </a:rPr>
              <a:t>https://doi.org/10.1145/3600006.3613147</a:t>
            </a:r>
          </a:p>
        </p:txBody>
      </p:sp>
      <p:sp>
        <p:nvSpPr>
          <p:cNvPr id="12" name="TextBox 11"/>
          <p:cNvSpPr txBox="1"/>
          <p:nvPr/>
        </p:nvSpPr>
        <p:spPr>
          <a:xfrm>
            <a:off x="987552" y="5056632"/>
            <a:ext cx="10012680" cy="256032"/>
          </a:xfrm>
          <a:prstGeom prst="rect">
            <a:avLst/>
          </a:prstGeom>
          <a:noFill/>
        </p:spPr>
        <p:txBody>
          <a:bodyPr wrap="square" lIns="0" rIns="0" tIns="0" bIns="0">
            <a:spAutoFit/>
          </a:bodyPr>
          <a:lstStyle/>
          <a:p>
            <a:pPr algn="l">
              <a:lnSpc>
                <a:spcPct val="112000"/>
              </a:lnSpc>
              <a:spcBef>
                <a:spcPts val="0"/>
              </a:spcBef>
              <a:spcAft>
                <a:spcPts val="500"/>
              </a:spcAft>
            </a:pPr>
            <a:r>
              <a:rPr sz="1300" b="1">
                <a:solidFill>
                  <a:srgbClr val="2D6DAF"/>
                </a:solidFill>
                <a:latin typeface="Aptos"/>
              </a:rPr>
              <a:t>OFFICIAL CODE &amp; DATA</a:t>
            </a:r>
          </a:p>
        </p:txBody>
      </p:sp>
      <p:sp>
        <p:nvSpPr>
          <p:cNvPr id="13" name="TextBox 12"/>
          <p:cNvSpPr txBox="1"/>
          <p:nvPr/>
        </p:nvSpPr>
        <p:spPr>
          <a:xfrm>
            <a:off x="987552" y="5440680"/>
            <a:ext cx="10012680" cy="384048"/>
          </a:xfrm>
          <a:prstGeom prst="rect">
            <a:avLst/>
          </a:prstGeom>
          <a:noFill/>
        </p:spPr>
        <p:txBody>
          <a:bodyPr wrap="square" lIns="0" rIns="0" tIns="0" bIns="0">
            <a:spAutoFit/>
          </a:bodyPr>
          <a:lstStyle/>
          <a:p>
            <a:pPr algn="l">
              <a:lnSpc>
                <a:spcPct val="112000"/>
              </a:lnSpc>
              <a:spcBef>
                <a:spcPts val="0"/>
              </a:spcBef>
              <a:spcAft>
                <a:spcPts val="500"/>
              </a:spcAft>
            </a:pPr>
            <a:r>
              <a:rPr sz="2000" b="0">
                <a:solidFill>
                  <a:srgbClr val="13294B"/>
                </a:solidFill>
                <a:latin typeface="Aptos"/>
                <a:hlinkClick r:id="rId3"/>
              </a:rPr>
              <a:t>https://github.com/TheSys-lab/sosp23-s3fifo</a:t>
            </a:r>
          </a:p>
        </p:txBody>
      </p:sp>
      <p:sp>
        <p:nvSpPr>
          <p:cNvPr id="14" name="TextBox 13"/>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Figures 1, 5, 6 and 8: Yang et al., SOSP 2023. Mechanism diagrams redrawn from Algorithm 1.</a:t>
            </a:r>
          </a:p>
        </p:txBody>
      </p:sp>
      <p:sp>
        <p:nvSpPr>
          <p:cNvPr id="15" name="TextBox 14"/>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16" name="TextBox 15"/>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14920</Words>
  <Application>WPS 演示</Application>
  <PresentationFormat>On-screen Show (16:9)</PresentationFormat>
  <Paragraphs>756</Paragraphs>
  <Slides>39</Slides>
  <Notes>43</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39</vt:i4>
      </vt:variant>
    </vt:vector>
  </HeadingPairs>
  <TitlesOfParts>
    <vt:vector size="54" baseType="lpstr">
      <vt:lpstr>Arial</vt:lpstr>
      <vt:lpstr>宋体</vt:lpstr>
      <vt:lpstr>Wingdings</vt:lpstr>
      <vt:lpstr>Aptos</vt:lpstr>
      <vt:lpstr>Segoe UI</vt:lpstr>
      <vt:lpstr>Aptos</vt:lpstr>
      <vt:lpstr>Aptos</vt:lpstr>
      <vt:lpstr>微软雅黑</vt:lpstr>
      <vt:lpstr>Arial Unicode MS</vt:lpstr>
      <vt:lpstr>Aptos Display</vt:lpstr>
      <vt:lpstr>Segoe UI Variable Display</vt:lpstr>
      <vt:lpstr>等线</vt:lpstr>
      <vt:lpstr>Calibri</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CS112 Web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S3-FIFO — Theoretical Presentation (DIG Style)</dc:title>
  <dc:creator>Course presentation group</dc:creator>
  <dc:subject>Restyled using Group 10 DIG, aligned to the supplied three-member speaking script</dc:subject>
  <cp:lastModifiedBy>星尘</cp:lastModifiedBy>
  <cp:revision>21</cp:revision>
  <dcterms:created xsi:type="dcterms:W3CDTF">2026-04-25T06:13:00Z</dcterms:created>
  <dcterms:modified xsi:type="dcterms:W3CDTF">2026-04-27T09:26:51Z</dcterms:modified>
  <dc:description>Original One-hit Wonders Figure 1 preserved in full on slide 6.</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2E4FC1B308D74BA4A38BC7062AE0266F_12</vt:lpwstr>
  </property>
</Properties>
</file>