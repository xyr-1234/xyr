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group will introduce a research paper called FIFO Queues Are All You Need for Cache Eviction. It was published at SOSP in 2023. The paper introduces a new cache eviction algorithm called S3-FIFO.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is a cache? A cache is a small and fast storage space that keeps data we may need again. For example, when a computer reads the same data many times, getting it from the cache is faster than getting it from slower storage.</a:t>
            </a:r>
          </a:p>
          <a:p/>
          <a:p>
            <a:r>
              <a:t>However, cache space is limited. When the cache is full, the system must decide which data to remove. This process is called cache eviction.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common methods: FIFO and LRU.</a:t>
            </a:r>
          </a:p>
          <a:p/>
          <a:p>
            <a:r>
              <a:t>FIFO means First In, First Out. It removes the data that entered the cache first. FIFO is simple and fast, but it may remove useful data.</a:t>
            </a:r>
          </a:p>
          <a:p/>
          <a:p>
            <a:r>
              <a:t>LRU means Least Recently Used. It removes data that has not been used for the longest time. LRU can be more effective, but it needs to update the order of objects whenever they are accessed. This can slow down the system when many threads work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researchers noticed another problem. Many objects are used only once before they leave the cache. The paper calls these objects one-hit wonders.</a:t>
            </a:r>
          </a:p>
          <a:p/>
          <a:p>
            <a:r>
              <a:t>The researchers found that these objects are especially common in short access sequences. This means some data take up cache space without being used again.</a:t>
            </a:r>
          </a:p>
          <a:p/>
          <a:p>
            <a:r>
              <a:t>So, the main idea is to remove less useful objects quickly and keep frequently used objects for longer. The researchers call this quick demotion.</a:t>
            </a:r>
          </a:p>
          <a:p/>
          <a:p>
            <a:r>
              <a:t>This leads to an important question: Can we combine the simplicity of FIFO with better cache efficiency?</a:t>
            </a:r>
          </a:p>
          <a:p/>
          <a:p>
            <a:r>
              <a:t>To answer this question, the researchers designed S3-FIFO.</a:t>
            </a:r>
          </a:p>
          <a:p/>
          <a:p>
            <a:r>
              <a:t>Now, my teammate will explain how this algorithm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Now, I will explain how S3-FIFO works.</a:t>
            </a:r>
          </a:p>
          <a:p/>
          <a:p>
            <a:r>
              <a:t>The main idea of S3-FIFO is simple. Instead of using one cache queue, it uses three FIFO queues. These are the Small Queue, the Main Queue, and the Ghost Queue.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Small Queue, or S, uses about 10 percent of the cache space. New objects usually enter this queue first. We can think of it as a testing area. If an object is not used again, it can leave the cache quickly.</a:t>
            </a:r>
          </a:p>
          <a:p/>
          <a:p>
            <a:r>
              <a:t>Second, the Main Queue, or M, uses the remaining 90 percent of the cache space. This queue mainly keeps objects that have shown they are useful.</a:t>
            </a:r>
          </a:p>
          <a:p/>
          <a:p>
            <a:r>
              <a:t>Third, the Ghost Queue, or G, is a little different. It does not store the actual data. It only remembers the IDs of recently removed objects. This helps the system recognize objects that may be useful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what happens when the system receives a request.</a:t>
            </a:r>
          </a:p>
          <a:p/>
          <a:p>
            <a:r>
              <a:t>If the requested object is already in the Small Queue or the Main Queue, this is called a cache hit. S3-FIFO increases a small access counter for that object. The maximum value of this counter is three.</a:t>
            </a:r>
          </a:p>
          <a:p/>
          <a:p>
            <a:r>
              <a:t>Unlike LRU, S3-FIFO does not need to move an object to the front of the queue after every cache hit.</a:t>
            </a:r>
          </a:p>
          <a:p/>
          <a:p>
            <a:r>
              <a:t>If the object is not in the cache, this is called a cache miss. If the object is not recorded in the Ghost Queue, it enters the Small Queue. But if the Ghost Queue remembers it, the object enters the Main Queue directly.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what happens when the cache becomes full?</a:t>
            </a:r>
          </a:p>
          <a:p/>
          <a:p>
            <a:r>
              <a:t>S3-FIFO first checks the Small Queue. If an object has been accessed enough times, it can move to the Main Queue. Otherwise, it leaves the cache, and its ID is recorded in the Ghost Queue.</a:t>
            </a:r>
          </a:p>
          <a:p/>
          <a:p>
            <a:r>
              <a:t>The Main Queue works differently. When an object reaches the end of this queue, the system checks its access counter. If the counter is greater than zero, the object gets another chance and returns to the front of the queue. Its counter decreases by one. If the counter is zero, the object is removed.</a:t>
            </a:r>
          </a:p>
          <a:p/>
          <a:p>
            <a:r>
              <a:t>In this way, the three queues work together. The Small Queue filters new objects, the Main Queue protects useful objects, and the Ghost Queue remembers recently removed objects.</a:t>
            </a:r>
          </a:p>
          <a:p/>
          <a:p>
            <a:r>
              <a:t>The key advantage is that S3-FIFO can remove less useful data quickly without updating the queue order after every cache hit.</a:t>
            </a:r>
          </a:p>
          <a:p/>
          <a:p>
            <a:r>
              <a:t>Now, let's look at the experimental results and see how well this design 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Now, I will introduce the experimental results and the main conclusions of this paper.</a:t>
            </a:r>
          </a:p>
          <a:p/>
          <a:p>
            <a:r>
              <a:t>The researchers tested S3-FIFO using 6,594 real cache traces from 14 datasets. These included different types of data, such as storage blocks, key-value data, and web content.</a:t>
            </a:r>
          </a:p>
          <a:p/>
          <a:p>
            <a:r>
              <a:t>They compared S3-FIFO with FIFO, LRU, and several other cache eviction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important measure is the miss ratio.</a:t>
            </a:r>
          </a:p>
          <a:p/>
          <a:p>
            <a:r>
              <a:t>A cache miss happens when the requested data is not in the cache. A lower miss ratio is better because more requests can be served directly from the cache.</a:t>
            </a:r>
          </a:p>
          <a:p/>
          <a:p>
            <a:r>
              <a:t>Figure 6 in the paper compares the miss ratio performance of different algorithms. The results show that S3-FIFO performs well across many workloads. With a relatively large cache, S3-FIFO achieved the lowest average miss ratio on 10 out of 14 datasets.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important measure is throughput. Throughput means how many requests a system can handle in one second.</a:t>
            </a:r>
          </a:p>
          <a:p/>
          <a:p>
            <a:r>
              <a:t>Figure 8 shows the performance of different algorithms as the number of threads increases.</a:t>
            </a:r>
          </a:p>
          <a:p/>
          <a:p>
            <a:r>
              <a:t>In the researchers' experiments, S3-FIFO achieved more than six times the throughput of an optimized LRU implementation with 16 threads. This suggests that S3-FIFO can work better when many requests are processed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S3-FIFO also has limitations. Sometimes, an object is removed from the Small Queue before its second request arrives. This can cause an extra cache miss. Therefore, its performance still depends on the access pattern.</a:t>
            </a:r>
          </a:p>
          <a:p/>
          <a:p>
            <a:r>
              <a:t>To conclude, this paper shows that a simple cache algorithm can still achieve strong performance.</a:t>
            </a:r>
          </a:p>
          <a:p/>
          <a:p>
            <a:r>
              <a:t>By using three FIFO queues, S3-FIFO removes less useful data quickly while keeping useful data for longer. Its main advantages are lower miss ratios and better scalability.</a:t>
            </a:r>
          </a:p>
          <a:p/>
          <a:p>
            <a:r>
              <a:t>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5/3600006.3613147" TargetMode="External"/><Relationship Id="rId3" Type="http://schemas.openxmlformats.org/officeDocument/2006/relationships/hyperlink" Target="https://github.com/TheSys-lab/sosp23-s3fif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THEORETICAL PRESENTATION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S3-FIFO</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01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1  ·  20 SEC</a:t>
            </a:r>
          </a:p>
        </p:txBody>
      </p:sp>
      <p:sp>
        <p:nvSpPr>
          <p:cNvPr id="9" name="TextBox 8"/>
          <p:cNvSpPr txBox="1"/>
          <p:nvPr/>
        </p:nvSpPr>
        <p:spPr>
          <a:xfrm>
            <a:off x="566928" y="1783080"/>
            <a:ext cx="9875520" cy="1508760"/>
          </a:xfrm>
          <a:prstGeom prst="rect">
            <a:avLst/>
          </a:prstGeom>
          <a:noFill/>
          <a:effectLst/>
        </p:spPr>
        <p:txBody>
          <a:bodyPr wrap="square" lIns="9144" rIns="9144" tIns="0" bIns="0">
            <a:spAutoFit/>
          </a:bodyPr>
          <a:lstStyle/>
          <a:p>
            <a:pPr algn="l">
              <a:spcAft>
                <a:spcPts val="600"/>
              </a:spcAft>
              <a:defRPr sz="3600" b="1">
                <a:solidFill>
                  <a:srgbClr val="142D4E"/>
                </a:solidFill>
                <a:latin typeface="DejaVu Sans"/>
              </a:defRPr>
            </a:pPr>
            <a:r>
              <a:t>FIFO Queues Are All You Need</a:t>
            </a:r>
          </a:p>
          <a:p>
            <a:pPr algn="l">
              <a:spcAft>
                <a:spcPts val="600"/>
              </a:spcAft>
              <a:defRPr sz="3600" b="1">
                <a:solidFill>
                  <a:srgbClr val="142D4E"/>
                </a:solidFill>
                <a:latin typeface="DejaVu Sans"/>
              </a:defRPr>
            </a:pPr>
            <a:r>
              <a:t>for Cache Eviction</a:t>
            </a:r>
          </a:p>
        </p:txBody>
      </p:sp>
      <p:sp>
        <p:nvSpPr>
          <p:cNvPr id="10" name="TextBox 9"/>
          <p:cNvSpPr txBox="1"/>
          <p:nvPr/>
        </p:nvSpPr>
        <p:spPr>
          <a:xfrm>
            <a:off x="594360" y="3364992"/>
            <a:ext cx="9601200" cy="502920"/>
          </a:xfrm>
          <a:prstGeom prst="rect">
            <a:avLst/>
          </a:prstGeom>
          <a:noFill/>
          <a:effectLst/>
        </p:spPr>
        <p:txBody>
          <a:bodyPr wrap="square" lIns="9144" rIns="9144" tIns="0" bIns="0">
            <a:spAutoFit/>
          </a:bodyPr>
          <a:lstStyle/>
          <a:p>
            <a:pPr algn="l">
              <a:spcAft>
                <a:spcPts val="600"/>
              </a:spcAft>
              <a:defRPr sz="2300" b="0">
                <a:solidFill>
                  <a:srgbClr val="0D887F"/>
                </a:solidFill>
                <a:latin typeface="DejaVu Sans"/>
              </a:defRPr>
            </a:pPr>
            <a:r>
              <a:t>A simple and efficient cache eviction algorithm</a:t>
            </a:r>
          </a:p>
        </p:txBody>
      </p:sp>
      <p:sp>
        <p:nvSpPr>
          <p:cNvPr id="11" name="TextBox 10"/>
          <p:cNvSpPr txBox="1"/>
          <p:nvPr/>
        </p:nvSpPr>
        <p:spPr>
          <a:xfrm>
            <a:off x="594360" y="4096512"/>
            <a:ext cx="9601200" cy="731520"/>
          </a:xfrm>
          <a:prstGeom prst="rect">
            <a:avLst/>
          </a:prstGeom>
          <a:noFill/>
          <a:effectLst/>
        </p:spPr>
        <p:txBody>
          <a:bodyPr wrap="square" lIns="9144" rIns="9144" tIns="0" bIns="0">
            <a:spAutoFit/>
          </a:bodyPr>
          <a:lstStyle/>
          <a:p>
            <a:pPr algn="l">
              <a:spcAft>
                <a:spcPts val="600"/>
              </a:spcAft>
              <a:defRPr sz="1800" b="0">
                <a:solidFill>
                  <a:srgbClr val="607286"/>
                </a:solidFill>
                <a:latin typeface="DejaVu Sans"/>
              </a:defRPr>
            </a:pPr>
            <a:r>
              <a:t>Juncheng Yang et al.  ·  SOSP 2023</a:t>
            </a:r>
          </a:p>
          <a:p>
            <a:pPr algn="l">
              <a:spcAft>
                <a:spcPts val="600"/>
              </a:spcAft>
              <a:defRPr sz="1800" b="0">
                <a:solidFill>
                  <a:srgbClr val="607286"/>
                </a:solidFill>
                <a:latin typeface="DejaVu Sans"/>
              </a:defRPr>
            </a:pPr>
            <a:r>
              <a:t>Operating Systems · 10-minute group presentation</a:t>
            </a:r>
          </a:p>
        </p:txBody>
      </p:sp>
      <p:sp>
        <p:nvSpPr>
          <p:cNvPr id="12" name="Rounded Rectangle 11"/>
          <p:cNvSpPr/>
          <p:nvPr/>
        </p:nvSpPr>
        <p:spPr>
          <a:xfrm>
            <a:off x="594360" y="5166360"/>
            <a:ext cx="3474720" cy="8046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5303520"/>
            <a:ext cx="3154680" cy="228600"/>
          </a:xfrm>
          <a:prstGeom prst="rect">
            <a:avLst/>
          </a:prstGeom>
          <a:noFill/>
          <a:effectLst/>
        </p:spPr>
        <p:txBody>
          <a:bodyPr wrap="square" lIns="9144" rIns="9144" tIns="0" bIns="0">
            <a:spAutoFit/>
          </a:bodyPr>
          <a:lstStyle/>
          <a:p>
            <a:pPr algn="l">
              <a:spcAft>
                <a:spcPts val="600"/>
              </a:spcAft>
              <a:defRPr sz="1300" b="1">
                <a:solidFill>
                  <a:srgbClr val="0D887F"/>
                </a:solidFill>
                <a:latin typeface="DejaVu Sans"/>
              </a:defRPr>
            </a:pPr>
            <a:r>
              <a:t>01  BACKGROUND</a:t>
            </a:r>
          </a:p>
        </p:txBody>
      </p:sp>
      <p:sp>
        <p:nvSpPr>
          <p:cNvPr id="14" name="TextBox 13"/>
          <p:cNvSpPr txBox="1"/>
          <p:nvPr/>
        </p:nvSpPr>
        <p:spPr>
          <a:xfrm>
            <a:off x="758952" y="5614416"/>
            <a:ext cx="3154680" cy="201168"/>
          </a:xfrm>
          <a:prstGeom prst="rect">
            <a:avLst/>
          </a:prstGeom>
          <a:noFill/>
          <a:effectLst/>
        </p:spPr>
        <p:txBody>
          <a:bodyPr wrap="square" lIns="9144" rIns="9144" tIns="0" bIns="0">
            <a:spAutoFit/>
          </a:bodyPr>
          <a:lstStyle/>
          <a:p>
            <a:pPr algn="l">
              <a:spcAft>
                <a:spcPts val="600"/>
              </a:spcAft>
              <a:defRPr sz="1200" b="0">
                <a:solidFill>
                  <a:srgbClr val="607286"/>
                </a:solidFill>
                <a:latin typeface="DejaVu Sans"/>
              </a:defRPr>
            </a:pPr>
            <a:r>
              <a:t>Member 1 · 3 minutes</a:t>
            </a:r>
          </a:p>
        </p:txBody>
      </p:sp>
      <p:sp>
        <p:nvSpPr>
          <p:cNvPr id="15" name="Rounded Rectangle 14"/>
          <p:cNvSpPr/>
          <p:nvPr/>
        </p:nvSpPr>
        <p:spPr>
          <a:xfrm>
            <a:off x="4343400" y="5166360"/>
            <a:ext cx="3474720" cy="8046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5303520"/>
            <a:ext cx="3154680" cy="228600"/>
          </a:xfrm>
          <a:prstGeom prst="rect">
            <a:avLst/>
          </a:prstGeom>
          <a:noFill/>
          <a:effectLst/>
        </p:spPr>
        <p:txBody>
          <a:bodyPr wrap="square" lIns="9144" rIns="9144" tIns="0" bIns="0">
            <a:spAutoFit/>
          </a:bodyPr>
          <a:lstStyle/>
          <a:p>
            <a:pPr algn="l">
              <a:spcAft>
                <a:spcPts val="600"/>
              </a:spcAft>
              <a:defRPr sz="1300" b="1">
                <a:solidFill>
                  <a:srgbClr val="2563A6"/>
                </a:solidFill>
                <a:latin typeface="DejaVu Sans"/>
              </a:defRPr>
            </a:pPr>
            <a:r>
              <a:t>02  ALGORITHM</a:t>
            </a:r>
          </a:p>
        </p:txBody>
      </p:sp>
      <p:sp>
        <p:nvSpPr>
          <p:cNvPr id="17" name="TextBox 16"/>
          <p:cNvSpPr txBox="1"/>
          <p:nvPr/>
        </p:nvSpPr>
        <p:spPr>
          <a:xfrm>
            <a:off x="4507992" y="5614416"/>
            <a:ext cx="3154680" cy="201168"/>
          </a:xfrm>
          <a:prstGeom prst="rect">
            <a:avLst/>
          </a:prstGeom>
          <a:noFill/>
          <a:effectLst/>
        </p:spPr>
        <p:txBody>
          <a:bodyPr wrap="square" lIns="9144" rIns="9144" tIns="0" bIns="0">
            <a:spAutoFit/>
          </a:bodyPr>
          <a:lstStyle/>
          <a:p>
            <a:pPr algn="l">
              <a:spcAft>
                <a:spcPts val="600"/>
              </a:spcAft>
              <a:defRPr sz="1200" b="0">
                <a:solidFill>
                  <a:srgbClr val="607286"/>
                </a:solidFill>
                <a:latin typeface="DejaVu Sans"/>
              </a:defRPr>
            </a:pPr>
            <a:r>
              <a:t>Member 2 · 4 minutes</a:t>
            </a:r>
          </a:p>
        </p:txBody>
      </p:sp>
      <p:sp>
        <p:nvSpPr>
          <p:cNvPr id="18" name="Rounded Rectangle 17"/>
          <p:cNvSpPr/>
          <p:nvPr/>
        </p:nvSpPr>
        <p:spPr>
          <a:xfrm>
            <a:off x="8092440" y="5166360"/>
            <a:ext cx="3474720" cy="8046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1" y="5303520"/>
            <a:ext cx="3154680" cy="228600"/>
          </a:xfrm>
          <a:prstGeom prst="rect">
            <a:avLst/>
          </a:prstGeom>
          <a:noFill/>
          <a:effectLst/>
        </p:spPr>
        <p:txBody>
          <a:bodyPr wrap="square" lIns="9144" rIns="9144" tIns="0" bIns="0">
            <a:spAutoFit/>
          </a:bodyPr>
          <a:lstStyle/>
          <a:p>
            <a:pPr algn="l">
              <a:spcAft>
                <a:spcPts val="600"/>
              </a:spcAft>
              <a:defRPr sz="1300" b="1">
                <a:solidFill>
                  <a:srgbClr val="D9842B"/>
                </a:solidFill>
                <a:latin typeface="DejaVu Sans"/>
              </a:defRPr>
            </a:pPr>
            <a:r>
              <a:t>03  EVALUATION</a:t>
            </a:r>
          </a:p>
        </p:txBody>
      </p:sp>
      <p:sp>
        <p:nvSpPr>
          <p:cNvPr id="20" name="TextBox 19"/>
          <p:cNvSpPr txBox="1"/>
          <p:nvPr/>
        </p:nvSpPr>
        <p:spPr>
          <a:xfrm>
            <a:off x="8257031" y="5614416"/>
            <a:ext cx="3154680" cy="201168"/>
          </a:xfrm>
          <a:prstGeom prst="rect">
            <a:avLst/>
          </a:prstGeom>
          <a:noFill/>
          <a:effectLst/>
        </p:spPr>
        <p:txBody>
          <a:bodyPr wrap="square" lIns="9144" rIns="9144" tIns="0" bIns="0">
            <a:spAutoFit/>
          </a:bodyPr>
          <a:lstStyle/>
          <a:p>
            <a:pPr algn="l">
              <a:spcAft>
                <a:spcPts val="600"/>
              </a:spcAft>
              <a:defRPr sz="1200" b="0">
                <a:solidFill>
                  <a:srgbClr val="607286"/>
                </a:solidFill>
                <a:latin typeface="DejaVu Sans"/>
              </a:defRPr>
            </a:pPr>
            <a:r>
              <a:t>Member 3 · 3 minutes</a:t>
            </a:r>
          </a:p>
        </p:txBody>
      </p:sp>
      <p:sp>
        <p:nvSpPr>
          <p:cNvPr id="21" name="TextBox 20"/>
          <p:cNvSpPr txBox="1"/>
          <p:nvPr/>
        </p:nvSpPr>
        <p:spPr>
          <a:xfrm>
            <a:off x="594360" y="6199632"/>
            <a:ext cx="9144000" cy="228600"/>
          </a:xfrm>
          <a:prstGeom prst="rect">
            <a:avLst/>
          </a:prstGeom>
          <a:noFill/>
          <a:effectLst/>
        </p:spPr>
        <p:txBody>
          <a:bodyPr wrap="square" lIns="9144" rIns="9144" tIns="0" bIns="0">
            <a:spAutoFit/>
          </a:bodyPr>
          <a:lstStyle/>
          <a:p>
            <a:pPr algn="l">
              <a:spcAft>
                <a:spcPts val="600"/>
              </a:spcAft>
              <a:defRPr sz="1200" b="0">
                <a:solidFill>
                  <a:srgbClr val="607286"/>
                </a:solidFill>
                <a:latin typeface="DejaVu Sans"/>
              </a:defRPr>
            </a:pPr>
            <a:r>
              <a:t>Presenters: Member 1 / Member 2 / Member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01 / BACKGROUND &amp; MOTIVATION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What Is Cache Eviction?</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02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1  ·  40 SEC</a:t>
            </a:r>
          </a:p>
        </p:txBody>
      </p:sp>
      <p:sp>
        <p:nvSpPr>
          <p:cNvPr id="9" name="Rectangle 8"/>
          <p:cNvSpPr/>
          <p:nvPr/>
        </p:nvSpPr>
        <p:spPr>
          <a:xfrm>
            <a:off x="594360" y="1856231"/>
            <a:ext cx="64008" cy="2926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783080"/>
            <a:ext cx="3721607" cy="384048"/>
          </a:xfrm>
          <a:prstGeom prst="rect">
            <a:avLst/>
          </a:prstGeom>
          <a:noFill/>
          <a:effectLst/>
        </p:spPr>
        <p:txBody>
          <a:bodyPr wrap="square" lIns="9144" rIns="9144" tIns="0" bIns="0">
            <a:spAutoFit/>
          </a:bodyPr>
          <a:lstStyle/>
          <a:p>
            <a:pPr algn="l">
              <a:spcAft>
                <a:spcPts val="600"/>
              </a:spcAft>
              <a:defRPr sz="2200" b="1">
                <a:solidFill>
                  <a:srgbClr val="142D4E"/>
                </a:solidFill>
                <a:latin typeface="DejaVu Sans"/>
              </a:defRPr>
            </a:pPr>
            <a:r>
              <a:t>Fast access</a:t>
            </a:r>
          </a:p>
        </p:txBody>
      </p:sp>
      <p:sp>
        <p:nvSpPr>
          <p:cNvPr id="11" name="TextBox 10"/>
          <p:cNvSpPr txBox="1"/>
          <p:nvPr/>
        </p:nvSpPr>
        <p:spPr>
          <a:xfrm>
            <a:off x="804672" y="2240280"/>
            <a:ext cx="3721607" cy="7772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A cache keeps data for reuse.</a:t>
            </a:r>
          </a:p>
        </p:txBody>
      </p:sp>
      <p:sp>
        <p:nvSpPr>
          <p:cNvPr id="12" name="Rectangle 11"/>
          <p:cNvSpPr/>
          <p:nvPr/>
        </p:nvSpPr>
        <p:spPr>
          <a:xfrm>
            <a:off x="594360" y="3072384"/>
            <a:ext cx="64008" cy="2926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999232"/>
            <a:ext cx="3721607" cy="384048"/>
          </a:xfrm>
          <a:prstGeom prst="rect">
            <a:avLst/>
          </a:prstGeom>
          <a:noFill/>
          <a:effectLst/>
        </p:spPr>
        <p:txBody>
          <a:bodyPr wrap="square" lIns="9144" rIns="9144" tIns="0" bIns="0">
            <a:spAutoFit/>
          </a:bodyPr>
          <a:lstStyle/>
          <a:p>
            <a:pPr algn="l">
              <a:spcAft>
                <a:spcPts val="600"/>
              </a:spcAft>
              <a:defRPr sz="2200" b="1">
                <a:solidFill>
                  <a:srgbClr val="142D4E"/>
                </a:solidFill>
                <a:latin typeface="DejaVu Sans"/>
              </a:defRPr>
            </a:pPr>
            <a:r>
              <a:t>Limited space</a:t>
            </a:r>
          </a:p>
        </p:txBody>
      </p:sp>
      <p:sp>
        <p:nvSpPr>
          <p:cNvPr id="14" name="TextBox 13"/>
          <p:cNvSpPr txBox="1"/>
          <p:nvPr/>
        </p:nvSpPr>
        <p:spPr>
          <a:xfrm>
            <a:off x="804672" y="3456432"/>
            <a:ext cx="3721607" cy="7772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A full cache needs room for new data.</a:t>
            </a:r>
          </a:p>
        </p:txBody>
      </p:sp>
      <p:sp>
        <p:nvSpPr>
          <p:cNvPr id="15" name="Rectangle 14"/>
          <p:cNvSpPr/>
          <p:nvPr/>
        </p:nvSpPr>
        <p:spPr>
          <a:xfrm>
            <a:off x="594360" y="4288536"/>
            <a:ext cx="64008" cy="2926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215384"/>
            <a:ext cx="3721607" cy="384048"/>
          </a:xfrm>
          <a:prstGeom prst="rect">
            <a:avLst/>
          </a:prstGeom>
          <a:noFill/>
          <a:effectLst/>
        </p:spPr>
        <p:txBody>
          <a:bodyPr wrap="square" lIns="9144" rIns="9144" tIns="0" bIns="0">
            <a:spAutoFit/>
          </a:bodyPr>
          <a:lstStyle/>
          <a:p>
            <a:pPr algn="l">
              <a:spcAft>
                <a:spcPts val="600"/>
              </a:spcAft>
              <a:defRPr sz="2200" b="1">
                <a:solidFill>
                  <a:srgbClr val="142D4E"/>
                </a:solidFill>
                <a:latin typeface="DejaVu Sans"/>
              </a:defRPr>
            </a:pPr>
            <a:r>
              <a:t>Eviction</a:t>
            </a:r>
          </a:p>
        </p:txBody>
      </p:sp>
      <p:sp>
        <p:nvSpPr>
          <p:cNvPr id="17" name="TextBox 16"/>
          <p:cNvSpPr txBox="1"/>
          <p:nvPr/>
        </p:nvSpPr>
        <p:spPr>
          <a:xfrm>
            <a:off x="804672" y="4672584"/>
            <a:ext cx="3721607" cy="7772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Choose an object to remove.</a:t>
            </a:r>
          </a:p>
        </p:txBody>
      </p:sp>
      <p:sp>
        <p:nvSpPr>
          <p:cNvPr id="18" name="Rounded Rectangle 17"/>
          <p:cNvSpPr/>
          <p:nvPr/>
        </p:nvSpPr>
        <p:spPr>
          <a:xfrm>
            <a:off x="4846320" y="1828800"/>
            <a:ext cx="6766560" cy="340156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60" y="2084831"/>
            <a:ext cx="6126480" cy="320040"/>
          </a:xfrm>
          <a:prstGeom prst="rect">
            <a:avLst/>
          </a:prstGeom>
          <a:noFill/>
          <a:effectLst/>
        </p:spPr>
        <p:txBody>
          <a:bodyPr wrap="square" lIns="9144" rIns="9144" tIns="0" bIns="0">
            <a:spAutoFit/>
          </a:bodyPr>
          <a:lstStyle/>
          <a:p>
            <a:pPr algn="l">
              <a:spcAft>
                <a:spcPts val="600"/>
              </a:spcAft>
              <a:defRPr sz="1400" b="1">
                <a:solidFill>
                  <a:srgbClr val="607286"/>
                </a:solidFill>
                <a:latin typeface="DejaVu Sans"/>
              </a:defRPr>
            </a:pPr>
            <a:r>
              <a:t>CACHE: ALL SLOTS OCCUPIED</a:t>
            </a:r>
          </a:p>
        </p:txBody>
      </p:sp>
      <p:sp>
        <p:nvSpPr>
          <p:cNvPr id="20" name="Rounded Rectangle 19"/>
          <p:cNvSpPr/>
          <p:nvPr/>
        </p:nvSpPr>
        <p:spPr>
          <a:xfrm>
            <a:off x="5349240" y="2779776"/>
            <a:ext cx="1051560" cy="969264"/>
          </a:xfrm>
          <a:prstGeom prst="roundRect">
            <a:avLst>
              <a:gd name="adj" fmla="val 12000"/>
            </a:avLst>
          </a:prstGeom>
          <a:solidFill>
            <a:srgbClr val="FFFFFF"/>
          </a:solidFill>
          <a:ln w="12700">
            <a:solidFill>
              <a:srgbClr val="256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58968" y="2916936"/>
            <a:ext cx="832103" cy="786384"/>
          </a:xfrm>
          <a:prstGeom prst="rect">
            <a:avLst/>
          </a:prstGeom>
          <a:noFill/>
          <a:effectLst/>
        </p:spPr>
        <p:txBody>
          <a:bodyPr wrap="square" lIns="9144" rIns="9144" tIns="0" bIns="0">
            <a:spAutoFit/>
          </a:bodyPr>
          <a:lstStyle/>
          <a:p>
            <a:pPr algn="ctr">
              <a:spcAft>
                <a:spcPts val="600"/>
              </a:spcAft>
              <a:defRPr sz="3000" b="1">
                <a:solidFill>
                  <a:srgbClr val="2563A6"/>
                </a:solidFill>
                <a:latin typeface="DejaVu Sans"/>
              </a:defRPr>
            </a:pPr>
            <a:r>
              <a:t>A</a:t>
            </a:r>
          </a:p>
        </p:txBody>
      </p:sp>
      <p:sp>
        <p:nvSpPr>
          <p:cNvPr id="22" name="Rounded Rectangle 21"/>
          <p:cNvSpPr/>
          <p:nvPr/>
        </p:nvSpPr>
        <p:spPr>
          <a:xfrm>
            <a:off x="6675120" y="2779776"/>
            <a:ext cx="1051560" cy="969264"/>
          </a:xfrm>
          <a:prstGeom prst="roundRect">
            <a:avLst>
              <a:gd name="adj" fmla="val 12000"/>
            </a:avLst>
          </a:prstGeom>
          <a:solidFill>
            <a:srgbClr val="FFFFFF"/>
          </a:solidFill>
          <a:ln w="12700">
            <a:solidFill>
              <a:srgbClr val="256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4848" y="2916936"/>
            <a:ext cx="832103" cy="786384"/>
          </a:xfrm>
          <a:prstGeom prst="rect">
            <a:avLst/>
          </a:prstGeom>
          <a:noFill/>
          <a:effectLst/>
        </p:spPr>
        <p:txBody>
          <a:bodyPr wrap="square" lIns="9144" rIns="9144" tIns="0" bIns="0">
            <a:spAutoFit/>
          </a:bodyPr>
          <a:lstStyle/>
          <a:p>
            <a:pPr algn="ctr">
              <a:spcAft>
                <a:spcPts val="600"/>
              </a:spcAft>
              <a:defRPr sz="3000" b="1">
                <a:solidFill>
                  <a:srgbClr val="2563A6"/>
                </a:solidFill>
                <a:latin typeface="DejaVu Sans"/>
              </a:defRPr>
            </a:pPr>
            <a:r>
              <a:t>B</a:t>
            </a:r>
          </a:p>
        </p:txBody>
      </p:sp>
      <p:sp>
        <p:nvSpPr>
          <p:cNvPr id="24" name="Rounded Rectangle 23"/>
          <p:cNvSpPr/>
          <p:nvPr/>
        </p:nvSpPr>
        <p:spPr>
          <a:xfrm>
            <a:off x="8001000" y="2779776"/>
            <a:ext cx="1051560" cy="969264"/>
          </a:xfrm>
          <a:prstGeom prst="roundRect">
            <a:avLst>
              <a:gd name="adj" fmla="val 12000"/>
            </a:avLst>
          </a:prstGeom>
          <a:solidFill>
            <a:srgbClr val="FFFFFF"/>
          </a:solidFill>
          <a:ln w="12700">
            <a:solidFill>
              <a:srgbClr val="256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10727" y="2916936"/>
            <a:ext cx="832103" cy="786384"/>
          </a:xfrm>
          <a:prstGeom prst="rect">
            <a:avLst/>
          </a:prstGeom>
          <a:noFill/>
          <a:effectLst/>
        </p:spPr>
        <p:txBody>
          <a:bodyPr wrap="square" lIns="9144" rIns="9144" tIns="0" bIns="0">
            <a:spAutoFit/>
          </a:bodyPr>
          <a:lstStyle/>
          <a:p>
            <a:pPr algn="ctr">
              <a:spcAft>
                <a:spcPts val="600"/>
              </a:spcAft>
              <a:defRPr sz="3000" b="1">
                <a:solidFill>
                  <a:srgbClr val="2563A6"/>
                </a:solidFill>
                <a:latin typeface="DejaVu Sans"/>
              </a:defRPr>
            </a:pPr>
            <a:r>
              <a:t>C</a:t>
            </a:r>
          </a:p>
        </p:txBody>
      </p:sp>
      <p:sp>
        <p:nvSpPr>
          <p:cNvPr id="26" name="Rounded Rectangle 25"/>
          <p:cNvSpPr/>
          <p:nvPr/>
        </p:nvSpPr>
        <p:spPr>
          <a:xfrm>
            <a:off x="10168128" y="2779776"/>
            <a:ext cx="1005840" cy="969264"/>
          </a:xfrm>
          <a:prstGeom prst="roundRect">
            <a:avLst>
              <a:gd name="adj" fmla="val 12000"/>
            </a:avLst>
          </a:prstGeom>
          <a:solidFill>
            <a:srgbClr val="FFFFFF"/>
          </a:solidFill>
          <a:ln w="12700">
            <a:solidFill>
              <a:srgbClr val="D984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77855" y="2916936"/>
            <a:ext cx="786384" cy="786384"/>
          </a:xfrm>
          <a:prstGeom prst="rect">
            <a:avLst/>
          </a:prstGeom>
          <a:noFill/>
          <a:effectLst/>
        </p:spPr>
        <p:txBody>
          <a:bodyPr wrap="square" lIns="9144" rIns="9144" tIns="0" bIns="0">
            <a:spAutoFit/>
          </a:bodyPr>
          <a:lstStyle/>
          <a:p>
            <a:pPr algn="ctr">
              <a:spcAft>
                <a:spcPts val="600"/>
              </a:spcAft>
              <a:defRPr sz="3000" b="1">
                <a:solidFill>
                  <a:srgbClr val="D9842B"/>
                </a:solidFill>
                <a:latin typeface="DejaVu Sans"/>
              </a:defRPr>
            </a:pPr>
            <a:r>
              <a:t>D</a:t>
            </a:r>
          </a:p>
        </p:txBody>
      </p:sp>
      <p:cxnSp>
        <p:nvCxnSpPr>
          <p:cNvPr id="28" name="Connector 27"/>
          <p:cNvCxnSpPr/>
          <p:nvPr/>
        </p:nvCxnSpPr>
        <p:spPr>
          <a:xfrm flipH="1">
            <a:off x="9281160" y="3264408"/>
            <a:ext cx="777240" cy="0"/>
          </a:xfrm>
          <a:prstGeom prst="line">
            <a:avLst/>
          </a:prstGeom>
          <a:ln w="22860">
            <a:solidFill>
              <a:srgbClr val="D9842B"/>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802368" y="3977639"/>
            <a:ext cx="1645920" cy="548640"/>
          </a:xfrm>
          <a:prstGeom prst="rect">
            <a:avLst/>
          </a:prstGeom>
          <a:noFill/>
          <a:effectLst/>
        </p:spPr>
        <p:txBody>
          <a:bodyPr wrap="square" lIns="9144" rIns="9144" tIns="0" bIns="0">
            <a:spAutoFit/>
          </a:bodyPr>
          <a:lstStyle/>
          <a:p>
            <a:pPr algn="ctr">
              <a:spcAft>
                <a:spcPts val="600"/>
              </a:spcAft>
              <a:defRPr sz="1500" b="0">
                <a:solidFill>
                  <a:srgbClr val="D9842B"/>
                </a:solidFill>
                <a:latin typeface="DejaVu Sans"/>
              </a:defRPr>
            </a:pPr>
            <a:r>
              <a:t>New object</a:t>
            </a:r>
          </a:p>
        </p:txBody>
      </p:sp>
      <p:sp>
        <p:nvSpPr>
          <p:cNvPr id="30" name="TextBox 29"/>
          <p:cNvSpPr txBox="1"/>
          <p:nvPr/>
        </p:nvSpPr>
        <p:spPr>
          <a:xfrm>
            <a:off x="5349240" y="4343400"/>
            <a:ext cx="4389120" cy="475488"/>
          </a:xfrm>
          <a:prstGeom prst="rect">
            <a:avLst/>
          </a:prstGeom>
          <a:noFill/>
          <a:effectLst/>
        </p:spPr>
        <p:txBody>
          <a:bodyPr wrap="square" lIns="9144" rIns="9144" tIns="0" bIns="0">
            <a:spAutoFit/>
          </a:bodyPr>
          <a:lstStyle/>
          <a:p>
            <a:pPr algn="l">
              <a:spcAft>
                <a:spcPts val="600"/>
              </a:spcAft>
              <a:defRPr sz="1900" b="1">
                <a:solidFill>
                  <a:srgbClr val="142D4E"/>
                </a:solidFill>
                <a:latin typeface="DejaVu Sans"/>
              </a:defRPr>
            </a:pPr>
            <a:r>
              <a:t>Which cached object should leave?</a:t>
            </a:r>
          </a:p>
        </p:txBody>
      </p:sp>
      <p:sp>
        <p:nvSpPr>
          <p:cNvPr id="31" name="Rounded Rectangle 30"/>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Cache eviction = choosing what to remove when space is needed.</a:t>
            </a:r>
          </a:p>
        </p:txBody>
      </p:sp>
      <p:sp>
        <p:nvSpPr>
          <p:cNvPr id="33" name="TextBox 32"/>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Yang et al., SOSP 2023, §§1–2 (PDF pp.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01 / BACKGROUND &amp; MOTIVATION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Traditional Algorithms: FIFO vs LRU</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03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1  ·  60 SEC</a:t>
            </a:r>
          </a:p>
        </p:txBody>
      </p:sp>
      <p:sp>
        <p:nvSpPr>
          <p:cNvPr id="9" name="Rounded Rectangle 8"/>
          <p:cNvSpPr/>
          <p:nvPr/>
        </p:nvSpPr>
        <p:spPr>
          <a:xfrm>
            <a:off x="594360" y="1783080"/>
            <a:ext cx="5394960" cy="35478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783080"/>
            <a:ext cx="64008" cy="3547872"/>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93392"/>
            <a:ext cx="4846320" cy="457200"/>
          </a:xfrm>
          <a:prstGeom prst="rect">
            <a:avLst/>
          </a:prstGeom>
          <a:noFill/>
          <a:effectLst/>
        </p:spPr>
        <p:txBody>
          <a:bodyPr wrap="square" lIns="9144" rIns="9144" tIns="0" bIns="0">
            <a:spAutoFit/>
          </a:bodyPr>
          <a:lstStyle/>
          <a:p>
            <a:pPr algn="l">
              <a:spcAft>
                <a:spcPts val="600"/>
              </a:spcAft>
              <a:defRPr sz="2900" b="1">
                <a:solidFill>
                  <a:srgbClr val="0D887F"/>
                </a:solidFill>
                <a:latin typeface="DejaVu Sans"/>
              </a:defRPr>
            </a:pPr>
            <a:r>
              <a:t>FIFO</a:t>
            </a:r>
          </a:p>
        </p:txBody>
      </p:sp>
      <p:sp>
        <p:nvSpPr>
          <p:cNvPr id="12" name="TextBox 11"/>
          <p:cNvSpPr txBox="1"/>
          <p:nvPr/>
        </p:nvSpPr>
        <p:spPr>
          <a:xfrm>
            <a:off x="868680" y="2569464"/>
            <a:ext cx="4846320" cy="365760"/>
          </a:xfrm>
          <a:prstGeom prst="rect">
            <a:avLst/>
          </a:prstGeom>
          <a:noFill/>
          <a:effectLst/>
        </p:spPr>
        <p:txBody>
          <a:bodyPr wrap="square" lIns="9144" rIns="9144" tIns="0" bIns="0">
            <a:spAutoFit/>
          </a:bodyPr>
          <a:lstStyle/>
          <a:p>
            <a:pPr algn="l">
              <a:spcAft>
                <a:spcPts val="600"/>
              </a:spcAft>
              <a:defRPr sz="1700" b="0">
                <a:solidFill>
                  <a:srgbClr val="607286"/>
                </a:solidFill>
                <a:latin typeface="DejaVu Sans"/>
              </a:defRPr>
            </a:pPr>
            <a:r>
              <a:t>First In, First Out</a:t>
            </a:r>
          </a:p>
        </p:txBody>
      </p:sp>
      <p:sp>
        <p:nvSpPr>
          <p:cNvPr id="13" name="TextBox 12"/>
          <p:cNvSpPr txBox="1"/>
          <p:nvPr/>
        </p:nvSpPr>
        <p:spPr>
          <a:xfrm>
            <a:off x="868680" y="3227832"/>
            <a:ext cx="4846320" cy="502920"/>
          </a:xfrm>
          <a:prstGeom prst="rect">
            <a:avLst/>
          </a:prstGeom>
          <a:noFill/>
          <a:effectLst/>
        </p:spPr>
        <p:txBody>
          <a:bodyPr wrap="square" lIns="9144" rIns="9144" tIns="0" bIns="0">
            <a:spAutoFit/>
          </a:bodyPr>
          <a:lstStyle/>
          <a:p>
            <a:pPr algn="l">
              <a:spcAft>
                <a:spcPts val="600"/>
              </a:spcAft>
              <a:defRPr sz="1900" b="0">
                <a:solidFill>
                  <a:srgbClr val="263D54"/>
                </a:solidFill>
                <a:latin typeface="DejaVu Sans"/>
              </a:defRPr>
            </a:pPr>
            <a:r>
              <a:t>• Evict the earliest inserted object</a:t>
            </a:r>
          </a:p>
        </p:txBody>
      </p:sp>
      <p:sp>
        <p:nvSpPr>
          <p:cNvPr id="14" name="TextBox 13"/>
          <p:cNvSpPr txBox="1"/>
          <p:nvPr/>
        </p:nvSpPr>
        <p:spPr>
          <a:xfrm>
            <a:off x="868680" y="3822191"/>
            <a:ext cx="4846320" cy="502920"/>
          </a:xfrm>
          <a:prstGeom prst="rect">
            <a:avLst/>
          </a:prstGeom>
          <a:noFill/>
          <a:effectLst/>
        </p:spPr>
        <p:txBody>
          <a:bodyPr wrap="square" lIns="9144" rIns="9144" tIns="0" bIns="0">
            <a:spAutoFit/>
          </a:bodyPr>
          <a:lstStyle/>
          <a:p>
            <a:pPr algn="l">
              <a:spcAft>
                <a:spcPts val="600"/>
              </a:spcAft>
              <a:defRPr sz="1900" b="0">
                <a:solidFill>
                  <a:srgbClr val="263D54"/>
                </a:solidFill>
                <a:latin typeface="DejaVu Sans"/>
              </a:defRPr>
            </a:pPr>
            <a:r>
              <a:t>• Simple and fast</a:t>
            </a:r>
          </a:p>
        </p:txBody>
      </p:sp>
      <p:sp>
        <p:nvSpPr>
          <p:cNvPr id="15" name="TextBox 14"/>
          <p:cNvSpPr txBox="1"/>
          <p:nvPr/>
        </p:nvSpPr>
        <p:spPr>
          <a:xfrm>
            <a:off x="868680" y="4416552"/>
            <a:ext cx="4846320" cy="502920"/>
          </a:xfrm>
          <a:prstGeom prst="rect">
            <a:avLst/>
          </a:prstGeom>
          <a:noFill/>
          <a:effectLst/>
        </p:spPr>
        <p:txBody>
          <a:bodyPr wrap="square" lIns="9144" rIns="9144" tIns="0" bIns="0">
            <a:spAutoFit/>
          </a:bodyPr>
          <a:lstStyle/>
          <a:p>
            <a:pPr algn="l">
              <a:spcAft>
                <a:spcPts val="600"/>
              </a:spcAft>
              <a:defRPr sz="1900" b="0">
                <a:solidFill>
                  <a:srgbClr val="263D54"/>
                </a:solidFill>
                <a:latin typeface="DejaVu Sans"/>
              </a:defRPr>
            </a:pPr>
            <a:r>
              <a:t>• May remove useful data</a:t>
            </a:r>
          </a:p>
        </p:txBody>
      </p:sp>
      <p:sp>
        <p:nvSpPr>
          <p:cNvPr id="16" name="Rounded Rectangle 15"/>
          <p:cNvSpPr/>
          <p:nvPr/>
        </p:nvSpPr>
        <p:spPr>
          <a:xfrm>
            <a:off x="6199632" y="1783080"/>
            <a:ext cx="5394960" cy="35478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64008" cy="3547872"/>
          </a:xfrm>
          <a:prstGeom prst="rect">
            <a:avLst/>
          </a:prstGeom>
          <a:solidFill>
            <a:srgbClr val="256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993392"/>
            <a:ext cx="4846320" cy="457200"/>
          </a:xfrm>
          <a:prstGeom prst="rect">
            <a:avLst/>
          </a:prstGeom>
          <a:noFill/>
          <a:effectLst/>
        </p:spPr>
        <p:txBody>
          <a:bodyPr wrap="square" lIns="9144" rIns="9144" tIns="0" bIns="0">
            <a:spAutoFit/>
          </a:bodyPr>
          <a:lstStyle/>
          <a:p>
            <a:pPr algn="l">
              <a:spcAft>
                <a:spcPts val="600"/>
              </a:spcAft>
              <a:defRPr sz="2900" b="1">
                <a:solidFill>
                  <a:srgbClr val="2563A6"/>
                </a:solidFill>
                <a:latin typeface="DejaVu Sans"/>
              </a:defRPr>
            </a:pPr>
            <a:r>
              <a:t>LRU</a:t>
            </a:r>
          </a:p>
        </p:txBody>
      </p:sp>
      <p:sp>
        <p:nvSpPr>
          <p:cNvPr id="19" name="TextBox 18"/>
          <p:cNvSpPr txBox="1"/>
          <p:nvPr/>
        </p:nvSpPr>
        <p:spPr>
          <a:xfrm>
            <a:off x="6473952" y="2569464"/>
            <a:ext cx="4846320" cy="365760"/>
          </a:xfrm>
          <a:prstGeom prst="rect">
            <a:avLst/>
          </a:prstGeom>
          <a:noFill/>
          <a:effectLst/>
        </p:spPr>
        <p:txBody>
          <a:bodyPr wrap="square" lIns="9144" rIns="9144" tIns="0" bIns="0">
            <a:spAutoFit/>
          </a:bodyPr>
          <a:lstStyle/>
          <a:p>
            <a:pPr algn="l">
              <a:spcAft>
                <a:spcPts val="600"/>
              </a:spcAft>
              <a:defRPr sz="1700" b="0">
                <a:solidFill>
                  <a:srgbClr val="607286"/>
                </a:solidFill>
                <a:latin typeface="DejaVu Sans"/>
              </a:defRPr>
            </a:pPr>
            <a:r>
              <a:t>Least Recently Used</a:t>
            </a:r>
          </a:p>
        </p:txBody>
      </p:sp>
      <p:sp>
        <p:nvSpPr>
          <p:cNvPr id="20" name="TextBox 19"/>
          <p:cNvSpPr txBox="1"/>
          <p:nvPr/>
        </p:nvSpPr>
        <p:spPr>
          <a:xfrm>
            <a:off x="6473952" y="3227832"/>
            <a:ext cx="4846320" cy="502920"/>
          </a:xfrm>
          <a:prstGeom prst="rect">
            <a:avLst/>
          </a:prstGeom>
          <a:noFill/>
          <a:effectLst/>
        </p:spPr>
        <p:txBody>
          <a:bodyPr wrap="square" lIns="9144" rIns="9144" tIns="0" bIns="0">
            <a:spAutoFit/>
          </a:bodyPr>
          <a:lstStyle/>
          <a:p>
            <a:pPr algn="l">
              <a:spcAft>
                <a:spcPts val="600"/>
              </a:spcAft>
              <a:defRPr sz="1900" b="0">
                <a:solidFill>
                  <a:srgbClr val="263D54"/>
                </a:solidFill>
                <a:latin typeface="DejaVu Sans"/>
              </a:defRPr>
            </a:pPr>
            <a:r>
              <a:t>• Evict the least recently accessed object</a:t>
            </a:r>
          </a:p>
        </p:txBody>
      </p:sp>
      <p:sp>
        <p:nvSpPr>
          <p:cNvPr id="21" name="TextBox 20"/>
          <p:cNvSpPr txBox="1"/>
          <p:nvPr/>
        </p:nvSpPr>
        <p:spPr>
          <a:xfrm>
            <a:off x="6473952" y="3822191"/>
            <a:ext cx="4846320" cy="502920"/>
          </a:xfrm>
          <a:prstGeom prst="rect">
            <a:avLst/>
          </a:prstGeom>
          <a:noFill/>
          <a:effectLst/>
        </p:spPr>
        <p:txBody>
          <a:bodyPr wrap="square" lIns="9144" rIns="9144" tIns="0" bIns="0">
            <a:spAutoFit/>
          </a:bodyPr>
          <a:lstStyle/>
          <a:p>
            <a:pPr algn="l">
              <a:spcAft>
                <a:spcPts val="600"/>
              </a:spcAft>
              <a:defRPr sz="1900" b="0">
                <a:solidFill>
                  <a:srgbClr val="263D54"/>
                </a:solidFill>
                <a:latin typeface="DejaVu Sans"/>
              </a:defRPr>
            </a:pPr>
            <a:r>
              <a:t>• Update object order on cache hits</a:t>
            </a:r>
          </a:p>
        </p:txBody>
      </p:sp>
      <p:sp>
        <p:nvSpPr>
          <p:cNvPr id="22" name="TextBox 21"/>
          <p:cNvSpPr txBox="1"/>
          <p:nvPr/>
        </p:nvSpPr>
        <p:spPr>
          <a:xfrm>
            <a:off x="6473952" y="4416552"/>
            <a:ext cx="4846320" cy="502920"/>
          </a:xfrm>
          <a:prstGeom prst="rect">
            <a:avLst/>
          </a:prstGeom>
          <a:noFill/>
          <a:effectLst/>
        </p:spPr>
        <p:txBody>
          <a:bodyPr wrap="square" lIns="9144" rIns="9144" tIns="0" bIns="0">
            <a:spAutoFit/>
          </a:bodyPr>
          <a:lstStyle/>
          <a:p>
            <a:pPr algn="l">
              <a:spcAft>
                <a:spcPts val="600"/>
              </a:spcAft>
              <a:defRPr sz="1900" b="0">
                <a:solidFill>
                  <a:srgbClr val="263D54"/>
                </a:solidFill>
                <a:latin typeface="DejaVu Sans"/>
              </a:defRPr>
            </a:pPr>
            <a:r>
              <a:t>• Updates add concurrency overhead</a:t>
            </a:r>
          </a:p>
        </p:txBody>
      </p:sp>
      <p:sp>
        <p:nvSpPr>
          <p:cNvPr id="23" name="Rounded Rectangle 22"/>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The challenge: keep FIFO’s simplicity while improving cache efficiency.</a:t>
            </a:r>
          </a:p>
        </p:txBody>
      </p:sp>
      <p:sp>
        <p:nvSpPr>
          <p:cNvPr id="25" name="TextBox 24"/>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Yang et al., SOSP 2023, §2.2 (PDF 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01 / BACKGROUND &amp; MOTIVATION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Research Motivation: One-Hit Wonders</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04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1  ·  60 SEC</a:t>
            </a:r>
          </a:p>
        </p:txBody>
      </p:sp>
      <p:sp>
        <p:nvSpPr>
          <p:cNvPr id="9" name="Rectangle 8"/>
          <p:cNvSpPr/>
          <p:nvPr/>
        </p:nvSpPr>
        <p:spPr>
          <a:xfrm>
            <a:off x="594360" y="1883664"/>
            <a:ext cx="64008" cy="2926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3538727" cy="384048"/>
          </a:xfrm>
          <a:prstGeom prst="rect">
            <a:avLst/>
          </a:prstGeom>
          <a:noFill/>
          <a:effectLst/>
        </p:spPr>
        <p:txBody>
          <a:bodyPr wrap="square" lIns="9144" rIns="9144" tIns="0" bIns="0">
            <a:spAutoFit/>
          </a:bodyPr>
          <a:lstStyle/>
          <a:p>
            <a:pPr algn="l">
              <a:spcAft>
                <a:spcPts val="600"/>
              </a:spcAft>
              <a:defRPr sz="2200" b="1">
                <a:solidFill>
                  <a:srgbClr val="142D4E"/>
                </a:solidFill>
                <a:latin typeface="DejaVu Sans"/>
              </a:defRPr>
            </a:pPr>
            <a:r>
              <a:t>One-hit wonders</a:t>
            </a:r>
          </a:p>
        </p:txBody>
      </p:sp>
      <p:sp>
        <p:nvSpPr>
          <p:cNvPr id="11" name="TextBox 10"/>
          <p:cNvSpPr txBox="1"/>
          <p:nvPr/>
        </p:nvSpPr>
        <p:spPr>
          <a:xfrm>
            <a:off x="804672" y="2267712"/>
            <a:ext cx="3538727" cy="7772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Objects used only once before eviction.</a:t>
            </a:r>
          </a:p>
        </p:txBody>
      </p:sp>
      <p:sp>
        <p:nvSpPr>
          <p:cNvPr id="12" name="Rectangle 11"/>
          <p:cNvSpPr/>
          <p:nvPr/>
        </p:nvSpPr>
        <p:spPr>
          <a:xfrm>
            <a:off x="594360" y="3200400"/>
            <a:ext cx="64008" cy="2926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127248"/>
            <a:ext cx="3538727" cy="384048"/>
          </a:xfrm>
          <a:prstGeom prst="rect">
            <a:avLst/>
          </a:prstGeom>
          <a:noFill/>
          <a:effectLst/>
        </p:spPr>
        <p:txBody>
          <a:bodyPr wrap="square" lIns="9144" rIns="9144" tIns="0" bIns="0">
            <a:spAutoFit/>
          </a:bodyPr>
          <a:lstStyle/>
          <a:p>
            <a:pPr algn="l">
              <a:spcAft>
                <a:spcPts val="600"/>
              </a:spcAft>
              <a:defRPr sz="2200" b="1">
                <a:solidFill>
                  <a:srgbClr val="142D4E"/>
                </a:solidFill>
                <a:latin typeface="DejaVu Sans"/>
              </a:defRPr>
            </a:pPr>
            <a:r>
              <a:t>Wasted cache space</a:t>
            </a:r>
          </a:p>
        </p:txBody>
      </p:sp>
      <p:sp>
        <p:nvSpPr>
          <p:cNvPr id="14" name="TextBox 13"/>
          <p:cNvSpPr txBox="1"/>
          <p:nvPr/>
        </p:nvSpPr>
        <p:spPr>
          <a:xfrm>
            <a:off x="804672" y="3584448"/>
            <a:ext cx="3538727" cy="7772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No reuse benefit within the short window.</a:t>
            </a:r>
          </a:p>
        </p:txBody>
      </p:sp>
      <p:sp>
        <p:nvSpPr>
          <p:cNvPr id="15" name="Rectangle 14"/>
          <p:cNvSpPr/>
          <p:nvPr/>
        </p:nvSpPr>
        <p:spPr>
          <a:xfrm>
            <a:off x="594360" y="4526280"/>
            <a:ext cx="64008" cy="2926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453128"/>
            <a:ext cx="3538727" cy="384048"/>
          </a:xfrm>
          <a:prstGeom prst="rect">
            <a:avLst/>
          </a:prstGeom>
          <a:noFill/>
          <a:effectLst/>
        </p:spPr>
        <p:txBody>
          <a:bodyPr wrap="square" lIns="9144" rIns="9144" tIns="0" bIns="0">
            <a:spAutoFit/>
          </a:bodyPr>
          <a:lstStyle/>
          <a:p>
            <a:pPr algn="l">
              <a:spcAft>
                <a:spcPts val="600"/>
              </a:spcAft>
              <a:defRPr sz="2200" b="1">
                <a:solidFill>
                  <a:srgbClr val="142D4E"/>
                </a:solidFill>
                <a:latin typeface="DejaVu Sans"/>
              </a:defRPr>
            </a:pPr>
            <a:r>
              <a:t>Quick demotion</a:t>
            </a:r>
          </a:p>
        </p:txBody>
      </p:sp>
      <p:sp>
        <p:nvSpPr>
          <p:cNvPr id="17" name="TextBox 16"/>
          <p:cNvSpPr txBox="1"/>
          <p:nvPr/>
        </p:nvSpPr>
        <p:spPr>
          <a:xfrm>
            <a:off x="804672" y="4910328"/>
            <a:ext cx="3538727" cy="7772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Remove less useful objects early.</a:t>
            </a:r>
          </a:p>
        </p:txBody>
      </p:sp>
      <p:sp>
        <p:nvSpPr>
          <p:cNvPr id="18" name="Rounded Rectangle 17"/>
          <p:cNvSpPr/>
          <p:nvPr/>
        </p:nvSpPr>
        <p:spPr>
          <a:xfrm>
            <a:off x="4590288" y="1810512"/>
            <a:ext cx="6995160" cy="352044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2039112"/>
            <a:ext cx="6382512" cy="320040"/>
          </a:xfrm>
          <a:prstGeom prst="rect">
            <a:avLst/>
          </a:prstGeom>
          <a:noFill/>
          <a:effectLst/>
        </p:spPr>
        <p:txBody>
          <a:bodyPr wrap="square" lIns="9144" rIns="9144" tIns="0" bIns="0">
            <a:spAutoFit/>
          </a:bodyPr>
          <a:lstStyle/>
          <a:p>
            <a:pPr algn="l">
              <a:spcAft>
                <a:spcPts val="600"/>
              </a:spcAft>
              <a:defRPr sz="1300" b="1">
                <a:solidFill>
                  <a:srgbClr val="0D887F"/>
                </a:solidFill>
                <a:latin typeface="DejaVu Sans"/>
              </a:defRPr>
            </a:pPr>
            <a:r>
              <a:t>SHORTER WINDOW → MORE ONE-HIT WONDERS</a:t>
            </a:r>
          </a:p>
        </p:txBody>
      </p:sp>
      <p:pic>
        <p:nvPicPr>
          <p:cNvPr id="20" name="Picture 19" descr="fig1.png"/>
          <p:cNvPicPr>
            <a:picLocks noChangeAspect="1"/>
          </p:cNvPicPr>
          <p:nvPr/>
        </p:nvPicPr>
        <p:blipFill>
          <a:blip r:embed="rId3"/>
          <a:stretch>
            <a:fillRect/>
          </a:stretch>
        </p:blipFill>
        <p:spPr>
          <a:xfrm>
            <a:off x="4892040" y="2670048"/>
            <a:ext cx="6382512" cy="2011296"/>
          </a:xfrm>
          <a:prstGeom prst="rect">
            <a:avLst/>
          </a:prstGeom>
          <a:effectLst/>
        </p:spPr>
      </p:pic>
      <p:sp>
        <p:nvSpPr>
          <p:cNvPr id="21" name="TextBox 20"/>
          <p:cNvSpPr txBox="1"/>
          <p:nvPr/>
        </p:nvSpPr>
        <p:spPr>
          <a:xfrm>
            <a:off x="4892040" y="4846320"/>
            <a:ext cx="6382512" cy="320040"/>
          </a:xfrm>
          <a:prstGeom prst="rect">
            <a:avLst/>
          </a:prstGeom>
          <a:noFill/>
          <a:effectLst/>
        </p:spPr>
        <p:txBody>
          <a:bodyPr wrap="square" lIns="9144" rIns="9144" tIns="0" bIns="0">
            <a:spAutoFit/>
          </a:bodyPr>
          <a:lstStyle/>
          <a:p>
            <a:pPr algn="l">
              <a:spcAft>
                <a:spcPts val="600"/>
              </a:spcAft>
              <a:defRPr sz="1100" b="0">
                <a:solidFill>
                  <a:srgbClr val="607286"/>
                </a:solidFill>
                <a:latin typeface="DejaVu Sans"/>
              </a:defRPr>
            </a:pPr>
            <a:r>
              <a:t>Original Figure 1 · Yang et al., SOSP 2023</a:t>
            </a:r>
          </a:p>
        </p:txBody>
      </p:sp>
      <p:sp>
        <p:nvSpPr>
          <p:cNvPr id="22" name="Rounded Rectangle 21"/>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Can simple FIFO queues also deliver high cache efficiency?</a:t>
            </a:r>
          </a:p>
        </p:txBody>
      </p:sp>
      <p:sp>
        <p:nvSpPr>
          <p:cNvPr id="24" name="TextBox 23"/>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original Figure 1 and §3, Yang et al., SOSP 2023 (PDF pp.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02 / DESIGN &amp; ALGORITHM</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Overview of S3-FIFO</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05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2  ·  50 SEC</a:t>
            </a:r>
          </a:p>
        </p:txBody>
      </p:sp>
      <p:sp>
        <p:nvSpPr>
          <p:cNvPr id="9" name="Rounded Rectangle 8"/>
          <p:cNvSpPr/>
          <p:nvPr/>
        </p:nvSpPr>
        <p:spPr>
          <a:xfrm>
            <a:off x="594360" y="1856231"/>
            <a:ext cx="594360" cy="594360"/>
          </a:xfrm>
          <a:prstGeom prst="roundRect">
            <a:avLst>
              <a:gd name="adj" fmla="val 12000"/>
            </a:avLst>
          </a:prstGeom>
          <a:solidFill>
            <a:srgbClr val="D98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47672"/>
            <a:ext cx="594360" cy="365760"/>
          </a:xfrm>
          <a:prstGeom prst="rect">
            <a:avLst/>
          </a:prstGeom>
          <a:noFill/>
          <a:effectLst/>
        </p:spPr>
        <p:txBody>
          <a:bodyPr wrap="square" lIns="9144" rIns="9144" tIns="0" bIns="0">
            <a:spAutoFit/>
          </a:bodyPr>
          <a:lstStyle/>
          <a:p>
            <a:pPr algn="ctr">
              <a:spcAft>
                <a:spcPts val="600"/>
              </a:spcAft>
              <a:defRPr sz="2300" b="1">
                <a:solidFill>
                  <a:srgbClr val="FFFFFF"/>
                </a:solidFill>
                <a:latin typeface="DejaVu Sans"/>
              </a:defRPr>
            </a:pPr>
            <a:r>
              <a:t>S</a:t>
            </a:r>
          </a:p>
        </p:txBody>
      </p:sp>
      <p:sp>
        <p:nvSpPr>
          <p:cNvPr id="11" name="TextBox 10"/>
          <p:cNvSpPr txBox="1"/>
          <p:nvPr/>
        </p:nvSpPr>
        <p:spPr>
          <a:xfrm>
            <a:off x="1371600" y="1837943"/>
            <a:ext cx="3200400" cy="411480"/>
          </a:xfrm>
          <a:prstGeom prst="rect">
            <a:avLst/>
          </a:prstGeom>
          <a:noFill/>
          <a:effectLst/>
        </p:spPr>
        <p:txBody>
          <a:bodyPr wrap="square" lIns="9144" rIns="9144" tIns="0" bIns="0">
            <a:spAutoFit/>
          </a:bodyPr>
          <a:lstStyle/>
          <a:p>
            <a:pPr algn="l">
              <a:spcAft>
                <a:spcPts val="600"/>
              </a:spcAft>
              <a:defRPr sz="2400" b="1">
                <a:solidFill>
                  <a:srgbClr val="D9842B"/>
                </a:solidFill>
                <a:latin typeface="DejaVu Sans"/>
              </a:defRPr>
            </a:pPr>
            <a:r>
              <a:t>Small</a:t>
            </a:r>
          </a:p>
        </p:txBody>
      </p:sp>
      <p:sp>
        <p:nvSpPr>
          <p:cNvPr id="12" name="TextBox 11"/>
          <p:cNvSpPr txBox="1"/>
          <p:nvPr/>
        </p:nvSpPr>
        <p:spPr>
          <a:xfrm>
            <a:off x="1371600" y="2331720"/>
            <a:ext cx="3108960" cy="64008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Filter newly inserted objects.</a:t>
            </a:r>
          </a:p>
        </p:txBody>
      </p:sp>
      <p:sp>
        <p:nvSpPr>
          <p:cNvPr id="13" name="Rounded Rectangle 12"/>
          <p:cNvSpPr/>
          <p:nvPr/>
        </p:nvSpPr>
        <p:spPr>
          <a:xfrm>
            <a:off x="594360" y="3054096"/>
            <a:ext cx="594360" cy="594360"/>
          </a:xfrm>
          <a:prstGeom prst="roundRect">
            <a:avLst>
              <a:gd name="adj" fmla="val 12000"/>
            </a:avLst>
          </a:prstGeom>
          <a:solidFill>
            <a:srgbClr val="256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45536"/>
            <a:ext cx="594360" cy="365760"/>
          </a:xfrm>
          <a:prstGeom prst="rect">
            <a:avLst/>
          </a:prstGeom>
          <a:noFill/>
          <a:effectLst/>
        </p:spPr>
        <p:txBody>
          <a:bodyPr wrap="square" lIns="9144" rIns="9144" tIns="0" bIns="0">
            <a:spAutoFit/>
          </a:bodyPr>
          <a:lstStyle/>
          <a:p>
            <a:pPr algn="ctr">
              <a:spcAft>
                <a:spcPts val="600"/>
              </a:spcAft>
              <a:defRPr sz="2300" b="1">
                <a:solidFill>
                  <a:srgbClr val="FFFFFF"/>
                </a:solidFill>
                <a:latin typeface="DejaVu Sans"/>
              </a:defRPr>
            </a:pPr>
            <a:r>
              <a:t>M</a:t>
            </a:r>
          </a:p>
        </p:txBody>
      </p:sp>
      <p:sp>
        <p:nvSpPr>
          <p:cNvPr id="15" name="TextBox 14"/>
          <p:cNvSpPr txBox="1"/>
          <p:nvPr/>
        </p:nvSpPr>
        <p:spPr>
          <a:xfrm>
            <a:off x="1371600" y="3035808"/>
            <a:ext cx="3200400" cy="411480"/>
          </a:xfrm>
          <a:prstGeom prst="rect">
            <a:avLst/>
          </a:prstGeom>
          <a:noFill/>
          <a:effectLst/>
        </p:spPr>
        <p:txBody>
          <a:bodyPr wrap="square" lIns="9144" rIns="9144" tIns="0" bIns="0">
            <a:spAutoFit/>
          </a:bodyPr>
          <a:lstStyle/>
          <a:p>
            <a:pPr algn="l">
              <a:spcAft>
                <a:spcPts val="600"/>
              </a:spcAft>
              <a:defRPr sz="2400" b="1">
                <a:solidFill>
                  <a:srgbClr val="2563A6"/>
                </a:solidFill>
                <a:latin typeface="DejaVu Sans"/>
              </a:defRPr>
            </a:pPr>
            <a:r>
              <a:t>Main</a:t>
            </a:r>
          </a:p>
        </p:txBody>
      </p:sp>
      <p:sp>
        <p:nvSpPr>
          <p:cNvPr id="16" name="TextBox 15"/>
          <p:cNvSpPr txBox="1"/>
          <p:nvPr/>
        </p:nvSpPr>
        <p:spPr>
          <a:xfrm>
            <a:off x="1371600" y="3529584"/>
            <a:ext cx="3108960" cy="64008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Retain objects with reuse.</a:t>
            </a:r>
          </a:p>
        </p:txBody>
      </p:sp>
      <p:sp>
        <p:nvSpPr>
          <p:cNvPr id="17" name="Rounded Rectangle 16"/>
          <p:cNvSpPr/>
          <p:nvPr/>
        </p:nvSpPr>
        <p:spPr>
          <a:xfrm>
            <a:off x="594360" y="4251960"/>
            <a:ext cx="594360" cy="594360"/>
          </a:xfrm>
          <a:prstGeom prst="roundRect">
            <a:avLst>
              <a:gd name="adj" fmla="val 12000"/>
            </a:avLst>
          </a:prstGeom>
          <a:solidFill>
            <a:srgbClr val="6976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343400"/>
            <a:ext cx="594360" cy="365760"/>
          </a:xfrm>
          <a:prstGeom prst="rect">
            <a:avLst/>
          </a:prstGeom>
          <a:noFill/>
          <a:effectLst/>
        </p:spPr>
        <p:txBody>
          <a:bodyPr wrap="square" lIns="9144" rIns="9144" tIns="0" bIns="0">
            <a:spAutoFit/>
          </a:bodyPr>
          <a:lstStyle/>
          <a:p>
            <a:pPr algn="ctr">
              <a:spcAft>
                <a:spcPts val="600"/>
              </a:spcAft>
              <a:defRPr sz="2300" b="1">
                <a:solidFill>
                  <a:srgbClr val="FFFFFF"/>
                </a:solidFill>
                <a:latin typeface="DejaVu Sans"/>
              </a:defRPr>
            </a:pPr>
            <a:r>
              <a:t>G</a:t>
            </a:r>
          </a:p>
        </p:txBody>
      </p:sp>
      <p:sp>
        <p:nvSpPr>
          <p:cNvPr id="19" name="TextBox 18"/>
          <p:cNvSpPr txBox="1"/>
          <p:nvPr/>
        </p:nvSpPr>
        <p:spPr>
          <a:xfrm>
            <a:off x="1371600" y="4233672"/>
            <a:ext cx="3200400" cy="411480"/>
          </a:xfrm>
          <a:prstGeom prst="rect">
            <a:avLst/>
          </a:prstGeom>
          <a:noFill/>
          <a:effectLst/>
        </p:spPr>
        <p:txBody>
          <a:bodyPr wrap="square" lIns="9144" rIns="9144" tIns="0" bIns="0">
            <a:spAutoFit/>
          </a:bodyPr>
          <a:lstStyle/>
          <a:p>
            <a:pPr algn="l">
              <a:spcAft>
                <a:spcPts val="600"/>
              </a:spcAft>
              <a:defRPr sz="2400" b="1">
                <a:solidFill>
                  <a:srgbClr val="697685"/>
                </a:solidFill>
                <a:latin typeface="DejaVu Sans"/>
              </a:defRPr>
            </a:pPr>
            <a:r>
              <a:t>Ghost</a:t>
            </a:r>
          </a:p>
        </p:txBody>
      </p:sp>
      <p:sp>
        <p:nvSpPr>
          <p:cNvPr id="20" name="TextBox 19"/>
          <p:cNvSpPr txBox="1"/>
          <p:nvPr/>
        </p:nvSpPr>
        <p:spPr>
          <a:xfrm>
            <a:off x="1371600" y="4727448"/>
            <a:ext cx="3108960" cy="64008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Remember IDs, not cached data.</a:t>
            </a:r>
          </a:p>
        </p:txBody>
      </p:sp>
      <p:sp>
        <p:nvSpPr>
          <p:cNvPr id="21" name="Rounded Rectangle 20"/>
          <p:cNvSpPr/>
          <p:nvPr/>
        </p:nvSpPr>
        <p:spPr>
          <a:xfrm>
            <a:off x="4754880" y="1828800"/>
            <a:ext cx="6839712" cy="352044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ig5.png"/>
          <p:cNvPicPr>
            <a:picLocks noChangeAspect="1"/>
          </p:cNvPicPr>
          <p:nvPr/>
        </p:nvPicPr>
        <p:blipFill>
          <a:blip r:embed="rId3"/>
          <a:stretch>
            <a:fillRect/>
          </a:stretch>
        </p:blipFill>
        <p:spPr>
          <a:xfrm>
            <a:off x="5074920" y="2121408"/>
            <a:ext cx="6199632" cy="3001632"/>
          </a:xfrm>
          <a:prstGeom prst="rect">
            <a:avLst/>
          </a:prstGeom>
          <a:effectLst/>
        </p:spPr>
      </p:pic>
      <p:sp>
        <p:nvSpPr>
          <p:cNvPr id="23" name="TextBox 22"/>
          <p:cNvSpPr txBox="1"/>
          <p:nvPr/>
        </p:nvSpPr>
        <p:spPr>
          <a:xfrm>
            <a:off x="5074920" y="5148072"/>
            <a:ext cx="6217920" cy="182880"/>
          </a:xfrm>
          <a:prstGeom prst="rect">
            <a:avLst/>
          </a:prstGeom>
          <a:noFill/>
          <a:effectLst/>
        </p:spPr>
        <p:txBody>
          <a:bodyPr wrap="square" lIns="9144" rIns="9144" tIns="0" bIns="0">
            <a:spAutoFit/>
          </a:bodyPr>
          <a:lstStyle/>
          <a:p>
            <a:pPr algn="l">
              <a:spcAft>
                <a:spcPts val="600"/>
              </a:spcAft>
              <a:defRPr sz="1100" b="0">
                <a:solidFill>
                  <a:srgbClr val="607286"/>
                </a:solidFill>
                <a:latin typeface="DejaVu Sans"/>
              </a:defRPr>
            </a:pPr>
            <a:r>
              <a:t>Original Figure 5 · Yang et al., SOSP 2023</a:t>
            </a:r>
          </a:p>
        </p:txBody>
      </p:sp>
      <p:sp>
        <p:nvSpPr>
          <p:cNvPr id="24" name="Rounded Rectangle 23"/>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Three FIFO queues work together: filter, protect, remember.</a:t>
            </a:r>
          </a:p>
        </p:txBody>
      </p:sp>
      <p:sp>
        <p:nvSpPr>
          <p:cNvPr id="26" name="TextBox 25"/>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original Figure 5 and §4.1, Yang et al., SOSP 2023 (PDF p.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02 / DESIGN &amp; ALGORITHM</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Three Queues and Their Roles</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06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2  ·  55 SEC</a:t>
            </a:r>
          </a:p>
        </p:txBody>
      </p:sp>
      <p:sp>
        <p:nvSpPr>
          <p:cNvPr id="9" name="TextBox 8"/>
          <p:cNvSpPr txBox="1"/>
          <p:nvPr/>
        </p:nvSpPr>
        <p:spPr>
          <a:xfrm>
            <a:off x="594360" y="1691640"/>
            <a:ext cx="10058400" cy="365760"/>
          </a:xfrm>
          <a:prstGeom prst="rect">
            <a:avLst/>
          </a:prstGeom>
          <a:noFill/>
          <a:effectLst/>
        </p:spPr>
        <p:txBody>
          <a:bodyPr wrap="square" lIns="9144" rIns="9144" tIns="0" bIns="0">
            <a:spAutoFit/>
          </a:bodyPr>
          <a:lstStyle/>
          <a:p>
            <a:pPr algn="l">
              <a:spcAft>
                <a:spcPts val="600"/>
              </a:spcAft>
              <a:defRPr sz="1800" b="0">
                <a:solidFill>
                  <a:srgbClr val="607286"/>
                </a:solidFill>
                <a:latin typeface="DejaVu Sans"/>
              </a:defRPr>
            </a:pPr>
            <a:r>
              <a:t>Cached data: Small + Main = 100% of cache capacity</a:t>
            </a:r>
          </a:p>
        </p:txBody>
      </p:sp>
      <p:sp>
        <p:nvSpPr>
          <p:cNvPr id="10" name="Rectangle 9"/>
          <p:cNvSpPr/>
          <p:nvPr/>
        </p:nvSpPr>
        <p:spPr>
          <a:xfrm>
            <a:off x="594360" y="2221992"/>
            <a:ext cx="1088136" cy="685800"/>
          </a:xfrm>
          <a:prstGeom prst="rect">
            <a:avLst/>
          </a:prstGeom>
          <a:solidFill>
            <a:srgbClr val="D98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19072" y="2221992"/>
            <a:ext cx="9875520" cy="685800"/>
          </a:xfrm>
          <a:prstGeom prst="rect">
            <a:avLst/>
          </a:prstGeom>
          <a:solidFill>
            <a:srgbClr val="256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86584"/>
            <a:ext cx="1088136" cy="274320"/>
          </a:xfrm>
          <a:prstGeom prst="rect">
            <a:avLst/>
          </a:prstGeom>
          <a:noFill/>
          <a:effectLst/>
        </p:spPr>
        <p:txBody>
          <a:bodyPr wrap="square" lIns="9144" rIns="9144" tIns="0" bIns="0">
            <a:spAutoFit/>
          </a:bodyPr>
          <a:lstStyle/>
          <a:p>
            <a:pPr algn="ctr">
              <a:spcAft>
                <a:spcPts val="600"/>
              </a:spcAft>
              <a:defRPr sz="1500" b="1">
                <a:solidFill>
                  <a:srgbClr val="FFFFFF"/>
                </a:solidFill>
                <a:latin typeface="DejaVu Sans"/>
              </a:defRPr>
            </a:pPr>
            <a:r>
              <a:t>S · 10%</a:t>
            </a:r>
          </a:p>
        </p:txBody>
      </p:sp>
      <p:sp>
        <p:nvSpPr>
          <p:cNvPr id="13" name="TextBox 12"/>
          <p:cNvSpPr txBox="1"/>
          <p:nvPr/>
        </p:nvSpPr>
        <p:spPr>
          <a:xfrm>
            <a:off x="1965960" y="2386584"/>
            <a:ext cx="8961120" cy="274320"/>
          </a:xfrm>
          <a:prstGeom prst="rect">
            <a:avLst/>
          </a:prstGeom>
          <a:noFill/>
          <a:effectLst/>
        </p:spPr>
        <p:txBody>
          <a:bodyPr wrap="square" lIns="9144" rIns="9144" tIns="0" bIns="0">
            <a:spAutoFit/>
          </a:bodyPr>
          <a:lstStyle/>
          <a:p>
            <a:pPr algn="l">
              <a:spcAft>
                <a:spcPts val="600"/>
              </a:spcAft>
              <a:defRPr sz="1800" b="1">
                <a:solidFill>
                  <a:srgbClr val="FFFFFF"/>
                </a:solidFill>
                <a:latin typeface="DejaVu Sans"/>
              </a:defRPr>
            </a:pPr>
            <a:r>
              <a:t>M · 90%</a:t>
            </a:r>
          </a:p>
        </p:txBody>
      </p:sp>
      <p:sp>
        <p:nvSpPr>
          <p:cNvPr id="14" name="Rounded Rectangle 13"/>
          <p:cNvSpPr/>
          <p:nvPr/>
        </p:nvSpPr>
        <p:spPr>
          <a:xfrm>
            <a:off x="594360" y="3319272"/>
            <a:ext cx="3474720" cy="210312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3520440"/>
            <a:ext cx="3063240" cy="274320"/>
          </a:xfrm>
          <a:prstGeom prst="rect">
            <a:avLst/>
          </a:prstGeom>
          <a:noFill/>
          <a:effectLst/>
        </p:spPr>
        <p:txBody>
          <a:bodyPr wrap="square" lIns="9144" rIns="9144" tIns="0" bIns="0">
            <a:spAutoFit/>
          </a:bodyPr>
          <a:lstStyle/>
          <a:p>
            <a:pPr algn="l">
              <a:spcAft>
                <a:spcPts val="600"/>
              </a:spcAft>
              <a:defRPr sz="1500" b="1">
                <a:solidFill>
                  <a:srgbClr val="D9842B"/>
                </a:solidFill>
                <a:latin typeface="DejaVu Sans"/>
              </a:defRPr>
            </a:pPr>
            <a:r>
              <a:t>SMALL / S</a:t>
            </a:r>
          </a:p>
        </p:txBody>
      </p:sp>
      <p:sp>
        <p:nvSpPr>
          <p:cNvPr id="16" name="TextBox 15"/>
          <p:cNvSpPr txBox="1"/>
          <p:nvPr/>
        </p:nvSpPr>
        <p:spPr>
          <a:xfrm>
            <a:off x="795528" y="3931920"/>
            <a:ext cx="3063240" cy="548640"/>
          </a:xfrm>
          <a:prstGeom prst="rect">
            <a:avLst/>
          </a:prstGeom>
          <a:noFill/>
          <a:effectLst/>
        </p:spPr>
        <p:txBody>
          <a:bodyPr wrap="square" lIns="9144" rIns="9144" tIns="0" bIns="0">
            <a:spAutoFit/>
          </a:bodyPr>
          <a:lstStyle/>
          <a:p>
            <a:pPr algn="l">
              <a:spcAft>
                <a:spcPts val="600"/>
              </a:spcAft>
              <a:defRPr sz="2800" b="1">
                <a:solidFill>
                  <a:srgbClr val="D9842B"/>
                </a:solidFill>
                <a:latin typeface="DejaVu Sans"/>
              </a:defRPr>
            </a:pPr>
            <a:r>
              <a:t>10%</a:t>
            </a:r>
          </a:p>
        </p:txBody>
      </p:sp>
      <p:sp>
        <p:nvSpPr>
          <p:cNvPr id="17" name="TextBox 16"/>
          <p:cNvSpPr txBox="1"/>
          <p:nvPr/>
        </p:nvSpPr>
        <p:spPr>
          <a:xfrm>
            <a:off x="795528" y="4507992"/>
            <a:ext cx="3063240" cy="804672"/>
          </a:xfrm>
          <a:prstGeom prst="rect">
            <a:avLst/>
          </a:prstGeom>
          <a:noFill/>
          <a:effectLst/>
        </p:spPr>
        <p:txBody>
          <a:bodyPr wrap="square" lIns="9144" rIns="9144" tIns="0" bIns="0">
            <a:spAutoFit/>
          </a:bodyPr>
          <a:lstStyle/>
          <a:p>
            <a:pPr algn="l">
              <a:spcAft>
                <a:spcPts val="600"/>
              </a:spcAft>
              <a:defRPr sz="1500" b="0">
                <a:solidFill>
                  <a:srgbClr val="263D54"/>
                </a:solidFill>
                <a:latin typeface="DejaVu Sans"/>
              </a:defRPr>
            </a:pPr>
            <a:r>
              <a:t>New-object testing area</a:t>
            </a:r>
          </a:p>
          <a:p>
            <a:pPr algn="l">
              <a:spcAft>
                <a:spcPts val="600"/>
              </a:spcAft>
              <a:defRPr sz="1500" b="0">
                <a:solidFill>
                  <a:srgbClr val="263D54"/>
                </a:solidFill>
                <a:latin typeface="DejaVu Sans"/>
              </a:defRPr>
            </a:pPr>
            <a:r>
              <a:t>Filters low-reuse objects</a:t>
            </a:r>
          </a:p>
        </p:txBody>
      </p:sp>
      <p:sp>
        <p:nvSpPr>
          <p:cNvPr id="18" name="Rounded Rectangle 17"/>
          <p:cNvSpPr/>
          <p:nvPr/>
        </p:nvSpPr>
        <p:spPr>
          <a:xfrm>
            <a:off x="4352544" y="3319272"/>
            <a:ext cx="3474720" cy="210312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53712" y="3520440"/>
            <a:ext cx="3063240" cy="274320"/>
          </a:xfrm>
          <a:prstGeom prst="rect">
            <a:avLst/>
          </a:prstGeom>
          <a:noFill/>
          <a:effectLst/>
        </p:spPr>
        <p:txBody>
          <a:bodyPr wrap="square" lIns="9144" rIns="9144" tIns="0" bIns="0">
            <a:spAutoFit/>
          </a:bodyPr>
          <a:lstStyle/>
          <a:p>
            <a:pPr algn="l">
              <a:spcAft>
                <a:spcPts val="600"/>
              </a:spcAft>
              <a:defRPr sz="1500" b="1">
                <a:solidFill>
                  <a:srgbClr val="2563A6"/>
                </a:solidFill>
                <a:latin typeface="DejaVu Sans"/>
              </a:defRPr>
            </a:pPr>
            <a:r>
              <a:t>MAIN / M</a:t>
            </a:r>
          </a:p>
        </p:txBody>
      </p:sp>
      <p:sp>
        <p:nvSpPr>
          <p:cNvPr id="20" name="TextBox 19"/>
          <p:cNvSpPr txBox="1"/>
          <p:nvPr/>
        </p:nvSpPr>
        <p:spPr>
          <a:xfrm>
            <a:off x="4553712" y="3931920"/>
            <a:ext cx="3063240" cy="548640"/>
          </a:xfrm>
          <a:prstGeom prst="rect">
            <a:avLst/>
          </a:prstGeom>
          <a:noFill/>
          <a:effectLst/>
        </p:spPr>
        <p:txBody>
          <a:bodyPr wrap="square" lIns="9144" rIns="9144" tIns="0" bIns="0">
            <a:spAutoFit/>
          </a:bodyPr>
          <a:lstStyle/>
          <a:p>
            <a:pPr algn="l">
              <a:spcAft>
                <a:spcPts val="600"/>
              </a:spcAft>
              <a:defRPr sz="2800" b="1">
                <a:solidFill>
                  <a:srgbClr val="2563A6"/>
                </a:solidFill>
                <a:latin typeface="DejaVu Sans"/>
              </a:defRPr>
            </a:pPr>
            <a:r>
              <a:t>90%</a:t>
            </a:r>
          </a:p>
        </p:txBody>
      </p:sp>
      <p:sp>
        <p:nvSpPr>
          <p:cNvPr id="21" name="TextBox 20"/>
          <p:cNvSpPr txBox="1"/>
          <p:nvPr/>
        </p:nvSpPr>
        <p:spPr>
          <a:xfrm>
            <a:off x="4553712" y="4507992"/>
            <a:ext cx="3063240" cy="804672"/>
          </a:xfrm>
          <a:prstGeom prst="rect">
            <a:avLst/>
          </a:prstGeom>
          <a:noFill/>
          <a:effectLst/>
        </p:spPr>
        <p:txBody>
          <a:bodyPr wrap="square" lIns="9144" rIns="9144" tIns="0" bIns="0">
            <a:spAutoFit/>
          </a:bodyPr>
          <a:lstStyle/>
          <a:p>
            <a:pPr algn="l">
              <a:spcAft>
                <a:spcPts val="600"/>
              </a:spcAft>
              <a:defRPr sz="1500" b="0">
                <a:solidFill>
                  <a:srgbClr val="263D54"/>
                </a:solidFill>
                <a:latin typeface="DejaVu Sans"/>
              </a:defRPr>
            </a:pPr>
            <a:r>
              <a:t>Objects with demonstrated reuse</a:t>
            </a:r>
          </a:p>
          <a:p>
            <a:pPr algn="l">
              <a:spcAft>
                <a:spcPts val="600"/>
              </a:spcAft>
              <a:defRPr sz="1500" b="0">
                <a:solidFill>
                  <a:srgbClr val="263D54"/>
                </a:solidFill>
                <a:latin typeface="DejaVu Sans"/>
              </a:defRPr>
            </a:pPr>
            <a:r>
              <a:t>Retains useful cached data</a:t>
            </a:r>
          </a:p>
        </p:txBody>
      </p:sp>
      <p:sp>
        <p:nvSpPr>
          <p:cNvPr id="22" name="Rounded Rectangle 21"/>
          <p:cNvSpPr/>
          <p:nvPr/>
        </p:nvSpPr>
        <p:spPr>
          <a:xfrm>
            <a:off x="8110727" y="3319272"/>
            <a:ext cx="3474720" cy="210312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1896" y="3520440"/>
            <a:ext cx="3063240" cy="274320"/>
          </a:xfrm>
          <a:prstGeom prst="rect">
            <a:avLst/>
          </a:prstGeom>
          <a:noFill/>
          <a:effectLst/>
        </p:spPr>
        <p:txBody>
          <a:bodyPr wrap="square" lIns="9144" rIns="9144" tIns="0" bIns="0">
            <a:spAutoFit/>
          </a:bodyPr>
          <a:lstStyle/>
          <a:p>
            <a:pPr algn="l">
              <a:spcAft>
                <a:spcPts val="600"/>
              </a:spcAft>
              <a:defRPr sz="1500" b="1">
                <a:solidFill>
                  <a:srgbClr val="697685"/>
                </a:solidFill>
                <a:latin typeface="DejaVu Sans"/>
              </a:defRPr>
            </a:pPr>
            <a:r>
              <a:t>GHOST / G</a:t>
            </a:r>
          </a:p>
        </p:txBody>
      </p:sp>
      <p:sp>
        <p:nvSpPr>
          <p:cNvPr id="24" name="TextBox 23"/>
          <p:cNvSpPr txBox="1"/>
          <p:nvPr/>
        </p:nvSpPr>
        <p:spPr>
          <a:xfrm>
            <a:off x="8311896" y="3931920"/>
            <a:ext cx="3063240" cy="548640"/>
          </a:xfrm>
          <a:prstGeom prst="rect">
            <a:avLst/>
          </a:prstGeom>
          <a:noFill/>
          <a:effectLst/>
        </p:spPr>
        <p:txBody>
          <a:bodyPr wrap="square" lIns="9144" rIns="9144" tIns="0" bIns="0">
            <a:spAutoFit/>
          </a:bodyPr>
          <a:lstStyle/>
          <a:p>
            <a:pPr algn="l">
              <a:spcAft>
                <a:spcPts val="600"/>
              </a:spcAft>
              <a:defRPr sz="2800" b="1">
                <a:solidFill>
                  <a:srgbClr val="697685"/>
                </a:solidFill>
                <a:latin typeface="DejaVu Sans"/>
              </a:defRPr>
            </a:pPr>
            <a:r>
              <a:t>IDs only</a:t>
            </a:r>
          </a:p>
        </p:txBody>
      </p:sp>
      <p:sp>
        <p:nvSpPr>
          <p:cNvPr id="25" name="TextBox 24"/>
          <p:cNvSpPr txBox="1"/>
          <p:nvPr/>
        </p:nvSpPr>
        <p:spPr>
          <a:xfrm>
            <a:off x="8311896" y="4507992"/>
            <a:ext cx="3063240" cy="804672"/>
          </a:xfrm>
          <a:prstGeom prst="rect">
            <a:avLst/>
          </a:prstGeom>
          <a:noFill/>
          <a:effectLst/>
        </p:spPr>
        <p:txBody>
          <a:bodyPr wrap="square" lIns="9144" rIns="9144" tIns="0" bIns="0">
            <a:spAutoFit/>
          </a:bodyPr>
          <a:lstStyle/>
          <a:p>
            <a:pPr algn="l">
              <a:spcAft>
                <a:spcPts val="600"/>
              </a:spcAft>
              <a:defRPr sz="1500" b="0">
                <a:solidFill>
                  <a:srgbClr val="263D54"/>
                </a:solidFill>
                <a:latin typeface="DejaVu Sans"/>
              </a:defRPr>
            </a:pPr>
            <a:r>
              <a:t>Recently evicted object IDs</a:t>
            </a:r>
          </a:p>
          <a:p>
            <a:pPr algn="l">
              <a:spcAft>
                <a:spcPts val="600"/>
              </a:spcAft>
              <a:defRPr sz="1500" b="0">
                <a:solidFill>
                  <a:srgbClr val="263D54"/>
                </a:solidFill>
                <a:latin typeface="DejaVu Sans"/>
              </a:defRPr>
            </a:pPr>
            <a:r>
              <a:t>No cached payload</a:t>
            </a:r>
          </a:p>
        </p:txBody>
      </p:sp>
      <p:sp>
        <p:nvSpPr>
          <p:cNvPr id="26" name="Rounded Rectangle 25"/>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Ghost entries are metadata; they do not hold the actual cached data.</a:t>
            </a:r>
          </a:p>
        </p:txBody>
      </p:sp>
      <p:sp>
        <p:nvSpPr>
          <p:cNvPr id="28" name="TextBox 27"/>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§4.1 and Figure 5, Yang et al., SOSP 2023 (PDF p.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02 / DESIGN &amp; ALGORITHM</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Cache Hit and Cache Miss</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07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2  ·  60 SEC</a:t>
            </a:r>
          </a:p>
        </p:txBody>
      </p:sp>
      <p:sp>
        <p:nvSpPr>
          <p:cNvPr id="9" name="Rounded Rectangle 8"/>
          <p:cNvSpPr/>
          <p:nvPr/>
        </p:nvSpPr>
        <p:spPr>
          <a:xfrm>
            <a:off x="640080" y="2624328"/>
            <a:ext cx="1508760" cy="731520"/>
          </a:xfrm>
          <a:prstGeom prst="roundRect">
            <a:avLst>
              <a:gd name="adj" fmla="val 12000"/>
            </a:avLst>
          </a:prstGeom>
          <a:solidFill>
            <a:srgbClr val="FFFFFF"/>
          </a:solidFill>
          <a:ln w="12700">
            <a:solidFill>
              <a:srgbClr val="142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761488"/>
            <a:ext cx="1289304" cy="548640"/>
          </a:xfrm>
          <a:prstGeom prst="rect">
            <a:avLst/>
          </a:prstGeom>
          <a:noFill/>
          <a:effectLst/>
        </p:spPr>
        <p:txBody>
          <a:bodyPr wrap="square" lIns="9144" rIns="9144" tIns="0" bIns="0">
            <a:spAutoFit/>
          </a:bodyPr>
          <a:lstStyle/>
          <a:p>
            <a:pPr algn="ctr">
              <a:spcAft>
                <a:spcPts val="600"/>
              </a:spcAft>
              <a:defRPr sz="2000" b="1">
                <a:solidFill>
                  <a:srgbClr val="142D4E"/>
                </a:solidFill>
                <a:latin typeface="DejaVu Sans"/>
              </a:defRPr>
            </a:pPr>
            <a:r>
              <a:t>Request</a:t>
            </a:r>
          </a:p>
        </p:txBody>
      </p:sp>
      <p:cxnSp>
        <p:nvCxnSpPr>
          <p:cNvPr id="11" name="Connector 10"/>
          <p:cNvCxnSpPr/>
          <p:nvPr/>
        </p:nvCxnSpPr>
        <p:spPr>
          <a:xfrm>
            <a:off x="2148840" y="2990088"/>
            <a:ext cx="484632" cy="0"/>
          </a:xfrm>
          <a:prstGeom prst="line">
            <a:avLst/>
          </a:prstGeom>
          <a:ln w="22860">
            <a:solidFill>
              <a:srgbClr val="607286"/>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33472" y="2624328"/>
            <a:ext cx="1874519" cy="731520"/>
          </a:xfrm>
          <a:prstGeom prst="roundRect">
            <a:avLst>
              <a:gd name="adj" fmla="val 12000"/>
            </a:avLst>
          </a:prstGeom>
          <a:solidFill>
            <a:srgbClr val="FFFFFF"/>
          </a:solidFill>
          <a:ln w="12700">
            <a:solidFill>
              <a:srgbClr val="142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2761488"/>
            <a:ext cx="1655063" cy="548640"/>
          </a:xfrm>
          <a:prstGeom prst="rect">
            <a:avLst/>
          </a:prstGeom>
          <a:noFill/>
          <a:effectLst/>
        </p:spPr>
        <p:txBody>
          <a:bodyPr wrap="square" lIns="9144" rIns="9144" tIns="0" bIns="0">
            <a:spAutoFit/>
          </a:bodyPr>
          <a:lstStyle/>
          <a:p>
            <a:pPr algn="ctr">
              <a:spcAft>
                <a:spcPts val="600"/>
              </a:spcAft>
              <a:defRPr sz="2000" b="1">
                <a:solidFill>
                  <a:srgbClr val="142D4E"/>
                </a:solidFill>
                <a:latin typeface="DejaVu Sans"/>
              </a:defRPr>
            </a:pPr>
            <a:r>
              <a:t>In S or M?</a:t>
            </a:r>
          </a:p>
        </p:txBody>
      </p:sp>
      <p:cxnSp>
        <p:nvCxnSpPr>
          <p:cNvPr id="14" name="Connector 13"/>
          <p:cNvCxnSpPr/>
          <p:nvPr/>
        </p:nvCxnSpPr>
        <p:spPr>
          <a:xfrm flipV="1">
            <a:off x="3657600" y="2057400"/>
            <a:ext cx="0" cy="566928"/>
          </a:xfrm>
          <a:prstGeom prst="line">
            <a:avLst/>
          </a:prstGeom>
          <a:ln w="22860">
            <a:solidFill>
              <a:srgbClr val="0D887F"/>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49039" y="2240280"/>
            <a:ext cx="731520" cy="274320"/>
          </a:xfrm>
          <a:prstGeom prst="rect">
            <a:avLst/>
          </a:prstGeom>
          <a:noFill/>
          <a:effectLst/>
        </p:spPr>
        <p:txBody>
          <a:bodyPr wrap="square" lIns="9144" rIns="9144" tIns="0" bIns="0">
            <a:spAutoFit/>
          </a:bodyPr>
          <a:lstStyle/>
          <a:p>
            <a:pPr algn="l">
              <a:spcAft>
                <a:spcPts val="600"/>
              </a:spcAft>
              <a:defRPr sz="1300" b="0">
                <a:solidFill>
                  <a:srgbClr val="0D887F"/>
                </a:solidFill>
                <a:latin typeface="DejaVu Sans"/>
              </a:defRPr>
            </a:pPr>
            <a:r>
              <a:t>Yes</a:t>
            </a:r>
          </a:p>
        </p:txBody>
      </p:sp>
      <p:sp>
        <p:nvSpPr>
          <p:cNvPr id="16" name="Rounded Rectangle 15"/>
          <p:cNvSpPr/>
          <p:nvPr/>
        </p:nvSpPr>
        <p:spPr>
          <a:xfrm>
            <a:off x="2423160" y="1682496"/>
            <a:ext cx="4754880" cy="603504"/>
          </a:xfrm>
          <a:prstGeom prst="roundRect">
            <a:avLst>
              <a:gd name="adj" fmla="val 12000"/>
            </a:avLst>
          </a:prstGeom>
          <a:solidFill>
            <a:srgbClr val="FFFFFF"/>
          </a:solidFill>
          <a:ln w="12700">
            <a:solidFill>
              <a:srgbClr val="0D88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32888" y="1819656"/>
            <a:ext cx="4535424" cy="420624"/>
          </a:xfrm>
          <a:prstGeom prst="rect">
            <a:avLst/>
          </a:prstGeom>
          <a:noFill/>
          <a:effectLst/>
        </p:spPr>
        <p:txBody>
          <a:bodyPr wrap="square" lIns="9144" rIns="9144" tIns="0" bIns="0">
            <a:spAutoFit/>
          </a:bodyPr>
          <a:lstStyle/>
          <a:p>
            <a:pPr algn="ctr">
              <a:spcAft>
                <a:spcPts val="600"/>
              </a:spcAft>
              <a:defRPr sz="1900" b="1">
                <a:solidFill>
                  <a:srgbClr val="0D887F"/>
                </a:solidFill>
                <a:latin typeface="DejaVu Sans"/>
              </a:defRPr>
            </a:pPr>
            <a:r>
              <a:t>HIT: freq = min(freq + 1, 3)</a:t>
            </a:r>
          </a:p>
        </p:txBody>
      </p:sp>
      <p:cxnSp>
        <p:nvCxnSpPr>
          <p:cNvPr id="18" name="Connector 17"/>
          <p:cNvCxnSpPr/>
          <p:nvPr/>
        </p:nvCxnSpPr>
        <p:spPr>
          <a:xfrm>
            <a:off x="4507992" y="2990088"/>
            <a:ext cx="978408" cy="0"/>
          </a:xfrm>
          <a:prstGeom prst="line">
            <a:avLst/>
          </a:prstGeom>
          <a:ln w="22860">
            <a:solidFill>
              <a:srgbClr val="607286"/>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718304" y="2651760"/>
            <a:ext cx="777240" cy="274320"/>
          </a:xfrm>
          <a:prstGeom prst="rect">
            <a:avLst/>
          </a:prstGeom>
          <a:noFill/>
          <a:effectLst/>
        </p:spPr>
        <p:txBody>
          <a:bodyPr wrap="square" lIns="9144" rIns="9144" tIns="0" bIns="0">
            <a:spAutoFit/>
          </a:bodyPr>
          <a:lstStyle/>
          <a:p>
            <a:pPr algn="l">
              <a:spcAft>
                <a:spcPts val="600"/>
              </a:spcAft>
              <a:defRPr sz="1300" b="0">
                <a:solidFill>
                  <a:srgbClr val="607286"/>
                </a:solidFill>
                <a:latin typeface="DejaVu Sans"/>
              </a:defRPr>
            </a:pPr>
            <a:r>
              <a:t>No</a:t>
            </a:r>
          </a:p>
        </p:txBody>
      </p:sp>
      <p:sp>
        <p:nvSpPr>
          <p:cNvPr id="20" name="Rounded Rectangle 19"/>
          <p:cNvSpPr/>
          <p:nvPr/>
        </p:nvSpPr>
        <p:spPr>
          <a:xfrm>
            <a:off x="5486400" y="2624328"/>
            <a:ext cx="2057400" cy="731520"/>
          </a:xfrm>
          <a:prstGeom prst="roundRect">
            <a:avLst>
              <a:gd name="adj" fmla="val 12000"/>
            </a:avLst>
          </a:prstGeom>
          <a:solidFill>
            <a:srgbClr val="FFFFFF"/>
          </a:solidFill>
          <a:ln w="12700">
            <a:solidFill>
              <a:srgbClr val="69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96128" y="2761488"/>
            <a:ext cx="1837943" cy="548640"/>
          </a:xfrm>
          <a:prstGeom prst="rect">
            <a:avLst/>
          </a:prstGeom>
          <a:noFill/>
          <a:effectLst/>
        </p:spPr>
        <p:txBody>
          <a:bodyPr wrap="square" lIns="9144" rIns="9144" tIns="0" bIns="0">
            <a:spAutoFit/>
          </a:bodyPr>
          <a:lstStyle/>
          <a:p>
            <a:pPr algn="ctr">
              <a:spcAft>
                <a:spcPts val="600"/>
              </a:spcAft>
              <a:defRPr sz="1900" b="1">
                <a:solidFill>
                  <a:srgbClr val="697685"/>
                </a:solidFill>
                <a:latin typeface="DejaVu Sans"/>
              </a:defRPr>
            </a:pPr>
            <a:r>
              <a:t>MISS: in G?</a:t>
            </a:r>
          </a:p>
        </p:txBody>
      </p:sp>
      <p:cxnSp>
        <p:nvCxnSpPr>
          <p:cNvPr id="22" name="Connector 21"/>
          <p:cNvCxnSpPr/>
          <p:nvPr/>
        </p:nvCxnSpPr>
        <p:spPr>
          <a:xfrm>
            <a:off x="7543800" y="2990088"/>
            <a:ext cx="941832" cy="0"/>
          </a:xfrm>
          <a:prstGeom prst="line">
            <a:avLst/>
          </a:prstGeom>
          <a:ln w="22860">
            <a:solidFill>
              <a:srgbClr val="2563A6"/>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63256" y="2651760"/>
            <a:ext cx="731520" cy="274320"/>
          </a:xfrm>
          <a:prstGeom prst="rect">
            <a:avLst/>
          </a:prstGeom>
          <a:noFill/>
          <a:effectLst/>
        </p:spPr>
        <p:txBody>
          <a:bodyPr wrap="square" lIns="9144" rIns="9144" tIns="0" bIns="0">
            <a:spAutoFit/>
          </a:bodyPr>
          <a:lstStyle/>
          <a:p>
            <a:pPr algn="l">
              <a:spcAft>
                <a:spcPts val="600"/>
              </a:spcAft>
              <a:defRPr sz="1300" b="0">
                <a:solidFill>
                  <a:srgbClr val="2563A6"/>
                </a:solidFill>
                <a:latin typeface="DejaVu Sans"/>
              </a:defRPr>
            </a:pPr>
            <a:r>
              <a:t>Yes</a:t>
            </a:r>
          </a:p>
        </p:txBody>
      </p:sp>
      <p:sp>
        <p:nvSpPr>
          <p:cNvPr id="24" name="Rounded Rectangle 23"/>
          <p:cNvSpPr/>
          <p:nvPr/>
        </p:nvSpPr>
        <p:spPr>
          <a:xfrm>
            <a:off x="8485632" y="2624328"/>
            <a:ext cx="2761488" cy="731520"/>
          </a:xfrm>
          <a:prstGeom prst="roundRect">
            <a:avLst>
              <a:gd name="adj" fmla="val 12000"/>
            </a:avLst>
          </a:prstGeom>
          <a:solidFill>
            <a:srgbClr val="FFFFFF"/>
          </a:solidFill>
          <a:ln w="12700">
            <a:solidFill>
              <a:srgbClr val="256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59" y="2761488"/>
            <a:ext cx="2542032" cy="548640"/>
          </a:xfrm>
          <a:prstGeom prst="rect">
            <a:avLst/>
          </a:prstGeom>
          <a:noFill/>
          <a:effectLst/>
        </p:spPr>
        <p:txBody>
          <a:bodyPr wrap="square" lIns="9144" rIns="9144" tIns="0" bIns="0">
            <a:spAutoFit/>
          </a:bodyPr>
          <a:lstStyle/>
          <a:p>
            <a:pPr algn="ctr">
              <a:spcAft>
                <a:spcPts val="600"/>
              </a:spcAft>
              <a:defRPr sz="2100" b="1">
                <a:solidFill>
                  <a:srgbClr val="2563A6"/>
                </a:solidFill>
                <a:latin typeface="DejaVu Sans"/>
              </a:defRPr>
            </a:pPr>
            <a:r>
              <a:t>Insert into M</a:t>
            </a:r>
          </a:p>
        </p:txBody>
      </p:sp>
      <p:cxnSp>
        <p:nvCxnSpPr>
          <p:cNvPr id="26" name="Connector 25"/>
          <p:cNvCxnSpPr/>
          <p:nvPr/>
        </p:nvCxnSpPr>
        <p:spPr>
          <a:xfrm>
            <a:off x="6510528" y="3355848"/>
            <a:ext cx="0" cy="813815"/>
          </a:xfrm>
          <a:prstGeom prst="line">
            <a:avLst/>
          </a:prstGeom>
          <a:ln w="22860">
            <a:solidFill>
              <a:srgbClr val="D9842B"/>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665976" y="3648456"/>
            <a:ext cx="731520" cy="274320"/>
          </a:xfrm>
          <a:prstGeom prst="rect">
            <a:avLst/>
          </a:prstGeom>
          <a:noFill/>
          <a:effectLst/>
        </p:spPr>
        <p:txBody>
          <a:bodyPr wrap="square" lIns="9144" rIns="9144" tIns="0" bIns="0">
            <a:spAutoFit/>
          </a:bodyPr>
          <a:lstStyle/>
          <a:p>
            <a:pPr algn="l">
              <a:spcAft>
                <a:spcPts val="600"/>
              </a:spcAft>
              <a:defRPr sz="1300" b="0">
                <a:solidFill>
                  <a:srgbClr val="D9842B"/>
                </a:solidFill>
                <a:latin typeface="DejaVu Sans"/>
              </a:defRPr>
            </a:pPr>
            <a:r>
              <a:t>No</a:t>
            </a:r>
          </a:p>
        </p:txBody>
      </p:sp>
      <p:sp>
        <p:nvSpPr>
          <p:cNvPr id="28" name="Rounded Rectangle 27"/>
          <p:cNvSpPr/>
          <p:nvPr/>
        </p:nvSpPr>
        <p:spPr>
          <a:xfrm>
            <a:off x="5166360" y="4169663"/>
            <a:ext cx="2761488" cy="731520"/>
          </a:xfrm>
          <a:prstGeom prst="roundRect">
            <a:avLst>
              <a:gd name="adj" fmla="val 12000"/>
            </a:avLst>
          </a:prstGeom>
          <a:solidFill>
            <a:srgbClr val="FFFFFF"/>
          </a:solidFill>
          <a:ln w="12700">
            <a:solidFill>
              <a:srgbClr val="D984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088" y="4306824"/>
            <a:ext cx="2542032" cy="548640"/>
          </a:xfrm>
          <a:prstGeom prst="rect">
            <a:avLst/>
          </a:prstGeom>
          <a:noFill/>
          <a:effectLst/>
        </p:spPr>
        <p:txBody>
          <a:bodyPr wrap="square" lIns="9144" rIns="9144" tIns="0" bIns="0">
            <a:spAutoFit/>
          </a:bodyPr>
          <a:lstStyle/>
          <a:p>
            <a:pPr algn="ctr">
              <a:spcAft>
                <a:spcPts val="600"/>
              </a:spcAft>
              <a:defRPr sz="2100" b="1">
                <a:solidFill>
                  <a:srgbClr val="D9842B"/>
                </a:solidFill>
                <a:latin typeface="DejaVu Sans"/>
              </a:defRPr>
            </a:pPr>
            <a:r>
              <a:t>Insert into S</a:t>
            </a:r>
          </a:p>
        </p:txBody>
      </p:sp>
      <p:sp>
        <p:nvSpPr>
          <p:cNvPr id="30" name="TextBox 29"/>
          <p:cNvSpPr txBox="1"/>
          <p:nvPr/>
        </p:nvSpPr>
        <p:spPr>
          <a:xfrm>
            <a:off x="8503920" y="3931920"/>
            <a:ext cx="2697480" cy="822960"/>
          </a:xfrm>
          <a:prstGeom prst="rect">
            <a:avLst/>
          </a:prstGeom>
          <a:noFill/>
          <a:effectLst/>
        </p:spPr>
        <p:txBody>
          <a:bodyPr wrap="square" lIns="9144" rIns="9144" tIns="0" bIns="0">
            <a:spAutoFit/>
          </a:bodyPr>
          <a:lstStyle/>
          <a:p>
            <a:pPr algn="l">
              <a:spcAft>
                <a:spcPts val="600"/>
              </a:spcAft>
              <a:defRPr sz="1800" b="0">
                <a:solidFill>
                  <a:srgbClr val="607286"/>
                </a:solidFill>
                <a:latin typeface="DejaVu Sans"/>
              </a:defRPr>
            </a:pPr>
            <a:r>
              <a:t>On insertion:</a:t>
            </a:r>
          </a:p>
          <a:p>
            <a:pPr algn="l">
              <a:spcAft>
                <a:spcPts val="600"/>
              </a:spcAft>
              <a:defRPr sz="1800" b="0">
                <a:solidFill>
                  <a:srgbClr val="607286"/>
                </a:solidFill>
                <a:latin typeface="DejaVu Sans"/>
              </a:defRPr>
            </a:pPr>
            <a:r>
              <a:t>freq = 0</a:t>
            </a:r>
          </a:p>
        </p:txBody>
      </p:sp>
      <p:sp>
        <p:nvSpPr>
          <p:cNvPr id="31" name="Rounded Rectangle 30"/>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On a cache hit: update the counter; keep the queue order unchanged.</a:t>
            </a:r>
          </a:p>
        </p:txBody>
      </p:sp>
      <p:sp>
        <p:nvSpPr>
          <p:cNvPr id="33" name="TextBox 32"/>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Algorithm 1, lines 1–13, Yang et al., SOSP 2023 (PDF p. 6). Simplified flowchart.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02 / DESIGN &amp; ALGORITHM</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Eviction Process</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08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2  ·  75 SEC</a:t>
            </a:r>
          </a:p>
        </p:txBody>
      </p:sp>
      <p:sp>
        <p:nvSpPr>
          <p:cNvPr id="9" name="Rounded Rectangle 8"/>
          <p:cNvSpPr/>
          <p:nvPr/>
        </p:nvSpPr>
        <p:spPr>
          <a:xfrm>
            <a:off x="594360" y="1993392"/>
            <a:ext cx="5358384" cy="324612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176272"/>
            <a:ext cx="4937760" cy="274320"/>
          </a:xfrm>
          <a:prstGeom prst="rect">
            <a:avLst/>
          </a:prstGeom>
          <a:noFill/>
          <a:effectLst/>
        </p:spPr>
        <p:txBody>
          <a:bodyPr wrap="square" lIns="9144" rIns="9144" tIns="0" bIns="0">
            <a:spAutoFit/>
          </a:bodyPr>
          <a:lstStyle/>
          <a:p>
            <a:pPr algn="l">
              <a:spcAft>
                <a:spcPts val="600"/>
              </a:spcAft>
              <a:defRPr sz="1600" b="1">
                <a:solidFill>
                  <a:srgbClr val="D9842B"/>
                </a:solidFill>
                <a:latin typeface="DejaVu Sans"/>
              </a:defRPr>
            </a:pPr>
            <a:r>
              <a:t>SMALL QUEUE / S</a:t>
            </a:r>
          </a:p>
        </p:txBody>
      </p:sp>
      <p:sp>
        <p:nvSpPr>
          <p:cNvPr id="11" name="Rounded Rectangle 10"/>
          <p:cNvSpPr/>
          <p:nvPr/>
        </p:nvSpPr>
        <p:spPr>
          <a:xfrm>
            <a:off x="914400" y="2761488"/>
            <a:ext cx="4709160" cy="658368"/>
          </a:xfrm>
          <a:prstGeom prst="roundRect">
            <a:avLst>
              <a:gd name="adj" fmla="val 12000"/>
            </a:avLst>
          </a:prstGeom>
          <a:solidFill>
            <a:srgbClr val="FFFFFF"/>
          </a:solidFill>
          <a:ln w="12700">
            <a:solidFill>
              <a:srgbClr val="D984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98648"/>
            <a:ext cx="4489704" cy="475488"/>
          </a:xfrm>
          <a:prstGeom prst="rect">
            <a:avLst/>
          </a:prstGeom>
          <a:noFill/>
          <a:effectLst/>
        </p:spPr>
        <p:txBody>
          <a:bodyPr wrap="square" lIns="9144" rIns="9144" tIns="0" bIns="0">
            <a:spAutoFit/>
          </a:bodyPr>
          <a:lstStyle/>
          <a:p>
            <a:pPr algn="ctr">
              <a:spcAft>
                <a:spcPts val="600"/>
              </a:spcAft>
              <a:defRPr sz="2000" b="1">
                <a:solidFill>
                  <a:srgbClr val="D9842B"/>
                </a:solidFill>
                <a:latin typeface="DejaVu Sans"/>
              </a:defRPr>
            </a:pPr>
            <a:r>
              <a:t>Oldest object: freq &gt; 1?</a:t>
            </a:r>
          </a:p>
        </p:txBody>
      </p:sp>
      <p:cxnSp>
        <p:nvCxnSpPr>
          <p:cNvPr id="13" name="Connector 12"/>
          <p:cNvCxnSpPr/>
          <p:nvPr/>
        </p:nvCxnSpPr>
        <p:spPr>
          <a:xfrm>
            <a:off x="1993392" y="3419856"/>
            <a:ext cx="0" cy="813816"/>
          </a:xfrm>
          <a:prstGeom prst="line">
            <a:avLst/>
          </a:prstGeom>
          <a:ln w="22860">
            <a:solidFill>
              <a:srgbClr val="D9842B"/>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98848" y="3419856"/>
            <a:ext cx="0" cy="813816"/>
          </a:xfrm>
          <a:prstGeom prst="line">
            <a:avLst/>
          </a:prstGeom>
          <a:ln w="22860">
            <a:solidFill>
              <a:srgbClr val="697685"/>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130552" y="3648456"/>
            <a:ext cx="731520" cy="274320"/>
          </a:xfrm>
          <a:prstGeom prst="rect">
            <a:avLst/>
          </a:prstGeom>
          <a:noFill/>
          <a:effectLst/>
        </p:spPr>
        <p:txBody>
          <a:bodyPr wrap="square" lIns="9144" rIns="9144" tIns="0" bIns="0">
            <a:spAutoFit/>
          </a:bodyPr>
          <a:lstStyle/>
          <a:p>
            <a:pPr algn="l">
              <a:spcAft>
                <a:spcPts val="600"/>
              </a:spcAft>
              <a:defRPr sz="1300" b="0">
                <a:solidFill>
                  <a:srgbClr val="D9842B"/>
                </a:solidFill>
                <a:latin typeface="DejaVu Sans"/>
              </a:defRPr>
            </a:pPr>
            <a:r>
              <a:t>Yes</a:t>
            </a:r>
          </a:p>
        </p:txBody>
      </p:sp>
      <p:sp>
        <p:nvSpPr>
          <p:cNvPr id="16" name="TextBox 15"/>
          <p:cNvSpPr txBox="1"/>
          <p:nvPr/>
        </p:nvSpPr>
        <p:spPr>
          <a:xfrm>
            <a:off x="4636008" y="3648456"/>
            <a:ext cx="731520" cy="274320"/>
          </a:xfrm>
          <a:prstGeom prst="rect">
            <a:avLst/>
          </a:prstGeom>
          <a:noFill/>
          <a:effectLst/>
        </p:spPr>
        <p:txBody>
          <a:bodyPr wrap="square" lIns="9144" rIns="9144" tIns="0" bIns="0">
            <a:spAutoFit/>
          </a:bodyPr>
          <a:lstStyle/>
          <a:p>
            <a:pPr algn="l">
              <a:spcAft>
                <a:spcPts val="600"/>
              </a:spcAft>
              <a:defRPr sz="1300" b="0">
                <a:solidFill>
                  <a:srgbClr val="697685"/>
                </a:solidFill>
                <a:latin typeface="DejaVu Sans"/>
              </a:defRPr>
            </a:pPr>
            <a:r>
              <a:t>No</a:t>
            </a:r>
          </a:p>
        </p:txBody>
      </p:sp>
      <p:sp>
        <p:nvSpPr>
          <p:cNvPr id="17" name="Rounded Rectangle 16"/>
          <p:cNvSpPr/>
          <p:nvPr/>
        </p:nvSpPr>
        <p:spPr>
          <a:xfrm>
            <a:off x="777240" y="4233672"/>
            <a:ext cx="2423160" cy="640080"/>
          </a:xfrm>
          <a:prstGeom prst="roundRect">
            <a:avLst>
              <a:gd name="adj" fmla="val 12000"/>
            </a:avLst>
          </a:prstGeom>
          <a:solidFill>
            <a:srgbClr val="FFFFFF"/>
          </a:solidFill>
          <a:ln w="12700">
            <a:solidFill>
              <a:srgbClr val="D984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4370832"/>
            <a:ext cx="2203704" cy="457199"/>
          </a:xfrm>
          <a:prstGeom prst="rect">
            <a:avLst/>
          </a:prstGeom>
          <a:noFill/>
          <a:effectLst/>
        </p:spPr>
        <p:txBody>
          <a:bodyPr wrap="square" lIns="9144" rIns="9144" tIns="0" bIns="0">
            <a:spAutoFit/>
          </a:bodyPr>
          <a:lstStyle/>
          <a:p>
            <a:pPr algn="ctr">
              <a:spcAft>
                <a:spcPts val="600"/>
              </a:spcAft>
              <a:defRPr sz="1700" b="1">
                <a:solidFill>
                  <a:srgbClr val="D9842B"/>
                </a:solidFill>
                <a:latin typeface="DejaVu Sans"/>
              </a:defRPr>
            </a:pPr>
            <a:r>
              <a:t>Move to M</a:t>
            </a:r>
          </a:p>
        </p:txBody>
      </p:sp>
      <p:sp>
        <p:nvSpPr>
          <p:cNvPr id="19" name="Rounded Rectangle 18"/>
          <p:cNvSpPr/>
          <p:nvPr/>
        </p:nvSpPr>
        <p:spPr>
          <a:xfrm>
            <a:off x="3392424" y="4233672"/>
            <a:ext cx="2377440" cy="640080"/>
          </a:xfrm>
          <a:prstGeom prst="roundRect">
            <a:avLst>
              <a:gd name="adj" fmla="val 12000"/>
            </a:avLst>
          </a:prstGeom>
          <a:solidFill>
            <a:srgbClr val="FFFFFF"/>
          </a:solidFill>
          <a:ln w="12700">
            <a:solidFill>
              <a:srgbClr val="69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370832"/>
            <a:ext cx="2157984" cy="457199"/>
          </a:xfrm>
          <a:prstGeom prst="rect">
            <a:avLst/>
          </a:prstGeom>
          <a:noFill/>
          <a:effectLst/>
        </p:spPr>
        <p:txBody>
          <a:bodyPr wrap="square" lIns="9144" rIns="9144" tIns="0" bIns="0">
            <a:spAutoFit/>
          </a:bodyPr>
          <a:lstStyle/>
          <a:p>
            <a:pPr algn="ctr">
              <a:spcAft>
                <a:spcPts val="600"/>
              </a:spcAft>
              <a:defRPr sz="1600" b="1">
                <a:solidFill>
                  <a:srgbClr val="697685"/>
                </a:solidFill>
                <a:latin typeface="DejaVu Sans"/>
              </a:defRPr>
            </a:pPr>
            <a:r>
              <a:t>Remove data; ID → G</a:t>
            </a:r>
          </a:p>
        </p:txBody>
      </p:sp>
      <p:sp>
        <p:nvSpPr>
          <p:cNvPr id="21" name="Rounded Rectangle 20"/>
          <p:cNvSpPr/>
          <p:nvPr/>
        </p:nvSpPr>
        <p:spPr>
          <a:xfrm>
            <a:off x="6217920" y="1993392"/>
            <a:ext cx="5358384" cy="324612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176272"/>
            <a:ext cx="4937760" cy="274320"/>
          </a:xfrm>
          <a:prstGeom prst="rect">
            <a:avLst/>
          </a:prstGeom>
          <a:noFill/>
          <a:effectLst/>
        </p:spPr>
        <p:txBody>
          <a:bodyPr wrap="square" lIns="9144" rIns="9144" tIns="0" bIns="0">
            <a:spAutoFit/>
          </a:bodyPr>
          <a:lstStyle/>
          <a:p>
            <a:pPr algn="l">
              <a:spcAft>
                <a:spcPts val="600"/>
              </a:spcAft>
              <a:defRPr sz="1600" b="1">
                <a:solidFill>
                  <a:srgbClr val="2563A6"/>
                </a:solidFill>
                <a:latin typeface="DejaVu Sans"/>
              </a:defRPr>
            </a:pPr>
            <a:r>
              <a:t>MAIN QUEUE / M</a:t>
            </a:r>
          </a:p>
        </p:txBody>
      </p:sp>
      <p:sp>
        <p:nvSpPr>
          <p:cNvPr id="23" name="Rounded Rectangle 22"/>
          <p:cNvSpPr/>
          <p:nvPr/>
        </p:nvSpPr>
        <p:spPr>
          <a:xfrm>
            <a:off x="6537959" y="2761488"/>
            <a:ext cx="4709160" cy="658368"/>
          </a:xfrm>
          <a:prstGeom prst="roundRect">
            <a:avLst>
              <a:gd name="adj" fmla="val 12000"/>
            </a:avLst>
          </a:prstGeom>
          <a:solidFill>
            <a:srgbClr val="FFFFFF"/>
          </a:solidFill>
          <a:ln w="12700">
            <a:solidFill>
              <a:srgbClr val="256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47688" y="2898648"/>
            <a:ext cx="4489704" cy="475488"/>
          </a:xfrm>
          <a:prstGeom prst="rect">
            <a:avLst/>
          </a:prstGeom>
          <a:noFill/>
          <a:effectLst/>
        </p:spPr>
        <p:txBody>
          <a:bodyPr wrap="square" lIns="9144" rIns="9144" tIns="0" bIns="0">
            <a:spAutoFit/>
          </a:bodyPr>
          <a:lstStyle/>
          <a:p>
            <a:pPr algn="ctr">
              <a:spcAft>
                <a:spcPts val="600"/>
              </a:spcAft>
              <a:defRPr sz="2000" b="1">
                <a:solidFill>
                  <a:srgbClr val="2563A6"/>
                </a:solidFill>
                <a:latin typeface="DejaVu Sans"/>
              </a:defRPr>
            </a:pPr>
            <a:r>
              <a:t>Oldest object: freq &gt; 0?</a:t>
            </a:r>
          </a:p>
        </p:txBody>
      </p:sp>
      <p:cxnSp>
        <p:nvCxnSpPr>
          <p:cNvPr id="25" name="Connector 24"/>
          <p:cNvCxnSpPr/>
          <p:nvPr/>
        </p:nvCxnSpPr>
        <p:spPr>
          <a:xfrm>
            <a:off x="7616952" y="3419856"/>
            <a:ext cx="0" cy="813816"/>
          </a:xfrm>
          <a:prstGeom prst="line">
            <a:avLst/>
          </a:prstGeom>
          <a:ln w="22860">
            <a:solidFill>
              <a:srgbClr val="2563A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122408" y="3419856"/>
            <a:ext cx="0" cy="813816"/>
          </a:xfrm>
          <a:prstGeom prst="line">
            <a:avLst/>
          </a:prstGeom>
          <a:ln w="22860">
            <a:solidFill>
              <a:srgbClr val="6976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54112" y="3648456"/>
            <a:ext cx="731520" cy="274320"/>
          </a:xfrm>
          <a:prstGeom prst="rect">
            <a:avLst/>
          </a:prstGeom>
          <a:noFill/>
          <a:effectLst/>
        </p:spPr>
        <p:txBody>
          <a:bodyPr wrap="square" lIns="9144" rIns="9144" tIns="0" bIns="0">
            <a:spAutoFit/>
          </a:bodyPr>
          <a:lstStyle/>
          <a:p>
            <a:pPr algn="l">
              <a:spcAft>
                <a:spcPts val="600"/>
              </a:spcAft>
              <a:defRPr sz="1300" b="0">
                <a:solidFill>
                  <a:srgbClr val="2563A6"/>
                </a:solidFill>
                <a:latin typeface="DejaVu Sans"/>
              </a:defRPr>
            </a:pPr>
            <a:r>
              <a:t>Yes</a:t>
            </a:r>
          </a:p>
        </p:txBody>
      </p:sp>
      <p:sp>
        <p:nvSpPr>
          <p:cNvPr id="28" name="TextBox 27"/>
          <p:cNvSpPr txBox="1"/>
          <p:nvPr/>
        </p:nvSpPr>
        <p:spPr>
          <a:xfrm>
            <a:off x="10259567" y="3648456"/>
            <a:ext cx="731520" cy="274320"/>
          </a:xfrm>
          <a:prstGeom prst="rect">
            <a:avLst/>
          </a:prstGeom>
          <a:noFill/>
          <a:effectLst/>
        </p:spPr>
        <p:txBody>
          <a:bodyPr wrap="square" lIns="9144" rIns="9144" tIns="0" bIns="0">
            <a:spAutoFit/>
          </a:bodyPr>
          <a:lstStyle/>
          <a:p>
            <a:pPr algn="l">
              <a:spcAft>
                <a:spcPts val="600"/>
              </a:spcAft>
              <a:defRPr sz="1300" b="0">
                <a:solidFill>
                  <a:srgbClr val="697685"/>
                </a:solidFill>
                <a:latin typeface="DejaVu Sans"/>
              </a:defRPr>
            </a:pPr>
            <a:r>
              <a:t>No</a:t>
            </a:r>
          </a:p>
        </p:txBody>
      </p:sp>
      <p:sp>
        <p:nvSpPr>
          <p:cNvPr id="29" name="Rounded Rectangle 28"/>
          <p:cNvSpPr/>
          <p:nvPr/>
        </p:nvSpPr>
        <p:spPr>
          <a:xfrm>
            <a:off x="6400800" y="4233672"/>
            <a:ext cx="2423160" cy="640080"/>
          </a:xfrm>
          <a:prstGeom prst="roundRect">
            <a:avLst>
              <a:gd name="adj" fmla="val 12000"/>
            </a:avLst>
          </a:prstGeom>
          <a:solidFill>
            <a:srgbClr val="FFFFFF"/>
          </a:solidFill>
          <a:ln w="12700">
            <a:solidFill>
              <a:srgbClr val="256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370832"/>
            <a:ext cx="2203704" cy="457199"/>
          </a:xfrm>
          <a:prstGeom prst="rect">
            <a:avLst/>
          </a:prstGeom>
          <a:noFill/>
          <a:effectLst/>
        </p:spPr>
        <p:txBody>
          <a:bodyPr wrap="square" lIns="9144" rIns="9144" tIns="0" bIns="0">
            <a:spAutoFit/>
          </a:bodyPr>
          <a:lstStyle/>
          <a:p>
            <a:pPr algn="ctr">
              <a:spcAft>
                <a:spcPts val="600"/>
              </a:spcAft>
              <a:defRPr sz="1700" b="1">
                <a:solidFill>
                  <a:srgbClr val="2563A6"/>
                </a:solidFill>
                <a:latin typeface="DejaVu Sans"/>
              </a:defRPr>
            </a:pPr>
            <a:r>
              <a:t>Reinsert; freq − 1</a:t>
            </a:r>
          </a:p>
        </p:txBody>
      </p:sp>
      <p:sp>
        <p:nvSpPr>
          <p:cNvPr id="31" name="Rounded Rectangle 30"/>
          <p:cNvSpPr/>
          <p:nvPr/>
        </p:nvSpPr>
        <p:spPr>
          <a:xfrm>
            <a:off x="9015984" y="4233672"/>
            <a:ext cx="2377440" cy="640080"/>
          </a:xfrm>
          <a:prstGeom prst="roundRect">
            <a:avLst>
              <a:gd name="adj" fmla="val 12000"/>
            </a:avLst>
          </a:prstGeom>
          <a:solidFill>
            <a:srgbClr val="FFFFFF"/>
          </a:solidFill>
          <a:ln w="12700">
            <a:solidFill>
              <a:srgbClr val="69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25711" y="4370832"/>
            <a:ext cx="2157984" cy="457199"/>
          </a:xfrm>
          <a:prstGeom prst="rect">
            <a:avLst/>
          </a:prstGeom>
          <a:noFill/>
          <a:effectLst/>
        </p:spPr>
        <p:txBody>
          <a:bodyPr wrap="square" lIns="9144" rIns="9144" tIns="0" bIns="0">
            <a:spAutoFit/>
          </a:bodyPr>
          <a:lstStyle/>
          <a:p>
            <a:pPr algn="ctr">
              <a:spcAft>
                <a:spcPts val="600"/>
              </a:spcAft>
              <a:defRPr sz="1600" b="1">
                <a:solidFill>
                  <a:srgbClr val="697685"/>
                </a:solidFill>
                <a:latin typeface="DejaVu Sans"/>
              </a:defRPr>
            </a:pPr>
            <a:r>
              <a:t>Evict object</a:t>
            </a:r>
          </a:p>
        </p:txBody>
      </p:sp>
      <p:sp>
        <p:nvSpPr>
          <p:cNvPr id="33" name="TextBox 32"/>
          <p:cNvSpPr txBox="1"/>
          <p:nvPr/>
        </p:nvSpPr>
        <p:spPr>
          <a:xfrm>
            <a:off x="594360" y="1627632"/>
            <a:ext cx="10881360" cy="246888"/>
          </a:xfrm>
          <a:prstGeom prst="rect">
            <a:avLst/>
          </a:prstGeom>
          <a:noFill/>
          <a:effectLst/>
        </p:spPr>
        <p:txBody>
          <a:bodyPr wrap="square" lIns="9144" rIns="9144" tIns="0" bIns="0">
            <a:spAutoFit/>
          </a:bodyPr>
          <a:lstStyle/>
          <a:p>
            <a:pPr algn="l">
              <a:spcAft>
                <a:spcPts val="600"/>
              </a:spcAft>
              <a:defRPr sz="1500" b="0">
                <a:solidFill>
                  <a:srgbClr val="607286"/>
                </a:solidFill>
                <a:latin typeface="DejaVu Sans"/>
              </a:defRPr>
            </a:pPr>
            <a:r>
              <a:t>When space is needed: evict from S if S ≥ 10% of capacity; otherwise evict from M.</a:t>
            </a:r>
          </a:p>
        </p:txBody>
      </p:sp>
      <p:sp>
        <p:nvSpPr>
          <p:cNvPr id="34" name="Rounded Rectangle 33"/>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Quick demotion in S + second chances in M; fewer queue updates on hits.</a:t>
            </a:r>
          </a:p>
        </p:txBody>
      </p:sp>
      <p:sp>
        <p:nvSpPr>
          <p:cNvPr id="36" name="TextBox 35"/>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Algorithm 1, lines 14–40, Yang et al., SOSP 2023 (PDF p. 6). Simplified flowcharts.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03 / EVALUATION &amp; CONCLUSION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Experimental Setup</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09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3  ·  40 SEC</a:t>
            </a:r>
          </a:p>
        </p:txBody>
      </p:sp>
      <p:sp>
        <p:nvSpPr>
          <p:cNvPr id="9" name="Rounded Rectangle 8"/>
          <p:cNvSpPr/>
          <p:nvPr/>
        </p:nvSpPr>
        <p:spPr>
          <a:xfrm>
            <a:off x="594360" y="1764792"/>
            <a:ext cx="3474720" cy="114300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47088"/>
            <a:ext cx="3108960" cy="594360"/>
          </a:xfrm>
          <a:prstGeom prst="rect">
            <a:avLst/>
          </a:prstGeom>
          <a:noFill/>
          <a:effectLst/>
        </p:spPr>
        <p:txBody>
          <a:bodyPr wrap="square" lIns="9144" rIns="9144" tIns="0" bIns="0">
            <a:spAutoFit/>
          </a:bodyPr>
          <a:lstStyle/>
          <a:p>
            <a:pPr algn="l">
              <a:spcAft>
                <a:spcPts val="600"/>
              </a:spcAft>
              <a:defRPr sz="3500" b="1">
                <a:solidFill>
                  <a:srgbClr val="2563A6"/>
                </a:solidFill>
                <a:latin typeface="DejaVu Sans"/>
              </a:defRPr>
            </a:pPr>
            <a:r>
              <a:t>6,594</a:t>
            </a:r>
          </a:p>
        </p:txBody>
      </p:sp>
      <p:sp>
        <p:nvSpPr>
          <p:cNvPr id="11" name="TextBox 10"/>
          <p:cNvSpPr txBox="1"/>
          <p:nvPr/>
        </p:nvSpPr>
        <p:spPr>
          <a:xfrm>
            <a:off x="777240" y="2551176"/>
            <a:ext cx="3108960" cy="201168"/>
          </a:xfrm>
          <a:prstGeom prst="rect">
            <a:avLst/>
          </a:prstGeom>
          <a:noFill/>
          <a:effectLst/>
        </p:spPr>
        <p:txBody>
          <a:bodyPr wrap="square" lIns="9144" rIns="9144" tIns="0" bIns="0">
            <a:spAutoFit/>
          </a:bodyPr>
          <a:lstStyle/>
          <a:p>
            <a:pPr algn="l">
              <a:spcAft>
                <a:spcPts val="600"/>
              </a:spcAft>
              <a:defRPr sz="1100" b="1">
                <a:solidFill>
                  <a:srgbClr val="607286"/>
                </a:solidFill>
                <a:latin typeface="DejaVu Sans"/>
              </a:defRPr>
            </a:pPr>
            <a:r>
              <a:t>REAL-WORLD CACHE TRACES</a:t>
            </a:r>
          </a:p>
        </p:txBody>
      </p:sp>
      <p:sp>
        <p:nvSpPr>
          <p:cNvPr id="12" name="Rounded Rectangle 11"/>
          <p:cNvSpPr/>
          <p:nvPr/>
        </p:nvSpPr>
        <p:spPr>
          <a:xfrm>
            <a:off x="4352544" y="1764792"/>
            <a:ext cx="3474720" cy="114300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847088"/>
            <a:ext cx="3108960" cy="594360"/>
          </a:xfrm>
          <a:prstGeom prst="rect">
            <a:avLst/>
          </a:prstGeom>
          <a:noFill/>
          <a:effectLst/>
        </p:spPr>
        <p:txBody>
          <a:bodyPr wrap="square" lIns="9144" rIns="9144" tIns="0" bIns="0">
            <a:spAutoFit/>
          </a:bodyPr>
          <a:lstStyle/>
          <a:p>
            <a:pPr algn="l">
              <a:spcAft>
                <a:spcPts val="600"/>
              </a:spcAft>
              <a:defRPr sz="3500" b="1">
                <a:solidFill>
                  <a:srgbClr val="2563A6"/>
                </a:solidFill>
                <a:latin typeface="DejaVu Sans"/>
              </a:defRPr>
            </a:pPr>
            <a:r>
              <a:t>14</a:t>
            </a:r>
          </a:p>
        </p:txBody>
      </p:sp>
      <p:sp>
        <p:nvSpPr>
          <p:cNvPr id="14" name="TextBox 13"/>
          <p:cNvSpPr txBox="1"/>
          <p:nvPr/>
        </p:nvSpPr>
        <p:spPr>
          <a:xfrm>
            <a:off x="4535424" y="2551176"/>
            <a:ext cx="3108960" cy="201168"/>
          </a:xfrm>
          <a:prstGeom prst="rect">
            <a:avLst/>
          </a:prstGeom>
          <a:noFill/>
          <a:effectLst/>
        </p:spPr>
        <p:txBody>
          <a:bodyPr wrap="square" lIns="9144" rIns="9144" tIns="0" bIns="0">
            <a:spAutoFit/>
          </a:bodyPr>
          <a:lstStyle/>
          <a:p>
            <a:pPr algn="l">
              <a:spcAft>
                <a:spcPts val="600"/>
              </a:spcAft>
              <a:defRPr sz="1100" b="1">
                <a:solidFill>
                  <a:srgbClr val="607286"/>
                </a:solidFill>
                <a:latin typeface="DejaVu Sans"/>
              </a:defRPr>
            </a:pPr>
            <a:r>
              <a:t>DATASETS</a:t>
            </a:r>
          </a:p>
        </p:txBody>
      </p:sp>
      <p:sp>
        <p:nvSpPr>
          <p:cNvPr id="15" name="Rounded Rectangle 14"/>
          <p:cNvSpPr/>
          <p:nvPr/>
        </p:nvSpPr>
        <p:spPr>
          <a:xfrm>
            <a:off x="8110727" y="1764792"/>
            <a:ext cx="3474720" cy="1143000"/>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7" y="1847088"/>
            <a:ext cx="3108960" cy="594360"/>
          </a:xfrm>
          <a:prstGeom prst="rect">
            <a:avLst/>
          </a:prstGeom>
          <a:noFill/>
          <a:effectLst/>
        </p:spPr>
        <p:txBody>
          <a:bodyPr wrap="square" lIns="9144" rIns="9144" tIns="0" bIns="0">
            <a:spAutoFit/>
          </a:bodyPr>
          <a:lstStyle/>
          <a:p>
            <a:pPr algn="l">
              <a:spcAft>
                <a:spcPts val="600"/>
              </a:spcAft>
              <a:defRPr sz="3500" b="1">
                <a:solidFill>
                  <a:srgbClr val="2563A6"/>
                </a:solidFill>
                <a:latin typeface="DejaVu Sans"/>
              </a:defRPr>
            </a:pPr>
            <a:r>
              <a:t>3</a:t>
            </a:r>
          </a:p>
        </p:txBody>
      </p:sp>
      <p:sp>
        <p:nvSpPr>
          <p:cNvPr id="17" name="TextBox 16"/>
          <p:cNvSpPr txBox="1"/>
          <p:nvPr/>
        </p:nvSpPr>
        <p:spPr>
          <a:xfrm>
            <a:off x="8293607" y="2551176"/>
            <a:ext cx="3108960" cy="201168"/>
          </a:xfrm>
          <a:prstGeom prst="rect">
            <a:avLst/>
          </a:prstGeom>
          <a:noFill/>
          <a:effectLst/>
        </p:spPr>
        <p:txBody>
          <a:bodyPr wrap="square" lIns="9144" rIns="9144" tIns="0" bIns="0">
            <a:spAutoFit/>
          </a:bodyPr>
          <a:lstStyle/>
          <a:p>
            <a:pPr algn="l">
              <a:spcAft>
                <a:spcPts val="600"/>
              </a:spcAft>
              <a:defRPr sz="1100" b="1">
                <a:solidFill>
                  <a:srgbClr val="607286"/>
                </a:solidFill>
                <a:latin typeface="DejaVu Sans"/>
              </a:defRPr>
            </a:pPr>
            <a:r>
              <a:t>WORKLOAD CATEGORIES</a:t>
            </a:r>
          </a:p>
        </p:txBody>
      </p:sp>
      <p:sp>
        <p:nvSpPr>
          <p:cNvPr id="18" name="Rectangle 17"/>
          <p:cNvSpPr/>
          <p:nvPr/>
        </p:nvSpPr>
        <p:spPr>
          <a:xfrm>
            <a:off x="594360" y="3218688"/>
            <a:ext cx="11000232" cy="484632"/>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310128"/>
            <a:ext cx="1828800" cy="274320"/>
          </a:xfrm>
          <a:prstGeom prst="rect">
            <a:avLst/>
          </a:prstGeom>
          <a:noFill/>
          <a:effectLst/>
        </p:spPr>
        <p:txBody>
          <a:bodyPr wrap="square" lIns="9144" rIns="9144" tIns="0" bIns="0">
            <a:spAutoFit/>
          </a:bodyPr>
          <a:lstStyle/>
          <a:p>
            <a:pPr algn="l">
              <a:spcAft>
                <a:spcPts val="600"/>
              </a:spcAft>
              <a:defRPr sz="1700" b="1">
                <a:solidFill>
                  <a:srgbClr val="142D4E"/>
                </a:solidFill>
                <a:latin typeface="DejaVu Sans"/>
              </a:defRPr>
            </a:pPr>
            <a:r>
              <a:t>Block</a:t>
            </a:r>
          </a:p>
        </p:txBody>
      </p:sp>
      <p:sp>
        <p:nvSpPr>
          <p:cNvPr id="20" name="TextBox 19"/>
          <p:cNvSpPr txBox="1"/>
          <p:nvPr/>
        </p:nvSpPr>
        <p:spPr>
          <a:xfrm>
            <a:off x="2743200" y="3310128"/>
            <a:ext cx="1737360" cy="274320"/>
          </a:xfrm>
          <a:prstGeom prst="rect">
            <a:avLst/>
          </a:prstGeom>
          <a:noFill/>
          <a:effectLst/>
        </p:spPr>
        <p:txBody>
          <a:bodyPr wrap="square" lIns="9144" rIns="9144" tIns="0" bIns="0">
            <a:spAutoFit/>
          </a:bodyPr>
          <a:lstStyle/>
          <a:p>
            <a:pPr algn="l">
              <a:spcAft>
                <a:spcPts val="600"/>
              </a:spcAft>
              <a:defRPr sz="1600" b="0">
                <a:solidFill>
                  <a:srgbClr val="2563A6"/>
                </a:solidFill>
                <a:latin typeface="DejaVu Sans"/>
              </a:defRPr>
            </a:pPr>
            <a:r>
              <a:t>6 datasets</a:t>
            </a:r>
          </a:p>
        </p:txBody>
      </p:sp>
      <p:sp>
        <p:nvSpPr>
          <p:cNvPr id="21" name="TextBox 20"/>
          <p:cNvSpPr txBox="1"/>
          <p:nvPr/>
        </p:nvSpPr>
        <p:spPr>
          <a:xfrm>
            <a:off x="4572000" y="3310128"/>
            <a:ext cx="6720840" cy="274320"/>
          </a:xfrm>
          <a:prstGeom prst="rect">
            <a:avLst/>
          </a:prstGeom>
          <a:noFill/>
          <a:effectLst/>
        </p:spPr>
        <p:txBody>
          <a:bodyPr wrap="square" lIns="9144" rIns="9144" tIns="0" bIns="0">
            <a:spAutoFit/>
          </a:bodyPr>
          <a:lstStyle/>
          <a:p>
            <a:pPr algn="l">
              <a:spcAft>
                <a:spcPts val="600"/>
              </a:spcAft>
              <a:defRPr sz="1400" b="0">
                <a:solidFill>
                  <a:srgbClr val="263D54"/>
                </a:solidFill>
                <a:latin typeface="DejaVu Sans"/>
              </a:defRPr>
            </a:pPr>
            <a:r>
              <a:t>MSR, FIU, CloudPhysics, Systor, Tencent, Alibaba</a:t>
            </a:r>
          </a:p>
        </p:txBody>
      </p:sp>
      <p:sp>
        <p:nvSpPr>
          <p:cNvPr id="22" name="Rectangle 21"/>
          <p:cNvSpPr/>
          <p:nvPr/>
        </p:nvSpPr>
        <p:spPr>
          <a:xfrm>
            <a:off x="594360" y="3758184"/>
            <a:ext cx="11000232" cy="4846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3849624"/>
            <a:ext cx="1828800" cy="274320"/>
          </a:xfrm>
          <a:prstGeom prst="rect">
            <a:avLst/>
          </a:prstGeom>
          <a:noFill/>
          <a:effectLst/>
        </p:spPr>
        <p:txBody>
          <a:bodyPr wrap="square" lIns="9144" rIns="9144" tIns="0" bIns="0">
            <a:spAutoFit/>
          </a:bodyPr>
          <a:lstStyle/>
          <a:p>
            <a:pPr algn="l">
              <a:spcAft>
                <a:spcPts val="600"/>
              </a:spcAft>
              <a:defRPr sz="1700" b="1">
                <a:solidFill>
                  <a:srgbClr val="142D4E"/>
                </a:solidFill>
                <a:latin typeface="DejaVu Sans"/>
              </a:defRPr>
            </a:pPr>
            <a:r>
              <a:t>Key-value</a:t>
            </a:r>
          </a:p>
        </p:txBody>
      </p:sp>
      <p:sp>
        <p:nvSpPr>
          <p:cNvPr id="24" name="TextBox 23"/>
          <p:cNvSpPr txBox="1"/>
          <p:nvPr/>
        </p:nvSpPr>
        <p:spPr>
          <a:xfrm>
            <a:off x="2743200" y="3849624"/>
            <a:ext cx="1737360" cy="274320"/>
          </a:xfrm>
          <a:prstGeom prst="rect">
            <a:avLst/>
          </a:prstGeom>
          <a:noFill/>
          <a:effectLst/>
        </p:spPr>
        <p:txBody>
          <a:bodyPr wrap="square" lIns="9144" rIns="9144" tIns="0" bIns="0">
            <a:spAutoFit/>
          </a:bodyPr>
          <a:lstStyle/>
          <a:p>
            <a:pPr algn="l">
              <a:spcAft>
                <a:spcPts val="600"/>
              </a:spcAft>
              <a:defRPr sz="1600" b="0">
                <a:solidFill>
                  <a:srgbClr val="2563A6"/>
                </a:solidFill>
                <a:latin typeface="DejaVu Sans"/>
              </a:defRPr>
            </a:pPr>
            <a:r>
              <a:t>3 datasets</a:t>
            </a:r>
          </a:p>
        </p:txBody>
      </p:sp>
      <p:sp>
        <p:nvSpPr>
          <p:cNvPr id="25" name="TextBox 24"/>
          <p:cNvSpPr txBox="1"/>
          <p:nvPr/>
        </p:nvSpPr>
        <p:spPr>
          <a:xfrm>
            <a:off x="4572000" y="3849624"/>
            <a:ext cx="6720840" cy="274320"/>
          </a:xfrm>
          <a:prstGeom prst="rect">
            <a:avLst/>
          </a:prstGeom>
          <a:noFill/>
          <a:effectLst/>
        </p:spPr>
        <p:txBody>
          <a:bodyPr wrap="square" lIns="9144" rIns="9144" tIns="0" bIns="0">
            <a:spAutoFit/>
          </a:bodyPr>
          <a:lstStyle/>
          <a:p>
            <a:pPr algn="l">
              <a:spcAft>
                <a:spcPts val="600"/>
              </a:spcAft>
              <a:defRPr sz="1400" b="0">
                <a:solidFill>
                  <a:srgbClr val="263D54"/>
                </a:solidFill>
                <a:latin typeface="DejaVu Sans"/>
              </a:defRPr>
            </a:pPr>
            <a:r>
              <a:t>Twitter, Social Network, Meta KV</a:t>
            </a:r>
          </a:p>
        </p:txBody>
      </p:sp>
      <p:sp>
        <p:nvSpPr>
          <p:cNvPr id="26" name="Rectangle 25"/>
          <p:cNvSpPr/>
          <p:nvPr/>
        </p:nvSpPr>
        <p:spPr>
          <a:xfrm>
            <a:off x="594360" y="4297680"/>
            <a:ext cx="11000232" cy="484632"/>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389120"/>
            <a:ext cx="1828800" cy="274320"/>
          </a:xfrm>
          <a:prstGeom prst="rect">
            <a:avLst/>
          </a:prstGeom>
          <a:noFill/>
          <a:effectLst/>
        </p:spPr>
        <p:txBody>
          <a:bodyPr wrap="square" lIns="9144" rIns="9144" tIns="0" bIns="0">
            <a:spAutoFit/>
          </a:bodyPr>
          <a:lstStyle/>
          <a:p>
            <a:pPr algn="l">
              <a:spcAft>
                <a:spcPts val="600"/>
              </a:spcAft>
              <a:defRPr sz="1700" b="1">
                <a:solidFill>
                  <a:srgbClr val="142D4E"/>
                </a:solidFill>
                <a:latin typeface="DejaVu Sans"/>
              </a:defRPr>
            </a:pPr>
            <a:r>
              <a:t>Object / CDN</a:t>
            </a:r>
          </a:p>
        </p:txBody>
      </p:sp>
      <p:sp>
        <p:nvSpPr>
          <p:cNvPr id="28" name="TextBox 27"/>
          <p:cNvSpPr txBox="1"/>
          <p:nvPr/>
        </p:nvSpPr>
        <p:spPr>
          <a:xfrm>
            <a:off x="2743200" y="4389120"/>
            <a:ext cx="1737360" cy="274320"/>
          </a:xfrm>
          <a:prstGeom prst="rect">
            <a:avLst/>
          </a:prstGeom>
          <a:noFill/>
          <a:effectLst/>
        </p:spPr>
        <p:txBody>
          <a:bodyPr wrap="square" lIns="9144" rIns="9144" tIns="0" bIns="0">
            <a:spAutoFit/>
          </a:bodyPr>
          <a:lstStyle/>
          <a:p>
            <a:pPr algn="l">
              <a:spcAft>
                <a:spcPts val="600"/>
              </a:spcAft>
              <a:defRPr sz="1600" b="0">
                <a:solidFill>
                  <a:srgbClr val="2563A6"/>
                </a:solidFill>
                <a:latin typeface="DejaVu Sans"/>
              </a:defRPr>
            </a:pPr>
            <a:r>
              <a:t>5 datasets</a:t>
            </a:r>
          </a:p>
        </p:txBody>
      </p:sp>
      <p:sp>
        <p:nvSpPr>
          <p:cNvPr id="29" name="TextBox 28"/>
          <p:cNvSpPr txBox="1"/>
          <p:nvPr/>
        </p:nvSpPr>
        <p:spPr>
          <a:xfrm>
            <a:off x="4572000" y="4389120"/>
            <a:ext cx="6720840" cy="274320"/>
          </a:xfrm>
          <a:prstGeom prst="rect">
            <a:avLst/>
          </a:prstGeom>
          <a:noFill/>
          <a:effectLst/>
        </p:spPr>
        <p:txBody>
          <a:bodyPr wrap="square" lIns="9144" rIns="9144" tIns="0" bIns="0">
            <a:spAutoFit/>
          </a:bodyPr>
          <a:lstStyle/>
          <a:p>
            <a:pPr algn="l">
              <a:spcAft>
                <a:spcPts val="600"/>
              </a:spcAft>
              <a:defRPr sz="1400" b="0">
                <a:solidFill>
                  <a:srgbClr val="263D54"/>
                </a:solidFill>
                <a:latin typeface="DejaVu Sans"/>
              </a:defRPr>
            </a:pPr>
            <a:r>
              <a:t>CDN 1, CDN 2, Tencent Photo, Wikimedia, Meta CDN</a:t>
            </a:r>
          </a:p>
        </p:txBody>
      </p:sp>
      <p:sp>
        <p:nvSpPr>
          <p:cNvPr id="30" name="TextBox 29"/>
          <p:cNvSpPr txBox="1"/>
          <p:nvPr/>
        </p:nvSpPr>
        <p:spPr>
          <a:xfrm>
            <a:off x="603504" y="5120640"/>
            <a:ext cx="10789920" cy="347472"/>
          </a:xfrm>
          <a:prstGeom prst="rect">
            <a:avLst/>
          </a:prstGeom>
          <a:noFill/>
          <a:effectLst/>
        </p:spPr>
        <p:txBody>
          <a:bodyPr wrap="square" lIns="9144" rIns="9144" tIns="0" bIns="0">
            <a:spAutoFit/>
          </a:bodyPr>
          <a:lstStyle/>
          <a:p>
            <a:pPr algn="l">
              <a:spcAft>
                <a:spcPts val="600"/>
              </a:spcAft>
              <a:defRPr sz="1700" b="0">
                <a:solidFill>
                  <a:srgbClr val="142D4E"/>
                </a:solidFill>
                <a:latin typeface="DejaVu Sans"/>
              </a:defRPr>
            </a:pPr>
            <a:r>
              <a:t>Baselines: FIFO, LRU and other policies  ·  Metrics: Miss Ratio &amp; Throughput</a:t>
            </a:r>
          </a:p>
        </p:txBody>
      </p:sp>
      <p:sp>
        <p:nvSpPr>
          <p:cNvPr id="31" name="Rounded Rectangle 30"/>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Reported experiments by the paper’s authors; not reproduced by our group.</a:t>
            </a:r>
          </a:p>
        </p:txBody>
      </p:sp>
      <p:sp>
        <p:nvSpPr>
          <p:cNvPr id="33" name="TextBox 32"/>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Table 1 (category summary) and §5.1, Yang et al., SOSP 2023 (PDF p.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03 / EVALUATION &amp; CONCLUSION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Results: Cache Efficiency</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10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3  ·  50 SEC</a:t>
            </a:r>
          </a:p>
        </p:txBody>
      </p:sp>
      <p:sp>
        <p:nvSpPr>
          <p:cNvPr id="9" name="TextBox 8"/>
          <p:cNvSpPr txBox="1"/>
          <p:nvPr/>
        </p:nvSpPr>
        <p:spPr>
          <a:xfrm>
            <a:off x="594360" y="1655064"/>
            <a:ext cx="10881360" cy="347472"/>
          </a:xfrm>
          <a:prstGeom prst="rect">
            <a:avLst/>
          </a:prstGeom>
          <a:noFill/>
          <a:effectLst/>
        </p:spPr>
        <p:txBody>
          <a:bodyPr wrap="square" lIns="9144" rIns="9144" tIns="0" bIns="0">
            <a:spAutoFit/>
          </a:bodyPr>
          <a:lstStyle/>
          <a:p>
            <a:pPr algn="l">
              <a:spcAft>
                <a:spcPts val="600"/>
              </a:spcAft>
              <a:defRPr sz="1700" b="0">
                <a:solidFill>
                  <a:srgbClr val="263D54"/>
                </a:solidFill>
                <a:latin typeface="DejaVu Sans"/>
              </a:defRPr>
            </a:pPr>
            <a:r>
              <a:t>Miss Ratio: lower is better. Figure 6 shows reduction relative to FIFO: higher is better.</a:t>
            </a:r>
          </a:p>
        </p:txBody>
      </p:sp>
      <p:pic>
        <p:nvPicPr>
          <p:cNvPr id="10" name="Picture 9" descr="fig6.png"/>
          <p:cNvPicPr>
            <a:picLocks noChangeAspect="1"/>
          </p:cNvPicPr>
          <p:nvPr/>
        </p:nvPicPr>
        <p:blipFill>
          <a:blip r:embed="rId3"/>
          <a:stretch>
            <a:fillRect/>
          </a:stretch>
        </p:blipFill>
        <p:spPr>
          <a:xfrm>
            <a:off x="621792" y="2139696"/>
            <a:ext cx="10954512" cy="2498789"/>
          </a:xfrm>
          <a:prstGeom prst="rect">
            <a:avLst/>
          </a:prstGeom>
          <a:effectLst/>
        </p:spPr>
      </p:pic>
      <p:sp>
        <p:nvSpPr>
          <p:cNvPr id="11" name="TextBox 10"/>
          <p:cNvSpPr txBox="1"/>
          <p:nvPr/>
        </p:nvSpPr>
        <p:spPr>
          <a:xfrm>
            <a:off x="640080" y="4681728"/>
            <a:ext cx="10881360" cy="228600"/>
          </a:xfrm>
          <a:prstGeom prst="rect">
            <a:avLst/>
          </a:prstGeom>
          <a:noFill/>
          <a:effectLst/>
        </p:spPr>
        <p:txBody>
          <a:bodyPr wrap="square" lIns="9144" rIns="9144" tIns="0" bIns="0">
            <a:spAutoFit/>
          </a:bodyPr>
          <a:lstStyle/>
          <a:p>
            <a:pPr algn="l">
              <a:spcAft>
                <a:spcPts val="600"/>
              </a:spcAft>
              <a:defRPr sz="1100" b="0">
                <a:solidFill>
                  <a:srgbClr val="607286"/>
                </a:solidFill>
                <a:latin typeface="DejaVu Sans"/>
              </a:defRPr>
            </a:pPr>
            <a:r>
              <a:t>Original Figure 6 · All axes, algorithm labels and percentile legends retained.</a:t>
            </a:r>
          </a:p>
        </p:txBody>
      </p:sp>
      <p:sp>
        <p:nvSpPr>
          <p:cNvPr id="12" name="Rounded Rectangle 11"/>
          <p:cNvSpPr/>
          <p:nvPr/>
        </p:nvSpPr>
        <p:spPr>
          <a:xfrm>
            <a:off x="594360" y="5102352"/>
            <a:ext cx="2990088" cy="98755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5248656"/>
            <a:ext cx="2587752" cy="548640"/>
          </a:xfrm>
          <a:prstGeom prst="rect">
            <a:avLst/>
          </a:prstGeom>
          <a:noFill/>
          <a:effectLst/>
        </p:spPr>
        <p:txBody>
          <a:bodyPr wrap="square" lIns="9144" rIns="9144" tIns="0" bIns="0">
            <a:spAutoFit/>
          </a:bodyPr>
          <a:lstStyle/>
          <a:p>
            <a:pPr algn="l">
              <a:spcAft>
                <a:spcPts val="600"/>
              </a:spcAft>
              <a:defRPr sz="3100" b="1">
                <a:solidFill>
                  <a:srgbClr val="0D887F"/>
                </a:solidFill>
                <a:latin typeface="DejaVu Sans"/>
              </a:defRPr>
            </a:pPr>
            <a:r>
              <a:t>10 / 14</a:t>
            </a:r>
          </a:p>
        </p:txBody>
      </p:sp>
      <p:sp>
        <p:nvSpPr>
          <p:cNvPr id="14" name="TextBox 13"/>
          <p:cNvSpPr txBox="1"/>
          <p:nvPr/>
        </p:nvSpPr>
        <p:spPr>
          <a:xfrm>
            <a:off x="3803904" y="5120640"/>
            <a:ext cx="7754112" cy="402336"/>
          </a:xfrm>
          <a:prstGeom prst="rect">
            <a:avLst/>
          </a:prstGeom>
          <a:noFill/>
          <a:effectLst/>
        </p:spPr>
        <p:txBody>
          <a:bodyPr wrap="square" lIns="9144" rIns="9144" tIns="0" bIns="0">
            <a:spAutoFit/>
          </a:bodyPr>
          <a:lstStyle/>
          <a:p>
            <a:pPr algn="l">
              <a:spcAft>
                <a:spcPts val="600"/>
              </a:spcAft>
              <a:defRPr sz="2100" b="1">
                <a:solidFill>
                  <a:srgbClr val="142D4E"/>
                </a:solidFill>
                <a:latin typeface="DejaVu Sans"/>
              </a:defRPr>
            </a:pPr>
            <a:r>
              <a:t>Lowest mean miss ratio in 10 of 14 datasets</a:t>
            </a:r>
          </a:p>
        </p:txBody>
      </p:sp>
      <p:sp>
        <p:nvSpPr>
          <p:cNvPr id="15" name="TextBox 14"/>
          <p:cNvSpPr txBox="1"/>
          <p:nvPr/>
        </p:nvSpPr>
        <p:spPr>
          <a:xfrm>
            <a:off x="3803904" y="5632704"/>
            <a:ext cx="7754112" cy="365760"/>
          </a:xfrm>
          <a:prstGeom prst="rect">
            <a:avLst/>
          </a:prstGeom>
          <a:noFill/>
          <a:effectLst/>
        </p:spPr>
        <p:txBody>
          <a:bodyPr wrap="square" lIns="9144" rIns="9144" tIns="0" bIns="0">
            <a:spAutoFit/>
          </a:bodyPr>
          <a:lstStyle/>
          <a:p>
            <a:pPr algn="l">
              <a:spcAft>
                <a:spcPts val="600"/>
              </a:spcAft>
              <a:defRPr sz="1600" b="0">
                <a:solidFill>
                  <a:srgbClr val="607286"/>
                </a:solidFill>
                <a:latin typeface="DejaVu Sans"/>
              </a:defRPr>
            </a:pPr>
            <a:r>
              <a:t>Larger cache setting · Robust efficiency across many workloads</a:t>
            </a:r>
          </a:p>
        </p:txBody>
      </p:sp>
      <p:sp>
        <p:nvSpPr>
          <p:cNvPr id="16" name="TextBox 15"/>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Figure 6; §§5.1–5.2 (PDF pp. 8–9). Dataset-level 10/14 result: Figure 7 and §5.2. Authors’ results.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03 / EVALUATION &amp; CONCLUSION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Results: Throughput &amp; Scalability</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11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3  ·  50 SEC</a:t>
            </a:r>
          </a:p>
        </p:txBody>
      </p:sp>
      <p:sp>
        <p:nvSpPr>
          <p:cNvPr id="9" name="TextBox 8"/>
          <p:cNvSpPr txBox="1"/>
          <p:nvPr/>
        </p:nvSpPr>
        <p:spPr>
          <a:xfrm>
            <a:off x="594360" y="1728216"/>
            <a:ext cx="2852928" cy="338328"/>
          </a:xfrm>
          <a:prstGeom prst="rect">
            <a:avLst/>
          </a:prstGeom>
          <a:noFill/>
          <a:effectLst/>
        </p:spPr>
        <p:txBody>
          <a:bodyPr wrap="square" lIns="9144" rIns="9144" tIns="0" bIns="0">
            <a:spAutoFit/>
          </a:bodyPr>
          <a:lstStyle/>
          <a:p>
            <a:pPr algn="l">
              <a:spcAft>
                <a:spcPts val="600"/>
              </a:spcAft>
              <a:defRPr sz="1400" b="1">
                <a:solidFill>
                  <a:srgbClr val="0D887F"/>
                </a:solidFill>
                <a:latin typeface="DejaVu Sans"/>
              </a:defRPr>
            </a:pPr>
            <a:r>
              <a:t>THROUGHPUT</a:t>
            </a:r>
          </a:p>
        </p:txBody>
      </p:sp>
      <p:sp>
        <p:nvSpPr>
          <p:cNvPr id="10" name="TextBox 9"/>
          <p:cNvSpPr txBox="1"/>
          <p:nvPr/>
        </p:nvSpPr>
        <p:spPr>
          <a:xfrm>
            <a:off x="594360" y="2167128"/>
            <a:ext cx="2852928" cy="960120"/>
          </a:xfrm>
          <a:prstGeom prst="rect">
            <a:avLst/>
          </a:prstGeom>
          <a:noFill/>
          <a:effectLst/>
        </p:spPr>
        <p:txBody>
          <a:bodyPr wrap="square" lIns="9144" rIns="9144" tIns="0" bIns="0">
            <a:spAutoFit/>
          </a:bodyPr>
          <a:lstStyle/>
          <a:p>
            <a:pPr algn="l">
              <a:spcAft>
                <a:spcPts val="600"/>
              </a:spcAft>
              <a:defRPr sz="2100" b="1">
                <a:solidFill>
                  <a:srgbClr val="142D4E"/>
                </a:solidFill>
                <a:latin typeface="DejaVu Sans"/>
              </a:defRPr>
            </a:pPr>
            <a:r>
              <a:t>Requests handled</a:t>
            </a:r>
          </a:p>
          <a:p>
            <a:pPr algn="l">
              <a:spcAft>
                <a:spcPts val="600"/>
              </a:spcAft>
              <a:defRPr sz="2100" b="1">
                <a:solidFill>
                  <a:srgbClr val="142D4E"/>
                </a:solidFill>
                <a:latin typeface="DejaVu Sans"/>
              </a:defRPr>
            </a:pPr>
            <a:r>
              <a:t>per second</a:t>
            </a:r>
          </a:p>
        </p:txBody>
      </p:sp>
      <p:sp>
        <p:nvSpPr>
          <p:cNvPr id="11" name="TextBox 10"/>
          <p:cNvSpPr txBox="1"/>
          <p:nvPr/>
        </p:nvSpPr>
        <p:spPr>
          <a:xfrm>
            <a:off x="594360" y="3438144"/>
            <a:ext cx="2852928" cy="822960"/>
          </a:xfrm>
          <a:prstGeom prst="rect">
            <a:avLst/>
          </a:prstGeom>
          <a:noFill/>
          <a:effectLst/>
        </p:spPr>
        <p:txBody>
          <a:bodyPr wrap="square" lIns="9144" rIns="9144" tIns="0" bIns="0">
            <a:spAutoFit/>
          </a:bodyPr>
          <a:lstStyle/>
          <a:p>
            <a:pPr algn="l">
              <a:spcAft>
                <a:spcPts val="600"/>
              </a:spcAft>
              <a:defRPr sz="4800" b="1">
                <a:solidFill>
                  <a:srgbClr val="0D887F"/>
                </a:solidFill>
                <a:latin typeface="DejaVu Sans"/>
              </a:defRPr>
            </a:pPr>
            <a:r>
              <a:t>&gt;6×</a:t>
            </a:r>
          </a:p>
        </p:txBody>
      </p:sp>
      <p:sp>
        <p:nvSpPr>
          <p:cNvPr id="12" name="TextBox 11"/>
          <p:cNvSpPr txBox="1"/>
          <p:nvPr/>
        </p:nvSpPr>
        <p:spPr>
          <a:xfrm>
            <a:off x="594360" y="4389120"/>
            <a:ext cx="2871216" cy="950976"/>
          </a:xfrm>
          <a:prstGeom prst="rect">
            <a:avLst/>
          </a:prstGeom>
          <a:noFill/>
          <a:effectLst/>
        </p:spPr>
        <p:txBody>
          <a:bodyPr wrap="square" lIns="9144" rIns="9144" tIns="0" bIns="0">
            <a:spAutoFit/>
          </a:bodyPr>
          <a:lstStyle/>
          <a:p>
            <a:pPr algn="l">
              <a:spcAft>
                <a:spcPts val="600"/>
              </a:spcAft>
              <a:defRPr sz="2000" b="0">
                <a:solidFill>
                  <a:srgbClr val="263D54"/>
                </a:solidFill>
                <a:latin typeface="DejaVu Sans"/>
              </a:defRPr>
            </a:pPr>
            <a:r>
              <a:t>vs optimized LRU</a:t>
            </a:r>
          </a:p>
          <a:p>
            <a:pPr algn="l">
              <a:spcAft>
                <a:spcPts val="600"/>
              </a:spcAft>
              <a:defRPr sz="2000" b="0">
                <a:solidFill>
                  <a:srgbClr val="263D54"/>
                </a:solidFill>
                <a:latin typeface="DejaVu Sans"/>
              </a:defRPr>
            </a:pPr>
            <a:r>
              <a:t>at 16 threads</a:t>
            </a:r>
          </a:p>
        </p:txBody>
      </p:sp>
      <p:sp>
        <p:nvSpPr>
          <p:cNvPr id="13" name="Rounded Rectangle 12"/>
          <p:cNvSpPr/>
          <p:nvPr/>
        </p:nvSpPr>
        <p:spPr>
          <a:xfrm>
            <a:off x="3657600" y="1728216"/>
            <a:ext cx="7936992" cy="363931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8.png"/>
          <p:cNvPicPr>
            <a:picLocks noChangeAspect="1"/>
          </p:cNvPicPr>
          <p:nvPr/>
        </p:nvPicPr>
        <p:blipFill>
          <a:blip r:embed="rId3"/>
          <a:stretch>
            <a:fillRect/>
          </a:stretch>
        </p:blipFill>
        <p:spPr>
          <a:xfrm>
            <a:off x="3840480" y="1911095"/>
            <a:ext cx="7543800" cy="3233057"/>
          </a:xfrm>
          <a:prstGeom prst="rect">
            <a:avLst/>
          </a:prstGeom>
          <a:effectLst/>
        </p:spPr>
      </p:pic>
      <p:sp>
        <p:nvSpPr>
          <p:cNvPr id="15" name="TextBox 14"/>
          <p:cNvSpPr txBox="1"/>
          <p:nvPr/>
        </p:nvSpPr>
        <p:spPr>
          <a:xfrm>
            <a:off x="3867912" y="5212080"/>
            <a:ext cx="7360920" cy="201168"/>
          </a:xfrm>
          <a:prstGeom prst="rect">
            <a:avLst/>
          </a:prstGeom>
          <a:noFill/>
          <a:effectLst/>
        </p:spPr>
        <p:txBody>
          <a:bodyPr wrap="square" lIns="9144" rIns="9144" tIns="0" bIns="0">
            <a:spAutoFit/>
          </a:bodyPr>
          <a:lstStyle/>
          <a:p>
            <a:pPr algn="l">
              <a:spcAft>
                <a:spcPts val="600"/>
              </a:spcAft>
              <a:defRPr sz="1100" b="0">
                <a:solidFill>
                  <a:srgbClr val="607286"/>
                </a:solidFill>
                <a:latin typeface="DejaVu Sans"/>
              </a:defRPr>
            </a:pPr>
            <a:r>
              <a:t>Original Figure 8 · Synthetic Zipf workload (α = 1.0)</a:t>
            </a:r>
          </a:p>
        </p:txBody>
      </p:sp>
      <p:sp>
        <p:nvSpPr>
          <p:cNvPr id="16" name="Rounded Rectangle 15"/>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Fewer queue updates on cache hits support higher throughput and scalability.</a:t>
            </a:r>
          </a:p>
        </p:txBody>
      </p:sp>
      <p:sp>
        <p:nvSpPr>
          <p:cNvPr id="18" name="TextBox 17"/>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original Figure 8 and §5.3, Yang et al., SOSP 2023 (PDF p. 10). Authors’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03 / EVALUATION &amp; CONCLUSION</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Limitations &amp; Conclusion</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12 / 13</a:t>
            </a:r>
          </a:p>
        </p:txBody>
      </p:sp>
      <p:sp>
        <p:nvSpPr>
          <p:cNvPr id="8" name="TextBox 7"/>
          <p:cNvSpPr txBox="1"/>
          <p:nvPr/>
        </p:nvSpPr>
        <p:spPr>
          <a:xfrm>
            <a:off x="8503920" y="246888"/>
            <a:ext cx="3154680" cy="228600"/>
          </a:xfrm>
          <a:prstGeom prst="rect">
            <a:avLst/>
          </a:prstGeom>
          <a:noFill/>
          <a:effectLst/>
        </p:spPr>
        <p:txBody>
          <a:bodyPr wrap="square" lIns="9144" rIns="9144" tIns="0" bIns="0">
            <a:spAutoFit/>
          </a:bodyPr>
          <a:lstStyle/>
          <a:p>
            <a:pPr algn="r">
              <a:spcAft>
                <a:spcPts val="600"/>
              </a:spcAft>
              <a:defRPr sz="1000" b="0">
                <a:solidFill>
                  <a:srgbClr val="607286"/>
                </a:solidFill>
                <a:latin typeface="DejaVu Sans"/>
              </a:defRPr>
            </a:pPr>
            <a:r>
              <a:t>MEMBER 3  ·  40 SEC</a:t>
            </a:r>
          </a:p>
        </p:txBody>
      </p:sp>
      <p:sp>
        <p:nvSpPr>
          <p:cNvPr id="9" name="Rounded Rectangle 8"/>
          <p:cNvSpPr/>
          <p:nvPr/>
        </p:nvSpPr>
        <p:spPr>
          <a:xfrm>
            <a:off x="594360" y="1792224"/>
            <a:ext cx="11000232" cy="1133856"/>
          </a:xfrm>
          <a:prstGeom prst="roundRect">
            <a:avLst>
              <a:gd name="adj" fmla="val 12000"/>
            </a:avLst>
          </a:prstGeom>
          <a:solidFill>
            <a:srgbClr val="FF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38528"/>
            <a:ext cx="10561320" cy="301752"/>
          </a:xfrm>
          <a:prstGeom prst="rect">
            <a:avLst/>
          </a:prstGeom>
          <a:noFill/>
          <a:effectLst/>
        </p:spPr>
        <p:txBody>
          <a:bodyPr wrap="square" lIns="9144" rIns="9144" tIns="0" bIns="0">
            <a:spAutoFit/>
          </a:bodyPr>
          <a:lstStyle/>
          <a:p>
            <a:pPr algn="l">
              <a:spcAft>
                <a:spcPts val="600"/>
              </a:spcAft>
              <a:defRPr sz="1600" b="1">
                <a:solidFill>
                  <a:srgbClr val="D9842B"/>
                </a:solidFill>
                <a:latin typeface="DejaVu Sans"/>
              </a:defRPr>
            </a:pPr>
            <a:r>
              <a:t>LIMITATION: ACCESS PATTERNS STILL MATTER</a:t>
            </a:r>
          </a:p>
        </p:txBody>
      </p:sp>
      <p:sp>
        <p:nvSpPr>
          <p:cNvPr id="11" name="TextBox 10"/>
          <p:cNvSpPr txBox="1"/>
          <p:nvPr/>
        </p:nvSpPr>
        <p:spPr>
          <a:xfrm>
            <a:off x="822960" y="2423160"/>
            <a:ext cx="10561320" cy="347472"/>
          </a:xfrm>
          <a:prstGeom prst="rect">
            <a:avLst/>
          </a:prstGeom>
          <a:noFill/>
          <a:effectLst/>
        </p:spPr>
        <p:txBody>
          <a:bodyPr wrap="square" lIns="9144" rIns="9144" tIns="0" bIns="0">
            <a:spAutoFit/>
          </a:bodyPr>
          <a:lstStyle/>
          <a:p>
            <a:pPr algn="l">
              <a:spcAft>
                <a:spcPts val="600"/>
              </a:spcAft>
              <a:defRPr sz="2000" b="0">
                <a:solidFill>
                  <a:srgbClr val="263D54"/>
                </a:solidFill>
                <a:latin typeface="DejaVu Sans"/>
              </a:defRPr>
            </a:pPr>
            <a:r>
              <a:t>An object may leave S before its second request → an extra cache miss.</a:t>
            </a:r>
          </a:p>
        </p:txBody>
      </p:sp>
      <p:sp>
        <p:nvSpPr>
          <p:cNvPr id="12" name="Rounded Rectangle 11"/>
          <p:cNvSpPr/>
          <p:nvPr/>
        </p:nvSpPr>
        <p:spPr>
          <a:xfrm>
            <a:off x="594360" y="3328416"/>
            <a:ext cx="3474720" cy="17190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493008"/>
            <a:ext cx="548640" cy="548640"/>
          </a:xfrm>
          <a:prstGeom prst="rect">
            <a:avLst/>
          </a:prstGeom>
          <a:noFill/>
          <a:effectLst/>
        </p:spPr>
        <p:txBody>
          <a:bodyPr wrap="square" lIns="9144" rIns="9144" tIns="0" bIns="0">
            <a:spAutoFit/>
          </a:bodyPr>
          <a:lstStyle/>
          <a:p>
            <a:pPr algn="l">
              <a:spcAft>
                <a:spcPts val="600"/>
              </a:spcAft>
              <a:defRPr sz="3100" b="1">
                <a:solidFill>
                  <a:srgbClr val="D9842B"/>
                </a:solidFill>
                <a:latin typeface="DejaVu Sans"/>
              </a:defRPr>
            </a:pPr>
            <a:r>
              <a:t>S</a:t>
            </a:r>
          </a:p>
        </p:txBody>
      </p:sp>
      <p:sp>
        <p:nvSpPr>
          <p:cNvPr id="14" name="TextBox 13"/>
          <p:cNvSpPr txBox="1"/>
          <p:nvPr/>
        </p:nvSpPr>
        <p:spPr>
          <a:xfrm>
            <a:off x="1453895" y="3602736"/>
            <a:ext cx="2377440" cy="384048"/>
          </a:xfrm>
          <a:prstGeom prst="rect">
            <a:avLst/>
          </a:prstGeom>
          <a:noFill/>
          <a:effectLst/>
        </p:spPr>
        <p:txBody>
          <a:bodyPr wrap="square" lIns="9144" rIns="9144" tIns="0" bIns="0">
            <a:spAutoFit/>
          </a:bodyPr>
          <a:lstStyle/>
          <a:p>
            <a:pPr algn="l">
              <a:spcAft>
                <a:spcPts val="600"/>
              </a:spcAft>
              <a:defRPr sz="2300" b="1">
                <a:solidFill>
                  <a:srgbClr val="142D4E"/>
                </a:solidFill>
                <a:latin typeface="DejaVu Sans"/>
              </a:defRPr>
            </a:pPr>
            <a:r>
              <a:t>Filter</a:t>
            </a:r>
          </a:p>
        </p:txBody>
      </p:sp>
      <p:sp>
        <p:nvSpPr>
          <p:cNvPr id="15" name="TextBox 14"/>
          <p:cNvSpPr txBox="1"/>
          <p:nvPr/>
        </p:nvSpPr>
        <p:spPr>
          <a:xfrm>
            <a:off x="777240" y="4379976"/>
            <a:ext cx="3108960" cy="3200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Quick demotion</a:t>
            </a:r>
          </a:p>
        </p:txBody>
      </p:sp>
      <p:sp>
        <p:nvSpPr>
          <p:cNvPr id="16" name="Rounded Rectangle 15"/>
          <p:cNvSpPr/>
          <p:nvPr/>
        </p:nvSpPr>
        <p:spPr>
          <a:xfrm>
            <a:off x="4352544" y="3328416"/>
            <a:ext cx="3474720" cy="17190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3493008"/>
            <a:ext cx="548640" cy="548640"/>
          </a:xfrm>
          <a:prstGeom prst="rect">
            <a:avLst/>
          </a:prstGeom>
          <a:noFill/>
          <a:effectLst/>
        </p:spPr>
        <p:txBody>
          <a:bodyPr wrap="square" lIns="9144" rIns="9144" tIns="0" bIns="0">
            <a:spAutoFit/>
          </a:bodyPr>
          <a:lstStyle/>
          <a:p>
            <a:pPr algn="l">
              <a:spcAft>
                <a:spcPts val="600"/>
              </a:spcAft>
              <a:defRPr sz="3100" b="1">
                <a:solidFill>
                  <a:srgbClr val="2563A6"/>
                </a:solidFill>
                <a:latin typeface="DejaVu Sans"/>
              </a:defRPr>
            </a:pPr>
            <a:r>
              <a:t>M</a:t>
            </a:r>
          </a:p>
        </p:txBody>
      </p:sp>
      <p:sp>
        <p:nvSpPr>
          <p:cNvPr id="18" name="TextBox 17"/>
          <p:cNvSpPr txBox="1"/>
          <p:nvPr/>
        </p:nvSpPr>
        <p:spPr>
          <a:xfrm>
            <a:off x="5212079" y="3602736"/>
            <a:ext cx="2377440" cy="384048"/>
          </a:xfrm>
          <a:prstGeom prst="rect">
            <a:avLst/>
          </a:prstGeom>
          <a:noFill/>
          <a:effectLst/>
        </p:spPr>
        <p:txBody>
          <a:bodyPr wrap="square" lIns="9144" rIns="9144" tIns="0" bIns="0">
            <a:spAutoFit/>
          </a:bodyPr>
          <a:lstStyle/>
          <a:p>
            <a:pPr algn="l">
              <a:spcAft>
                <a:spcPts val="600"/>
              </a:spcAft>
              <a:defRPr sz="2300" b="1">
                <a:solidFill>
                  <a:srgbClr val="142D4E"/>
                </a:solidFill>
                <a:latin typeface="DejaVu Sans"/>
              </a:defRPr>
            </a:pPr>
            <a:r>
              <a:t>Protect</a:t>
            </a:r>
          </a:p>
        </p:txBody>
      </p:sp>
      <p:sp>
        <p:nvSpPr>
          <p:cNvPr id="19" name="TextBox 18"/>
          <p:cNvSpPr txBox="1"/>
          <p:nvPr/>
        </p:nvSpPr>
        <p:spPr>
          <a:xfrm>
            <a:off x="4535424" y="4379976"/>
            <a:ext cx="3108960" cy="3200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Retain useful data</a:t>
            </a:r>
          </a:p>
        </p:txBody>
      </p:sp>
      <p:sp>
        <p:nvSpPr>
          <p:cNvPr id="20" name="Rounded Rectangle 19"/>
          <p:cNvSpPr/>
          <p:nvPr/>
        </p:nvSpPr>
        <p:spPr>
          <a:xfrm>
            <a:off x="8110727" y="3328416"/>
            <a:ext cx="3474720" cy="1719072"/>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7" y="3493008"/>
            <a:ext cx="548640" cy="548640"/>
          </a:xfrm>
          <a:prstGeom prst="rect">
            <a:avLst/>
          </a:prstGeom>
          <a:noFill/>
          <a:effectLst/>
        </p:spPr>
        <p:txBody>
          <a:bodyPr wrap="square" lIns="9144" rIns="9144" tIns="0" bIns="0">
            <a:spAutoFit/>
          </a:bodyPr>
          <a:lstStyle/>
          <a:p>
            <a:pPr algn="l">
              <a:spcAft>
                <a:spcPts val="600"/>
              </a:spcAft>
              <a:defRPr sz="3100" b="1">
                <a:solidFill>
                  <a:srgbClr val="697685"/>
                </a:solidFill>
                <a:latin typeface="DejaVu Sans"/>
              </a:defRPr>
            </a:pPr>
            <a:r>
              <a:t>G</a:t>
            </a:r>
          </a:p>
        </p:txBody>
      </p:sp>
      <p:sp>
        <p:nvSpPr>
          <p:cNvPr id="22" name="TextBox 21"/>
          <p:cNvSpPr txBox="1"/>
          <p:nvPr/>
        </p:nvSpPr>
        <p:spPr>
          <a:xfrm>
            <a:off x="8970263" y="3602736"/>
            <a:ext cx="2377440" cy="384048"/>
          </a:xfrm>
          <a:prstGeom prst="rect">
            <a:avLst/>
          </a:prstGeom>
          <a:noFill/>
          <a:effectLst/>
        </p:spPr>
        <p:txBody>
          <a:bodyPr wrap="square" lIns="9144" rIns="9144" tIns="0" bIns="0">
            <a:spAutoFit/>
          </a:bodyPr>
          <a:lstStyle/>
          <a:p>
            <a:pPr algn="l">
              <a:spcAft>
                <a:spcPts val="600"/>
              </a:spcAft>
              <a:defRPr sz="2300" b="1">
                <a:solidFill>
                  <a:srgbClr val="142D4E"/>
                </a:solidFill>
                <a:latin typeface="DejaVu Sans"/>
              </a:defRPr>
            </a:pPr>
            <a:r>
              <a:t>Remember</a:t>
            </a:r>
          </a:p>
        </p:txBody>
      </p:sp>
      <p:sp>
        <p:nvSpPr>
          <p:cNvPr id="23" name="TextBox 22"/>
          <p:cNvSpPr txBox="1"/>
          <p:nvPr/>
        </p:nvSpPr>
        <p:spPr>
          <a:xfrm>
            <a:off x="8293607" y="4379976"/>
            <a:ext cx="3108960" cy="320040"/>
          </a:xfrm>
          <a:prstGeom prst="rect">
            <a:avLst/>
          </a:prstGeom>
          <a:noFill/>
          <a:effectLst/>
        </p:spPr>
        <p:txBody>
          <a:bodyPr wrap="square" lIns="9144" rIns="9144" tIns="0" bIns="0">
            <a:spAutoFit/>
          </a:bodyPr>
          <a:lstStyle/>
          <a:p>
            <a:pPr algn="l">
              <a:spcAft>
                <a:spcPts val="600"/>
              </a:spcAft>
              <a:defRPr sz="1900" b="0">
                <a:solidFill>
                  <a:srgbClr val="607286"/>
                </a:solidFill>
                <a:latin typeface="DejaVu Sans"/>
              </a:defRPr>
            </a:pPr>
            <a:r>
              <a:t>IDs without payload</a:t>
            </a:r>
          </a:p>
        </p:txBody>
      </p:sp>
      <p:sp>
        <p:nvSpPr>
          <p:cNvPr id="24" name="Rounded Rectangle 23"/>
          <p:cNvSpPr/>
          <p:nvPr/>
        </p:nvSpPr>
        <p:spPr>
          <a:xfrm>
            <a:off x="530352" y="5596128"/>
            <a:ext cx="11128248" cy="484632"/>
          </a:xfrm>
          <a:prstGeom prst="roundRect">
            <a:avLst>
              <a:gd name="adj" fmla="val 12000"/>
            </a:avLst>
          </a:prstGeom>
          <a:solidFill>
            <a:srgbClr val="EA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696712"/>
            <a:ext cx="10789920" cy="320040"/>
          </a:xfrm>
          <a:prstGeom prst="rect">
            <a:avLst/>
          </a:prstGeom>
          <a:noFill/>
          <a:effectLst/>
        </p:spPr>
        <p:txBody>
          <a:bodyPr wrap="square" lIns="9144" rIns="9144" tIns="0" bIns="0">
            <a:spAutoFit/>
          </a:bodyPr>
          <a:lstStyle/>
          <a:p>
            <a:pPr algn="l">
              <a:spcAft>
                <a:spcPts val="600"/>
              </a:spcAft>
              <a:defRPr sz="1700" b="1">
                <a:solidFill>
                  <a:srgbClr val="0D887F"/>
                </a:solidFill>
                <a:latin typeface="DejaVu Sans"/>
              </a:defRPr>
            </a:pPr>
            <a:r>
              <a:t>Three simple FIFO queues → low miss ratios + better scalability.</a:t>
            </a:r>
          </a:p>
        </p:txBody>
      </p:sp>
      <p:sp>
        <p:nvSpPr>
          <p:cNvPr id="26" name="TextBox 25"/>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Source: §§5.2 and 8, Yang et al., SOSP 2023 (PDF pp. 9,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D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8229600" cy="228600"/>
          </a:xfrm>
          <a:prstGeom prst="rect">
            <a:avLst/>
          </a:prstGeom>
          <a:noFill/>
          <a:effectLst/>
        </p:spPr>
        <p:txBody>
          <a:bodyPr wrap="square" lIns="9144" rIns="9144" tIns="0" bIns="0">
            <a:spAutoFit/>
          </a:bodyPr>
          <a:lstStyle/>
          <a:p>
            <a:pPr algn="l">
              <a:spcAft>
                <a:spcPts val="600"/>
              </a:spcAft>
              <a:defRPr sz="1100" b="1">
                <a:solidFill>
                  <a:srgbClr val="0D887F"/>
                </a:solidFill>
                <a:latin typeface="DejaVu Sans"/>
              </a:defRPr>
            </a:pPr>
            <a:r>
              <a:t>REFERENCES</a:t>
            </a:r>
          </a:p>
        </p:txBody>
      </p:sp>
      <p:sp>
        <p:nvSpPr>
          <p:cNvPr id="4" name="TextBox 3"/>
          <p:cNvSpPr txBox="1"/>
          <p:nvPr/>
        </p:nvSpPr>
        <p:spPr>
          <a:xfrm>
            <a:off x="530352" y="749808"/>
            <a:ext cx="11064240" cy="731520"/>
          </a:xfrm>
          <a:prstGeom prst="rect">
            <a:avLst/>
          </a:prstGeom>
          <a:noFill/>
          <a:effectLst/>
        </p:spPr>
        <p:txBody>
          <a:bodyPr wrap="square" lIns="9144" rIns="9144" tIns="0" bIns="0">
            <a:spAutoFit/>
          </a:bodyPr>
          <a:lstStyle/>
          <a:p>
            <a:pPr algn="l">
              <a:spcAft>
                <a:spcPts val="600"/>
              </a:spcAft>
              <a:defRPr sz="3000" b="1">
                <a:solidFill>
                  <a:srgbClr val="142D4E"/>
                </a:solidFill>
                <a:latin typeface="DejaVu Sans"/>
              </a:defRPr>
            </a:pPr>
            <a:r>
              <a:t>References</a:t>
            </a:r>
          </a:p>
        </p:txBody>
      </p:sp>
      <p:sp>
        <p:nvSpPr>
          <p:cNvPr id="5" name="Rectangle 4"/>
          <p:cNvSpPr/>
          <p:nvPr/>
        </p:nvSpPr>
        <p:spPr>
          <a:xfrm>
            <a:off x="530352" y="1435608"/>
            <a:ext cx="11128248" cy="109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11112"/>
            <a:ext cx="8229600" cy="164592"/>
          </a:xfrm>
          <a:prstGeom prst="rect">
            <a:avLst/>
          </a:prstGeom>
          <a:noFill/>
          <a:effectLst/>
        </p:spPr>
        <p:txBody>
          <a:bodyPr wrap="square" lIns="9144" rIns="9144" tIns="0" bIns="0">
            <a:spAutoFit/>
          </a:bodyPr>
          <a:lstStyle/>
          <a:p>
            <a:pPr algn="l">
              <a:spcAft>
                <a:spcPts val="600"/>
              </a:spcAft>
              <a:defRPr sz="900" b="0">
                <a:solidFill>
                  <a:srgbClr val="607286"/>
                </a:solidFill>
                <a:latin typeface="DejaVu Sans"/>
              </a:defRPr>
            </a:pPr>
            <a:r>
              <a:t>OPERATING SYSTEMS  /  S3-FIFO  /  SOSP 2023</a:t>
            </a:r>
          </a:p>
        </p:txBody>
      </p:sp>
      <p:sp>
        <p:nvSpPr>
          <p:cNvPr id="7" name="TextBox 6"/>
          <p:cNvSpPr txBox="1"/>
          <p:nvPr/>
        </p:nvSpPr>
        <p:spPr>
          <a:xfrm>
            <a:off x="9418320" y="6611112"/>
            <a:ext cx="2240280" cy="164592"/>
          </a:xfrm>
          <a:prstGeom prst="rect">
            <a:avLst/>
          </a:prstGeom>
          <a:noFill/>
          <a:effectLst/>
        </p:spPr>
        <p:txBody>
          <a:bodyPr wrap="square" lIns="9144" rIns="9144" tIns="0" bIns="0">
            <a:spAutoFit/>
          </a:bodyPr>
          <a:lstStyle/>
          <a:p>
            <a:pPr algn="r">
              <a:spcAft>
                <a:spcPts val="600"/>
              </a:spcAft>
              <a:defRPr sz="900" b="0">
                <a:solidFill>
                  <a:srgbClr val="607286"/>
                </a:solidFill>
                <a:latin typeface="DejaVu Sans"/>
              </a:defRPr>
            </a:pPr>
            <a:r>
              <a:t>13 / 13</a:t>
            </a:r>
          </a:p>
        </p:txBody>
      </p:sp>
      <p:sp>
        <p:nvSpPr>
          <p:cNvPr id="8" name="TextBox 7"/>
          <p:cNvSpPr txBox="1"/>
          <p:nvPr/>
        </p:nvSpPr>
        <p:spPr>
          <a:xfrm>
            <a:off x="640080" y="1856231"/>
            <a:ext cx="10835640" cy="310896"/>
          </a:xfrm>
          <a:prstGeom prst="rect">
            <a:avLst/>
          </a:prstGeom>
          <a:noFill/>
          <a:effectLst/>
        </p:spPr>
        <p:txBody>
          <a:bodyPr wrap="square" lIns="9144" rIns="9144" tIns="0" bIns="0">
            <a:spAutoFit/>
          </a:bodyPr>
          <a:lstStyle/>
          <a:p>
            <a:pPr algn="l">
              <a:spcAft>
                <a:spcPts val="600"/>
              </a:spcAft>
              <a:defRPr sz="1400" b="1">
                <a:solidFill>
                  <a:srgbClr val="0D887F"/>
                </a:solidFill>
                <a:latin typeface="DejaVu Sans"/>
              </a:defRPr>
            </a:pPr>
            <a:r>
              <a:t>PRIMARY PAPER</a:t>
            </a:r>
          </a:p>
        </p:txBody>
      </p:sp>
      <p:sp>
        <p:nvSpPr>
          <p:cNvPr id="9" name="TextBox 8"/>
          <p:cNvSpPr txBox="1"/>
          <p:nvPr/>
        </p:nvSpPr>
        <p:spPr>
          <a:xfrm>
            <a:off x="640080" y="2395728"/>
            <a:ext cx="10835640" cy="1005840"/>
          </a:xfrm>
          <a:prstGeom prst="rect">
            <a:avLst/>
          </a:prstGeom>
          <a:noFill/>
          <a:effectLst/>
        </p:spPr>
        <p:txBody>
          <a:bodyPr wrap="square" lIns="9144" rIns="9144" tIns="0" bIns="0">
            <a:spAutoFit/>
          </a:bodyPr>
          <a:lstStyle/>
          <a:p>
            <a:pPr algn="l">
              <a:spcAft>
                <a:spcPts val="600"/>
              </a:spcAft>
              <a:defRPr sz="2200" b="0">
                <a:solidFill>
                  <a:srgbClr val="142D4E"/>
                </a:solidFill>
                <a:latin typeface="DejaVu Sans"/>
              </a:defRPr>
            </a:pPr>
            <a:r>
              <a:t>Yang, J., Zhang, Y., Qiu, Z., Yue, Y., &amp; Rashmi, K. V. (2023).</a:t>
            </a:r>
          </a:p>
          <a:p>
            <a:pPr algn="l">
              <a:spcAft>
                <a:spcPts val="600"/>
              </a:spcAft>
              <a:defRPr sz="2200" b="0">
                <a:solidFill>
                  <a:srgbClr val="142D4E"/>
                </a:solidFill>
                <a:latin typeface="DejaVu Sans"/>
              </a:defRPr>
            </a:pPr>
            <a:r>
              <a:t>FIFO Queues Are All You Need for Cache Eviction. SOSP ’23.</a:t>
            </a:r>
          </a:p>
        </p:txBody>
      </p:sp>
      <p:sp>
        <p:nvSpPr>
          <p:cNvPr id="10" name="TextBox 9"/>
          <p:cNvSpPr txBox="1"/>
          <p:nvPr/>
        </p:nvSpPr>
        <p:spPr>
          <a:xfrm>
            <a:off x="640080" y="3675887"/>
            <a:ext cx="10835640" cy="329184"/>
          </a:xfrm>
          <a:prstGeom prst="rect">
            <a:avLst/>
          </a:prstGeom>
          <a:noFill/>
          <a:effectLst/>
        </p:spPr>
        <p:txBody>
          <a:bodyPr wrap="square" lIns="9144" rIns="9144" tIns="0" bIns="0">
            <a:spAutoFit/>
          </a:bodyPr>
          <a:lstStyle/>
          <a:p>
            <a:pPr algn="l">
              <a:spcAft>
                <a:spcPts val="600"/>
              </a:spcAft>
              <a:defRPr sz="1400" b="1">
                <a:solidFill>
                  <a:srgbClr val="0D887F"/>
                </a:solidFill>
                <a:latin typeface="DejaVu Sans"/>
              </a:defRPr>
            </a:pPr>
            <a:r>
              <a:t>DOI</a:t>
            </a:r>
          </a:p>
        </p:txBody>
      </p:sp>
      <p:sp>
        <p:nvSpPr>
          <p:cNvPr id="11" name="TextBox 10"/>
          <p:cNvSpPr txBox="1"/>
          <p:nvPr/>
        </p:nvSpPr>
        <p:spPr>
          <a:xfrm>
            <a:off x="640080" y="4096512"/>
            <a:ext cx="10835640" cy="365760"/>
          </a:xfrm>
          <a:prstGeom prst="rect">
            <a:avLst/>
          </a:prstGeom>
          <a:noFill/>
          <a:effectLst/>
        </p:spPr>
        <p:txBody>
          <a:bodyPr wrap="square" lIns="9144" rIns="9144" tIns="0" bIns="0">
            <a:spAutoFit/>
          </a:bodyPr>
          <a:lstStyle/>
          <a:p>
            <a:pPr algn="l">
              <a:spcAft>
                <a:spcPts val="600"/>
              </a:spcAft>
              <a:defRPr sz="2000" b="0">
                <a:solidFill>
                  <a:srgbClr val="2563A6"/>
                </a:solidFill>
                <a:latin typeface="DejaVu Sans"/>
              </a:defRPr>
            </a:pPr>
            <a:r>
              <a:rPr>
                <a:hlinkClick r:id="rId2"/>
              </a:rPr>
              <a:t>https://doi.org/10.1145/3600006.3613147</a:t>
            </a:r>
          </a:p>
        </p:txBody>
      </p:sp>
      <p:sp>
        <p:nvSpPr>
          <p:cNvPr id="12" name="TextBox 11"/>
          <p:cNvSpPr txBox="1"/>
          <p:nvPr/>
        </p:nvSpPr>
        <p:spPr>
          <a:xfrm>
            <a:off x="640080" y="4782312"/>
            <a:ext cx="10835640" cy="274320"/>
          </a:xfrm>
          <a:prstGeom prst="rect">
            <a:avLst/>
          </a:prstGeom>
          <a:noFill/>
          <a:effectLst/>
        </p:spPr>
        <p:txBody>
          <a:bodyPr wrap="square" lIns="9144" rIns="9144" tIns="0" bIns="0">
            <a:spAutoFit/>
          </a:bodyPr>
          <a:lstStyle/>
          <a:p>
            <a:pPr algn="l">
              <a:spcAft>
                <a:spcPts val="600"/>
              </a:spcAft>
              <a:defRPr sz="1400" b="1">
                <a:solidFill>
                  <a:srgbClr val="0D887F"/>
                </a:solidFill>
                <a:latin typeface="DejaVu Sans"/>
              </a:defRPr>
            </a:pPr>
            <a:r>
              <a:t>OFFICIAL CODE &amp; DATA</a:t>
            </a:r>
          </a:p>
        </p:txBody>
      </p:sp>
      <p:sp>
        <p:nvSpPr>
          <p:cNvPr id="13" name="TextBox 12"/>
          <p:cNvSpPr txBox="1"/>
          <p:nvPr/>
        </p:nvSpPr>
        <p:spPr>
          <a:xfrm>
            <a:off x="640080" y="5230368"/>
            <a:ext cx="10835640" cy="365760"/>
          </a:xfrm>
          <a:prstGeom prst="rect">
            <a:avLst/>
          </a:prstGeom>
          <a:noFill/>
          <a:effectLst/>
        </p:spPr>
        <p:txBody>
          <a:bodyPr wrap="square" lIns="9144" rIns="9144" tIns="0" bIns="0">
            <a:spAutoFit/>
          </a:bodyPr>
          <a:lstStyle/>
          <a:p>
            <a:pPr algn="l">
              <a:spcAft>
                <a:spcPts val="600"/>
              </a:spcAft>
              <a:defRPr sz="2000" b="0">
                <a:solidFill>
                  <a:srgbClr val="2563A6"/>
                </a:solidFill>
                <a:latin typeface="DejaVu Sans"/>
              </a:defRPr>
            </a:pPr>
            <a:r>
              <a:rPr>
                <a:hlinkClick r:id="rId3"/>
              </a:rPr>
              <a:t>https://github.com/TheSys-lab/sosp23-s3fifo</a:t>
            </a:r>
          </a:p>
        </p:txBody>
      </p:sp>
      <p:sp>
        <p:nvSpPr>
          <p:cNvPr id="14" name="TextBox 13"/>
          <p:cNvSpPr txBox="1"/>
          <p:nvPr/>
        </p:nvSpPr>
        <p:spPr>
          <a:xfrm>
            <a:off x="530352" y="6318504"/>
            <a:ext cx="10972800" cy="182880"/>
          </a:xfrm>
          <a:prstGeom prst="rect">
            <a:avLst/>
          </a:prstGeom>
          <a:noFill/>
          <a:effectLst/>
        </p:spPr>
        <p:txBody>
          <a:bodyPr wrap="square" lIns="9144" rIns="9144" tIns="0" bIns="0">
            <a:spAutoFit/>
          </a:bodyPr>
          <a:lstStyle/>
          <a:p>
            <a:pPr algn="l">
              <a:spcAft>
                <a:spcPts val="600"/>
              </a:spcAft>
              <a:defRPr sz="1050" b="0">
                <a:solidFill>
                  <a:srgbClr val="607286"/>
                </a:solidFill>
                <a:latin typeface="DejaVu Sans"/>
              </a:defRPr>
            </a:pPr>
            <a:r>
              <a:t>Figures 1, 5, 6 and 8 reproduced from the provided paper. Mechanism diagrams redrawn from Algorithm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S3-FIFO: Theoretical Presentation</dc:title>
  <dc:subject>Operating Systems · SOSP 2023</dc:subject>
  <dc:creator>Course presentation group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