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50" r:id="rId3"/>
  </p:sldMasterIdLst>
  <p:notesMasterIdLst>
    <p:notesMasterId r:id="rId5"/>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Master" Target="slideMasters/slideMaster2.xml"/><Relationship Id="rId5"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everyone. Today, our group will introduce a research paper called FIFO Queues Are All You Need for Cache Eviction. It was published at SOSP in 2023. The paper introduces a new cache eviction algorithm called S3-FIFO.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what is a cache? A cache is a small and fast storage space that keeps data we may need again. For example, when a computer reads the same data many times, getting it from the cache is faster than getting it from slower storage.</a:t>
            </a:r>
          </a:p>
          <a:p/>
          <a:p>
            <a:r>
              <a:t>However, cache space is limited. When the cache is full, the system must decide which data to remove. This process is called cache eviction.</a:t>
            </a:r>
          </a:p>
          <a:p/>
          <a:p>
            <a:r>
              <a:t>In other words, the system needs a smart way to decide what should stay and what should go.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There are two common methods: FIFO and LRU.</a:t>
            </a:r>
          </a:p>
          <a:p/>
          <a:p>
            <a:r>
              <a:t>FIFO means First In, First Out. It removes the data that entered the cache first. FIFO is simple and fast, but it may remove useful data.</a:t>
            </a:r>
          </a:p>
          <a:p/>
          <a:p>
            <a:r>
              <a:t>LRU means Least Recently Used. It removes data that has not been used for the longest time. LRU can be more effective, but it needs to update the order of objects whenever they are accessed. This can slow down the system when many threads work at the same time.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researchers noticed another problem. Many objects are used only once before they leave the cache. The paper calls these objects one-hit wonders.</a:t>
            </a:r>
          </a:p>
          <a:p/>
          <a:p>
            <a:r>
              <a:t>The researchers found that these objects are especially common in short access sequences. This means some data take up cache space without being used again.（讲diagram：Like this diagram, if the sequence length is long, the ratio of one hit wonders is quite low. But,as the sequence length decrease,the ratio of one hit wonders become much higher.）</a:t>
            </a:r>
          </a:p>
          <a:p/>
          <a:p>
            <a:r>
              <a:t>So, the main idea is to remove less useful objects quickly and keep frequently used objects for longer. The researchers call this quick demotion.</a:t>
            </a:r>
          </a:p>
          <a:p/>
          <a:p>
            <a:r>
              <a:t>This leads to an important question: Can we combine the simplicity of FIFO with better cache efficiency?</a:t>
            </a:r>
          </a:p>
          <a:p/>
          <a:p>
            <a:r>
              <a:t>To answer this question, the researchers designed S3-FIFO.</a:t>
            </a:r>
          </a:p>
          <a:p/>
          <a:p>
            <a:r>
              <a:t>Now, my teammate will explain how this algorithm works.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Now, I will explain how S3-FIFO works.</a:t>
            </a:r>
          </a:p>
          <a:p/>
          <a:p>
            <a:r>
              <a:t>The main idea of S3-FIFO is simple. Instead of using one cache queue, it uses three FIFO queues. These are the Small Queue, the Main Queue, and the Ghost Queue.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the Small Queue, or S, uses about 10 percent of the cache space. New objects usually enter this queue first. We can think of it as a testing area. If an object is not used again, it can leave the cache quickly.</a:t>
            </a:r>
          </a:p>
          <a:p/>
          <a:p>
            <a:r>
              <a:t>Second, the Main Queue, or M, uses the remaining 90 percent of the cache space. This queue mainly keeps objects that have shown they are useful.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Third, the Ghost Queue, or G, is a little different. It does not store the actual data. It only remembers the IDs of recently removed objects. This helps the system recognize objects that may be useful again.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see what happens when the system receives a request.</a:t>
            </a:r>
          </a:p>
          <a:p/>
          <a:p>
            <a:r>
              <a:t>If the requested object is already in the Small Queue or the Main Queue, this is called a cache hit. S3-FIFO increases a small access counter for that object. The maximum value of this counter is three.</a:t>
            </a:r>
          </a:p>
          <a:p/>
          <a:p>
            <a:r>
              <a:t>Unlike LRU, S3-FIFO does not need to move an object to the front of the queue after every cache hit.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the object is not in the cache, this is called a cache miss. If the object is not recorded in the Ghost Queue, it enters the Small Queue. But if the Ghost Queue remembers it, the object enters the Main Queue directly.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what happens when the cache becomes full?</a:t>
            </a:r>
          </a:p>
          <a:p/>
          <a:p>
            <a:r>
              <a:t>S3-FIFO first checks the Small Queue. If an object has been accessed enough times, it can move to the Main Queue. Otherwise, it leaves the cache, and its ID is recorded in the Ghost Queue.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Queue works differently. When an object reaches the end of this queue, the system checks its access counter. If the counter is greater than zero, the object gets another chance and returns to the front of the queue. Its counter decreases by one. If the counter is zero, the object is removed.</a:t>
            </a:r>
          </a:p>
          <a:p/>
          <a:p>
            <a:r>
              <a:t>In this way, the three queues work together. The Small Queue filters new objects, the Main Queue protects useful objects, and the Ghost Queue remembers recently removed objects.</a:t>
            </a:r>
          </a:p>
          <a:p/>
          <a:p>
            <a:r>
              <a:t>The key advantage is that S3-FIFO can remove less useful data quickly without updating the queue order after every cache hit.</a:t>
            </a:r>
          </a:p>
          <a:p/>
          <a:p>
            <a:r>
              <a:t>Now, let's look at the experimental results and see how well this design works.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Next, I’ll go over the test results and key findings of this paper.</a:t>
            </a:r>
          </a:p>
          <a:p/>
          <a:p>
            <a:r>
              <a:t>The research team tested S3-FIFO using 6,594 real cache records from 14 data</a:t>
            </a:r>
          </a:p>
          <a:p/>
          <a:p>
            <a:r>
              <a:t>groups. These covered different types of data, such as storage blocks, key-value data,</a:t>
            </a:r>
          </a:p>
          <a:p/>
          <a:p>
            <a:r>
              <a:t>and web content.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They compared S3-FIFO with FIFO, LRU, and several other cache replacement</a:t>
            </a:r>
          </a:p>
          <a:p/>
          <a:p>
            <a:r>
              <a:t>methods.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First, let’s look at the miss ratio.</a:t>
            </a:r>
          </a:p>
          <a:p/>
          <a:p>
            <a:r>
              <a:t>A cache miss means the requested data is not stored in the cache. A lower miss ratio</a:t>
            </a:r>
          </a:p>
          <a:p/>
          <a:p>
            <a:r>
              <a:t>is better, because more requests can be answered directly from the cache.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6 in the paper compares the miss ratio performance of different methods. The</a:t>
            </a:r>
          </a:p>
          <a:p/>
          <a:p>
            <a:r>
              <a:t>results show that S3-FIFO works well across many workloads. With a fairly large</a:t>
            </a:r>
          </a:p>
          <a:p/>
          <a:p>
            <a:r>
              <a:t>cache, S3-FIFO had the lowest average miss ratio in 10 out of 14 data groups.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key point is throughput. Throughput is how many requests a system can</a:t>
            </a:r>
          </a:p>
          <a:p/>
          <a:p>
            <a:r>
              <a:t>handle in one second.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8 shows how each method performs as the number of threads grows.</a:t>
            </a:r>
          </a:p>
          <a:p/>
          <a:p>
            <a:r>
              <a:t>In the team’s tests, S3-FIFO reached over six times the throughput of a tuned LRU</a:t>
            </a:r>
          </a:p>
          <a:p/>
          <a:p>
            <a:r>
              <a:t>version with 16 threads. This means S3-FIFO works better when lots of requests are</a:t>
            </a:r>
          </a:p>
          <a:p/>
          <a:p>
            <a:r>
              <a:t>processed at the same time.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However, S3-FIFO also has downsides. Sometimes a data entry is removed from the</a:t>
            </a:r>
          </a:p>
          <a:p/>
          <a:p>
            <a:r>
              <a:t>Small Queue before its second request comes in. This can cause an extra cache miss.</a:t>
            </a:r>
          </a:p>
          <a:p/>
          <a:p>
            <a:r>
              <a:t>So its performance still depends on how users access the data.</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 up, this paper shows that a simple cache algorithm can still deliver strong</a:t>
            </a:r>
          </a:p>
          <a:p/>
          <a:p>
            <a:r>
              <a:t>performance.</a:t>
            </a:r>
          </a:p>
          <a:p/>
          <a:p>
            <a:r>
              <a:t>By using three FIFO queues, S3-FIFO quickly removes less useful data while keeping</a:t>
            </a:r>
          </a:p>
          <a:p/>
          <a:p>
            <a:r>
              <a:t>useful data for longer. Its main advantages are lower miss ratios and better</a:t>
            </a:r>
          </a:p>
          <a:p/>
          <a:p>
            <a:r>
              <a:t>scalability.</a:t>
            </a:r>
          </a:p>
          <a:p/>
          <a:p>
            <a:r>
              <a:t>Thank you for listening.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1"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doi.org/10.1145/3600006.3613147" TargetMode="External"/><Relationship Id="rId3" Type="http://schemas.openxmlformats.org/officeDocument/2006/relationships/hyperlink" Target="https://github.com/TheSys-lab/sosp23-s3fifo" TargetMode="External"/><Relationship Id="rId4"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3294B"/>
        </a:solidFill>
        <a:effectLst/>
      </p:bgPr>
    </p:bg>
    <p:spTree>
      <p:nvGrpSpPr>
        <p:cNvPr id="1" name=""/>
        <p:cNvGrpSpPr/>
        <p:nvPr/>
      </p:nvGrpSpPr>
      <p:grpSpPr/>
      <p:sp>
        <p:nvSpPr>
          <p:cNvPr id="2" name="TextBox 1"/>
          <p:cNvSpPr txBox="1"/>
          <p:nvPr/>
        </p:nvSpPr>
        <p:spPr>
          <a:xfrm>
            <a:off x="640080" y="640080"/>
            <a:ext cx="5303520" cy="365760"/>
          </a:xfrm>
          <a:prstGeom prst="rect">
            <a:avLst/>
          </a:prstGeom>
          <a:noFill/>
        </p:spPr>
        <p:txBody>
          <a:bodyPr wrap="square" lIns="0" rIns="0" tIns="0" bIns="0">
            <a:spAutoFit/>
          </a:bodyPr>
          <a:lstStyle/>
          <a:p>
            <a:pPr algn="l">
              <a:lnSpc>
                <a:spcPct val="112000"/>
              </a:lnSpc>
              <a:spcBef>
                <a:spcPts val="0"/>
              </a:spcBef>
              <a:spcAft>
                <a:spcPts val="500"/>
              </a:spcAft>
            </a:pPr>
            <a:r>
              <a:rPr sz="1400" b="1">
                <a:solidFill>
                  <a:srgbClr val="F5B841"/>
                </a:solidFill>
                <a:latin typeface="Aptos"/>
              </a:rPr>
              <a:t>OPERATING SYSTEMS · PAPER PRESENTATION</a:t>
            </a:r>
          </a:p>
        </p:txBody>
      </p:sp>
      <p:sp>
        <p:nvSpPr>
          <p:cNvPr id="3" name="TextBox 2"/>
          <p:cNvSpPr txBox="1"/>
          <p:nvPr/>
        </p:nvSpPr>
        <p:spPr>
          <a:xfrm>
            <a:off x="640080" y="1417320"/>
            <a:ext cx="5285232" cy="1554480"/>
          </a:xfrm>
          <a:prstGeom prst="rect">
            <a:avLst/>
          </a:prstGeom>
          <a:noFill/>
        </p:spPr>
        <p:txBody>
          <a:bodyPr wrap="square" lIns="0" rIns="0" tIns="0" bIns="0">
            <a:spAutoFit/>
          </a:bodyPr>
          <a:lstStyle/>
          <a:p>
            <a:pPr algn="l">
              <a:lnSpc>
                <a:spcPct val="112000"/>
              </a:lnSpc>
              <a:spcBef>
                <a:spcPts val="0"/>
              </a:spcBef>
              <a:spcAft>
                <a:spcPts val="500"/>
              </a:spcAft>
            </a:pPr>
            <a:r>
              <a:rPr sz="4200" b="1">
                <a:solidFill>
                  <a:srgbClr val="FFFFFF"/>
                </a:solidFill>
                <a:latin typeface="Aptos Display"/>
              </a:rPr>
              <a:t>S3-FIFO:</a:t>
            </a:r>
          </a:p>
          <a:p>
            <a:pPr algn="l">
              <a:lnSpc>
                <a:spcPct val="112000"/>
              </a:lnSpc>
              <a:spcBef>
                <a:spcPts val="0"/>
              </a:spcBef>
              <a:spcAft>
                <a:spcPts val="500"/>
              </a:spcAft>
            </a:pPr>
            <a:r>
              <a:rPr sz="4200" b="1">
                <a:solidFill>
                  <a:srgbClr val="FFFFFF"/>
                </a:solidFill>
                <a:latin typeface="Aptos Display"/>
              </a:rPr>
              <a:t>Cache Eviction</a:t>
            </a:r>
          </a:p>
        </p:txBody>
      </p:sp>
      <p:sp>
        <p:nvSpPr>
          <p:cNvPr id="4" name="TextBox 3"/>
          <p:cNvSpPr txBox="1"/>
          <p:nvPr/>
        </p:nvSpPr>
        <p:spPr>
          <a:xfrm>
            <a:off x="676656" y="3227832"/>
            <a:ext cx="5212080" cy="960120"/>
          </a:xfrm>
          <a:prstGeom prst="rect">
            <a:avLst/>
          </a:prstGeom>
          <a:noFill/>
        </p:spPr>
        <p:txBody>
          <a:bodyPr wrap="square" lIns="0" rIns="0" tIns="0" bIns="0">
            <a:spAutoFit/>
          </a:bodyPr>
          <a:lstStyle/>
          <a:p>
            <a:pPr algn="l">
              <a:lnSpc>
                <a:spcPct val="112000"/>
              </a:lnSpc>
              <a:spcBef>
                <a:spcPts val="0"/>
              </a:spcBef>
              <a:spcAft>
                <a:spcPts val="500"/>
              </a:spcAft>
            </a:pPr>
            <a:r>
              <a:rPr sz="2200" b="0">
                <a:solidFill>
                  <a:srgbClr val="BED6F0"/>
                </a:solidFill>
                <a:latin typeface="Aptos"/>
              </a:rPr>
              <a:t>FIFO Queues Are All You Need</a:t>
            </a:r>
          </a:p>
          <a:p>
            <a:pPr algn="l">
              <a:lnSpc>
                <a:spcPct val="112000"/>
              </a:lnSpc>
              <a:spcBef>
                <a:spcPts val="0"/>
              </a:spcBef>
              <a:spcAft>
                <a:spcPts val="500"/>
              </a:spcAft>
            </a:pPr>
            <a:r>
              <a:rPr sz="2200" b="0">
                <a:solidFill>
                  <a:srgbClr val="BED6F0"/>
                </a:solidFill>
                <a:latin typeface="Aptos"/>
              </a:rPr>
              <a:t>for Cache Eviction</a:t>
            </a:r>
          </a:p>
        </p:txBody>
      </p:sp>
      <p:sp>
        <p:nvSpPr>
          <p:cNvPr id="5" name="Rounded Rectangle 4"/>
          <p:cNvSpPr/>
          <p:nvPr/>
        </p:nvSpPr>
        <p:spPr>
          <a:xfrm>
            <a:off x="640080" y="4892040"/>
            <a:ext cx="5394960" cy="1051560"/>
          </a:xfrm>
          <a:prstGeom prst="roundRect">
            <a:avLst>
              <a:gd name="adj" fmla="val 12000"/>
            </a:avLst>
          </a:prstGeom>
          <a:solidFill>
            <a:srgbClr val="1F3B63"/>
          </a:solidFill>
          <a:ln>
            <a:noFill/>
          </a:ln>
        </p:spPr>
        <p:txBody>
          <a:bodyPr rtlCol="0" anchor="ctr"/>
          <a:lstStyle/>
          <a:p>
            <a:pPr algn="ctr"/>
          </a:p>
        </p:txBody>
      </p:sp>
      <p:sp>
        <p:nvSpPr>
          <p:cNvPr id="6" name="TextBox 5"/>
          <p:cNvSpPr txBox="1"/>
          <p:nvPr/>
        </p:nvSpPr>
        <p:spPr>
          <a:xfrm>
            <a:off x="914400" y="5093208"/>
            <a:ext cx="4800600" cy="347472"/>
          </a:xfrm>
          <a:prstGeom prst="rect">
            <a:avLst/>
          </a:prstGeom>
          <a:noFill/>
        </p:spPr>
        <p:txBody>
          <a:bodyPr wrap="square" lIns="0" rIns="0" tIns="0" bIns="0">
            <a:spAutoFit/>
          </a:bodyPr>
          <a:lstStyle/>
          <a:p>
            <a:pPr algn="l">
              <a:lnSpc>
                <a:spcPct val="112000"/>
              </a:lnSpc>
              <a:spcBef>
                <a:spcPts val="0"/>
              </a:spcBef>
              <a:spcAft>
                <a:spcPts val="500"/>
              </a:spcAft>
            </a:pPr>
            <a:r>
              <a:rPr sz="2100" b="1">
                <a:solidFill>
                  <a:srgbClr val="FFFFFF"/>
                </a:solidFill>
                <a:latin typeface="Aptos"/>
              </a:rPr>
              <a:t>Three members · 10 minutes</a:t>
            </a:r>
          </a:p>
        </p:txBody>
      </p:sp>
      <p:sp>
        <p:nvSpPr>
          <p:cNvPr id="7" name="TextBox 6"/>
          <p:cNvSpPr txBox="1"/>
          <p:nvPr/>
        </p:nvSpPr>
        <p:spPr>
          <a:xfrm>
            <a:off x="914400" y="5559552"/>
            <a:ext cx="4800600" cy="228600"/>
          </a:xfrm>
          <a:prstGeom prst="rect">
            <a:avLst/>
          </a:prstGeom>
          <a:noFill/>
        </p:spPr>
        <p:txBody>
          <a:bodyPr wrap="square" lIns="0" rIns="0" tIns="0" bIns="0">
            <a:spAutoFit/>
          </a:bodyPr>
          <a:lstStyle/>
          <a:p>
            <a:pPr algn="l">
              <a:lnSpc>
                <a:spcPct val="112000"/>
              </a:lnSpc>
              <a:spcBef>
                <a:spcPts val="0"/>
              </a:spcBef>
              <a:spcAft>
                <a:spcPts val="500"/>
              </a:spcAft>
            </a:pPr>
            <a:r>
              <a:rPr sz="1400" b="0">
                <a:solidFill>
                  <a:srgbClr val="CFE8FF"/>
                </a:solidFill>
                <a:latin typeface="Aptos"/>
              </a:rPr>
              <a:t>SOSP 2023 · Juncheng Yang et al.</a:t>
            </a:r>
          </a:p>
        </p:txBody>
      </p:sp>
      <p:sp>
        <p:nvSpPr>
          <p:cNvPr id="8" name="Rounded Rectangle 7"/>
          <p:cNvSpPr/>
          <p:nvPr/>
        </p:nvSpPr>
        <p:spPr>
          <a:xfrm>
            <a:off x="6336792" y="1554480"/>
            <a:ext cx="5212080" cy="3337560"/>
          </a:xfrm>
          <a:prstGeom prst="roundRect">
            <a:avLst>
              <a:gd name="adj" fmla="val 12000"/>
            </a:avLst>
          </a:prstGeom>
          <a:solidFill>
            <a:srgbClr val="FFFFFF"/>
          </a:solidFill>
          <a:ln w="9525">
            <a:solidFill>
              <a:srgbClr val="DCE5EF"/>
            </a:solidFill>
          </a:ln>
        </p:spPr>
        <p:txBody>
          <a:bodyPr rtlCol="0" anchor="ctr"/>
          <a:lstStyle/>
          <a:p>
            <a:pPr algn="ctr"/>
          </a:p>
        </p:txBody>
      </p:sp>
      <p:pic>
        <p:nvPicPr>
          <p:cNvPr id="9" name="Picture 8" descr="image.png"/>
          <p:cNvPicPr>
            <a:picLocks noChangeAspect="1"/>
          </p:cNvPicPr>
          <p:nvPr/>
        </p:nvPicPr>
        <p:blipFill>
          <a:blip r:embed="rId2"/>
          <a:stretch>
            <a:fillRect/>
          </a:stretch>
        </p:blipFill>
        <p:spPr>
          <a:xfrm>
            <a:off x="6492240" y="2004770"/>
            <a:ext cx="4901184" cy="2372971"/>
          </a:xfrm>
          <a:prstGeom prst="rect">
            <a:avLst/>
          </a:prstGeom>
        </p:spPr>
      </p:pic>
      <p:sp>
        <p:nvSpPr>
          <p:cNvPr id="10" name="TextBox 9"/>
          <p:cNvSpPr txBox="1"/>
          <p:nvPr/>
        </p:nvSpPr>
        <p:spPr>
          <a:xfrm>
            <a:off x="6492240" y="5084064"/>
            <a:ext cx="4901184" cy="594360"/>
          </a:xfrm>
          <a:prstGeom prst="rect">
            <a:avLst/>
          </a:prstGeom>
          <a:noFill/>
        </p:spPr>
        <p:txBody>
          <a:bodyPr wrap="square" lIns="0" rIns="0" tIns="0" bIns="0">
            <a:spAutoFit/>
          </a:bodyPr>
          <a:lstStyle/>
          <a:p>
            <a:pPr algn="l">
              <a:lnSpc>
                <a:spcPct val="112000"/>
              </a:lnSpc>
              <a:spcBef>
                <a:spcPts val="0"/>
              </a:spcBef>
              <a:spcAft>
                <a:spcPts val="500"/>
              </a:spcAft>
            </a:pPr>
            <a:r>
              <a:rPr sz="1100" b="0">
                <a:solidFill>
                  <a:srgbClr val="BED6F0"/>
                </a:solidFill>
                <a:latin typeface="Aptos"/>
              </a:rPr>
              <a:t>Original Figure 5 · S3-FIFO architecture</a:t>
            </a:r>
          </a:p>
          <a:p>
            <a:pPr algn="l">
              <a:lnSpc>
                <a:spcPct val="112000"/>
              </a:lnSpc>
              <a:spcBef>
                <a:spcPts val="0"/>
              </a:spcBef>
              <a:spcAft>
                <a:spcPts val="500"/>
              </a:spcAft>
            </a:pPr>
            <a:r>
              <a:rPr sz="1100" b="0">
                <a:solidFill>
                  <a:srgbClr val="BED6F0"/>
                </a:solidFill>
                <a:latin typeface="Aptos"/>
              </a:rPr>
              <a:t>Source: Yang et al., SOSP 2023</a:t>
            </a:r>
          </a:p>
        </p:txBody>
      </p:sp>
      <p:sp>
        <p:nvSpPr>
          <p:cNvPr id="11" name="TextBox 10"/>
          <p:cNvSpPr txBox="1"/>
          <p:nvPr/>
        </p:nvSpPr>
        <p:spPr>
          <a:xfrm>
            <a:off x="530352" y="6537960"/>
            <a:ext cx="9875520" cy="182880"/>
          </a:xfrm>
          <a:prstGeom prst="rect">
            <a:avLst/>
          </a:prstGeom>
          <a:noFill/>
        </p:spPr>
        <p:txBody>
          <a:bodyPr wrap="square" lIns="0" rIns="0" tIns="0" bIns="0">
            <a:spAutoFit/>
          </a:bodyPr>
          <a:lstStyle/>
          <a:p>
            <a:pPr algn="l">
              <a:lnSpc>
                <a:spcPct val="112000"/>
              </a:lnSpc>
              <a:spcBef>
                <a:spcPts val="0"/>
              </a:spcBef>
              <a:spcAft>
                <a:spcPts val="500"/>
              </a:spcAft>
            </a:pPr>
            <a:r>
              <a:rPr sz="850" b="0">
                <a:solidFill>
                  <a:srgbClr val="B8CBE0"/>
                </a:solidFill>
                <a:latin typeface="Aptos"/>
              </a:rPr>
              <a:t>Yang et al., SOSP 2023 · Operating Systems · Theoretical Presentation</a:t>
            </a:r>
          </a:p>
        </p:txBody>
      </p:sp>
      <p:sp>
        <p:nvSpPr>
          <p:cNvPr id="12" name="TextBox 11"/>
          <p:cNvSpPr txBox="1"/>
          <p:nvPr/>
        </p:nvSpPr>
        <p:spPr>
          <a:xfrm>
            <a:off x="10744200" y="6537960"/>
            <a:ext cx="868680" cy="182880"/>
          </a:xfrm>
          <a:prstGeom prst="rect">
            <a:avLst/>
          </a:prstGeom>
          <a:noFill/>
        </p:spPr>
        <p:txBody>
          <a:bodyPr wrap="square" lIns="0" rIns="0" tIns="0" bIns="0">
            <a:spAutoFit/>
          </a:bodyPr>
          <a:lstStyle/>
          <a:p>
            <a:pPr algn="r">
              <a:lnSpc>
                <a:spcPct val="112000"/>
              </a:lnSpc>
              <a:spcBef>
                <a:spcPts val="0"/>
              </a:spcBef>
              <a:spcAft>
                <a:spcPts val="500"/>
              </a:spcAft>
            </a:pPr>
            <a:r>
              <a:rPr sz="850" b="0">
                <a:solidFill>
                  <a:srgbClr val="B8CBE0"/>
                </a:solidFill>
                <a:latin typeface="Aptos"/>
              </a:rPr>
              <a:t>Slide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3294B"/>
          </a:solidFill>
          <a:ln>
            <a:noFill/>
          </a:ln>
        </p:spPr>
        <p:txBody>
          <a:bodyPr rtlCol="0" anchor="ctr"/>
          <a:lstStyle/>
          <a:p>
            <a:pPr algn="ctr"/>
          </a:p>
        </p:txBody>
      </p:sp>
      <p:sp>
        <p:nvSpPr>
          <p:cNvPr id="3" name="TextBox 2"/>
          <p:cNvSpPr txBox="1"/>
          <p:nvPr/>
        </p:nvSpPr>
        <p:spPr>
          <a:xfrm>
            <a:off x="457200" y="96012"/>
            <a:ext cx="5166360" cy="210312"/>
          </a:xfrm>
          <a:prstGeom prst="rect">
            <a:avLst/>
          </a:prstGeom>
          <a:noFill/>
        </p:spPr>
        <p:txBody>
          <a:bodyPr wrap="square" lIns="0" rIns="0" tIns="0" bIns="0">
            <a:spAutoFit/>
          </a:bodyPr>
          <a:lstStyle/>
          <a:p>
            <a:pPr algn="l">
              <a:lnSpc>
                <a:spcPct val="112000"/>
              </a:lnSpc>
              <a:spcBef>
                <a:spcPts val="0"/>
              </a:spcBef>
              <a:spcAft>
                <a:spcPts val="500"/>
              </a:spcAft>
            </a:pPr>
            <a:r>
              <a:rPr sz="950" b="1">
                <a:solidFill>
                  <a:srgbClr val="FFFFFF"/>
                </a:solidFill>
                <a:latin typeface="Aptos"/>
              </a:rPr>
              <a:t>Opening</a:t>
            </a:r>
          </a:p>
        </p:txBody>
      </p:sp>
      <p:sp>
        <p:nvSpPr>
          <p:cNvPr id="4" name="TextBox 3"/>
          <p:cNvSpPr txBox="1"/>
          <p:nvPr/>
        </p:nvSpPr>
        <p:spPr>
          <a:xfrm>
            <a:off x="6400800" y="96012"/>
            <a:ext cx="5303520" cy="210312"/>
          </a:xfrm>
          <a:prstGeom prst="rect">
            <a:avLst/>
          </a:prstGeom>
          <a:noFill/>
        </p:spPr>
        <p:txBody>
          <a:bodyPr wrap="square" lIns="0" rIns="0" tIns="0" bIns="0">
            <a:spAutoFit/>
          </a:bodyPr>
          <a:lstStyle/>
          <a:p>
            <a:pPr algn="r">
              <a:lnSpc>
                <a:spcPct val="112000"/>
              </a:lnSpc>
              <a:spcBef>
                <a:spcPts val="0"/>
              </a:spcBef>
              <a:spcAft>
                <a:spcPts val="500"/>
              </a:spcAft>
            </a:pPr>
            <a:r>
              <a:rPr sz="950" b="0">
                <a:solidFill>
                  <a:srgbClr val="CFE8FF"/>
                </a:solidFill>
                <a:latin typeface="Aptos"/>
              </a:rPr>
              <a:t>S3-FIFO · FIFO Queues Are All You Need</a:t>
            </a:r>
          </a:p>
        </p:txBody>
      </p:sp>
      <p:sp>
        <p:nvSpPr>
          <p:cNvPr id="5" name="TextBox 4"/>
          <p:cNvSpPr txBox="1"/>
          <p:nvPr/>
        </p:nvSpPr>
        <p:spPr>
          <a:xfrm>
            <a:off x="548640" y="694944"/>
            <a:ext cx="10789920" cy="484632"/>
          </a:xfrm>
          <a:prstGeom prst="rect">
            <a:avLst/>
          </a:prstGeom>
          <a:noFill/>
        </p:spPr>
        <p:txBody>
          <a:bodyPr wrap="square" lIns="0" rIns="0" tIns="0" bIns="0">
            <a:spAutoFit/>
          </a:bodyPr>
          <a:lstStyle/>
          <a:p>
            <a:pPr algn="l">
              <a:lnSpc>
                <a:spcPct val="112000"/>
              </a:lnSpc>
              <a:spcBef>
                <a:spcPts val="0"/>
              </a:spcBef>
              <a:spcAft>
                <a:spcPts val="500"/>
              </a:spcAft>
            </a:pPr>
            <a:r>
              <a:rPr sz="2900" b="1">
                <a:solidFill>
                  <a:srgbClr val="172033"/>
                </a:solidFill>
                <a:latin typeface="Aptos Display"/>
              </a:rPr>
              <a:t>Team Structure &amp; Timing</a:t>
            </a:r>
          </a:p>
        </p:txBody>
      </p:sp>
      <p:sp>
        <p:nvSpPr>
          <p:cNvPr id="6" name="TextBox 5"/>
          <p:cNvSpPr txBox="1"/>
          <p:nvPr/>
        </p:nvSpPr>
        <p:spPr>
          <a:xfrm>
            <a:off x="566928" y="1225296"/>
            <a:ext cx="10972800" cy="338328"/>
          </a:xfrm>
          <a:prstGeom prst="rect">
            <a:avLst/>
          </a:prstGeom>
          <a:noFill/>
        </p:spPr>
        <p:txBody>
          <a:bodyPr wrap="square" lIns="0" rIns="0" tIns="0" bIns="0">
            <a:spAutoFit/>
          </a:bodyPr>
          <a:lstStyle/>
          <a:p>
            <a:pPr algn="l">
              <a:lnSpc>
                <a:spcPct val="112000"/>
              </a:lnSpc>
              <a:spcBef>
                <a:spcPts val="0"/>
              </a:spcBef>
              <a:spcAft>
                <a:spcPts val="500"/>
              </a:spcAft>
            </a:pPr>
            <a:r>
              <a:rPr sz="1400" b="0">
                <a:solidFill>
                  <a:srgbClr val="5B6472"/>
                </a:solidFill>
                <a:latin typeface="Aptos"/>
              </a:rPr>
              <a:t>Three speakers follow the supplied script: background, algorithm, then evaluation.</a:t>
            </a:r>
          </a:p>
        </p:txBody>
      </p:sp>
      <p:sp>
        <p:nvSpPr>
          <p:cNvPr id="7" name="Rounded Rectangle 6"/>
          <p:cNvSpPr/>
          <p:nvPr/>
        </p:nvSpPr>
        <p:spPr>
          <a:xfrm>
            <a:off x="685800" y="1764792"/>
            <a:ext cx="10789920" cy="3520440"/>
          </a:xfrm>
          <a:prstGeom prst="roundRect">
            <a:avLst>
              <a:gd name="adj" fmla="val 12000"/>
            </a:avLst>
          </a:prstGeom>
          <a:solidFill>
            <a:srgbClr val="FFFFFF"/>
          </a:solidFill>
          <a:ln w="9525">
            <a:solidFill>
              <a:srgbClr val="DCE5EF"/>
            </a:solidFill>
          </a:ln>
        </p:spPr>
        <p:txBody>
          <a:bodyPr rtlCol="0" anchor="ctr"/>
          <a:lstStyle/>
          <a:p>
            <a:pPr algn="ctr"/>
          </a:p>
        </p:txBody>
      </p:sp>
      <p:sp>
        <p:nvSpPr>
          <p:cNvPr id="8" name="TextBox 7"/>
          <p:cNvSpPr txBox="1"/>
          <p:nvPr/>
        </p:nvSpPr>
        <p:spPr>
          <a:xfrm>
            <a:off x="932688" y="1993392"/>
            <a:ext cx="1828800" cy="320040"/>
          </a:xfrm>
          <a:prstGeom prst="rect">
            <a:avLst/>
          </a:prstGeom>
          <a:noFill/>
        </p:spPr>
        <p:txBody>
          <a:bodyPr wrap="square" lIns="0" rIns="0" tIns="0" bIns="0">
            <a:spAutoFit/>
          </a:bodyPr>
          <a:lstStyle/>
          <a:p>
            <a:pPr algn="l">
              <a:lnSpc>
                <a:spcPct val="112000"/>
              </a:lnSpc>
              <a:spcBef>
                <a:spcPts val="0"/>
              </a:spcBef>
              <a:spcAft>
                <a:spcPts val="500"/>
              </a:spcAft>
            </a:pPr>
            <a:r>
              <a:rPr sz="1600" b="1">
                <a:solidFill>
                  <a:srgbClr val="5B6472"/>
                </a:solidFill>
                <a:latin typeface="Aptos"/>
              </a:rPr>
              <a:t>Speaker</a:t>
            </a:r>
          </a:p>
        </p:txBody>
      </p:sp>
      <p:sp>
        <p:nvSpPr>
          <p:cNvPr id="9" name="TextBox 8"/>
          <p:cNvSpPr txBox="1"/>
          <p:nvPr/>
        </p:nvSpPr>
        <p:spPr>
          <a:xfrm>
            <a:off x="2852928" y="1993392"/>
            <a:ext cx="1097280" cy="320040"/>
          </a:xfrm>
          <a:prstGeom prst="rect">
            <a:avLst/>
          </a:prstGeom>
          <a:noFill/>
        </p:spPr>
        <p:txBody>
          <a:bodyPr wrap="square" lIns="0" rIns="0" tIns="0" bIns="0">
            <a:spAutoFit/>
          </a:bodyPr>
          <a:lstStyle/>
          <a:p>
            <a:pPr algn="l">
              <a:lnSpc>
                <a:spcPct val="112000"/>
              </a:lnSpc>
              <a:spcBef>
                <a:spcPts val="0"/>
              </a:spcBef>
              <a:spcAft>
                <a:spcPts val="500"/>
              </a:spcAft>
            </a:pPr>
            <a:r>
              <a:rPr sz="1600" b="1">
                <a:solidFill>
                  <a:srgbClr val="5B6472"/>
                </a:solidFill>
                <a:latin typeface="Aptos"/>
              </a:rPr>
              <a:t>Time</a:t>
            </a:r>
          </a:p>
        </p:txBody>
      </p:sp>
      <p:sp>
        <p:nvSpPr>
          <p:cNvPr id="10" name="TextBox 9"/>
          <p:cNvSpPr txBox="1"/>
          <p:nvPr/>
        </p:nvSpPr>
        <p:spPr>
          <a:xfrm>
            <a:off x="4224528" y="1993392"/>
            <a:ext cx="6812280" cy="320040"/>
          </a:xfrm>
          <a:prstGeom prst="rect">
            <a:avLst/>
          </a:prstGeom>
          <a:noFill/>
        </p:spPr>
        <p:txBody>
          <a:bodyPr wrap="square" lIns="0" rIns="0" tIns="0" bIns="0">
            <a:spAutoFit/>
          </a:bodyPr>
          <a:lstStyle/>
          <a:p>
            <a:pPr algn="l">
              <a:lnSpc>
                <a:spcPct val="112000"/>
              </a:lnSpc>
              <a:spcBef>
                <a:spcPts val="0"/>
              </a:spcBef>
              <a:spcAft>
                <a:spcPts val="500"/>
              </a:spcAft>
            </a:pPr>
            <a:r>
              <a:rPr sz="1600" b="1">
                <a:solidFill>
                  <a:srgbClr val="5B6472"/>
                </a:solidFill>
                <a:latin typeface="Aptos"/>
              </a:rPr>
              <a:t>Main responsibility</a:t>
            </a:r>
          </a:p>
        </p:txBody>
      </p:sp>
      <p:sp>
        <p:nvSpPr>
          <p:cNvPr id="11" name="Rectangle 10"/>
          <p:cNvSpPr/>
          <p:nvPr/>
        </p:nvSpPr>
        <p:spPr>
          <a:xfrm>
            <a:off x="877824" y="2542032"/>
            <a:ext cx="10378440" cy="685800"/>
          </a:xfrm>
          <a:prstGeom prst="rect">
            <a:avLst/>
          </a:prstGeom>
          <a:solidFill>
            <a:srgbClr val="F1F6FD"/>
          </a:solidFill>
          <a:ln>
            <a:noFill/>
          </a:ln>
        </p:spPr>
        <p:txBody>
          <a:bodyPr rtlCol="0" anchor="ctr"/>
          <a:lstStyle/>
          <a:p>
            <a:pPr algn="ctr"/>
          </a:p>
        </p:txBody>
      </p:sp>
      <p:sp>
        <p:nvSpPr>
          <p:cNvPr id="12" name="TextBox 11"/>
          <p:cNvSpPr txBox="1"/>
          <p:nvPr/>
        </p:nvSpPr>
        <p:spPr>
          <a:xfrm>
            <a:off x="950976" y="2615184"/>
            <a:ext cx="1783080" cy="365760"/>
          </a:xfrm>
          <a:prstGeom prst="rect">
            <a:avLst/>
          </a:prstGeom>
          <a:noFill/>
        </p:spPr>
        <p:txBody>
          <a:bodyPr wrap="square" lIns="0" rIns="0" tIns="0" bIns="0">
            <a:spAutoFit/>
          </a:bodyPr>
          <a:lstStyle/>
          <a:p>
            <a:pPr algn="l">
              <a:lnSpc>
                <a:spcPct val="112000"/>
              </a:lnSpc>
              <a:spcBef>
                <a:spcPts val="0"/>
              </a:spcBef>
              <a:spcAft>
                <a:spcPts val="500"/>
              </a:spcAft>
            </a:pPr>
            <a:r>
              <a:rPr sz="2100" b="1">
                <a:solidFill>
                  <a:srgbClr val="172033"/>
                </a:solidFill>
                <a:latin typeface="Aptos"/>
              </a:rPr>
              <a:t>Member 1</a:t>
            </a:r>
          </a:p>
        </p:txBody>
      </p:sp>
      <p:sp>
        <p:nvSpPr>
          <p:cNvPr id="13" name="TextBox 12"/>
          <p:cNvSpPr txBox="1"/>
          <p:nvPr/>
        </p:nvSpPr>
        <p:spPr>
          <a:xfrm>
            <a:off x="2852928" y="2615184"/>
            <a:ext cx="1143000" cy="365760"/>
          </a:xfrm>
          <a:prstGeom prst="rect">
            <a:avLst/>
          </a:prstGeom>
          <a:noFill/>
        </p:spPr>
        <p:txBody>
          <a:bodyPr wrap="square" lIns="0" rIns="0" tIns="0" bIns="0">
            <a:spAutoFit/>
          </a:bodyPr>
          <a:lstStyle/>
          <a:p>
            <a:pPr algn="l">
              <a:lnSpc>
                <a:spcPct val="112000"/>
              </a:lnSpc>
              <a:spcBef>
                <a:spcPts val="0"/>
              </a:spcBef>
              <a:spcAft>
                <a:spcPts val="500"/>
              </a:spcAft>
            </a:pPr>
            <a:r>
              <a:rPr sz="2000" b="0">
                <a:solidFill>
                  <a:srgbClr val="2D6DAF"/>
                </a:solidFill>
                <a:latin typeface="Aptos"/>
              </a:rPr>
              <a:t>3 min</a:t>
            </a:r>
          </a:p>
        </p:txBody>
      </p:sp>
      <p:sp>
        <p:nvSpPr>
          <p:cNvPr id="14" name="TextBox 13"/>
          <p:cNvSpPr txBox="1"/>
          <p:nvPr/>
        </p:nvSpPr>
        <p:spPr>
          <a:xfrm>
            <a:off x="4224528" y="2615184"/>
            <a:ext cx="6693408" cy="566928"/>
          </a:xfrm>
          <a:prstGeom prst="rect">
            <a:avLst/>
          </a:prstGeom>
          <a:noFill/>
        </p:spPr>
        <p:txBody>
          <a:bodyPr wrap="square" lIns="0" rIns="0" tIns="0" bIns="0">
            <a:spAutoFit/>
          </a:bodyPr>
          <a:lstStyle/>
          <a:p>
            <a:pPr algn="l">
              <a:lnSpc>
                <a:spcPct val="112000"/>
              </a:lnSpc>
              <a:spcBef>
                <a:spcPts val="0"/>
              </a:spcBef>
              <a:spcAft>
                <a:spcPts val="500"/>
              </a:spcAft>
            </a:pPr>
            <a:r>
              <a:rPr sz="1900" b="0">
                <a:solidFill>
                  <a:srgbClr val="172033"/>
                </a:solidFill>
                <a:latin typeface="Aptos"/>
              </a:rPr>
              <a:t>Background, cache eviction, FIFO / LRU, one-hit wonders.</a:t>
            </a:r>
          </a:p>
        </p:txBody>
      </p:sp>
      <p:sp>
        <p:nvSpPr>
          <p:cNvPr id="15" name="TextBox 14"/>
          <p:cNvSpPr txBox="1"/>
          <p:nvPr/>
        </p:nvSpPr>
        <p:spPr>
          <a:xfrm>
            <a:off x="950976" y="3392424"/>
            <a:ext cx="1783080" cy="365760"/>
          </a:xfrm>
          <a:prstGeom prst="rect">
            <a:avLst/>
          </a:prstGeom>
          <a:noFill/>
        </p:spPr>
        <p:txBody>
          <a:bodyPr wrap="square" lIns="0" rIns="0" tIns="0" bIns="0">
            <a:spAutoFit/>
          </a:bodyPr>
          <a:lstStyle/>
          <a:p>
            <a:pPr algn="l">
              <a:lnSpc>
                <a:spcPct val="112000"/>
              </a:lnSpc>
              <a:spcBef>
                <a:spcPts val="0"/>
              </a:spcBef>
              <a:spcAft>
                <a:spcPts val="500"/>
              </a:spcAft>
            </a:pPr>
            <a:r>
              <a:rPr sz="2100" b="1">
                <a:solidFill>
                  <a:srgbClr val="172033"/>
                </a:solidFill>
                <a:latin typeface="Aptos"/>
              </a:rPr>
              <a:t>Member 2</a:t>
            </a:r>
          </a:p>
        </p:txBody>
      </p:sp>
      <p:sp>
        <p:nvSpPr>
          <p:cNvPr id="16" name="TextBox 15"/>
          <p:cNvSpPr txBox="1"/>
          <p:nvPr/>
        </p:nvSpPr>
        <p:spPr>
          <a:xfrm>
            <a:off x="2852928" y="3392424"/>
            <a:ext cx="1143000" cy="365760"/>
          </a:xfrm>
          <a:prstGeom prst="rect">
            <a:avLst/>
          </a:prstGeom>
          <a:noFill/>
        </p:spPr>
        <p:txBody>
          <a:bodyPr wrap="square" lIns="0" rIns="0" tIns="0" bIns="0">
            <a:spAutoFit/>
          </a:bodyPr>
          <a:lstStyle/>
          <a:p>
            <a:pPr algn="l">
              <a:lnSpc>
                <a:spcPct val="112000"/>
              </a:lnSpc>
              <a:spcBef>
                <a:spcPts val="0"/>
              </a:spcBef>
              <a:spcAft>
                <a:spcPts val="500"/>
              </a:spcAft>
            </a:pPr>
            <a:r>
              <a:rPr sz="2000" b="0">
                <a:solidFill>
                  <a:srgbClr val="2D6DAF"/>
                </a:solidFill>
                <a:latin typeface="Aptos"/>
              </a:rPr>
              <a:t>4 min</a:t>
            </a:r>
          </a:p>
        </p:txBody>
      </p:sp>
      <p:sp>
        <p:nvSpPr>
          <p:cNvPr id="17" name="TextBox 16"/>
          <p:cNvSpPr txBox="1"/>
          <p:nvPr/>
        </p:nvSpPr>
        <p:spPr>
          <a:xfrm>
            <a:off x="4224528" y="3392424"/>
            <a:ext cx="6693408" cy="566928"/>
          </a:xfrm>
          <a:prstGeom prst="rect">
            <a:avLst/>
          </a:prstGeom>
          <a:noFill/>
        </p:spPr>
        <p:txBody>
          <a:bodyPr wrap="square" lIns="0" rIns="0" tIns="0" bIns="0">
            <a:spAutoFit/>
          </a:bodyPr>
          <a:lstStyle/>
          <a:p>
            <a:pPr algn="l">
              <a:lnSpc>
                <a:spcPct val="112000"/>
              </a:lnSpc>
              <a:spcBef>
                <a:spcPts val="0"/>
              </a:spcBef>
              <a:spcAft>
                <a:spcPts val="500"/>
              </a:spcAft>
            </a:pPr>
            <a:r>
              <a:rPr sz="1900" b="0">
                <a:solidFill>
                  <a:srgbClr val="172033"/>
                </a:solidFill>
                <a:latin typeface="Aptos"/>
              </a:rPr>
              <a:t>Three FIFO queues, cache requests and eviction rules.</a:t>
            </a:r>
          </a:p>
        </p:txBody>
      </p:sp>
      <p:sp>
        <p:nvSpPr>
          <p:cNvPr id="18" name="Rectangle 17"/>
          <p:cNvSpPr/>
          <p:nvPr/>
        </p:nvSpPr>
        <p:spPr>
          <a:xfrm>
            <a:off x="877824" y="4096511"/>
            <a:ext cx="10378440" cy="685800"/>
          </a:xfrm>
          <a:prstGeom prst="rect">
            <a:avLst/>
          </a:prstGeom>
          <a:solidFill>
            <a:srgbClr val="F1F6FD"/>
          </a:solidFill>
          <a:ln>
            <a:noFill/>
          </a:ln>
        </p:spPr>
        <p:txBody>
          <a:bodyPr rtlCol="0" anchor="ctr"/>
          <a:lstStyle/>
          <a:p>
            <a:pPr algn="ctr"/>
          </a:p>
        </p:txBody>
      </p:sp>
      <p:sp>
        <p:nvSpPr>
          <p:cNvPr id="19" name="TextBox 18"/>
          <p:cNvSpPr txBox="1"/>
          <p:nvPr/>
        </p:nvSpPr>
        <p:spPr>
          <a:xfrm>
            <a:off x="950976" y="4169663"/>
            <a:ext cx="1783080" cy="365760"/>
          </a:xfrm>
          <a:prstGeom prst="rect">
            <a:avLst/>
          </a:prstGeom>
          <a:noFill/>
        </p:spPr>
        <p:txBody>
          <a:bodyPr wrap="square" lIns="0" rIns="0" tIns="0" bIns="0">
            <a:spAutoFit/>
          </a:bodyPr>
          <a:lstStyle/>
          <a:p>
            <a:pPr algn="l">
              <a:lnSpc>
                <a:spcPct val="112000"/>
              </a:lnSpc>
              <a:spcBef>
                <a:spcPts val="0"/>
              </a:spcBef>
              <a:spcAft>
                <a:spcPts val="500"/>
              </a:spcAft>
            </a:pPr>
            <a:r>
              <a:rPr sz="2100" b="1">
                <a:solidFill>
                  <a:srgbClr val="172033"/>
                </a:solidFill>
                <a:latin typeface="Aptos"/>
              </a:rPr>
              <a:t>Member 3</a:t>
            </a:r>
          </a:p>
        </p:txBody>
      </p:sp>
      <p:sp>
        <p:nvSpPr>
          <p:cNvPr id="20" name="TextBox 19"/>
          <p:cNvSpPr txBox="1"/>
          <p:nvPr/>
        </p:nvSpPr>
        <p:spPr>
          <a:xfrm>
            <a:off x="2852928" y="4169663"/>
            <a:ext cx="1143000" cy="365760"/>
          </a:xfrm>
          <a:prstGeom prst="rect">
            <a:avLst/>
          </a:prstGeom>
          <a:noFill/>
        </p:spPr>
        <p:txBody>
          <a:bodyPr wrap="square" lIns="0" rIns="0" tIns="0" bIns="0">
            <a:spAutoFit/>
          </a:bodyPr>
          <a:lstStyle/>
          <a:p>
            <a:pPr algn="l">
              <a:lnSpc>
                <a:spcPct val="112000"/>
              </a:lnSpc>
              <a:spcBef>
                <a:spcPts val="0"/>
              </a:spcBef>
              <a:spcAft>
                <a:spcPts val="500"/>
              </a:spcAft>
            </a:pPr>
            <a:r>
              <a:rPr sz="2000" b="0">
                <a:solidFill>
                  <a:srgbClr val="2D6DAF"/>
                </a:solidFill>
                <a:latin typeface="Aptos"/>
              </a:rPr>
              <a:t>3 min</a:t>
            </a:r>
          </a:p>
        </p:txBody>
      </p:sp>
      <p:sp>
        <p:nvSpPr>
          <p:cNvPr id="21" name="TextBox 20"/>
          <p:cNvSpPr txBox="1"/>
          <p:nvPr/>
        </p:nvSpPr>
        <p:spPr>
          <a:xfrm>
            <a:off x="4224528" y="4169663"/>
            <a:ext cx="6693408" cy="566928"/>
          </a:xfrm>
          <a:prstGeom prst="rect">
            <a:avLst/>
          </a:prstGeom>
          <a:noFill/>
        </p:spPr>
        <p:txBody>
          <a:bodyPr wrap="square" lIns="0" rIns="0" tIns="0" bIns="0">
            <a:spAutoFit/>
          </a:bodyPr>
          <a:lstStyle/>
          <a:p>
            <a:pPr algn="l">
              <a:lnSpc>
                <a:spcPct val="112000"/>
              </a:lnSpc>
              <a:spcBef>
                <a:spcPts val="0"/>
              </a:spcBef>
              <a:spcAft>
                <a:spcPts val="500"/>
              </a:spcAft>
            </a:pPr>
            <a:r>
              <a:rPr sz="1900" b="0">
                <a:solidFill>
                  <a:srgbClr val="172033"/>
                </a:solidFill>
                <a:latin typeface="Aptos"/>
              </a:rPr>
              <a:t>Experimental setup, results, limitations and conclusion.</a:t>
            </a:r>
          </a:p>
        </p:txBody>
      </p:sp>
      <p:sp>
        <p:nvSpPr>
          <p:cNvPr id="22" name="Rounded Rectangle 21"/>
          <p:cNvSpPr/>
          <p:nvPr/>
        </p:nvSpPr>
        <p:spPr>
          <a:xfrm>
            <a:off x="731520" y="5632704"/>
            <a:ext cx="10789920" cy="475488"/>
          </a:xfrm>
          <a:prstGeom prst="roundRect">
            <a:avLst>
              <a:gd name="adj" fmla="val 12000"/>
            </a:avLst>
          </a:prstGeom>
          <a:solidFill>
            <a:srgbClr val="EAF3FF"/>
          </a:solidFill>
          <a:ln>
            <a:noFill/>
          </a:ln>
        </p:spPr>
        <p:txBody>
          <a:bodyPr rtlCol="0" anchor="ctr"/>
          <a:lstStyle/>
          <a:p>
            <a:pPr algn="ctr"/>
          </a:p>
        </p:txBody>
      </p:sp>
      <p:sp>
        <p:nvSpPr>
          <p:cNvPr id="23" name="TextBox 22"/>
          <p:cNvSpPr txBox="1"/>
          <p:nvPr/>
        </p:nvSpPr>
        <p:spPr>
          <a:xfrm>
            <a:off x="960120" y="5751576"/>
            <a:ext cx="10332720" cy="256032"/>
          </a:xfrm>
          <a:prstGeom prst="rect">
            <a:avLst/>
          </a:prstGeom>
          <a:noFill/>
        </p:spPr>
        <p:txBody>
          <a:bodyPr wrap="square" lIns="0" rIns="0" tIns="0" bIns="0">
            <a:spAutoFit/>
          </a:bodyPr>
          <a:lstStyle/>
          <a:p>
            <a:pPr algn="l">
              <a:lnSpc>
                <a:spcPct val="112000"/>
              </a:lnSpc>
              <a:spcBef>
                <a:spcPts val="0"/>
              </a:spcBef>
              <a:spcAft>
                <a:spcPts val="500"/>
              </a:spcAft>
            </a:pPr>
            <a:r>
              <a:rPr sz="1500" b="1">
                <a:solidFill>
                  <a:srgbClr val="13294B"/>
                </a:solidFill>
                <a:latin typeface="Aptos"/>
              </a:rPr>
              <a:t>10-minute theoretical presentation · Results are reported by the original paper’s authors.</a:t>
            </a:r>
          </a:p>
        </p:txBody>
      </p:sp>
      <p:sp>
        <p:nvSpPr>
          <p:cNvPr id="24" name="TextBox 23"/>
          <p:cNvSpPr txBox="1"/>
          <p:nvPr/>
        </p:nvSpPr>
        <p:spPr>
          <a:xfrm>
            <a:off x="530352" y="6537960"/>
            <a:ext cx="9875520" cy="182880"/>
          </a:xfrm>
          <a:prstGeom prst="rect">
            <a:avLst/>
          </a:prstGeom>
          <a:noFill/>
        </p:spPr>
        <p:txBody>
          <a:bodyPr wrap="square" lIns="0" rIns="0" tIns="0" bIns="0">
            <a:spAutoFit/>
          </a:bodyPr>
          <a:lstStyle/>
          <a:p>
            <a:pPr algn="l">
              <a:lnSpc>
                <a:spcPct val="112000"/>
              </a:lnSpc>
              <a:spcBef>
                <a:spcPts val="0"/>
              </a:spcBef>
              <a:spcAft>
                <a:spcPts val="500"/>
              </a:spcAft>
            </a:pPr>
            <a:r>
              <a:rPr sz="850" b="0">
                <a:solidFill>
                  <a:srgbClr val="738096"/>
                </a:solidFill>
                <a:latin typeface="Aptos"/>
              </a:rPr>
              <a:t>Yang et al., SOSP 2023 · Operating Systems · Theoretical Presentation</a:t>
            </a:r>
          </a:p>
        </p:txBody>
      </p:sp>
      <p:sp>
        <p:nvSpPr>
          <p:cNvPr id="25" name="TextBox 24"/>
          <p:cNvSpPr txBox="1"/>
          <p:nvPr/>
        </p:nvSpPr>
        <p:spPr>
          <a:xfrm>
            <a:off x="10744200" y="6537960"/>
            <a:ext cx="868680" cy="182880"/>
          </a:xfrm>
          <a:prstGeom prst="rect">
            <a:avLst/>
          </a:prstGeom>
          <a:noFill/>
        </p:spPr>
        <p:txBody>
          <a:bodyPr wrap="square" lIns="0" rIns="0" tIns="0" bIns="0">
            <a:spAutoFit/>
          </a:bodyPr>
          <a:lstStyle/>
          <a:p>
            <a:pPr algn="r">
              <a:lnSpc>
                <a:spcPct val="112000"/>
              </a:lnSpc>
              <a:spcBef>
                <a:spcPts val="0"/>
              </a:spcBef>
              <a:spcAft>
                <a:spcPts val="500"/>
              </a:spcAft>
            </a:pPr>
            <a:r>
              <a:rPr sz="850" b="0">
                <a:solidFill>
                  <a:srgbClr val="738096"/>
                </a:solidFill>
                <a:latin typeface="Aptos"/>
              </a:rPr>
              <a:t>Slide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3294B"/>
        </a:solidFill>
        <a:effectLst/>
      </p:bgPr>
    </p:bg>
    <p:spTree>
      <p:nvGrpSpPr>
        <p:cNvPr id="1" name=""/>
        <p:cNvGrpSpPr/>
        <p:nvPr/>
      </p:nvGrpSpPr>
      <p:grpSpPr/>
      <p:sp>
        <p:nvSpPr>
          <p:cNvPr id="2" name="TextBox 1"/>
          <p:cNvSpPr txBox="1"/>
          <p:nvPr/>
        </p:nvSpPr>
        <p:spPr>
          <a:xfrm>
            <a:off x="731520" y="960120"/>
            <a:ext cx="9144000" cy="365760"/>
          </a:xfrm>
          <a:prstGeom prst="rect">
            <a:avLst/>
          </a:prstGeom>
          <a:noFill/>
        </p:spPr>
        <p:txBody>
          <a:bodyPr wrap="square" lIns="0" rIns="0" tIns="0" bIns="0">
            <a:spAutoFit/>
          </a:bodyPr>
          <a:lstStyle/>
          <a:p>
            <a:pPr algn="l">
              <a:lnSpc>
                <a:spcPct val="112000"/>
              </a:lnSpc>
              <a:spcBef>
                <a:spcPts val="0"/>
              </a:spcBef>
              <a:spcAft>
                <a:spcPts val="500"/>
              </a:spcAft>
            </a:pPr>
            <a:r>
              <a:rPr sz="1600" b="1">
                <a:solidFill>
                  <a:srgbClr val="F5B841"/>
                </a:solidFill>
                <a:latin typeface="Aptos"/>
              </a:rPr>
              <a:t>PART 1 · MEMBER 1</a:t>
            </a:r>
          </a:p>
        </p:txBody>
      </p:sp>
      <p:sp>
        <p:nvSpPr>
          <p:cNvPr id="3" name="TextBox 2"/>
          <p:cNvSpPr txBox="1"/>
          <p:nvPr/>
        </p:nvSpPr>
        <p:spPr>
          <a:xfrm>
            <a:off x="713232" y="1737360"/>
            <a:ext cx="10652760" cy="1005840"/>
          </a:xfrm>
          <a:prstGeom prst="rect">
            <a:avLst/>
          </a:prstGeom>
          <a:noFill/>
        </p:spPr>
        <p:txBody>
          <a:bodyPr wrap="square" lIns="0" rIns="0" tIns="0" bIns="0">
            <a:spAutoFit/>
          </a:bodyPr>
          <a:lstStyle/>
          <a:p>
            <a:pPr algn="l">
              <a:lnSpc>
                <a:spcPct val="112000"/>
              </a:lnSpc>
              <a:spcBef>
                <a:spcPts val="0"/>
              </a:spcBef>
              <a:spcAft>
                <a:spcPts val="500"/>
              </a:spcAft>
            </a:pPr>
            <a:r>
              <a:rPr sz="3700" b="1">
                <a:solidFill>
                  <a:srgbClr val="FFFFFF"/>
                </a:solidFill>
                <a:latin typeface="Aptos Display"/>
              </a:rPr>
              <a:t>Background &amp; Motivation</a:t>
            </a:r>
          </a:p>
        </p:txBody>
      </p:sp>
      <p:sp>
        <p:nvSpPr>
          <p:cNvPr id="4" name="TextBox 3"/>
          <p:cNvSpPr txBox="1"/>
          <p:nvPr/>
        </p:nvSpPr>
        <p:spPr>
          <a:xfrm>
            <a:off x="777240" y="2871216"/>
            <a:ext cx="9784080" cy="822960"/>
          </a:xfrm>
          <a:prstGeom prst="rect">
            <a:avLst/>
          </a:prstGeom>
          <a:noFill/>
        </p:spPr>
        <p:txBody>
          <a:bodyPr wrap="square" lIns="0" rIns="0" tIns="0" bIns="0">
            <a:spAutoFit/>
          </a:bodyPr>
          <a:lstStyle/>
          <a:p>
            <a:pPr algn="l">
              <a:lnSpc>
                <a:spcPct val="112000"/>
              </a:lnSpc>
              <a:spcBef>
                <a:spcPts val="0"/>
              </a:spcBef>
              <a:spcAft>
                <a:spcPts val="500"/>
              </a:spcAft>
            </a:pPr>
            <a:r>
              <a:rPr sz="2100" b="0">
                <a:solidFill>
                  <a:srgbClr val="BED6F0"/>
                </a:solidFill>
                <a:latin typeface="Aptos"/>
              </a:rPr>
              <a:t>Why does a cache need a better eviction policy?</a:t>
            </a:r>
          </a:p>
        </p:txBody>
      </p:sp>
      <p:sp>
        <p:nvSpPr>
          <p:cNvPr id="5" name="Rectangle 4"/>
          <p:cNvSpPr/>
          <p:nvPr/>
        </p:nvSpPr>
        <p:spPr>
          <a:xfrm>
            <a:off x="822960" y="3977639"/>
            <a:ext cx="10515600" cy="16459"/>
          </a:xfrm>
          <a:prstGeom prst="rect">
            <a:avLst/>
          </a:prstGeom>
          <a:solidFill>
            <a:srgbClr val="F5B841"/>
          </a:solidFill>
          <a:ln>
            <a:noFill/>
          </a:ln>
        </p:spPr>
        <p:txBody>
          <a:bodyPr rtlCol="0" anchor="ctr"/>
          <a:lstStyle/>
          <a:p>
            <a:pPr algn="ctr"/>
          </a:p>
        </p:txBody>
      </p:sp>
      <p:sp>
        <p:nvSpPr>
          <p:cNvPr id="6" name="TextBox 5"/>
          <p:cNvSpPr txBox="1"/>
          <p:nvPr/>
        </p:nvSpPr>
        <p:spPr>
          <a:xfrm>
            <a:off x="822960" y="4297680"/>
            <a:ext cx="9144000" cy="365760"/>
          </a:xfrm>
          <a:prstGeom prst="rect">
            <a:avLst/>
          </a:prstGeom>
          <a:noFill/>
        </p:spPr>
        <p:txBody>
          <a:bodyPr wrap="square" lIns="0" rIns="0" tIns="0" bIns="0">
            <a:spAutoFit/>
          </a:bodyPr>
          <a:lstStyle/>
          <a:p>
            <a:pPr algn="l">
              <a:lnSpc>
                <a:spcPct val="112000"/>
              </a:lnSpc>
              <a:spcBef>
                <a:spcPts val="0"/>
              </a:spcBef>
              <a:spcAft>
                <a:spcPts val="500"/>
              </a:spcAft>
            </a:pPr>
            <a:r>
              <a:rPr sz="1500" b="0">
                <a:solidFill>
                  <a:srgbClr val="BED6F0"/>
                </a:solidFill>
                <a:latin typeface="Aptos"/>
              </a:rPr>
              <a:t>Background → FIFO vs LRU → One-hit Wonders</a:t>
            </a:r>
          </a:p>
        </p:txBody>
      </p:sp>
      <p:sp>
        <p:nvSpPr>
          <p:cNvPr id="7" name="TextBox 6"/>
          <p:cNvSpPr txBox="1"/>
          <p:nvPr/>
        </p:nvSpPr>
        <p:spPr>
          <a:xfrm>
            <a:off x="530352" y="6537960"/>
            <a:ext cx="9875520" cy="182880"/>
          </a:xfrm>
          <a:prstGeom prst="rect">
            <a:avLst/>
          </a:prstGeom>
          <a:noFill/>
        </p:spPr>
        <p:txBody>
          <a:bodyPr wrap="square" lIns="0" rIns="0" tIns="0" bIns="0">
            <a:spAutoFit/>
          </a:bodyPr>
          <a:lstStyle/>
          <a:p>
            <a:pPr algn="l">
              <a:lnSpc>
                <a:spcPct val="112000"/>
              </a:lnSpc>
              <a:spcBef>
                <a:spcPts val="0"/>
              </a:spcBef>
              <a:spcAft>
                <a:spcPts val="500"/>
              </a:spcAft>
            </a:pPr>
            <a:r>
              <a:rPr sz="850" b="0">
                <a:solidFill>
                  <a:srgbClr val="B8CBE0"/>
                </a:solidFill>
                <a:latin typeface="Aptos"/>
              </a:rPr>
              <a:t>Yang et al., SOSP 2023 · Operating Systems · Theoretical Presentation</a:t>
            </a:r>
          </a:p>
        </p:txBody>
      </p:sp>
      <p:sp>
        <p:nvSpPr>
          <p:cNvPr id="8" name="TextBox 7"/>
          <p:cNvSpPr txBox="1"/>
          <p:nvPr/>
        </p:nvSpPr>
        <p:spPr>
          <a:xfrm>
            <a:off x="10744200" y="6537960"/>
            <a:ext cx="868680" cy="182880"/>
          </a:xfrm>
          <a:prstGeom prst="rect">
            <a:avLst/>
          </a:prstGeom>
          <a:noFill/>
        </p:spPr>
        <p:txBody>
          <a:bodyPr wrap="square" lIns="0" rIns="0" tIns="0" bIns="0">
            <a:spAutoFit/>
          </a:bodyPr>
          <a:lstStyle/>
          <a:p>
            <a:pPr algn="r">
              <a:lnSpc>
                <a:spcPct val="112000"/>
              </a:lnSpc>
              <a:spcBef>
                <a:spcPts val="0"/>
              </a:spcBef>
              <a:spcAft>
                <a:spcPts val="500"/>
              </a:spcAft>
            </a:pPr>
            <a:r>
              <a:rPr sz="850" b="0">
                <a:solidFill>
                  <a:srgbClr val="B8CBE0"/>
                </a:solidFill>
                <a:latin typeface="Aptos"/>
              </a:rPr>
              <a:t>Slide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3294B"/>
          </a:solidFill>
          <a:ln>
            <a:noFill/>
          </a:ln>
        </p:spPr>
        <p:txBody>
          <a:bodyPr rtlCol="0" anchor="ctr"/>
          <a:lstStyle/>
          <a:p>
            <a:pPr algn="ctr"/>
          </a:p>
        </p:txBody>
      </p:sp>
      <p:sp>
        <p:nvSpPr>
          <p:cNvPr id="3" name="TextBox 2"/>
          <p:cNvSpPr txBox="1"/>
          <p:nvPr/>
        </p:nvSpPr>
        <p:spPr>
          <a:xfrm>
            <a:off x="457200" y="96012"/>
            <a:ext cx="5166360" cy="210312"/>
          </a:xfrm>
          <a:prstGeom prst="rect">
            <a:avLst/>
          </a:prstGeom>
          <a:noFill/>
        </p:spPr>
        <p:txBody>
          <a:bodyPr wrap="square" lIns="0" rIns="0" tIns="0" bIns="0">
            <a:spAutoFit/>
          </a:bodyPr>
          <a:lstStyle/>
          <a:p>
            <a:pPr algn="l">
              <a:lnSpc>
                <a:spcPct val="112000"/>
              </a:lnSpc>
              <a:spcBef>
                <a:spcPts val="0"/>
              </a:spcBef>
              <a:spcAft>
                <a:spcPts val="500"/>
              </a:spcAft>
            </a:pPr>
            <a:r>
              <a:rPr sz="950" b="1">
                <a:solidFill>
                  <a:srgbClr val="FFFFFF"/>
                </a:solidFill>
                <a:latin typeface="Aptos"/>
              </a:rPr>
              <a:t>Part 1 · Background</a:t>
            </a:r>
          </a:p>
        </p:txBody>
      </p:sp>
      <p:sp>
        <p:nvSpPr>
          <p:cNvPr id="4" name="TextBox 3"/>
          <p:cNvSpPr txBox="1"/>
          <p:nvPr/>
        </p:nvSpPr>
        <p:spPr>
          <a:xfrm>
            <a:off x="6400800" y="96012"/>
            <a:ext cx="5303520" cy="210312"/>
          </a:xfrm>
          <a:prstGeom prst="rect">
            <a:avLst/>
          </a:prstGeom>
          <a:noFill/>
        </p:spPr>
        <p:txBody>
          <a:bodyPr wrap="square" lIns="0" rIns="0" tIns="0" bIns="0">
            <a:spAutoFit/>
          </a:bodyPr>
          <a:lstStyle/>
          <a:p>
            <a:pPr algn="r">
              <a:lnSpc>
                <a:spcPct val="112000"/>
              </a:lnSpc>
              <a:spcBef>
                <a:spcPts val="0"/>
              </a:spcBef>
              <a:spcAft>
                <a:spcPts val="500"/>
              </a:spcAft>
            </a:pPr>
            <a:r>
              <a:rPr sz="950" b="0">
                <a:solidFill>
                  <a:srgbClr val="CFE8FF"/>
                </a:solidFill>
                <a:latin typeface="Aptos"/>
              </a:rPr>
              <a:t>S3-FIFO · FIFO Queues Are All You Need</a:t>
            </a:r>
          </a:p>
        </p:txBody>
      </p:sp>
      <p:sp>
        <p:nvSpPr>
          <p:cNvPr id="5" name="TextBox 4"/>
          <p:cNvSpPr txBox="1"/>
          <p:nvPr/>
        </p:nvSpPr>
        <p:spPr>
          <a:xfrm>
            <a:off x="548640" y="694944"/>
            <a:ext cx="10789920" cy="484632"/>
          </a:xfrm>
          <a:prstGeom prst="rect">
            <a:avLst/>
          </a:prstGeom>
          <a:noFill/>
        </p:spPr>
        <p:txBody>
          <a:bodyPr wrap="square" lIns="0" rIns="0" tIns="0" bIns="0">
            <a:spAutoFit/>
          </a:bodyPr>
          <a:lstStyle/>
          <a:p>
            <a:pPr algn="l">
              <a:lnSpc>
                <a:spcPct val="112000"/>
              </a:lnSpc>
              <a:spcBef>
                <a:spcPts val="0"/>
              </a:spcBef>
              <a:spcAft>
                <a:spcPts val="500"/>
              </a:spcAft>
            </a:pPr>
            <a:r>
              <a:rPr sz="2900" b="1">
                <a:solidFill>
                  <a:srgbClr val="172033"/>
                </a:solidFill>
                <a:latin typeface="Aptos Display"/>
              </a:rPr>
              <a:t>What Is Cache Eviction?</a:t>
            </a:r>
          </a:p>
        </p:txBody>
      </p:sp>
      <p:sp>
        <p:nvSpPr>
          <p:cNvPr id="6" name="TextBox 5"/>
          <p:cNvSpPr txBox="1"/>
          <p:nvPr/>
        </p:nvSpPr>
        <p:spPr>
          <a:xfrm>
            <a:off x="566928" y="1225296"/>
            <a:ext cx="10972800" cy="338328"/>
          </a:xfrm>
          <a:prstGeom prst="rect">
            <a:avLst/>
          </a:prstGeom>
          <a:noFill/>
        </p:spPr>
        <p:txBody>
          <a:bodyPr wrap="square" lIns="0" rIns="0" tIns="0" bIns="0">
            <a:spAutoFit/>
          </a:bodyPr>
          <a:lstStyle/>
          <a:p>
            <a:pPr algn="l">
              <a:lnSpc>
                <a:spcPct val="112000"/>
              </a:lnSpc>
              <a:spcBef>
                <a:spcPts val="0"/>
              </a:spcBef>
              <a:spcAft>
                <a:spcPts val="500"/>
              </a:spcAft>
            </a:pPr>
            <a:r>
              <a:rPr sz="1400" b="0">
                <a:solidFill>
                  <a:srgbClr val="5B6472"/>
                </a:solidFill>
                <a:latin typeface="Aptos"/>
              </a:rPr>
              <a:t>Cache space is fast but limited; the system must decide what stays and what goes.</a:t>
            </a:r>
          </a:p>
        </p:txBody>
      </p:sp>
      <p:sp>
        <p:nvSpPr>
          <p:cNvPr id="7" name="Rounded Rectangle 6"/>
          <p:cNvSpPr/>
          <p:nvPr/>
        </p:nvSpPr>
        <p:spPr>
          <a:xfrm>
            <a:off x="685800" y="1773936"/>
            <a:ext cx="5074920" cy="3611880"/>
          </a:xfrm>
          <a:prstGeom prst="roundRect">
            <a:avLst>
              <a:gd name="adj" fmla="val 12000"/>
            </a:avLst>
          </a:prstGeom>
          <a:solidFill>
            <a:srgbClr val="FFFFFF"/>
          </a:solidFill>
          <a:ln w="9525">
            <a:solidFill>
              <a:srgbClr val="DCE5EF"/>
            </a:solidFill>
          </a:ln>
        </p:spPr>
        <p:txBody>
          <a:bodyPr rtlCol="0" anchor="ctr"/>
          <a:lstStyle/>
          <a:p>
            <a:pPr algn="ctr"/>
          </a:p>
        </p:txBody>
      </p:sp>
      <p:sp>
        <p:nvSpPr>
          <p:cNvPr id="8" name="TextBox 7"/>
          <p:cNvSpPr txBox="1"/>
          <p:nvPr/>
        </p:nvSpPr>
        <p:spPr>
          <a:xfrm>
            <a:off x="987552" y="2066543"/>
            <a:ext cx="4471416" cy="2999232"/>
          </a:xfrm>
          <a:prstGeom prst="rect">
            <a:avLst/>
          </a:prstGeom>
          <a:noFill/>
        </p:spPr>
        <p:txBody>
          <a:bodyPr wrap="square" lIns="0" rIns="0" tIns="0" bIns="0">
            <a:spAutoFit/>
          </a:bodyPr>
          <a:lstStyle/>
          <a:p>
            <a:pPr algn="l">
              <a:lnSpc>
                <a:spcPct val="114000"/>
              </a:lnSpc>
              <a:spcBef>
                <a:spcPts val="0"/>
              </a:spcBef>
              <a:spcAft>
                <a:spcPts val="1700"/>
              </a:spcAft>
            </a:pPr>
            <a:r>
              <a:rPr sz="2200">
                <a:solidFill>
                  <a:srgbClr val="172033"/>
                </a:solidFill>
                <a:latin typeface="Aptos"/>
              </a:rPr>
              <a:t>A cache is a small and fast storage space that keeps data we may need again.</a:t>
            </a:r>
          </a:p>
          <a:p>
            <a:pPr>
              <a:lnSpc>
                <a:spcPct val="114000"/>
              </a:lnSpc>
              <a:spcAft>
                <a:spcPts val="1700"/>
              </a:spcAft>
            </a:pPr>
            <a:r>
              <a:rPr sz="2200">
                <a:solidFill>
                  <a:srgbClr val="172033"/>
                </a:solidFill>
                <a:latin typeface="Aptos"/>
              </a:rPr>
              <a:t>When the cache is full, the system must decide which data to remove.</a:t>
            </a:r>
          </a:p>
          <a:p>
            <a:pPr>
              <a:lnSpc>
                <a:spcPct val="114000"/>
              </a:lnSpc>
              <a:spcAft>
                <a:spcPts val="1700"/>
              </a:spcAft>
            </a:pPr>
            <a:r>
              <a:rPr sz="2200">
                <a:solidFill>
                  <a:srgbClr val="172033"/>
                </a:solidFill>
                <a:latin typeface="Aptos"/>
              </a:rPr>
              <a:t>This process is called cache eviction.</a:t>
            </a:r>
          </a:p>
        </p:txBody>
      </p:sp>
      <p:sp>
        <p:nvSpPr>
          <p:cNvPr id="9" name="Rounded Rectangle 8"/>
          <p:cNvSpPr/>
          <p:nvPr/>
        </p:nvSpPr>
        <p:spPr>
          <a:xfrm>
            <a:off x="5971032" y="1773936"/>
            <a:ext cx="5504688" cy="3611880"/>
          </a:xfrm>
          <a:prstGeom prst="roundRect">
            <a:avLst>
              <a:gd name="adj" fmla="val 12000"/>
            </a:avLst>
          </a:prstGeom>
          <a:solidFill>
            <a:srgbClr val="FFFFFF"/>
          </a:solidFill>
          <a:ln w="9525">
            <a:solidFill>
              <a:srgbClr val="DCE5EF"/>
            </a:solidFill>
          </a:ln>
        </p:spPr>
        <p:txBody>
          <a:bodyPr rtlCol="0" anchor="ctr"/>
          <a:lstStyle/>
          <a:p>
            <a:pPr algn="ctr"/>
          </a:p>
        </p:txBody>
      </p:sp>
      <p:sp>
        <p:nvSpPr>
          <p:cNvPr id="10" name="TextBox 9"/>
          <p:cNvSpPr txBox="1"/>
          <p:nvPr/>
        </p:nvSpPr>
        <p:spPr>
          <a:xfrm>
            <a:off x="6245352" y="2093976"/>
            <a:ext cx="4937760" cy="320040"/>
          </a:xfrm>
          <a:prstGeom prst="rect">
            <a:avLst/>
          </a:prstGeom>
          <a:noFill/>
        </p:spPr>
        <p:txBody>
          <a:bodyPr wrap="square" lIns="0" rIns="0" tIns="0" bIns="0">
            <a:spAutoFit/>
          </a:bodyPr>
          <a:lstStyle/>
          <a:p>
            <a:pPr algn="l">
              <a:lnSpc>
                <a:spcPct val="112000"/>
              </a:lnSpc>
              <a:spcBef>
                <a:spcPts val="0"/>
              </a:spcBef>
              <a:spcAft>
                <a:spcPts val="500"/>
              </a:spcAft>
            </a:pPr>
            <a:r>
              <a:rPr sz="1500" b="1">
                <a:solidFill>
                  <a:srgbClr val="5B6472"/>
                </a:solidFill>
                <a:latin typeface="Aptos"/>
              </a:rPr>
              <a:t>CACHE: ALL SLOTS OCCUPIED</a:t>
            </a:r>
          </a:p>
        </p:txBody>
      </p:sp>
      <p:sp>
        <p:nvSpPr>
          <p:cNvPr id="11" name="Rounded Rectangle 10"/>
          <p:cNvSpPr/>
          <p:nvPr/>
        </p:nvSpPr>
        <p:spPr>
          <a:xfrm>
            <a:off x="6309360" y="2834640"/>
            <a:ext cx="896112" cy="914400"/>
          </a:xfrm>
          <a:prstGeom prst="roundRect">
            <a:avLst>
              <a:gd name="adj" fmla="val 12000"/>
            </a:avLst>
          </a:prstGeom>
          <a:solidFill>
            <a:srgbClr val="FFFFFF"/>
          </a:solidFill>
          <a:ln w="9525">
            <a:solidFill>
              <a:srgbClr val="2D6DAF"/>
            </a:solidFill>
          </a:ln>
        </p:spPr>
        <p:txBody>
          <a:bodyPr rtlCol="0" anchor="ctr"/>
          <a:lstStyle/>
          <a:p>
            <a:pPr algn="ctr"/>
          </a:p>
        </p:txBody>
      </p:sp>
      <p:sp>
        <p:nvSpPr>
          <p:cNvPr id="12" name="TextBox 11"/>
          <p:cNvSpPr txBox="1"/>
          <p:nvPr/>
        </p:nvSpPr>
        <p:spPr>
          <a:xfrm>
            <a:off x="6419088" y="2980944"/>
            <a:ext cx="676656" cy="731520"/>
          </a:xfrm>
          <a:prstGeom prst="rect">
            <a:avLst/>
          </a:prstGeom>
          <a:noFill/>
        </p:spPr>
        <p:txBody>
          <a:bodyPr wrap="square" lIns="0" rIns="0" tIns="0" bIns="0">
            <a:spAutoFit/>
          </a:bodyPr>
          <a:lstStyle/>
          <a:p>
            <a:pPr algn="ctr">
              <a:lnSpc>
                <a:spcPct val="112000"/>
              </a:lnSpc>
              <a:spcBef>
                <a:spcPts val="0"/>
              </a:spcBef>
              <a:spcAft>
                <a:spcPts val="500"/>
              </a:spcAft>
            </a:pPr>
            <a:r>
              <a:rPr sz="2800" b="1">
                <a:solidFill>
                  <a:srgbClr val="2D6DAF"/>
                </a:solidFill>
                <a:latin typeface="Aptos"/>
              </a:rPr>
              <a:t>A</a:t>
            </a:r>
          </a:p>
        </p:txBody>
      </p:sp>
      <p:sp>
        <p:nvSpPr>
          <p:cNvPr id="13" name="Rounded Rectangle 12"/>
          <p:cNvSpPr/>
          <p:nvPr/>
        </p:nvSpPr>
        <p:spPr>
          <a:xfrm>
            <a:off x="7415783" y="2834640"/>
            <a:ext cx="896112" cy="914400"/>
          </a:xfrm>
          <a:prstGeom prst="roundRect">
            <a:avLst>
              <a:gd name="adj" fmla="val 12000"/>
            </a:avLst>
          </a:prstGeom>
          <a:solidFill>
            <a:srgbClr val="FFFFFF"/>
          </a:solidFill>
          <a:ln w="9525">
            <a:solidFill>
              <a:srgbClr val="2D6DAF"/>
            </a:solidFill>
          </a:ln>
        </p:spPr>
        <p:txBody>
          <a:bodyPr rtlCol="0" anchor="ctr"/>
          <a:lstStyle/>
          <a:p>
            <a:pPr algn="ctr"/>
          </a:p>
        </p:txBody>
      </p:sp>
      <p:sp>
        <p:nvSpPr>
          <p:cNvPr id="14" name="TextBox 13"/>
          <p:cNvSpPr txBox="1"/>
          <p:nvPr/>
        </p:nvSpPr>
        <p:spPr>
          <a:xfrm>
            <a:off x="7525511" y="2980944"/>
            <a:ext cx="676656" cy="731520"/>
          </a:xfrm>
          <a:prstGeom prst="rect">
            <a:avLst/>
          </a:prstGeom>
          <a:noFill/>
        </p:spPr>
        <p:txBody>
          <a:bodyPr wrap="square" lIns="0" rIns="0" tIns="0" bIns="0">
            <a:spAutoFit/>
          </a:bodyPr>
          <a:lstStyle/>
          <a:p>
            <a:pPr algn="ctr">
              <a:lnSpc>
                <a:spcPct val="112000"/>
              </a:lnSpc>
              <a:spcBef>
                <a:spcPts val="0"/>
              </a:spcBef>
              <a:spcAft>
                <a:spcPts val="500"/>
              </a:spcAft>
            </a:pPr>
            <a:r>
              <a:rPr sz="2800" b="1">
                <a:solidFill>
                  <a:srgbClr val="2D6DAF"/>
                </a:solidFill>
                <a:latin typeface="Aptos"/>
              </a:rPr>
              <a:t>B</a:t>
            </a:r>
          </a:p>
        </p:txBody>
      </p:sp>
      <p:sp>
        <p:nvSpPr>
          <p:cNvPr id="15" name="Rounded Rectangle 14"/>
          <p:cNvSpPr/>
          <p:nvPr/>
        </p:nvSpPr>
        <p:spPr>
          <a:xfrm>
            <a:off x="8522208" y="2834640"/>
            <a:ext cx="896112" cy="914400"/>
          </a:xfrm>
          <a:prstGeom prst="roundRect">
            <a:avLst>
              <a:gd name="adj" fmla="val 12000"/>
            </a:avLst>
          </a:prstGeom>
          <a:solidFill>
            <a:srgbClr val="FFFFFF"/>
          </a:solidFill>
          <a:ln w="9525">
            <a:solidFill>
              <a:srgbClr val="2D6DAF"/>
            </a:solidFill>
          </a:ln>
        </p:spPr>
        <p:txBody>
          <a:bodyPr rtlCol="0" anchor="ctr"/>
          <a:lstStyle/>
          <a:p>
            <a:pPr algn="ctr"/>
          </a:p>
        </p:txBody>
      </p:sp>
      <p:sp>
        <p:nvSpPr>
          <p:cNvPr id="16" name="TextBox 15"/>
          <p:cNvSpPr txBox="1"/>
          <p:nvPr/>
        </p:nvSpPr>
        <p:spPr>
          <a:xfrm>
            <a:off x="8631936" y="2980944"/>
            <a:ext cx="676656" cy="731520"/>
          </a:xfrm>
          <a:prstGeom prst="rect">
            <a:avLst/>
          </a:prstGeom>
          <a:noFill/>
        </p:spPr>
        <p:txBody>
          <a:bodyPr wrap="square" lIns="0" rIns="0" tIns="0" bIns="0">
            <a:spAutoFit/>
          </a:bodyPr>
          <a:lstStyle/>
          <a:p>
            <a:pPr algn="ctr">
              <a:lnSpc>
                <a:spcPct val="112000"/>
              </a:lnSpc>
              <a:spcBef>
                <a:spcPts val="0"/>
              </a:spcBef>
              <a:spcAft>
                <a:spcPts val="500"/>
              </a:spcAft>
            </a:pPr>
            <a:r>
              <a:rPr sz="2800" b="1">
                <a:solidFill>
                  <a:srgbClr val="2D6DAF"/>
                </a:solidFill>
                <a:latin typeface="Aptos"/>
              </a:rPr>
              <a:t>C</a:t>
            </a:r>
          </a:p>
        </p:txBody>
      </p:sp>
      <p:sp>
        <p:nvSpPr>
          <p:cNvPr id="17" name="Rounded Rectangle 16"/>
          <p:cNvSpPr/>
          <p:nvPr/>
        </p:nvSpPr>
        <p:spPr>
          <a:xfrm>
            <a:off x="10351008" y="2834640"/>
            <a:ext cx="850392" cy="914400"/>
          </a:xfrm>
          <a:prstGeom prst="roundRect">
            <a:avLst>
              <a:gd name="adj" fmla="val 12000"/>
            </a:avLst>
          </a:prstGeom>
          <a:solidFill>
            <a:srgbClr val="FFFFFF"/>
          </a:solidFill>
          <a:ln w="9525">
            <a:solidFill>
              <a:srgbClr val="D9852A"/>
            </a:solidFill>
          </a:ln>
        </p:spPr>
        <p:txBody>
          <a:bodyPr rtlCol="0" anchor="ctr"/>
          <a:lstStyle/>
          <a:p>
            <a:pPr algn="ctr"/>
          </a:p>
        </p:txBody>
      </p:sp>
      <p:sp>
        <p:nvSpPr>
          <p:cNvPr id="18" name="TextBox 17"/>
          <p:cNvSpPr txBox="1"/>
          <p:nvPr/>
        </p:nvSpPr>
        <p:spPr>
          <a:xfrm>
            <a:off x="10460736" y="2980944"/>
            <a:ext cx="630936" cy="731520"/>
          </a:xfrm>
          <a:prstGeom prst="rect">
            <a:avLst/>
          </a:prstGeom>
          <a:noFill/>
        </p:spPr>
        <p:txBody>
          <a:bodyPr wrap="square" lIns="0" rIns="0" tIns="0" bIns="0">
            <a:spAutoFit/>
          </a:bodyPr>
          <a:lstStyle/>
          <a:p>
            <a:pPr algn="ctr">
              <a:lnSpc>
                <a:spcPct val="112000"/>
              </a:lnSpc>
              <a:spcBef>
                <a:spcPts val="0"/>
              </a:spcBef>
              <a:spcAft>
                <a:spcPts val="500"/>
              </a:spcAft>
            </a:pPr>
            <a:r>
              <a:rPr sz="2800" b="1">
                <a:solidFill>
                  <a:srgbClr val="D9852A"/>
                </a:solidFill>
                <a:latin typeface="Aptos"/>
              </a:rPr>
              <a:t>D</a:t>
            </a:r>
          </a:p>
        </p:txBody>
      </p:sp>
      <p:cxnSp>
        <p:nvCxnSpPr>
          <p:cNvPr id="19" name="Connector 18"/>
          <p:cNvCxnSpPr/>
          <p:nvPr/>
        </p:nvCxnSpPr>
        <p:spPr>
          <a:xfrm flipH="1">
            <a:off x="9619488" y="3291840"/>
            <a:ext cx="603504" cy="0"/>
          </a:xfrm>
          <a:prstGeom prst="line">
            <a:avLst/>
          </a:prstGeom>
          <a:ln w="22860">
            <a:solidFill>
              <a:srgbClr val="D9852A"/>
            </a:solidFill>
            <a:tailEnd type="triangle"/>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10030968" y="3968496"/>
            <a:ext cx="1463040" cy="365760"/>
          </a:xfrm>
          <a:prstGeom prst="rect">
            <a:avLst/>
          </a:prstGeom>
          <a:noFill/>
        </p:spPr>
        <p:txBody>
          <a:bodyPr wrap="square" lIns="0" rIns="0" tIns="0" bIns="0">
            <a:spAutoFit/>
          </a:bodyPr>
          <a:lstStyle/>
          <a:p>
            <a:pPr algn="ctr">
              <a:lnSpc>
                <a:spcPct val="112000"/>
              </a:lnSpc>
              <a:spcBef>
                <a:spcPts val="0"/>
              </a:spcBef>
              <a:spcAft>
                <a:spcPts val="500"/>
              </a:spcAft>
            </a:pPr>
            <a:r>
              <a:rPr sz="1400" b="0">
                <a:solidFill>
                  <a:srgbClr val="D9852A"/>
                </a:solidFill>
                <a:latin typeface="Aptos"/>
              </a:rPr>
              <a:t>New object</a:t>
            </a:r>
          </a:p>
        </p:txBody>
      </p:sp>
      <p:sp>
        <p:nvSpPr>
          <p:cNvPr id="21" name="TextBox 20"/>
          <p:cNvSpPr txBox="1"/>
          <p:nvPr/>
        </p:nvSpPr>
        <p:spPr>
          <a:xfrm>
            <a:off x="6336792" y="4599432"/>
            <a:ext cx="4718304" cy="548640"/>
          </a:xfrm>
          <a:prstGeom prst="rect">
            <a:avLst/>
          </a:prstGeom>
          <a:noFill/>
        </p:spPr>
        <p:txBody>
          <a:bodyPr wrap="square" lIns="0" rIns="0" tIns="0" bIns="0">
            <a:spAutoFit/>
          </a:bodyPr>
          <a:lstStyle/>
          <a:p>
            <a:pPr algn="l">
              <a:lnSpc>
                <a:spcPct val="112000"/>
              </a:lnSpc>
              <a:spcBef>
                <a:spcPts val="0"/>
              </a:spcBef>
              <a:spcAft>
                <a:spcPts val="500"/>
              </a:spcAft>
            </a:pPr>
            <a:r>
              <a:rPr sz="2200" b="1">
                <a:solidFill>
                  <a:srgbClr val="172033"/>
                </a:solidFill>
                <a:latin typeface="Aptos"/>
              </a:rPr>
              <a:t>Which object should leave?</a:t>
            </a:r>
          </a:p>
        </p:txBody>
      </p:sp>
      <p:sp>
        <p:nvSpPr>
          <p:cNvPr id="22" name="Rounded Rectangle 21"/>
          <p:cNvSpPr/>
          <p:nvPr/>
        </p:nvSpPr>
        <p:spPr>
          <a:xfrm>
            <a:off x="731520" y="5632704"/>
            <a:ext cx="10789920" cy="475488"/>
          </a:xfrm>
          <a:prstGeom prst="roundRect">
            <a:avLst>
              <a:gd name="adj" fmla="val 12000"/>
            </a:avLst>
          </a:prstGeom>
          <a:solidFill>
            <a:srgbClr val="EAF3FF"/>
          </a:solidFill>
          <a:ln>
            <a:noFill/>
          </a:ln>
        </p:spPr>
        <p:txBody>
          <a:bodyPr rtlCol="0" anchor="ctr"/>
          <a:lstStyle/>
          <a:p>
            <a:pPr algn="ctr"/>
          </a:p>
        </p:txBody>
      </p:sp>
      <p:sp>
        <p:nvSpPr>
          <p:cNvPr id="23" name="TextBox 22"/>
          <p:cNvSpPr txBox="1"/>
          <p:nvPr/>
        </p:nvSpPr>
        <p:spPr>
          <a:xfrm>
            <a:off x="960120" y="5751576"/>
            <a:ext cx="10332720" cy="256032"/>
          </a:xfrm>
          <a:prstGeom prst="rect">
            <a:avLst/>
          </a:prstGeom>
          <a:noFill/>
        </p:spPr>
        <p:txBody>
          <a:bodyPr wrap="square" lIns="0" rIns="0" tIns="0" bIns="0">
            <a:spAutoFit/>
          </a:bodyPr>
          <a:lstStyle/>
          <a:p>
            <a:pPr algn="l">
              <a:lnSpc>
                <a:spcPct val="112000"/>
              </a:lnSpc>
              <a:spcBef>
                <a:spcPts val="0"/>
              </a:spcBef>
              <a:spcAft>
                <a:spcPts val="500"/>
              </a:spcAft>
            </a:pPr>
            <a:r>
              <a:rPr sz="1500" b="1">
                <a:solidFill>
                  <a:srgbClr val="13294B"/>
                </a:solidFill>
                <a:latin typeface="Aptos"/>
              </a:rPr>
              <a:t>Key question: what should stay in the cache, and what should go?</a:t>
            </a:r>
          </a:p>
        </p:txBody>
      </p:sp>
      <p:sp>
        <p:nvSpPr>
          <p:cNvPr id="24" name="TextBox 23"/>
          <p:cNvSpPr txBox="1"/>
          <p:nvPr/>
        </p:nvSpPr>
        <p:spPr>
          <a:xfrm>
            <a:off x="530352" y="6281928"/>
            <a:ext cx="11064240" cy="210312"/>
          </a:xfrm>
          <a:prstGeom prst="rect">
            <a:avLst/>
          </a:prstGeom>
          <a:noFill/>
        </p:spPr>
        <p:txBody>
          <a:bodyPr wrap="square" lIns="0" rIns="0" tIns="0" bIns="0">
            <a:spAutoFit/>
          </a:bodyPr>
          <a:lstStyle/>
          <a:p>
            <a:pPr algn="l">
              <a:lnSpc>
                <a:spcPct val="112000"/>
              </a:lnSpc>
              <a:spcBef>
                <a:spcPts val="0"/>
              </a:spcBef>
              <a:spcAft>
                <a:spcPts val="500"/>
              </a:spcAft>
            </a:pPr>
            <a:r>
              <a:rPr sz="919" b="0">
                <a:solidFill>
                  <a:srgbClr val="738096"/>
                </a:solidFill>
                <a:latin typeface="Aptos"/>
              </a:rPr>
              <a:t>Source: Yang et al., SOSP 2023, §§1–2.</a:t>
            </a:r>
          </a:p>
        </p:txBody>
      </p:sp>
      <p:sp>
        <p:nvSpPr>
          <p:cNvPr id="25" name="TextBox 24"/>
          <p:cNvSpPr txBox="1"/>
          <p:nvPr/>
        </p:nvSpPr>
        <p:spPr>
          <a:xfrm>
            <a:off x="530352" y="6537960"/>
            <a:ext cx="9875520" cy="182880"/>
          </a:xfrm>
          <a:prstGeom prst="rect">
            <a:avLst/>
          </a:prstGeom>
          <a:noFill/>
        </p:spPr>
        <p:txBody>
          <a:bodyPr wrap="square" lIns="0" rIns="0" tIns="0" bIns="0">
            <a:spAutoFit/>
          </a:bodyPr>
          <a:lstStyle/>
          <a:p>
            <a:pPr algn="l">
              <a:lnSpc>
                <a:spcPct val="112000"/>
              </a:lnSpc>
              <a:spcBef>
                <a:spcPts val="0"/>
              </a:spcBef>
              <a:spcAft>
                <a:spcPts val="500"/>
              </a:spcAft>
            </a:pPr>
            <a:r>
              <a:rPr sz="850" b="0">
                <a:solidFill>
                  <a:srgbClr val="738096"/>
                </a:solidFill>
                <a:latin typeface="Aptos"/>
              </a:rPr>
              <a:t>Yang et al., SOSP 2023 · Operating Systems · Theoretical Presentation</a:t>
            </a:r>
          </a:p>
        </p:txBody>
      </p:sp>
      <p:sp>
        <p:nvSpPr>
          <p:cNvPr id="26" name="TextBox 25"/>
          <p:cNvSpPr txBox="1"/>
          <p:nvPr/>
        </p:nvSpPr>
        <p:spPr>
          <a:xfrm>
            <a:off x="10744200" y="6537960"/>
            <a:ext cx="868680" cy="182880"/>
          </a:xfrm>
          <a:prstGeom prst="rect">
            <a:avLst/>
          </a:prstGeom>
          <a:noFill/>
        </p:spPr>
        <p:txBody>
          <a:bodyPr wrap="square" lIns="0" rIns="0" tIns="0" bIns="0">
            <a:spAutoFit/>
          </a:bodyPr>
          <a:lstStyle/>
          <a:p>
            <a:pPr algn="r">
              <a:lnSpc>
                <a:spcPct val="112000"/>
              </a:lnSpc>
              <a:spcBef>
                <a:spcPts val="0"/>
              </a:spcBef>
              <a:spcAft>
                <a:spcPts val="500"/>
              </a:spcAft>
            </a:pPr>
            <a:r>
              <a:rPr sz="850" b="0">
                <a:solidFill>
                  <a:srgbClr val="738096"/>
                </a:solidFill>
                <a:latin typeface="Aptos"/>
              </a:rPr>
              <a:t>Slide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3294B"/>
          </a:solidFill>
          <a:ln>
            <a:noFill/>
          </a:ln>
        </p:spPr>
        <p:txBody>
          <a:bodyPr rtlCol="0" anchor="ctr"/>
          <a:lstStyle/>
          <a:p>
            <a:pPr algn="ctr"/>
          </a:p>
        </p:txBody>
      </p:sp>
      <p:sp>
        <p:nvSpPr>
          <p:cNvPr id="3" name="TextBox 2"/>
          <p:cNvSpPr txBox="1"/>
          <p:nvPr/>
        </p:nvSpPr>
        <p:spPr>
          <a:xfrm>
            <a:off x="457200" y="96012"/>
            <a:ext cx="5166360" cy="210312"/>
          </a:xfrm>
          <a:prstGeom prst="rect">
            <a:avLst/>
          </a:prstGeom>
          <a:noFill/>
        </p:spPr>
        <p:txBody>
          <a:bodyPr wrap="square" lIns="0" rIns="0" tIns="0" bIns="0">
            <a:spAutoFit/>
          </a:bodyPr>
          <a:lstStyle/>
          <a:p>
            <a:pPr algn="l">
              <a:lnSpc>
                <a:spcPct val="112000"/>
              </a:lnSpc>
              <a:spcBef>
                <a:spcPts val="0"/>
              </a:spcBef>
              <a:spcAft>
                <a:spcPts val="500"/>
              </a:spcAft>
            </a:pPr>
            <a:r>
              <a:rPr sz="950" b="1">
                <a:solidFill>
                  <a:srgbClr val="FFFFFF"/>
                </a:solidFill>
                <a:latin typeface="Aptos"/>
              </a:rPr>
              <a:t>Part 1 · Traditional Algorithms</a:t>
            </a:r>
          </a:p>
        </p:txBody>
      </p:sp>
      <p:sp>
        <p:nvSpPr>
          <p:cNvPr id="4" name="TextBox 3"/>
          <p:cNvSpPr txBox="1"/>
          <p:nvPr/>
        </p:nvSpPr>
        <p:spPr>
          <a:xfrm>
            <a:off x="6400800" y="96012"/>
            <a:ext cx="5303520" cy="210312"/>
          </a:xfrm>
          <a:prstGeom prst="rect">
            <a:avLst/>
          </a:prstGeom>
          <a:noFill/>
        </p:spPr>
        <p:txBody>
          <a:bodyPr wrap="square" lIns="0" rIns="0" tIns="0" bIns="0">
            <a:spAutoFit/>
          </a:bodyPr>
          <a:lstStyle/>
          <a:p>
            <a:pPr algn="r">
              <a:lnSpc>
                <a:spcPct val="112000"/>
              </a:lnSpc>
              <a:spcBef>
                <a:spcPts val="0"/>
              </a:spcBef>
              <a:spcAft>
                <a:spcPts val="500"/>
              </a:spcAft>
            </a:pPr>
            <a:r>
              <a:rPr sz="950" b="0">
                <a:solidFill>
                  <a:srgbClr val="CFE8FF"/>
                </a:solidFill>
                <a:latin typeface="Aptos"/>
              </a:rPr>
              <a:t>S3-FIFO · FIFO Queues Are All You Need</a:t>
            </a:r>
          </a:p>
        </p:txBody>
      </p:sp>
      <p:sp>
        <p:nvSpPr>
          <p:cNvPr id="5" name="TextBox 4"/>
          <p:cNvSpPr txBox="1"/>
          <p:nvPr/>
        </p:nvSpPr>
        <p:spPr>
          <a:xfrm>
            <a:off x="548640" y="694944"/>
            <a:ext cx="10789920" cy="484632"/>
          </a:xfrm>
          <a:prstGeom prst="rect">
            <a:avLst/>
          </a:prstGeom>
          <a:noFill/>
        </p:spPr>
        <p:txBody>
          <a:bodyPr wrap="square" lIns="0" rIns="0" tIns="0" bIns="0">
            <a:spAutoFit/>
          </a:bodyPr>
          <a:lstStyle/>
          <a:p>
            <a:pPr algn="l">
              <a:lnSpc>
                <a:spcPct val="112000"/>
              </a:lnSpc>
              <a:spcBef>
                <a:spcPts val="0"/>
              </a:spcBef>
              <a:spcAft>
                <a:spcPts val="500"/>
              </a:spcAft>
            </a:pPr>
            <a:r>
              <a:rPr sz="2900" b="1">
                <a:solidFill>
                  <a:srgbClr val="172033"/>
                </a:solidFill>
                <a:latin typeface="Aptos Display"/>
              </a:rPr>
              <a:t>FIFO vs LRU</a:t>
            </a:r>
          </a:p>
        </p:txBody>
      </p:sp>
      <p:sp>
        <p:nvSpPr>
          <p:cNvPr id="6" name="TextBox 5"/>
          <p:cNvSpPr txBox="1"/>
          <p:nvPr/>
        </p:nvSpPr>
        <p:spPr>
          <a:xfrm>
            <a:off x="566928" y="1225296"/>
            <a:ext cx="10972800" cy="338328"/>
          </a:xfrm>
          <a:prstGeom prst="rect">
            <a:avLst/>
          </a:prstGeom>
          <a:noFill/>
        </p:spPr>
        <p:txBody>
          <a:bodyPr wrap="square" lIns="0" rIns="0" tIns="0" bIns="0">
            <a:spAutoFit/>
          </a:bodyPr>
          <a:lstStyle/>
          <a:p>
            <a:pPr algn="l">
              <a:lnSpc>
                <a:spcPct val="112000"/>
              </a:lnSpc>
              <a:spcBef>
                <a:spcPts val="0"/>
              </a:spcBef>
              <a:spcAft>
                <a:spcPts val="500"/>
              </a:spcAft>
            </a:pPr>
            <a:r>
              <a:rPr sz="1400" b="0">
                <a:solidFill>
                  <a:srgbClr val="5B6472"/>
                </a:solidFill>
                <a:latin typeface="Aptos"/>
              </a:rPr>
              <a:t>Both choose eviction candidates, but their update costs are different.</a:t>
            </a:r>
          </a:p>
        </p:txBody>
      </p:sp>
      <p:sp>
        <p:nvSpPr>
          <p:cNvPr id="7" name="Rounded Rectangle 6"/>
          <p:cNvSpPr/>
          <p:nvPr/>
        </p:nvSpPr>
        <p:spPr>
          <a:xfrm>
            <a:off x="685800" y="1783080"/>
            <a:ext cx="5285232" cy="3630168"/>
          </a:xfrm>
          <a:prstGeom prst="roundRect">
            <a:avLst>
              <a:gd name="adj" fmla="val 12000"/>
            </a:avLst>
          </a:prstGeom>
          <a:solidFill>
            <a:srgbClr val="FFFFFF"/>
          </a:solidFill>
          <a:ln w="9525">
            <a:solidFill>
              <a:srgbClr val="DCE5EF"/>
            </a:solidFill>
          </a:ln>
        </p:spPr>
        <p:txBody>
          <a:bodyPr rtlCol="0" anchor="ctr"/>
          <a:lstStyle/>
          <a:p>
            <a:pPr algn="ctr"/>
          </a:p>
        </p:txBody>
      </p:sp>
      <p:sp>
        <p:nvSpPr>
          <p:cNvPr id="8" name="TextBox 7"/>
          <p:cNvSpPr txBox="1"/>
          <p:nvPr/>
        </p:nvSpPr>
        <p:spPr>
          <a:xfrm>
            <a:off x="960120" y="1993392"/>
            <a:ext cx="4736592" cy="502920"/>
          </a:xfrm>
          <a:prstGeom prst="rect">
            <a:avLst/>
          </a:prstGeom>
          <a:noFill/>
        </p:spPr>
        <p:txBody>
          <a:bodyPr wrap="square" lIns="0" rIns="0" tIns="0" bIns="0">
            <a:spAutoFit/>
          </a:bodyPr>
          <a:lstStyle/>
          <a:p>
            <a:pPr algn="l">
              <a:lnSpc>
                <a:spcPct val="112000"/>
              </a:lnSpc>
              <a:spcBef>
                <a:spcPts val="0"/>
              </a:spcBef>
              <a:spcAft>
                <a:spcPts val="500"/>
              </a:spcAft>
            </a:pPr>
            <a:r>
              <a:rPr sz="3000" b="1">
                <a:solidFill>
                  <a:srgbClr val="2D6DAF"/>
                </a:solidFill>
                <a:latin typeface="Aptos"/>
              </a:rPr>
              <a:t>FIFO</a:t>
            </a:r>
          </a:p>
        </p:txBody>
      </p:sp>
      <p:sp>
        <p:nvSpPr>
          <p:cNvPr id="9" name="TextBox 8"/>
          <p:cNvSpPr txBox="1"/>
          <p:nvPr/>
        </p:nvSpPr>
        <p:spPr>
          <a:xfrm>
            <a:off x="960120" y="2587752"/>
            <a:ext cx="4736592" cy="320040"/>
          </a:xfrm>
          <a:prstGeom prst="rect">
            <a:avLst/>
          </a:prstGeom>
          <a:noFill/>
        </p:spPr>
        <p:txBody>
          <a:bodyPr wrap="square" lIns="0" rIns="0" tIns="0" bIns="0">
            <a:spAutoFit/>
          </a:bodyPr>
          <a:lstStyle/>
          <a:p>
            <a:pPr algn="l">
              <a:lnSpc>
                <a:spcPct val="112000"/>
              </a:lnSpc>
              <a:spcBef>
                <a:spcPts val="0"/>
              </a:spcBef>
              <a:spcAft>
                <a:spcPts val="500"/>
              </a:spcAft>
            </a:pPr>
            <a:r>
              <a:rPr sz="1600" b="0">
                <a:solidFill>
                  <a:srgbClr val="5B6472"/>
                </a:solidFill>
                <a:latin typeface="Aptos"/>
              </a:rPr>
              <a:t>First In, First Out</a:t>
            </a:r>
          </a:p>
        </p:txBody>
      </p:sp>
      <p:sp>
        <p:nvSpPr>
          <p:cNvPr id="10" name="TextBox 9"/>
          <p:cNvSpPr txBox="1"/>
          <p:nvPr/>
        </p:nvSpPr>
        <p:spPr>
          <a:xfrm>
            <a:off x="960120" y="3108960"/>
            <a:ext cx="4709160" cy="2057400"/>
          </a:xfrm>
          <a:prstGeom prst="rect">
            <a:avLst/>
          </a:prstGeom>
          <a:noFill/>
        </p:spPr>
        <p:txBody>
          <a:bodyPr wrap="square" lIns="0" rIns="0" tIns="0" bIns="0">
            <a:spAutoFit/>
          </a:bodyPr>
          <a:lstStyle/>
          <a:p>
            <a:pPr algn="l">
              <a:lnSpc>
                <a:spcPct val="114000"/>
              </a:lnSpc>
              <a:spcBef>
                <a:spcPts val="0"/>
              </a:spcBef>
              <a:spcAft>
                <a:spcPts val="1800"/>
              </a:spcAft>
            </a:pPr>
            <a:r>
              <a:rPr sz="2100">
                <a:solidFill>
                  <a:srgbClr val="172033"/>
                </a:solidFill>
                <a:latin typeface="Aptos"/>
              </a:rPr>
              <a:t>It removes the data that entered the cache first.</a:t>
            </a:r>
          </a:p>
          <a:p>
            <a:pPr>
              <a:lnSpc>
                <a:spcPct val="114000"/>
              </a:lnSpc>
              <a:spcAft>
                <a:spcPts val="1800"/>
              </a:spcAft>
            </a:pPr>
            <a:r>
              <a:rPr sz="2100">
                <a:solidFill>
                  <a:srgbClr val="172033"/>
                </a:solidFill>
                <a:latin typeface="Aptos"/>
              </a:rPr>
              <a:t>FIFO is simple and fast, but it may remove useful data.</a:t>
            </a:r>
          </a:p>
        </p:txBody>
      </p:sp>
      <p:sp>
        <p:nvSpPr>
          <p:cNvPr id="11" name="Rounded Rectangle 10"/>
          <p:cNvSpPr/>
          <p:nvPr/>
        </p:nvSpPr>
        <p:spPr>
          <a:xfrm>
            <a:off x="6190488" y="1783080"/>
            <a:ext cx="5285232" cy="3630168"/>
          </a:xfrm>
          <a:prstGeom prst="roundRect">
            <a:avLst>
              <a:gd name="adj" fmla="val 12000"/>
            </a:avLst>
          </a:prstGeom>
          <a:solidFill>
            <a:srgbClr val="FFFFFF"/>
          </a:solidFill>
          <a:ln w="9525">
            <a:solidFill>
              <a:srgbClr val="DCE5EF"/>
            </a:solidFill>
          </a:ln>
        </p:spPr>
        <p:txBody>
          <a:bodyPr rtlCol="0" anchor="ctr"/>
          <a:lstStyle/>
          <a:p>
            <a:pPr algn="ctr"/>
          </a:p>
        </p:txBody>
      </p:sp>
      <p:sp>
        <p:nvSpPr>
          <p:cNvPr id="12" name="TextBox 11"/>
          <p:cNvSpPr txBox="1"/>
          <p:nvPr/>
        </p:nvSpPr>
        <p:spPr>
          <a:xfrm>
            <a:off x="6464807" y="1993392"/>
            <a:ext cx="4736592" cy="502920"/>
          </a:xfrm>
          <a:prstGeom prst="rect">
            <a:avLst/>
          </a:prstGeom>
          <a:noFill/>
        </p:spPr>
        <p:txBody>
          <a:bodyPr wrap="square" lIns="0" rIns="0" tIns="0" bIns="0">
            <a:spAutoFit/>
          </a:bodyPr>
          <a:lstStyle/>
          <a:p>
            <a:pPr algn="l">
              <a:lnSpc>
                <a:spcPct val="112000"/>
              </a:lnSpc>
              <a:spcBef>
                <a:spcPts val="0"/>
              </a:spcBef>
              <a:spcAft>
                <a:spcPts val="500"/>
              </a:spcAft>
            </a:pPr>
            <a:r>
              <a:rPr sz="3000" b="1">
                <a:solidFill>
                  <a:srgbClr val="238B6D"/>
                </a:solidFill>
                <a:latin typeface="Aptos"/>
              </a:rPr>
              <a:t>LRU</a:t>
            </a:r>
          </a:p>
        </p:txBody>
      </p:sp>
      <p:sp>
        <p:nvSpPr>
          <p:cNvPr id="13" name="TextBox 12"/>
          <p:cNvSpPr txBox="1"/>
          <p:nvPr/>
        </p:nvSpPr>
        <p:spPr>
          <a:xfrm>
            <a:off x="6464807" y="2587752"/>
            <a:ext cx="4736592" cy="320040"/>
          </a:xfrm>
          <a:prstGeom prst="rect">
            <a:avLst/>
          </a:prstGeom>
          <a:noFill/>
        </p:spPr>
        <p:txBody>
          <a:bodyPr wrap="square" lIns="0" rIns="0" tIns="0" bIns="0">
            <a:spAutoFit/>
          </a:bodyPr>
          <a:lstStyle/>
          <a:p>
            <a:pPr algn="l">
              <a:lnSpc>
                <a:spcPct val="112000"/>
              </a:lnSpc>
              <a:spcBef>
                <a:spcPts val="0"/>
              </a:spcBef>
              <a:spcAft>
                <a:spcPts val="500"/>
              </a:spcAft>
            </a:pPr>
            <a:r>
              <a:rPr sz="1600" b="0">
                <a:solidFill>
                  <a:srgbClr val="5B6472"/>
                </a:solidFill>
                <a:latin typeface="Aptos"/>
              </a:rPr>
              <a:t>Least Recently Used</a:t>
            </a:r>
          </a:p>
        </p:txBody>
      </p:sp>
      <p:sp>
        <p:nvSpPr>
          <p:cNvPr id="14" name="TextBox 13"/>
          <p:cNvSpPr txBox="1"/>
          <p:nvPr/>
        </p:nvSpPr>
        <p:spPr>
          <a:xfrm>
            <a:off x="6464807" y="3108960"/>
            <a:ext cx="4709160" cy="2057400"/>
          </a:xfrm>
          <a:prstGeom prst="rect">
            <a:avLst/>
          </a:prstGeom>
          <a:noFill/>
        </p:spPr>
        <p:txBody>
          <a:bodyPr wrap="square" lIns="0" rIns="0" tIns="0" bIns="0">
            <a:spAutoFit/>
          </a:bodyPr>
          <a:lstStyle/>
          <a:p>
            <a:pPr algn="l">
              <a:lnSpc>
                <a:spcPct val="114000"/>
              </a:lnSpc>
              <a:spcBef>
                <a:spcPts val="0"/>
              </a:spcBef>
              <a:spcAft>
                <a:spcPts val="1800"/>
              </a:spcAft>
            </a:pPr>
            <a:r>
              <a:rPr sz="2100">
                <a:solidFill>
                  <a:srgbClr val="172033"/>
                </a:solidFill>
                <a:latin typeface="Aptos"/>
              </a:rPr>
              <a:t>It removes data that has not been used for the longest time.</a:t>
            </a:r>
          </a:p>
          <a:p>
            <a:pPr>
              <a:lnSpc>
                <a:spcPct val="114000"/>
              </a:lnSpc>
              <a:spcAft>
                <a:spcPts val="1800"/>
              </a:spcAft>
            </a:pPr>
            <a:r>
              <a:rPr sz="2100">
                <a:solidFill>
                  <a:srgbClr val="172033"/>
                </a:solidFill>
                <a:latin typeface="Aptos"/>
              </a:rPr>
              <a:t>LRU updates object order on access. This can slow the system down when many threads work together.</a:t>
            </a:r>
          </a:p>
        </p:txBody>
      </p:sp>
      <p:sp>
        <p:nvSpPr>
          <p:cNvPr id="15" name="Rounded Rectangle 14"/>
          <p:cNvSpPr/>
          <p:nvPr/>
        </p:nvSpPr>
        <p:spPr>
          <a:xfrm>
            <a:off x="731520" y="5632704"/>
            <a:ext cx="10789920" cy="475488"/>
          </a:xfrm>
          <a:prstGeom prst="roundRect">
            <a:avLst>
              <a:gd name="adj" fmla="val 12000"/>
            </a:avLst>
          </a:prstGeom>
          <a:solidFill>
            <a:srgbClr val="EAF3FF"/>
          </a:solidFill>
          <a:ln>
            <a:noFill/>
          </a:ln>
        </p:spPr>
        <p:txBody>
          <a:bodyPr rtlCol="0" anchor="ctr"/>
          <a:lstStyle/>
          <a:p>
            <a:pPr algn="ctr"/>
          </a:p>
        </p:txBody>
      </p:sp>
      <p:sp>
        <p:nvSpPr>
          <p:cNvPr id="16" name="TextBox 15"/>
          <p:cNvSpPr txBox="1"/>
          <p:nvPr/>
        </p:nvSpPr>
        <p:spPr>
          <a:xfrm>
            <a:off x="960120" y="5751576"/>
            <a:ext cx="10332720" cy="256032"/>
          </a:xfrm>
          <a:prstGeom prst="rect">
            <a:avLst/>
          </a:prstGeom>
          <a:noFill/>
        </p:spPr>
        <p:txBody>
          <a:bodyPr wrap="square" lIns="0" rIns="0" tIns="0" bIns="0">
            <a:spAutoFit/>
          </a:bodyPr>
          <a:lstStyle/>
          <a:p>
            <a:pPr algn="l">
              <a:lnSpc>
                <a:spcPct val="112000"/>
              </a:lnSpc>
              <a:spcBef>
                <a:spcPts val="0"/>
              </a:spcBef>
              <a:spcAft>
                <a:spcPts val="500"/>
              </a:spcAft>
            </a:pPr>
            <a:r>
              <a:rPr sz="1500" b="1">
                <a:solidFill>
                  <a:srgbClr val="13294B"/>
                </a:solidFill>
                <a:latin typeface="Aptos"/>
              </a:rPr>
              <a:t>The goal: combine FIFO’s simplicity with better cache efficiency.</a:t>
            </a:r>
          </a:p>
        </p:txBody>
      </p:sp>
      <p:sp>
        <p:nvSpPr>
          <p:cNvPr id="17" name="TextBox 16"/>
          <p:cNvSpPr txBox="1"/>
          <p:nvPr/>
        </p:nvSpPr>
        <p:spPr>
          <a:xfrm>
            <a:off x="530352" y="6281928"/>
            <a:ext cx="11064240" cy="210312"/>
          </a:xfrm>
          <a:prstGeom prst="rect">
            <a:avLst/>
          </a:prstGeom>
          <a:noFill/>
        </p:spPr>
        <p:txBody>
          <a:bodyPr wrap="square" lIns="0" rIns="0" tIns="0" bIns="0">
            <a:spAutoFit/>
          </a:bodyPr>
          <a:lstStyle/>
          <a:p>
            <a:pPr algn="l">
              <a:lnSpc>
                <a:spcPct val="112000"/>
              </a:lnSpc>
              <a:spcBef>
                <a:spcPts val="0"/>
              </a:spcBef>
              <a:spcAft>
                <a:spcPts val="500"/>
              </a:spcAft>
            </a:pPr>
            <a:r>
              <a:rPr sz="919" b="0">
                <a:solidFill>
                  <a:srgbClr val="738096"/>
                </a:solidFill>
                <a:latin typeface="Aptos"/>
              </a:rPr>
              <a:t>Source: Yang et al., SOSP 2023, §2.2.</a:t>
            </a:r>
          </a:p>
        </p:txBody>
      </p:sp>
      <p:sp>
        <p:nvSpPr>
          <p:cNvPr id="18" name="TextBox 17"/>
          <p:cNvSpPr txBox="1"/>
          <p:nvPr/>
        </p:nvSpPr>
        <p:spPr>
          <a:xfrm>
            <a:off x="530352" y="6537960"/>
            <a:ext cx="9875520" cy="182880"/>
          </a:xfrm>
          <a:prstGeom prst="rect">
            <a:avLst/>
          </a:prstGeom>
          <a:noFill/>
        </p:spPr>
        <p:txBody>
          <a:bodyPr wrap="square" lIns="0" rIns="0" tIns="0" bIns="0">
            <a:spAutoFit/>
          </a:bodyPr>
          <a:lstStyle/>
          <a:p>
            <a:pPr algn="l">
              <a:lnSpc>
                <a:spcPct val="112000"/>
              </a:lnSpc>
              <a:spcBef>
                <a:spcPts val="0"/>
              </a:spcBef>
              <a:spcAft>
                <a:spcPts val="500"/>
              </a:spcAft>
            </a:pPr>
            <a:r>
              <a:rPr sz="850" b="0">
                <a:solidFill>
                  <a:srgbClr val="738096"/>
                </a:solidFill>
                <a:latin typeface="Aptos"/>
              </a:rPr>
              <a:t>Yang et al., SOSP 2023 · Operating Systems · Theoretical Presentation</a:t>
            </a:r>
          </a:p>
        </p:txBody>
      </p:sp>
      <p:sp>
        <p:nvSpPr>
          <p:cNvPr id="19" name="TextBox 18"/>
          <p:cNvSpPr txBox="1"/>
          <p:nvPr/>
        </p:nvSpPr>
        <p:spPr>
          <a:xfrm>
            <a:off x="10744200" y="6537960"/>
            <a:ext cx="868680" cy="182880"/>
          </a:xfrm>
          <a:prstGeom prst="rect">
            <a:avLst/>
          </a:prstGeom>
          <a:noFill/>
        </p:spPr>
        <p:txBody>
          <a:bodyPr wrap="square" lIns="0" rIns="0" tIns="0" bIns="0">
            <a:spAutoFit/>
          </a:bodyPr>
          <a:lstStyle/>
          <a:p>
            <a:pPr algn="r">
              <a:lnSpc>
                <a:spcPct val="112000"/>
              </a:lnSpc>
              <a:spcBef>
                <a:spcPts val="0"/>
              </a:spcBef>
              <a:spcAft>
                <a:spcPts val="500"/>
              </a:spcAft>
            </a:pPr>
            <a:r>
              <a:rPr sz="850" b="0">
                <a:solidFill>
                  <a:srgbClr val="738096"/>
                </a:solidFill>
                <a:latin typeface="Aptos"/>
              </a:rPr>
              <a:t>Slide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3294B"/>
          </a:solidFill>
          <a:ln>
            <a:noFill/>
          </a:ln>
        </p:spPr>
        <p:txBody>
          <a:bodyPr rtlCol="0" anchor="ctr"/>
          <a:lstStyle/>
          <a:p>
            <a:pPr algn="ctr"/>
          </a:p>
        </p:txBody>
      </p:sp>
      <p:sp>
        <p:nvSpPr>
          <p:cNvPr id="3" name="TextBox 2"/>
          <p:cNvSpPr txBox="1"/>
          <p:nvPr/>
        </p:nvSpPr>
        <p:spPr>
          <a:xfrm>
            <a:off x="457200" y="96012"/>
            <a:ext cx="5166360" cy="210312"/>
          </a:xfrm>
          <a:prstGeom prst="rect">
            <a:avLst/>
          </a:prstGeom>
          <a:noFill/>
        </p:spPr>
        <p:txBody>
          <a:bodyPr wrap="square" lIns="0" rIns="0" tIns="0" bIns="0">
            <a:spAutoFit/>
          </a:bodyPr>
          <a:lstStyle/>
          <a:p>
            <a:pPr algn="l">
              <a:lnSpc>
                <a:spcPct val="112000"/>
              </a:lnSpc>
              <a:spcBef>
                <a:spcPts val="0"/>
              </a:spcBef>
              <a:spcAft>
                <a:spcPts val="500"/>
              </a:spcAft>
            </a:pPr>
            <a:r>
              <a:rPr sz="950" b="1">
                <a:solidFill>
                  <a:srgbClr val="FFFFFF"/>
                </a:solidFill>
                <a:latin typeface="Aptos"/>
              </a:rPr>
              <a:t>Part 1 · Research Motivation</a:t>
            </a:r>
          </a:p>
        </p:txBody>
      </p:sp>
      <p:sp>
        <p:nvSpPr>
          <p:cNvPr id="4" name="TextBox 3"/>
          <p:cNvSpPr txBox="1"/>
          <p:nvPr/>
        </p:nvSpPr>
        <p:spPr>
          <a:xfrm>
            <a:off x="6400800" y="96012"/>
            <a:ext cx="5303520" cy="210312"/>
          </a:xfrm>
          <a:prstGeom prst="rect">
            <a:avLst/>
          </a:prstGeom>
          <a:noFill/>
        </p:spPr>
        <p:txBody>
          <a:bodyPr wrap="square" lIns="0" rIns="0" tIns="0" bIns="0">
            <a:spAutoFit/>
          </a:bodyPr>
          <a:lstStyle/>
          <a:p>
            <a:pPr algn="r">
              <a:lnSpc>
                <a:spcPct val="112000"/>
              </a:lnSpc>
              <a:spcBef>
                <a:spcPts val="0"/>
              </a:spcBef>
              <a:spcAft>
                <a:spcPts val="500"/>
              </a:spcAft>
            </a:pPr>
            <a:r>
              <a:rPr sz="950" b="0">
                <a:solidFill>
                  <a:srgbClr val="CFE8FF"/>
                </a:solidFill>
                <a:latin typeface="Aptos"/>
              </a:rPr>
              <a:t>S3-FIFO · FIFO Queues Are All You Need</a:t>
            </a:r>
          </a:p>
        </p:txBody>
      </p:sp>
      <p:sp>
        <p:nvSpPr>
          <p:cNvPr id="5" name="TextBox 4"/>
          <p:cNvSpPr txBox="1"/>
          <p:nvPr/>
        </p:nvSpPr>
        <p:spPr>
          <a:xfrm>
            <a:off x="548640" y="694944"/>
            <a:ext cx="10789920" cy="484632"/>
          </a:xfrm>
          <a:prstGeom prst="rect">
            <a:avLst/>
          </a:prstGeom>
          <a:noFill/>
        </p:spPr>
        <p:txBody>
          <a:bodyPr wrap="square" lIns="0" rIns="0" tIns="0" bIns="0">
            <a:spAutoFit/>
          </a:bodyPr>
          <a:lstStyle/>
          <a:p>
            <a:pPr algn="l">
              <a:lnSpc>
                <a:spcPct val="112000"/>
              </a:lnSpc>
              <a:spcBef>
                <a:spcPts val="0"/>
              </a:spcBef>
              <a:spcAft>
                <a:spcPts val="500"/>
              </a:spcAft>
            </a:pPr>
            <a:r>
              <a:rPr sz="2900" b="1">
                <a:solidFill>
                  <a:srgbClr val="172033"/>
                </a:solidFill>
                <a:latin typeface="Aptos Display"/>
              </a:rPr>
              <a:t>One-Hit Wonders &amp; Quick Demotion</a:t>
            </a:r>
          </a:p>
        </p:txBody>
      </p:sp>
      <p:sp>
        <p:nvSpPr>
          <p:cNvPr id="6" name="TextBox 5"/>
          <p:cNvSpPr txBox="1"/>
          <p:nvPr/>
        </p:nvSpPr>
        <p:spPr>
          <a:xfrm>
            <a:off x="566928" y="1225296"/>
            <a:ext cx="10972800" cy="338328"/>
          </a:xfrm>
          <a:prstGeom prst="rect">
            <a:avLst/>
          </a:prstGeom>
          <a:noFill/>
        </p:spPr>
        <p:txBody>
          <a:bodyPr wrap="square" lIns="0" rIns="0" tIns="0" bIns="0">
            <a:spAutoFit/>
          </a:bodyPr>
          <a:lstStyle/>
          <a:p>
            <a:pPr algn="l">
              <a:lnSpc>
                <a:spcPct val="112000"/>
              </a:lnSpc>
              <a:spcBef>
                <a:spcPts val="0"/>
              </a:spcBef>
              <a:spcAft>
                <a:spcPts val="500"/>
              </a:spcAft>
            </a:pPr>
            <a:r>
              <a:rPr sz="1400" b="0">
                <a:solidFill>
                  <a:srgbClr val="5B6472"/>
                </a:solidFill>
                <a:latin typeface="Aptos"/>
              </a:rPr>
              <a:t>Shorter access sequences contain a higher fraction of objects with no reuse.</a:t>
            </a:r>
          </a:p>
        </p:txBody>
      </p:sp>
      <p:sp>
        <p:nvSpPr>
          <p:cNvPr id="7" name="Rounded Rectangle 6"/>
          <p:cNvSpPr/>
          <p:nvPr/>
        </p:nvSpPr>
        <p:spPr>
          <a:xfrm>
            <a:off x="685800" y="1773936"/>
            <a:ext cx="3895344" cy="3639312"/>
          </a:xfrm>
          <a:prstGeom prst="roundRect">
            <a:avLst>
              <a:gd name="adj" fmla="val 12000"/>
            </a:avLst>
          </a:prstGeom>
          <a:solidFill>
            <a:srgbClr val="FFFFFF"/>
          </a:solidFill>
          <a:ln w="9525">
            <a:solidFill>
              <a:srgbClr val="DCE5EF"/>
            </a:solidFill>
          </a:ln>
        </p:spPr>
        <p:txBody>
          <a:bodyPr rtlCol="0" anchor="ctr"/>
          <a:lstStyle/>
          <a:p>
            <a:pPr algn="ctr"/>
          </a:p>
        </p:txBody>
      </p:sp>
      <p:sp>
        <p:nvSpPr>
          <p:cNvPr id="8" name="TextBox 7"/>
          <p:cNvSpPr txBox="1"/>
          <p:nvPr/>
        </p:nvSpPr>
        <p:spPr>
          <a:xfrm>
            <a:off x="960120" y="2011680"/>
            <a:ext cx="3346704" cy="3127248"/>
          </a:xfrm>
          <a:prstGeom prst="rect">
            <a:avLst/>
          </a:prstGeom>
          <a:noFill/>
        </p:spPr>
        <p:txBody>
          <a:bodyPr wrap="square" lIns="0" rIns="0" tIns="0" bIns="0">
            <a:spAutoFit/>
          </a:bodyPr>
          <a:lstStyle/>
          <a:p>
            <a:pPr algn="l">
              <a:lnSpc>
                <a:spcPct val="114000"/>
              </a:lnSpc>
              <a:spcBef>
                <a:spcPts val="0"/>
              </a:spcBef>
              <a:spcAft>
                <a:spcPts val="1700"/>
              </a:spcAft>
            </a:pPr>
            <a:r>
              <a:rPr sz="2000">
                <a:solidFill>
                  <a:srgbClr val="172033"/>
                </a:solidFill>
                <a:latin typeface="Aptos"/>
              </a:rPr>
              <a:t>Many objects are used only once before they leave the cache: one-hit wonders.</a:t>
            </a:r>
          </a:p>
          <a:p>
            <a:pPr>
              <a:lnSpc>
                <a:spcPct val="114000"/>
              </a:lnSpc>
              <a:spcAft>
                <a:spcPts val="1700"/>
              </a:spcAft>
            </a:pPr>
            <a:r>
              <a:rPr sz="2000">
                <a:solidFill>
                  <a:srgbClr val="172033"/>
                </a:solidFill>
                <a:latin typeface="Aptos"/>
              </a:rPr>
              <a:t>They take up cache space without being used again.</a:t>
            </a:r>
          </a:p>
          <a:p>
            <a:pPr>
              <a:lnSpc>
                <a:spcPct val="114000"/>
              </a:lnSpc>
              <a:spcAft>
                <a:spcPts val="1700"/>
              </a:spcAft>
            </a:pPr>
            <a:r>
              <a:rPr sz="2000">
                <a:solidFill>
                  <a:srgbClr val="172033"/>
                </a:solidFill>
                <a:latin typeface="Aptos"/>
              </a:rPr>
              <a:t>Quick demotion removes less useful objects early.</a:t>
            </a:r>
          </a:p>
        </p:txBody>
      </p:sp>
      <p:sp>
        <p:nvSpPr>
          <p:cNvPr id="9" name="Rounded Rectangle 8"/>
          <p:cNvSpPr/>
          <p:nvPr/>
        </p:nvSpPr>
        <p:spPr>
          <a:xfrm>
            <a:off x="4791456" y="1773936"/>
            <a:ext cx="6684264" cy="3639312"/>
          </a:xfrm>
          <a:prstGeom prst="roundRect">
            <a:avLst>
              <a:gd name="adj" fmla="val 12000"/>
            </a:avLst>
          </a:prstGeom>
          <a:solidFill>
            <a:srgbClr val="FFFFFF"/>
          </a:solidFill>
          <a:ln w="9525">
            <a:solidFill>
              <a:srgbClr val="DCE5EF"/>
            </a:solidFill>
          </a:ln>
        </p:spPr>
        <p:txBody>
          <a:bodyPr rtlCol="0" anchor="ctr"/>
          <a:lstStyle/>
          <a:p>
            <a:pPr algn="ctr"/>
          </a:p>
        </p:txBody>
      </p:sp>
      <p:sp>
        <p:nvSpPr>
          <p:cNvPr id="10" name="TextBox 9"/>
          <p:cNvSpPr txBox="1"/>
          <p:nvPr/>
        </p:nvSpPr>
        <p:spPr>
          <a:xfrm>
            <a:off x="5074920" y="2029968"/>
            <a:ext cx="6117336" cy="320040"/>
          </a:xfrm>
          <a:prstGeom prst="rect">
            <a:avLst/>
          </a:prstGeom>
          <a:noFill/>
        </p:spPr>
        <p:txBody>
          <a:bodyPr wrap="square" lIns="0" rIns="0" tIns="0" bIns="0">
            <a:spAutoFit/>
          </a:bodyPr>
          <a:lstStyle/>
          <a:p>
            <a:pPr algn="l">
              <a:lnSpc>
                <a:spcPct val="112000"/>
              </a:lnSpc>
              <a:spcBef>
                <a:spcPts val="0"/>
              </a:spcBef>
              <a:spcAft>
                <a:spcPts val="500"/>
              </a:spcAft>
            </a:pPr>
            <a:r>
              <a:rPr sz="1400" b="1">
                <a:solidFill>
                  <a:srgbClr val="2D6DAF"/>
                </a:solidFill>
                <a:latin typeface="Aptos"/>
              </a:rPr>
              <a:t>A SHORTER SEQUENCE → A HIGHER RATIO</a:t>
            </a:r>
          </a:p>
        </p:txBody>
      </p:sp>
      <p:pic>
        <p:nvPicPr>
          <p:cNvPr id="11" name="PRESERVED — Original One-hit Wonders Figure 1" descr="image.png"/>
          <p:cNvPicPr>
            <a:picLocks noChangeAspect="1"/>
          </p:cNvPicPr>
          <p:nvPr/>
        </p:nvPicPr>
        <p:blipFill>
          <a:blip r:embed="rId2"/>
          <a:stretch>
            <a:fillRect/>
          </a:stretch>
        </p:blipFill>
        <p:spPr>
          <a:xfrm>
            <a:off x="5029200" y="2624462"/>
            <a:ext cx="6208776" cy="1956547"/>
          </a:xfrm>
          <a:prstGeom prst="rect">
            <a:avLst/>
          </a:prstGeom>
        </p:spPr>
      </p:pic>
      <p:sp>
        <p:nvSpPr>
          <p:cNvPr id="12" name="TextBox 11"/>
          <p:cNvSpPr txBox="1"/>
          <p:nvPr/>
        </p:nvSpPr>
        <p:spPr>
          <a:xfrm>
            <a:off x="5074920" y="4773168"/>
            <a:ext cx="6117336" cy="438912"/>
          </a:xfrm>
          <a:prstGeom prst="rect">
            <a:avLst/>
          </a:prstGeom>
          <a:noFill/>
        </p:spPr>
        <p:txBody>
          <a:bodyPr wrap="square" lIns="0" rIns="0" tIns="0" bIns="0">
            <a:spAutoFit/>
          </a:bodyPr>
          <a:lstStyle/>
          <a:p>
            <a:pPr algn="l">
              <a:lnSpc>
                <a:spcPct val="112000"/>
              </a:lnSpc>
              <a:spcBef>
                <a:spcPts val="0"/>
              </a:spcBef>
              <a:spcAft>
                <a:spcPts val="500"/>
              </a:spcAft>
            </a:pPr>
            <a:r>
              <a:rPr sz="1100" b="0">
                <a:solidFill>
                  <a:srgbClr val="5B6472"/>
                </a:solidFill>
                <a:latin typeface="Aptos"/>
              </a:rPr>
              <a:t>Original Figure 1 · Source: Yang et al., SOSP 2023</a:t>
            </a:r>
          </a:p>
        </p:txBody>
      </p:sp>
      <p:sp>
        <p:nvSpPr>
          <p:cNvPr id="13" name="Rounded Rectangle 12"/>
          <p:cNvSpPr/>
          <p:nvPr/>
        </p:nvSpPr>
        <p:spPr>
          <a:xfrm>
            <a:off x="731520" y="5632704"/>
            <a:ext cx="10789920" cy="475488"/>
          </a:xfrm>
          <a:prstGeom prst="roundRect">
            <a:avLst>
              <a:gd name="adj" fmla="val 12000"/>
            </a:avLst>
          </a:prstGeom>
          <a:solidFill>
            <a:srgbClr val="E7F6F0"/>
          </a:solidFill>
          <a:ln>
            <a:noFill/>
          </a:ln>
        </p:spPr>
        <p:txBody>
          <a:bodyPr rtlCol="0" anchor="ctr"/>
          <a:lstStyle/>
          <a:p>
            <a:pPr algn="ctr"/>
          </a:p>
        </p:txBody>
      </p:sp>
      <p:sp>
        <p:nvSpPr>
          <p:cNvPr id="14" name="TextBox 13"/>
          <p:cNvSpPr txBox="1"/>
          <p:nvPr/>
        </p:nvSpPr>
        <p:spPr>
          <a:xfrm>
            <a:off x="960120" y="5751576"/>
            <a:ext cx="10332720" cy="256032"/>
          </a:xfrm>
          <a:prstGeom prst="rect">
            <a:avLst/>
          </a:prstGeom>
          <a:noFill/>
        </p:spPr>
        <p:txBody>
          <a:bodyPr wrap="square" lIns="0" rIns="0" tIns="0" bIns="0">
            <a:spAutoFit/>
          </a:bodyPr>
          <a:lstStyle/>
          <a:p>
            <a:pPr algn="l">
              <a:lnSpc>
                <a:spcPct val="112000"/>
              </a:lnSpc>
              <a:spcBef>
                <a:spcPts val="0"/>
              </a:spcBef>
              <a:spcAft>
                <a:spcPts val="500"/>
              </a:spcAft>
            </a:pPr>
            <a:r>
              <a:rPr sz="1500" b="1">
                <a:solidFill>
                  <a:srgbClr val="238B6D"/>
                </a:solidFill>
                <a:latin typeface="Aptos"/>
              </a:rPr>
              <a:t>Can we combine the simplicity of FIFO with better cache efficiency?</a:t>
            </a:r>
          </a:p>
        </p:txBody>
      </p:sp>
      <p:sp>
        <p:nvSpPr>
          <p:cNvPr id="15" name="TextBox 14"/>
          <p:cNvSpPr txBox="1"/>
          <p:nvPr/>
        </p:nvSpPr>
        <p:spPr>
          <a:xfrm>
            <a:off x="530352" y="6281928"/>
            <a:ext cx="11064240" cy="210312"/>
          </a:xfrm>
          <a:prstGeom prst="rect">
            <a:avLst/>
          </a:prstGeom>
          <a:noFill/>
        </p:spPr>
        <p:txBody>
          <a:bodyPr wrap="square" lIns="0" rIns="0" tIns="0" bIns="0">
            <a:spAutoFit/>
          </a:bodyPr>
          <a:lstStyle/>
          <a:p>
            <a:pPr algn="l">
              <a:lnSpc>
                <a:spcPct val="112000"/>
              </a:lnSpc>
              <a:spcBef>
                <a:spcPts val="0"/>
              </a:spcBef>
              <a:spcAft>
                <a:spcPts val="500"/>
              </a:spcAft>
            </a:pPr>
            <a:r>
              <a:rPr sz="919" b="0">
                <a:solidFill>
                  <a:srgbClr val="738096"/>
                </a:solidFill>
                <a:latin typeface="Aptos"/>
              </a:rPr>
              <a:t>Source: original Figure 1 and §3, Yang et al., SOSP 2023.</a:t>
            </a:r>
          </a:p>
        </p:txBody>
      </p:sp>
      <p:sp>
        <p:nvSpPr>
          <p:cNvPr id="16" name="TextBox 15"/>
          <p:cNvSpPr txBox="1"/>
          <p:nvPr/>
        </p:nvSpPr>
        <p:spPr>
          <a:xfrm>
            <a:off x="530352" y="6537960"/>
            <a:ext cx="9875520" cy="182880"/>
          </a:xfrm>
          <a:prstGeom prst="rect">
            <a:avLst/>
          </a:prstGeom>
          <a:noFill/>
        </p:spPr>
        <p:txBody>
          <a:bodyPr wrap="square" lIns="0" rIns="0" tIns="0" bIns="0">
            <a:spAutoFit/>
          </a:bodyPr>
          <a:lstStyle/>
          <a:p>
            <a:pPr algn="l">
              <a:lnSpc>
                <a:spcPct val="112000"/>
              </a:lnSpc>
              <a:spcBef>
                <a:spcPts val="0"/>
              </a:spcBef>
              <a:spcAft>
                <a:spcPts val="500"/>
              </a:spcAft>
            </a:pPr>
            <a:r>
              <a:rPr sz="850" b="0">
                <a:solidFill>
                  <a:srgbClr val="738096"/>
                </a:solidFill>
                <a:latin typeface="Aptos"/>
              </a:rPr>
              <a:t>Yang et al., SOSP 2023 · Operating Systems · Theoretical Presentation</a:t>
            </a:r>
          </a:p>
        </p:txBody>
      </p:sp>
      <p:sp>
        <p:nvSpPr>
          <p:cNvPr id="17" name="TextBox 16"/>
          <p:cNvSpPr txBox="1"/>
          <p:nvPr/>
        </p:nvSpPr>
        <p:spPr>
          <a:xfrm>
            <a:off x="10744200" y="6537960"/>
            <a:ext cx="868680" cy="182880"/>
          </a:xfrm>
          <a:prstGeom prst="rect">
            <a:avLst/>
          </a:prstGeom>
          <a:noFill/>
        </p:spPr>
        <p:txBody>
          <a:bodyPr wrap="square" lIns="0" rIns="0" tIns="0" bIns="0">
            <a:spAutoFit/>
          </a:bodyPr>
          <a:lstStyle/>
          <a:p>
            <a:pPr algn="r">
              <a:lnSpc>
                <a:spcPct val="112000"/>
              </a:lnSpc>
              <a:spcBef>
                <a:spcPts val="0"/>
              </a:spcBef>
              <a:spcAft>
                <a:spcPts val="500"/>
              </a:spcAft>
            </a:pPr>
            <a:r>
              <a:rPr sz="850" b="0">
                <a:solidFill>
                  <a:srgbClr val="738096"/>
                </a:solidFill>
                <a:latin typeface="Aptos"/>
              </a:rPr>
              <a:t>Slide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3294B"/>
        </a:solidFill>
        <a:effectLst/>
      </p:bgPr>
    </p:bg>
    <p:spTree>
      <p:nvGrpSpPr>
        <p:cNvPr id="1" name=""/>
        <p:cNvGrpSpPr/>
        <p:nvPr/>
      </p:nvGrpSpPr>
      <p:grpSpPr/>
      <p:sp>
        <p:nvSpPr>
          <p:cNvPr id="2" name="TextBox 1"/>
          <p:cNvSpPr txBox="1"/>
          <p:nvPr/>
        </p:nvSpPr>
        <p:spPr>
          <a:xfrm>
            <a:off x="731520" y="960120"/>
            <a:ext cx="9144000" cy="365760"/>
          </a:xfrm>
          <a:prstGeom prst="rect">
            <a:avLst/>
          </a:prstGeom>
          <a:noFill/>
        </p:spPr>
        <p:txBody>
          <a:bodyPr wrap="square" lIns="0" rIns="0" tIns="0" bIns="0">
            <a:spAutoFit/>
          </a:bodyPr>
          <a:lstStyle/>
          <a:p>
            <a:pPr algn="l">
              <a:lnSpc>
                <a:spcPct val="112000"/>
              </a:lnSpc>
              <a:spcBef>
                <a:spcPts val="0"/>
              </a:spcBef>
              <a:spcAft>
                <a:spcPts val="500"/>
              </a:spcAft>
            </a:pPr>
            <a:r>
              <a:rPr sz="1600" b="1">
                <a:solidFill>
                  <a:srgbClr val="F5B841"/>
                </a:solidFill>
                <a:latin typeface="Aptos"/>
              </a:rPr>
              <a:t>PART 2 · MEMBER 2</a:t>
            </a:r>
          </a:p>
        </p:txBody>
      </p:sp>
      <p:sp>
        <p:nvSpPr>
          <p:cNvPr id="3" name="TextBox 2"/>
          <p:cNvSpPr txBox="1"/>
          <p:nvPr/>
        </p:nvSpPr>
        <p:spPr>
          <a:xfrm>
            <a:off x="713232" y="1737360"/>
            <a:ext cx="10652760" cy="1005840"/>
          </a:xfrm>
          <a:prstGeom prst="rect">
            <a:avLst/>
          </a:prstGeom>
          <a:noFill/>
        </p:spPr>
        <p:txBody>
          <a:bodyPr wrap="square" lIns="0" rIns="0" tIns="0" bIns="0">
            <a:spAutoFit/>
          </a:bodyPr>
          <a:lstStyle/>
          <a:p>
            <a:pPr algn="l">
              <a:lnSpc>
                <a:spcPct val="112000"/>
              </a:lnSpc>
              <a:spcBef>
                <a:spcPts val="0"/>
              </a:spcBef>
              <a:spcAft>
                <a:spcPts val="500"/>
              </a:spcAft>
            </a:pPr>
            <a:r>
              <a:rPr sz="3700" b="1">
                <a:solidFill>
                  <a:srgbClr val="FFFFFF"/>
                </a:solidFill>
                <a:latin typeface="Aptos Display"/>
              </a:rPr>
              <a:t>S3-FIFO Design &amp; Algorithm</a:t>
            </a:r>
          </a:p>
        </p:txBody>
      </p:sp>
      <p:sp>
        <p:nvSpPr>
          <p:cNvPr id="4" name="TextBox 3"/>
          <p:cNvSpPr txBox="1"/>
          <p:nvPr/>
        </p:nvSpPr>
        <p:spPr>
          <a:xfrm>
            <a:off x="777240" y="2871216"/>
            <a:ext cx="9784080" cy="822960"/>
          </a:xfrm>
          <a:prstGeom prst="rect">
            <a:avLst/>
          </a:prstGeom>
          <a:noFill/>
        </p:spPr>
        <p:txBody>
          <a:bodyPr wrap="square" lIns="0" rIns="0" tIns="0" bIns="0">
            <a:spAutoFit/>
          </a:bodyPr>
          <a:lstStyle/>
          <a:p>
            <a:pPr algn="l">
              <a:lnSpc>
                <a:spcPct val="112000"/>
              </a:lnSpc>
              <a:spcBef>
                <a:spcPts val="0"/>
              </a:spcBef>
              <a:spcAft>
                <a:spcPts val="500"/>
              </a:spcAft>
            </a:pPr>
            <a:r>
              <a:rPr sz="2100" b="0">
                <a:solidFill>
                  <a:srgbClr val="BED6F0"/>
                </a:solidFill>
                <a:latin typeface="Aptos"/>
              </a:rPr>
              <a:t>How do three simple FIFO queues work together?</a:t>
            </a:r>
          </a:p>
        </p:txBody>
      </p:sp>
      <p:sp>
        <p:nvSpPr>
          <p:cNvPr id="5" name="Rectangle 4"/>
          <p:cNvSpPr/>
          <p:nvPr/>
        </p:nvSpPr>
        <p:spPr>
          <a:xfrm>
            <a:off x="822960" y="3977639"/>
            <a:ext cx="10515600" cy="16459"/>
          </a:xfrm>
          <a:prstGeom prst="rect">
            <a:avLst/>
          </a:prstGeom>
          <a:solidFill>
            <a:srgbClr val="F5B841"/>
          </a:solidFill>
          <a:ln>
            <a:noFill/>
          </a:ln>
        </p:spPr>
        <p:txBody>
          <a:bodyPr rtlCol="0" anchor="ctr"/>
          <a:lstStyle/>
          <a:p>
            <a:pPr algn="ctr"/>
          </a:p>
        </p:txBody>
      </p:sp>
      <p:sp>
        <p:nvSpPr>
          <p:cNvPr id="6" name="TextBox 5"/>
          <p:cNvSpPr txBox="1"/>
          <p:nvPr/>
        </p:nvSpPr>
        <p:spPr>
          <a:xfrm>
            <a:off x="822960" y="4297680"/>
            <a:ext cx="9144000" cy="365760"/>
          </a:xfrm>
          <a:prstGeom prst="rect">
            <a:avLst/>
          </a:prstGeom>
          <a:noFill/>
        </p:spPr>
        <p:txBody>
          <a:bodyPr wrap="square" lIns="0" rIns="0" tIns="0" bIns="0">
            <a:spAutoFit/>
          </a:bodyPr>
          <a:lstStyle/>
          <a:p>
            <a:pPr algn="l">
              <a:lnSpc>
                <a:spcPct val="112000"/>
              </a:lnSpc>
              <a:spcBef>
                <a:spcPts val="0"/>
              </a:spcBef>
              <a:spcAft>
                <a:spcPts val="500"/>
              </a:spcAft>
            </a:pPr>
            <a:r>
              <a:rPr sz="1500" b="0">
                <a:solidFill>
                  <a:srgbClr val="BED6F0"/>
                </a:solidFill>
                <a:latin typeface="Aptos"/>
              </a:rPr>
              <a:t>Small / Main / Ghost → Requests → Eviction</a:t>
            </a:r>
          </a:p>
        </p:txBody>
      </p:sp>
      <p:sp>
        <p:nvSpPr>
          <p:cNvPr id="7" name="TextBox 6"/>
          <p:cNvSpPr txBox="1"/>
          <p:nvPr/>
        </p:nvSpPr>
        <p:spPr>
          <a:xfrm>
            <a:off x="530352" y="6537960"/>
            <a:ext cx="9875520" cy="182880"/>
          </a:xfrm>
          <a:prstGeom prst="rect">
            <a:avLst/>
          </a:prstGeom>
          <a:noFill/>
        </p:spPr>
        <p:txBody>
          <a:bodyPr wrap="square" lIns="0" rIns="0" tIns="0" bIns="0">
            <a:spAutoFit/>
          </a:bodyPr>
          <a:lstStyle/>
          <a:p>
            <a:pPr algn="l">
              <a:lnSpc>
                <a:spcPct val="112000"/>
              </a:lnSpc>
              <a:spcBef>
                <a:spcPts val="0"/>
              </a:spcBef>
              <a:spcAft>
                <a:spcPts val="500"/>
              </a:spcAft>
            </a:pPr>
            <a:r>
              <a:rPr sz="850" b="0">
                <a:solidFill>
                  <a:srgbClr val="B8CBE0"/>
                </a:solidFill>
                <a:latin typeface="Aptos"/>
              </a:rPr>
              <a:t>Yang et al., SOSP 2023 · Operating Systems · Theoretical Presentation</a:t>
            </a:r>
          </a:p>
        </p:txBody>
      </p:sp>
      <p:sp>
        <p:nvSpPr>
          <p:cNvPr id="8" name="TextBox 7"/>
          <p:cNvSpPr txBox="1"/>
          <p:nvPr/>
        </p:nvSpPr>
        <p:spPr>
          <a:xfrm>
            <a:off x="10744200" y="6537960"/>
            <a:ext cx="868680" cy="182880"/>
          </a:xfrm>
          <a:prstGeom prst="rect">
            <a:avLst/>
          </a:prstGeom>
          <a:noFill/>
        </p:spPr>
        <p:txBody>
          <a:bodyPr wrap="square" lIns="0" rIns="0" tIns="0" bIns="0">
            <a:spAutoFit/>
          </a:bodyPr>
          <a:lstStyle/>
          <a:p>
            <a:pPr algn="r">
              <a:lnSpc>
                <a:spcPct val="112000"/>
              </a:lnSpc>
              <a:spcBef>
                <a:spcPts val="0"/>
              </a:spcBef>
              <a:spcAft>
                <a:spcPts val="500"/>
              </a:spcAft>
            </a:pPr>
            <a:r>
              <a:rPr sz="850" b="0">
                <a:solidFill>
                  <a:srgbClr val="B8CBE0"/>
                </a:solidFill>
                <a:latin typeface="Aptos"/>
              </a:rPr>
              <a:t>Slide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3294B"/>
          </a:solidFill>
          <a:ln>
            <a:noFill/>
          </a:ln>
        </p:spPr>
        <p:txBody>
          <a:bodyPr rtlCol="0" anchor="ctr"/>
          <a:lstStyle/>
          <a:p>
            <a:pPr algn="ctr"/>
          </a:p>
        </p:txBody>
      </p:sp>
      <p:sp>
        <p:nvSpPr>
          <p:cNvPr id="3" name="TextBox 2"/>
          <p:cNvSpPr txBox="1"/>
          <p:nvPr/>
        </p:nvSpPr>
        <p:spPr>
          <a:xfrm>
            <a:off x="457200" y="96012"/>
            <a:ext cx="5166360" cy="210312"/>
          </a:xfrm>
          <a:prstGeom prst="rect">
            <a:avLst/>
          </a:prstGeom>
          <a:noFill/>
        </p:spPr>
        <p:txBody>
          <a:bodyPr wrap="square" lIns="0" rIns="0" tIns="0" bIns="0">
            <a:spAutoFit/>
          </a:bodyPr>
          <a:lstStyle/>
          <a:p>
            <a:pPr algn="l">
              <a:lnSpc>
                <a:spcPct val="112000"/>
              </a:lnSpc>
              <a:spcBef>
                <a:spcPts val="0"/>
              </a:spcBef>
              <a:spcAft>
                <a:spcPts val="500"/>
              </a:spcAft>
            </a:pPr>
            <a:r>
              <a:rPr sz="950" b="1">
                <a:solidFill>
                  <a:srgbClr val="FFFFFF"/>
                </a:solidFill>
                <a:latin typeface="Aptos"/>
              </a:rPr>
              <a:t>Part 2 · Design Overview</a:t>
            </a:r>
          </a:p>
        </p:txBody>
      </p:sp>
      <p:sp>
        <p:nvSpPr>
          <p:cNvPr id="4" name="TextBox 3"/>
          <p:cNvSpPr txBox="1"/>
          <p:nvPr/>
        </p:nvSpPr>
        <p:spPr>
          <a:xfrm>
            <a:off x="6400800" y="96012"/>
            <a:ext cx="5303520" cy="210312"/>
          </a:xfrm>
          <a:prstGeom prst="rect">
            <a:avLst/>
          </a:prstGeom>
          <a:noFill/>
        </p:spPr>
        <p:txBody>
          <a:bodyPr wrap="square" lIns="0" rIns="0" tIns="0" bIns="0">
            <a:spAutoFit/>
          </a:bodyPr>
          <a:lstStyle/>
          <a:p>
            <a:pPr algn="r">
              <a:lnSpc>
                <a:spcPct val="112000"/>
              </a:lnSpc>
              <a:spcBef>
                <a:spcPts val="0"/>
              </a:spcBef>
              <a:spcAft>
                <a:spcPts val="500"/>
              </a:spcAft>
            </a:pPr>
            <a:r>
              <a:rPr sz="950" b="0">
                <a:solidFill>
                  <a:srgbClr val="CFE8FF"/>
                </a:solidFill>
                <a:latin typeface="Aptos"/>
              </a:rPr>
              <a:t>S3-FIFO · FIFO Queues Are All You Need</a:t>
            </a:r>
          </a:p>
        </p:txBody>
      </p:sp>
      <p:sp>
        <p:nvSpPr>
          <p:cNvPr id="5" name="TextBox 4"/>
          <p:cNvSpPr txBox="1"/>
          <p:nvPr/>
        </p:nvSpPr>
        <p:spPr>
          <a:xfrm>
            <a:off x="548640" y="694944"/>
            <a:ext cx="10789920" cy="484632"/>
          </a:xfrm>
          <a:prstGeom prst="rect">
            <a:avLst/>
          </a:prstGeom>
          <a:noFill/>
        </p:spPr>
        <p:txBody>
          <a:bodyPr wrap="square" lIns="0" rIns="0" tIns="0" bIns="0">
            <a:spAutoFit/>
          </a:bodyPr>
          <a:lstStyle/>
          <a:p>
            <a:pPr algn="l">
              <a:lnSpc>
                <a:spcPct val="112000"/>
              </a:lnSpc>
              <a:spcBef>
                <a:spcPts val="0"/>
              </a:spcBef>
              <a:spcAft>
                <a:spcPts val="500"/>
              </a:spcAft>
            </a:pPr>
            <a:r>
              <a:rPr sz="2900" b="1">
                <a:solidFill>
                  <a:srgbClr val="172033"/>
                </a:solidFill>
                <a:latin typeface="Aptos Display"/>
              </a:rPr>
              <a:t>Three FIFO Queues, One Cache</a:t>
            </a:r>
          </a:p>
        </p:txBody>
      </p:sp>
      <p:sp>
        <p:nvSpPr>
          <p:cNvPr id="6" name="TextBox 5"/>
          <p:cNvSpPr txBox="1"/>
          <p:nvPr/>
        </p:nvSpPr>
        <p:spPr>
          <a:xfrm>
            <a:off x="566928" y="1225296"/>
            <a:ext cx="10972800" cy="338328"/>
          </a:xfrm>
          <a:prstGeom prst="rect">
            <a:avLst/>
          </a:prstGeom>
          <a:noFill/>
        </p:spPr>
        <p:txBody>
          <a:bodyPr wrap="square" lIns="0" rIns="0" tIns="0" bIns="0">
            <a:spAutoFit/>
          </a:bodyPr>
          <a:lstStyle/>
          <a:p>
            <a:pPr algn="l">
              <a:lnSpc>
                <a:spcPct val="112000"/>
              </a:lnSpc>
              <a:spcBef>
                <a:spcPts val="0"/>
              </a:spcBef>
              <a:spcAft>
                <a:spcPts val="500"/>
              </a:spcAft>
            </a:pPr>
            <a:r>
              <a:rPr sz="1400" b="0">
                <a:solidFill>
                  <a:srgbClr val="5B6472"/>
                </a:solidFill>
                <a:latin typeface="Aptos"/>
              </a:rPr>
              <a:t>S3-FIFO uses Small, Main and Ghost queues instead of a single cache queue.</a:t>
            </a:r>
          </a:p>
        </p:txBody>
      </p:sp>
      <p:sp>
        <p:nvSpPr>
          <p:cNvPr id="7" name="Rounded Rectangle 6"/>
          <p:cNvSpPr/>
          <p:nvPr/>
        </p:nvSpPr>
        <p:spPr>
          <a:xfrm>
            <a:off x="685800" y="1773936"/>
            <a:ext cx="6702552" cy="3639312"/>
          </a:xfrm>
          <a:prstGeom prst="roundRect">
            <a:avLst>
              <a:gd name="adj" fmla="val 12000"/>
            </a:avLst>
          </a:prstGeom>
          <a:solidFill>
            <a:srgbClr val="FFFFFF"/>
          </a:solidFill>
          <a:ln w="9525">
            <a:solidFill>
              <a:srgbClr val="DCE5EF"/>
            </a:solidFill>
          </a:ln>
        </p:spPr>
        <p:txBody>
          <a:bodyPr rtlCol="0" anchor="ctr"/>
          <a:lstStyle/>
          <a:p>
            <a:pPr algn="ctr"/>
          </a:p>
        </p:txBody>
      </p:sp>
      <p:pic>
        <p:nvPicPr>
          <p:cNvPr id="8" name="Picture 7" descr="image.png"/>
          <p:cNvPicPr>
            <a:picLocks noChangeAspect="1"/>
          </p:cNvPicPr>
          <p:nvPr/>
        </p:nvPicPr>
        <p:blipFill>
          <a:blip r:embed="rId2"/>
          <a:stretch>
            <a:fillRect/>
          </a:stretch>
        </p:blipFill>
        <p:spPr>
          <a:xfrm>
            <a:off x="939738" y="1938528"/>
            <a:ext cx="6194675" cy="2999232"/>
          </a:xfrm>
          <a:prstGeom prst="rect">
            <a:avLst/>
          </a:prstGeom>
        </p:spPr>
      </p:pic>
      <p:sp>
        <p:nvSpPr>
          <p:cNvPr id="9" name="TextBox 8"/>
          <p:cNvSpPr txBox="1"/>
          <p:nvPr/>
        </p:nvSpPr>
        <p:spPr>
          <a:xfrm>
            <a:off x="960120" y="5093208"/>
            <a:ext cx="6126480" cy="182880"/>
          </a:xfrm>
          <a:prstGeom prst="rect">
            <a:avLst/>
          </a:prstGeom>
          <a:noFill/>
        </p:spPr>
        <p:txBody>
          <a:bodyPr wrap="square" lIns="0" rIns="0" tIns="0" bIns="0">
            <a:spAutoFit/>
          </a:bodyPr>
          <a:lstStyle/>
          <a:p>
            <a:pPr algn="l">
              <a:lnSpc>
                <a:spcPct val="112000"/>
              </a:lnSpc>
              <a:spcBef>
                <a:spcPts val="0"/>
              </a:spcBef>
              <a:spcAft>
                <a:spcPts val="500"/>
              </a:spcAft>
            </a:pPr>
            <a:r>
              <a:rPr sz="1050" b="0">
                <a:solidFill>
                  <a:srgbClr val="5B6472"/>
                </a:solidFill>
                <a:latin typeface="Aptos"/>
              </a:rPr>
              <a:t>Original Figure 5 · Source: Yang et al., SOSP 2023</a:t>
            </a:r>
          </a:p>
        </p:txBody>
      </p:sp>
      <p:sp>
        <p:nvSpPr>
          <p:cNvPr id="10" name="Rounded Rectangle 9"/>
          <p:cNvSpPr/>
          <p:nvPr/>
        </p:nvSpPr>
        <p:spPr>
          <a:xfrm>
            <a:off x="7607808" y="1773936"/>
            <a:ext cx="3867912" cy="3639312"/>
          </a:xfrm>
          <a:prstGeom prst="roundRect">
            <a:avLst>
              <a:gd name="adj" fmla="val 12000"/>
            </a:avLst>
          </a:prstGeom>
          <a:solidFill>
            <a:srgbClr val="FFFFFF"/>
          </a:solidFill>
          <a:ln w="9525">
            <a:solidFill>
              <a:srgbClr val="DCE5EF"/>
            </a:solidFill>
          </a:ln>
        </p:spPr>
        <p:txBody>
          <a:bodyPr rtlCol="0" anchor="ctr"/>
          <a:lstStyle/>
          <a:p>
            <a:pPr algn="ctr"/>
          </a:p>
        </p:txBody>
      </p:sp>
      <p:sp>
        <p:nvSpPr>
          <p:cNvPr id="11" name="Rounded Rectangle 10"/>
          <p:cNvSpPr/>
          <p:nvPr/>
        </p:nvSpPr>
        <p:spPr>
          <a:xfrm>
            <a:off x="7909560" y="2075688"/>
            <a:ext cx="502920" cy="502920"/>
          </a:xfrm>
          <a:prstGeom prst="roundRect">
            <a:avLst>
              <a:gd name="adj" fmla="val 12000"/>
            </a:avLst>
          </a:prstGeom>
          <a:solidFill>
            <a:srgbClr val="D9852A"/>
          </a:solidFill>
          <a:ln>
            <a:noFill/>
          </a:ln>
        </p:spPr>
        <p:txBody>
          <a:bodyPr rtlCol="0" anchor="ctr"/>
          <a:lstStyle/>
          <a:p>
            <a:pPr algn="ctr"/>
          </a:p>
        </p:txBody>
      </p:sp>
      <p:sp>
        <p:nvSpPr>
          <p:cNvPr id="12" name="TextBox 11"/>
          <p:cNvSpPr txBox="1"/>
          <p:nvPr/>
        </p:nvSpPr>
        <p:spPr>
          <a:xfrm>
            <a:off x="7909560" y="2157984"/>
            <a:ext cx="502920" cy="365760"/>
          </a:xfrm>
          <a:prstGeom prst="rect">
            <a:avLst/>
          </a:prstGeom>
          <a:noFill/>
        </p:spPr>
        <p:txBody>
          <a:bodyPr wrap="square" lIns="0" rIns="0" tIns="0" bIns="0">
            <a:spAutoFit/>
          </a:bodyPr>
          <a:lstStyle/>
          <a:p>
            <a:pPr algn="ctr">
              <a:lnSpc>
                <a:spcPct val="112000"/>
              </a:lnSpc>
              <a:spcBef>
                <a:spcPts val="0"/>
              </a:spcBef>
              <a:spcAft>
                <a:spcPts val="500"/>
              </a:spcAft>
            </a:pPr>
            <a:r>
              <a:rPr sz="2100" b="1">
                <a:solidFill>
                  <a:srgbClr val="FFFFFF"/>
                </a:solidFill>
                <a:latin typeface="Aptos"/>
              </a:rPr>
              <a:t>S</a:t>
            </a:r>
          </a:p>
        </p:txBody>
      </p:sp>
      <p:sp>
        <p:nvSpPr>
          <p:cNvPr id="13" name="TextBox 12"/>
          <p:cNvSpPr txBox="1"/>
          <p:nvPr/>
        </p:nvSpPr>
        <p:spPr>
          <a:xfrm>
            <a:off x="8595360" y="2075688"/>
            <a:ext cx="2587752" cy="365760"/>
          </a:xfrm>
          <a:prstGeom prst="rect">
            <a:avLst/>
          </a:prstGeom>
          <a:noFill/>
        </p:spPr>
        <p:txBody>
          <a:bodyPr wrap="square" lIns="0" rIns="0" tIns="0" bIns="0">
            <a:spAutoFit/>
          </a:bodyPr>
          <a:lstStyle/>
          <a:p>
            <a:pPr algn="l">
              <a:lnSpc>
                <a:spcPct val="112000"/>
              </a:lnSpc>
              <a:spcBef>
                <a:spcPts val="0"/>
              </a:spcBef>
              <a:spcAft>
                <a:spcPts val="500"/>
              </a:spcAft>
            </a:pPr>
            <a:r>
              <a:rPr sz="2300" b="1">
                <a:solidFill>
                  <a:srgbClr val="D9852A"/>
                </a:solidFill>
                <a:latin typeface="Aptos"/>
              </a:rPr>
              <a:t>Small</a:t>
            </a:r>
          </a:p>
        </p:txBody>
      </p:sp>
      <p:sp>
        <p:nvSpPr>
          <p:cNvPr id="14" name="TextBox 13"/>
          <p:cNvSpPr txBox="1"/>
          <p:nvPr/>
        </p:nvSpPr>
        <p:spPr>
          <a:xfrm>
            <a:off x="8595360" y="2542032"/>
            <a:ext cx="2587752" cy="484632"/>
          </a:xfrm>
          <a:prstGeom prst="rect">
            <a:avLst/>
          </a:prstGeom>
          <a:noFill/>
        </p:spPr>
        <p:txBody>
          <a:bodyPr wrap="square" lIns="0" rIns="0" tIns="0" bIns="0">
            <a:spAutoFit/>
          </a:bodyPr>
          <a:lstStyle/>
          <a:p>
            <a:pPr algn="l">
              <a:lnSpc>
                <a:spcPct val="112000"/>
              </a:lnSpc>
              <a:spcBef>
                <a:spcPts val="0"/>
              </a:spcBef>
              <a:spcAft>
                <a:spcPts val="500"/>
              </a:spcAft>
            </a:pPr>
            <a:r>
              <a:rPr sz="1700" b="0">
                <a:solidFill>
                  <a:srgbClr val="5B6472"/>
                </a:solidFill>
                <a:latin typeface="Aptos"/>
              </a:rPr>
              <a:t>Filter new objects</a:t>
            </a:r>
          </a:p>
        </p:txBody>
      </p:sp>
      <p:sp>
        <p:nvSpPr>
          <p:cNvPr id="15" name="Rounded Rectangle 14"/>
          <p:cNvSpPr/>
          <p:nvPr/>
        </p:nvSpPr>
        <p:spPr>
          <a:xfrm>
            <a:off x="7909560" y="3127248"/>
            <a:ext cx="502920" cy="502920"/>
          </a:xfrm>
          <a:prstGeom prst="roundRect">
            <a:avLst>
              <a:gd name="adj" fmla="val 12000"/>
            </a:avLst>
          </a:prstGeom>
          <a:solidFill>
            <a:srgbClr val="2D6DAF"/>
          </a:solidFill>
          <a:ln>
            <a:noFill/>
          </a:ln>
        </p:spPr>
        <p:txBody>
          <a:bodyPr rtlCol="0" anchor="ctr"/>
          <a:lstStyle/>
          <a:p>
            <a:pPr algn="ctr"/>
          </a:p>
        </p:txBody>
      </p:sp>
      <p:sp>
        <p:nvSpPr>
          <p:cNvPr id="16" name="TextBox 15"/>
          <p:cNvSpPr txBox="1"/>
          <p:nvPr/>
        </p:nvSpPr>
        <p:spPr>
          <a:xfrm>
            <a:off x="7909560" y="3209544"/>
            <a:ext cx="502920" cy="365760"/>
          </a:xfrm>
          <a:prstGeom prst="rect">
            <a:avLst/>
          </a:prstGeom>
          <a:noFill/>
        </p:spPr>
        <p:txBody>
          <a:bodyPr wrap="square" lIns="0" rIns="0" tIns="0" bIns="0">
            <a:spAutoFit/>
          </a:bodyPr>
          <a:lstStyle/>
          <a:p>
            <a:pPr algn="ctr">
              <a:lnSpc>
                <a:spcPct val="112000"/>
              </a:lnSpc>
              <a:spcBef>
                <a:spcPts val="0"/>
              </a:spcBef>
              <a:spcAft>
                <a:spcPts val="500"/>
              </a:spcAft>
            </a:pPr>
            <a:r>
              <a:rPr sz="2100" b="1">
                <a:solidFill>
                  <a:srgbClr val="FFFFFF"/>
                </a:solidFill>
                <a:latin typeface="Aptos"/>
              </a:rPr>
              <a:t>M</a:t>
            </a:r>
          </a:p>
        </p:txBody>
      </p:sp>
      <p:sp>
        <p:nvSpPr>
          <p:cNvPr id="17" name="TextBox 16"/>
          <p:cNvSpPr txBox="1"/>
          <p:nvPr/>
        </p:nvSpPr>
        <p:spPr>
          <a:xfrm>
            <a:off x="8595360" y="3127248"/>
            <a:ext cx="2587752" cy="365760"/>
          </a:xfrm>
          <a:prstGeom prst="rect">
            <a:avLst/>
          </a:prstGeom>
          <a:noFill/>
        </p:spPr>
        <p:txBody>
          <a:bodyPr wrap="square" lIns="0" rIns="0" tIns="0" bIns="0">
            <a:spAutoFit/>
          </a:bodyPr>
          <a:lstStyle/>
          <a:p>
            <a:pPr algn="l">
              <a:lnSpc>
                <a:spcPct val="112000"/>
              </a:lnSpc>
              <a:spcBef>
                <a:spcPts val="0"/>
              </a:spcBef>
              <a:spcAft>
                <a:spcPts val="500"/>
              </a:spcAft>
            </a:pPr>
            <a:r>
              <a:rPr sz="2300" b="1">
                <a:solidFill>
                  <a:srgbClr val="2D6DAF"/>
                </a:solidFill>
                <a:latin typeface="Aptos"/>
              </a:rPr>
              <a:t>Main</a:t>
            </a:r>
          </a:p>
        </p:txBody>
      </p:sp>
      <p:sp>
        <p:nvSpPr>
          <p:cNvPr id="18" name="TextBox 17"/>
          <p:cNvSpPr txBox="1"/>
          <p:nvPr/>
        </p:nvSpPr>
        <p:spPr>
          <a:xfrm>
            <a:off x="8595360" y="3593591"/>
            <a:ext cx="2587752" cy="484632"/>
          </a:xfrm>
          <a:prstGeom prst="rect">
            <a:avLst/>
          </a:prstGeom>
          <a:noFill/>
        </p:spPr>
        <p:txBody>
          <a:bodyPr wrap="square" lIns="0" rIns="0" tIns="0" bIns="0">
            <a:spAutoFit/>
          </a:bodyPr>
          <a:lstStyle/>
          <a:p>
            <a:pPr algn="l">
              <a:lnSpc>
                <a:spcPct val="112000"/>
              </a:lnSpc>
              <a:spcBef>
                <a:spcPts val="0"/>
              </a:spcBef>
              <a:spcAft>
                <a:spcPts val="500"/>
              </a:spcAft>
            </a:pPr>
            <a:r>
              <a:rPr sz="1700" b="0">
                <a:solidFill>
                  <a:srgbClr val="5B6472"/>
                </a:solidFill>
                <a:latin typeface="Aptos"/>
              </a:rPr>
              <a:t>Keep useful objects</a:t>
            </a:r>
          </a:p>
        </p:txBody>
      </p:sp>
      <p:sp>
        <p:nvSpPr>
          <p:cNvPr id="19" name="Rounded Rectangle 18"/>
          <p:cNvSpPr/>
          <p:nvPr/>
        </p:nvSpPr>
        <p:spPr>
          <a:xfrm>
            <a:off x="7909560" y="4178808"/>
            <a:ext cx="502920" cy="502920"/>
          </a:xfrm>
          <a:prstGeom prst="roundRect">
            <a:avLst>
              <a:gd name="adj" fmla="val 12000"/>
            </a:avLst>
          </a:prstGeom>
          <a:solidFill>
            <a:srgbClr val="788594"/>
          </a:solidFill>
          <a:ln>
            <a:noFill/>
          </a:ln>
        </p:spPr>
        <p:txBody>
          <a:bodyPr rtlCol="0" anchor="ctr"/>
          <a:lstStyle/>
          <a:p>
            <a:pPr algn="ctr"/>
          </a:p>
        </p:txBody>
      </p:sp>
      <p:sp>
        <p:nvSpPr>
          <p:cNvPr id="20" name="TextBox 19"/>
          <p:cNvSpPr txBox="1"/>
          <p:nvPr/>
        </p:nvSpPr>
        <p:spPr>
          <a:xfrm>
            <a:off x="7909560" y="4261104"/>
            <a:ext cx="502920" cy="365760"/>
          </a:xfrm>
          <a:prstGeom prst="rect">
            <a:avLst/>
          </a:prstGeom>
          <a:noFill/>
        </p:spPr>
        <p:txBody>
          <a:bodyPr wrap="square" lIns="0" rIns="0" tIns="0" bIns="0">
            <a:spAutoFit/>
          </a:bodyPr>
          <a:lstStyle/>
          <a:p>
            <a:pPr algn="ctr">
              <a:lnSpc>
                <a:spcPct val="112000"/>
              </a:lnSpc>
              <a:spcBef>
                <a:spcPts val="0"/>
              </a:spcBef>
              <a:spcAft>
                <a:spcPts val="500"/>
              </a:spcAft>
            </a:pPr>
            <a:r>
              <a:rPr sz="2100" b="1">
                <a:solidFill>
                  <a:srgbClr val="FFFFFF"/>
                </a:solidFill>
                <a:latin typeface="Aptos"/>
              </a:rPr>
              <a:t>G</a:t>
            </a:r>
          </a:p>
        </p:txBody>
      </p:sp>
      <p:sp>
        <p:nvSpPr>
          <p:cNvPr id="21" name="TextBox 20"/>
          <p:cNvSpPr txBox="1"/>
          <p:nvPr/>
        </p:nvSpPr>
        <p:spPr>
          <a:xfrm>
            <a:off x="8595360" y="4178808"/>
            <a:ext cx="2587752" cy="365760"/>
          </a:xfrm>
          <a:prstGeom prst="rect">
            <a:avLst/>
          </a:prstGeom>
          <a:noFill/>
        </p:spPr>
        <p:txBody>
          <a:bodyPr wrap="square" lIns="0" rIns="0" tIns="0" bIns="0">
            <a:spAutoFit/>
          </a:bodyPr>
          <a:lstStyle/>
          <a:p>
            <a:pPr algn="l">
              <a:lnSpc>
                <a:spcPct val="112000"/>
              </a:lnSpc>
              <a:spcBef>
                <a:spcPts val="0"/>
              </a:spcBef>
              <a:spcAft>
                <a:spcPts val="500"/>
              </a:spcAft>
            </a:pPr>
            <a:r>
              <a:rPr sz="2300" b="1">
                <a:solidFill>
                  <a:srgbClr val="788594"/>
                </a:solidFill>
                <a:latin typeface="Aptos"/>
              </a:rPr>
              <a:t>Ghost</a:t>
            </a:r>
          </a:p>
        </p:txBody>
      </p:sp>
      <p:sp>
        <p:nvSpPr>
          <p:cNvPr id="22" name="TextBox 21"/>
          <p:cNvSpPr txBox="1"/>
          <p:nvPr/>
        </p:nvSpPr>
        <p:spPr>
          <a:xfrm>
            <a:off x="8595360" y="4645152"/>
            <a:ext cx="2587752" cy="484632"/>
          </a:xfrm>
          <a:prstGeom prst="rect">
            <a:avLst/>
          </a:prstGeom>
          <a:noFill/>
        </p:spPr>
        <p:txBody>
          <a:bodyPr wrap="square" lIns="0" rIns="0" tIns="0" bIns="0">
            <a:spAutoFit/>
          </a:bodyPr>
          <a:lstStyle/>
          <a:p>
            <a:pPr algn="l">
              <a:lnSpc>
                <a:spcPct val="112000"/>
              </a:lnSpc>
              <a:spcBef>
                <a:spcPts val="0"/>
              </a:spcBef>
              <a:spcAft>
                <a:spcPts val="500"/>
              </a:spcAft>
            </a:pPr>
            <a:r>
              <a:rPr sz="1700" b="0">
                <a:solidFill>
                  <a:srgbClr val="5B6472"/>
                </a:solidFill>
                <a:latin typeface="Aptos"/>
              </a:rPr>
              <a:t>Remember removed IDs</a:t>
            </a:r>
          </a:p>
        </p:txBody>
      </p:sp>
      <p:sp>
        <p:nvSpPr>
          <p:cNvPr id="23" name="Rounded Rectangle 22"/>
          <p:cNvSpPr/>
          <p:nvPr/>
        </p:nvSpPr>
        <p:spPr>
          <a:xfrm>
            <a:off x="731520" y="5632704"/>
            <a:ext cx="10789920" cy="475488"/>
          </a:xfrm>
          <a:prstGeom prst="roundRect">
            <a:avLst>
              <a:gd name="adj" fmla="val 12000"/>
            </a:avLst>
          </a:prstGeom>
          <a:solidFill>
            <a:srgbClr val="E7F6F0"/>
          </a:solidFill>
          <a:ln>
            <a:noFill/>
          </a:ln>
        </p:spPr>
        <p:txBody>
          <a:bodyPr rtlCol="0" anchor="ctr"/>
          <a:lstStyle/>
          <a:p>
            <a:pPr algn="ctr"/>
          </a:p>
        </p:txBody>
      </p:sp>
      <p:sp>
        <p:nvSpPr>
          <p:cNvPr id="24" name="TextBox 23"/>
          <p:cNvSpPr txBox="1"/>
          <p:nvPr/>
        </p:nvSpPr>
        <p:spPr>
          <a:xfrm>
            <a:off x="960120" y="5751576"/>
            <a:ext cx="10332720" cy="256032"/>
          </a:xfrm>
          <a:prstGeom prst="rect">
            <a:avLst/>
          </a:prstGeom>
          <a:noFill/>
        </p:spPr>
        <p:txBody>
          <a:bodyPr wrap="square" lIns="0" rIns="0" tIns="0" bIns="0">
            <a:spAutoFit/>
          </a:bodyPr>
          <a:lstStyle/>
          <a:p>
            <a:pPr algn="l">
              <a:lnSpc>
                <a:spcPct val="112000"/>
              </a:lnSpc>
              <a:spcBef>
                <a:spcPts val="0"/>
              </a:spcBef>
              <a:spcAft>
                <a:spcPts val="500"/>
              </a:spcAft>
            </a:pPr>
            <a:r>
              <a:rPr sz="1500" b="1">
                <a:solidFill>
                  <a:srgbClr val="238B6D"/>
                </a:solidFill>
                <a:latin typeface="Aptos"/>
              </a:rPr>
              <a:t>The main idea: use three FIFO queues to filter, protect and remember.</a:t>
            </a:r>
          </a:p>
        </p:txBody>
      </p:sp>
      <p:sp>
        <p:nvSpPr>
          <p:cNvPr id="25" name="TextBox 24"/>
          <p:cNvSpPr txBox="1"/>
          <p:nvPr/>
        </p:nvSpPr>
        <p:spPr>
          <a:xfrm>
            <a:off x="530352" y="6281928"/>
            <a:ext cx="11064240" cy="210312"/>
          </a:xfrm>
          <a:prstGeom prst="rect">
            <a:avLst/>
          </a:prstGeom>
          <a:noFill/>
        </p:spPr>
        <p:txBody>
          <a:bodyPr wrap="square" lIns="0" rIns="0" tIns="0" bIns="0">
            <a:spAutoFit/>
          </a:bodyPr>
          <a:lstStyle/>
          <a:p>
            <a:pPr algn="l">
              <a:lnSpc>
                <a:spcPct val="112000"/>
              </a:lnSpc>
              <a:spcBef>
                <a:spcPts val="0"/>
              </a:spcBef>
              <a:spcAft>
                <a:spcPts val="500"/>
              </a:spcAft>
            </a:pPr>
            <a:r>
              <a:rPr sz="919" b="0">
                <a:solidFill>
                  <a:srgbClr val="738096"/>
                </a:solidFill>
                <a:latin typeface="Aptos"/>
              </a:rPr>
              <a:t>Source: Figure 5 and §4.1, Yang et al., SOSP 2023.</a:t>
            </a:r>
          </a:p>
        </p:txBody>
      </p:sp>
      <p:sp>
        <p:nvSpPr>
          <p:cNvPr id="26" name="TextBox 25"/>
          <p:cNvSpPr txBox="1"/>
          <p:nvPr/>
        </p:nvSpPr>
        <p:spPr>
          <a:xfrm>
            <a:off x="530352" y="6537960"/>
            <a:ext cx="9875520" cy="182880"/>
          </a:xfrm>
          <a:prstGeom prst="rect">
            <a:avLst/>
          </a:prstGeom>
          <a:noFill/>
        </p:spPr>
        <p:txBody>
          <a:bodyPr wrap="square" lIns="0" rIns="0" tIns="0" bIns="0">
            <a:spAutoFit/>
          </a:bodyPr>
          <a:lstStyle/>
          <a:p>
            <a:pPr algn="l">
              <a:lnSpc>
                <a:spcPct val="112000"/>
              </a:lnSpc>
              <a:spcBef>
                <a:spcPts val="0"/>
              </a:spcBef>
              <a:spcAft>
                <a:spcPts val="500"/>
              </a:spcAft>
            </a:pPr>
            <a:r>
              <a:rPr sz="850" b="0">
                <a:solidFill>
                  <a:srgbClr val="738096"/>
                </a:solidFill>
                <a:latin typeface="Aptos"/>
              </a:rPr>
              <a:t>Yang et al., SOSP 2023 · Operating Systems · Theoretical Presentation</a:t>
            </a:r>
          </a:p>
        </p:txBody>
      </p:sp>
      <p:sp>
        <p:nvSpPr>
          <p:cNvPr id="27" name="TextBox 26"/>
          <p:cNvSpPr txBox="1"/>
          <p:nvPr/>
        </p:nvSpPr>
        <p:spPr>
          <a:xfrm>
            <a:off x="10744200" y="6537960"/>
            <a:ext cx="868680" cy="182880"/>
          </a:xfrm>
          <a:prstGeom prst="rect">
            <a:avLst/>
          </a:prstGeom>
          <a:noFill/>
        </p:spPr>
        <p:txBody>
          <a:bodyPr wrap="square" lIns="0" rIns="0" tIns="0" bIns="0">
            <a:spAutoFit/>
          </a:bodyPr>
          <a:lstStyle/>
          <a:p>
            <a:pPr algn="r">
              <a:lnSpc>
                <a:spcPct val="112000"/>
              </a:lnSpc>
              <a:spcBef>
                <a:spcPts val="0"/>
              </a:spcBef>
              <a:spcAft>
                <a:spcPts val="500"/>
              </a:spcAft>
            </a:pPr>
            <a:r>
              <a:rPr sz="850" b="0">
                <a:solidFill>
                  <a:srgbClr val="738096"/>
                </a:solidFill>
                <a:latin typeface="Aptos"/>
              </a:rPr>
              <a:t>Slide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3294B"/>
          </a:solidFill>
          <a:ln>
            <a:noFill/>
          </a:ln>
        </p:spPr>
        <p:txBody>
          <a:bodyPr rtlCol="0" anchor="ctr"/>
          <a:lstStyle/>
          <a:p>
            <a:pPr algn="ctr"/>
          </a:p>
        </p:txBody>
      </p:sp>
      <p:sp>
        <p:nvSpPr>
          <p:cNvPr id="3" name="TextBox 2"/>
          <p:cNvSpPr txBox="1"/>
          <p:nvPr/>
        </p:nvSpPr>
        <p:spPr>
          <a:xfrm>
            <a:off x="457200" y="96012"/>
            <a:ext cx="5166360" cy="210312"/>
          </a:xfrm>
          <a:prstGeom prst="rect">
            <a:avLst/>
          </a:prstGeom>
          <a:noFill/>
        </p:spPr>
        <p:txBody>
          <a:bodyPr wrap="square" lIns="0" rIns="0" tIns="0" bIns="0">
            <a:spAutoFit/>
          </a:bodyPr>
          <a:lstStyle/>
          <a:p>
            <a:pPr algn="l">
              <a:lnSpc>
                <a:spcPct val="112000"/>
              </a:lnSpc>
              <a:spcBef>
                <a:spcPts val="0"/>
              </a:spcBef>
              <a:spcAft>
                <a:spcPts val="500"/>
              </a:spcAft>
            </a:pPr>
            <a:r>
              <a:rPr sz="950" b="1">
                <a:solidFill>
                  <a:srgbClr val="FFFFFF"/>
                </a:solidFill>
                <a:latin typeface="Aptos"/>
              </a:rPr>
              <a:t>Part 2 · Queue Roles</a:t>
            </a:r>
          </a:p>
        </p:txBody>
      </p:sp>
      <p:sp>
        <p:nvSpPr>
          <p:cNvPr id="4" name="TextBox 3"/>
          <p:cNvSpPr txBox="1"/>
          <p:nvPr/>
        </p:nvSpPr>
        <p:spPr>
          <a:xfrm>
            <a:off x="6400800" y="96012"/>
            <a:ext cx="5303520" cy="210312"/>
          </a:xfrm>
          <a:prstGeom prst="rect">
            <a:avLst/>
          </a:prstGeom>
          <a:noFill/>
        </p:spPr>
        <p:txBody>
          <a:bodyPr wrap="square" lIns="0" rIns="0" tIns="0" bIns="0">
            <a:spAutoFit/>
          </a:bodyPr>
          <a:lstStyle/>
          <a:p>
            <a:pPr algn="r">
              <a:lnSpc>
                <a:spcPct val="112000"/>
              </a:lnSpc>
              <a:spcBef>
                <a:spcPts val="0"/>
              </a:spcBef>
              <a:spcAft>
                <a:spcPts val="500"/>
              </a:spcAft>
            </a:pPr>
            <a:r>
              <a:rPr sz="950" b="0">
                <a:solidFill>
                  <a:srgbClr val="CFE8FF"/>
                </a:solidFill>
                <a:latin typeface="Aptos"/>
              </a:rPr>
              <a:t>S3-FIFO · FIFO Queues Are All You Need</a:t>
            </a:r>
          </a:p>
        </p:txBody>
      </p:sp>
      <p:sp>
        <p:nvSpPr>
          <p:cNvPr id="5" name="TextBox 4"/>
          <p:cNvSpPr txBox="1"/>
          <p:nvPr/>
        </p:nvSpPr>
        <p:spPr>
          <a:xfrm>
            <a:off x="548640" y="694944"/>
            <a:ext cx="10789920" cy="484632"/>
          </a:xfrm>
          <a:prstGeom prst="rect">
            <a:avLst/>
          </a:prstGeom>
          <a:noFill/>
        </p:spPr>
        <p:txBody>
          <a:bodyPr wrap="square" lIns="0" rIns="0" tIns="0" bIns="0">
            <a:spAutoFit/>
          </a:bodyPr>
          <a:lstStyle/>
          <a:p>
            <a:pPr algn="l">
              <a:lnSpc>
                <a:spcPct val="112000"/>
              </a:lnSpc>
              <a:spcBef>
                <a:spcPts val="0"/>
              </a:spcBef>
              <a:spcAft>
                <a:spcPts val="500"/>
              </a:spcAft>
            </a:pPr>
            <a:r>
              <a:rPr sz="2900" b="1">
                <a:solidFill>
                  <a:srgbClr val="172033"/>
                </a:solidFill>
                <a:latin typeface="Aptos Display"/>
              </a:rPr>
              <a:t>Small &amp; Main: Two Data Queues</a:t>
            </a:r>
          </a:p>
        </p:txBody>
      </p:sp>
      <p:sp>
        <p:nvSpPr>
          <p:cNvPr id="6" name="TextBox 5"/>
          <p:cNvSpPr txBox="1"/>
          <p:nvPr/>
        </p:nvSpPr>
        <p:spPr>
          <a:xfrm>
            <a:off x="566928" y="1225296"/>
            <a:ext cx="10972800" cy="338328"/>
          </a:xfrm>
          <a:prstGeom prst="rect">
            <a:avLst/>
          </a:prstGeom>
          <a:noFill/>
        </p:spPr>
        <p:txBody>
          <a:bodyPr wrap="square" lIns="0" rIns="0" tIns="0" bIns="0">
            <a:spAutoFit/>
          </a:bodyPr>
          <a:lstStyle/>
          <a:p>
            <a:pPr algn="l">
              <a:lnSpc>
                <a:spcPct val="112000"/>
              </a:lnSpc>
              <a:spcBef>
                <a:spcPts val="0"/>
              </a:spcBef>
              <a:spcAft>
                <a:spcPts val="500"/>
              </a:spcAft>
            </a:pPr>
            <a:r>
              <a:rPr sz="1400" b="0">
                <a:solidFill>
                  <a:srgbClr val="5B6472"/>
                </a:solidFill>
                <a:latin typeface="Aptos"/>
              </a:rPr>
              <a:t>Small filters new objects; Main retains objects that have demonstrated reuse.</a:t>
            </a:r>
          </a:p>
        </p:txBody>
      </p:sp>
      <p:sp>
        <p:nvSpPr>
          <p:cNvPr id="7" name="Rectangle 6"/>
          <p:cNvSpPr/>
          <p:nvPr/>
        </p:nvSpPr>
        <p:spPr>
          <a:xfrm>
            <a:off x="731520" y="1810512"/>
            <a:ext cx="1078992" cy="502920"/>
          </a:xfrm>
          <a:prstGeom prst="rect">
            <a:avLst/>
          </a:prstGeom>
          <a:solidFill>
            <a:srgbClr val="D9852A"/>
          </a:solidFill>
          <a:ln>
            <a:noFill/>
          </a:ln>
        </p:spPr>
        <p:txBody>
          <a:bodyPr rtlCol="0" anchor="ctr"/>
          <a:lstStyle/>
          <a:p>
            <a:pPr algn="ctr"/>
          </a:p>
        </p:txBody>
      </p:sp>
      <p:sp>
        <p:nvSpPr>
          <p:cNvPr id="8" name="Rectangle 7"/>
          <p:cNvSpPr/>
          <p:nvPr/>
        </p:nvSpPr>
        <p:spPr>
          <a:xfrm>
            <a:off x="1828800" y="1810512"/>
            <a:ext cx="9646920" cy="502920"/>
          </a:xfrm>
          <a:prstGeom prst="rect">
            <a:avLst/>
          </a:prstGeom>
          <a:solidFill>
            <a:srgbClr val="2D6DAF"/>
          </a:solidFill>
          <a:ln>
            <a:noFill/>
          </a:ln>
        </p:spPr>
        <p:txBody>
          <a:bodyPr rtlCol="0" anchor="ctr"/>
          <a:lstStyle/>
          <a:p>
            <a:pPr algn="ctr"/>
          </a:p>
        </p:txBody>
      </p:sp>
      <p:sp>
        <p:nvSpPr>
          <p:cNvPr id="9" name="TextBox 8"/>
          <p:cNvSpPr txBox="1"/>
          <p:nvPr/>
        </p:nvSpPr>
        <p:spPr>
          <a:xfrm>
            <a:off x="731520" y="1920240"/>
            <a:ext cx="1078992" cy="274320"/>
          </a:xfrm>
          <a:prstGeom prst="rect">
            <a:avLst/>
          </a:prstGeom>
          <a:noFill/>
        </p:spPr>
        <p:txBody>
          <a:bodyPr wrap="square" lIns="0" rIns="0" tIns="0" bIns="0">
            <a:spAutoFit/>
          </a:bodyPr>
          <a:lstStyle/>
          <a:p>
            <a:pPr algn="ctr">
              <a:lnSpc>
                <a:spcPct val="112000"/>
              </a:lnSpc>
              <a:spcBef>
                <a:spcPts val="0"/>
              </a:spcBef>
              <a:spcAft>
                <a:spcPts val="500"/>
              </a:spcAft>
            </a:pPr>
            <a:r>
              <a:rPr sz="1500" b="1">
                <a:solidFill>
                  <a:srgbClr val="FFFFFF"/>
                </a:solidFill>
                <a:latin typeface="Aptos"/>
              </a:rPr>
              <a:t>S · 10%</a:t>
            </a:r>
          </a:p>
        </p:txBody>
      </p:sp>
      <p:sp>
        <p:nvSpPr>
          <p:cNvPr id="10" name="TextBox 9"/>
          <p:cNvSpPr txBox="1"/>
          <p:nvPr/>
        </p:nvSpPr>
        <p:spPr>
          <a:xfrm>
            <a:off x="2048256" y="1920240"/>
            <a:ext cx="9144000" cy="274320"/>
          </a:xfrm>
          <a:prstGeom prst="rect">
            <a:avLst/>
          </a:prstGeom>
          <a:noFill/>
        </p:spPr>
        <p:txBody>
          <a:bodyPr wrap="square" lIns="0" rIns="0" tIns="0" bIns="0">
            <a:spAutoFit/>
          </a:bodyPr>
          <a:lstStyle/>
          <a:p>
            <a:pPr algn="l">
              <a:lnSpc>
                <a:spcPct val="112000"/>
              </a:lnSpc>
              <a:spcBef>
                <a:spcPts val="0"/>
              </a:spcBef>
              <a:spcAft>
                <a:spcPts val="500"/>
              </a:spcAft>
            </a:pPr>
            <a:r>
              <a:rPr sz="1600" b="1">
                <a:solidFill>
                  <a:srgbClr val="FFFFFF"/>
                </a:solidFill>
                <a:latin typeface="Aptos"/>
              </a:rPr>
              <a:t>M · 90% of cache space</a:t>
            </a:r>
          </a:p>
        </p:txBody>
      </p:sp>
      <p:sp>
        <p:nvSpPr>
          <p:cNvPr id="11" name="Rounded Rectangle 10"/>
          <p:cNvSpPr/>
          <p:nvPr/>
        </p:nvSpPr>
        <p:spPr>
          <a:xfrm>
            <a:off x="685800" y="2615184"/>
            <a:ext cx="5285232" cy="2798064"/>
          </a:xfrm>
          <a:prstGeom prst="roundRect">
            <a:avLst>
              <a:gd name="adj" fmla="val 12000"/>
            </a:avLst>
          </a:prstGeom>
          <a:solidFill>
            <a:srgbClr val="FFFFFF"/>
          </a:solidFill>
          <a:ln w="9525">
            <a:solidFill>
              <a:srgbClr val="DCE5EF"/>
            </a:solidFill>
          </a:ln>
        </p:spPr>
        <p:txBody>
          <a:bodyPr rtlCol="0" anchor="ctr"/>
          <a:lstStyle/>
          <a:p>
            <a:pPr algn="ctr"/>
          </a:p>
        </p:txBody>
      </p:sp>
      <p:sp>
        <p:nvSpPr>
          <p:cNvPr id="12" name="TextBox 11"/>
          <p:cNvSpPr txBox="1"/>
          <p:nvPr/>
        </p:nvSpPr>
        <p:spPr>
          <a:xfrm>
            <a:off x="960120" y="2816352"/>
            <a:ext cx="4736592" cy="292608"/>
          </a:xfrm>
          <a:prstGeom prst="rect">
            <a:avLst/>
          </a:prstGeom>
          <a:noFill/>
        </p:spPr>
        <p:txBody>
          <a:bodyPr wrap="square" lIns="0" rIns="0" tIns="0" bIns="0">
            <a:spAutoFit/>
          </a:bodyPr>
          <a:lstStyle/>
          <a:p>
            <a:pPr algn="l">
              <a:lnSpc>
                <a:spcPct val="112000"/>
              </a:lnSpc>
              <a:spcBef>
                <a:spcPts val="0"/>
              </a:spcBef>
              <a:spcAft>
                <a:spcPts val="500"/>
              </a:spcAft>
            </a:pPr>
            <a:r>
              <a:rPr sz="1600" b="1">
                <a:solidFill>
                  <a:srgbClr val="D9852A"/>
                </a:solidFill>
                <a:latin typeface="Aptos"/>
              </a:rPr>
              <a:t>SMALL QUEUE</a:t>
            </a:r>
          </a:p>
        </p:txBody>
      </p:sp>
      <p:sp>
        <p:nvSpPr>
          <p:cNvPr id="13" name="TextBox 12"/>
          <p:cNvSpPr txBox="1"/>
          <p:nvPr/>
        </p:nvSpPr>
        <p:spPr>
          <a:xfrm>
            <a:off x="960120" y="3273552"/>
            <a:ext cx="4736592" cy="548640"/>
          </a:xfrm>
          <a:prstGeom prst="rect">
            <a:avLst/>
          </a:prstGeom>
          <a:noFill/>
        </p:spPr>
        <p:txBody>
          <a:bodyPr wrap="square" lIns="0" rIns="0" tIns="0" bIns="0">
            <a:spAutoFit/>
          </a:bodyPr>
          <a:lstStyle/>
          <a:p>
            <a:pPr algn="l">
              <a:lnSpc>
                <a:spcPct val="112000"/>
              </a:lnSpc>
              <a:spcBef>
                <a:spcPts val="0"/>
              </a:spcBef>
              <a:spcAft>
                <a:spcPts val="500"/>
              </a:spcAft>
            </a:pPr>
            <a:r>
              <a:rPr sz="3200" b="1">
                <a:solidFill>
                  <a:srgbClr val="D9852A"/>
                </a:solidFill>
                <a:latin typeface="Aptos"/>
              </a:rPr>
              <a:t>10%</a:t>
            </a:r>
          </a:p>
        </p:txBody>
      </p:sp>
      <p:sp>
        <p:nvSpPr>
          <p:cNvPr id="14" name="TextBox 13"/>
          <p:cNvSpPr txBox="1"/>
          <p:nvPr/>
        </p:nvSpPr>
        <p:spPr>
          <a:xfrm>
            <a:off x="960120" y="3931920"/>
            <a:ext cx="4736592" cy="1207008"/>
          </a:xfrm>
          <a:prstGeom prst="rect">
            <a:avLst/>
          </a:prstGeom>
          <a:noFill/>
        </p:spPr>
        <p:txBody>
          <a:bodyPr wrap="square" lIns="0" rIns="0" tIns="0" bIns="0">
            <a:spAutoFit/>
          </a:bodyPr>
          <a:lstStyle/>
          <a:p>
            <a:pPr algn="l">
              <a:lnSpc>
                <a:spcPct val="114000"/>
              </a:lnSpc>
              <a:spcBef>
                <a:spcPts val="0"/>
              </a:spcBef>
              <a:spcAft>
                <a:spcPts val="1200"/>
              </a:spcAft>
            </a:pPr>
            <a:r>
              <a:rPr sz="1900">
                <a:solidFill>
                  <a:srgbClr val="172033"/>
                </a:solidFill>
                <a:latin typeface="Aptos"/>
              </a:rPr>
              <a:t>New objects usually enter S first.</a:t>
            </a:r>
          </a:p>
          <a:p>
            <a:pPr>
              <a:lnSpc>
                <a:spcPct val="114000"/>
              </a:lnSpc>
              <a:spcAft>
                <a:spcPts val="1200"/>
              </a:spcAft>
            </a:pPr>
            <a:r>
              <a:rPr sz="1900">
                <a:solidFill>
                  <a:srgbClr val="172033"/>
                </a:solidFill>
                <a:latin typeface="Aptos"/>
              </a:rPr>
              <a:t>S is a testing area: objects with no reuse can leave quickly.</a:t>
            </a:r>
          </a:p>
        </p:txBody>
      </p:sp>
      <p:sp>
        <p:nvSpPr>
          <p:cNvPr id="15" name="Rounded Rectangle 14"/>
          <p:cNvSpPr/>
          <p:nvPr/>
        </p:nvSpPr>
        <p:spPr>
          <a:xfrm>
            <a:off x="6190488" y="2615184"/>
            <a:ext cx="5285232" cy="2798064"/>
          </a:xfrm>
          <a:prstGeom prst="roundRect">
            <a:avLst>
              <a:gd name="adj" fmla="val 12000"/>
            </a:avLst>
          </a:prstGeom>
          <a:solidFill>
            <a:srgbClr val="FFFFFF"/>
          </a:solidFill>
          <a:ln w="9525">
            <a:solidFill>
              <a:srgbClr val="DCE5EF"/>
            </a:solidFill>
          </a:ln>
        </p:spPr>
        <p:txBody>
          <a:bodyPr rtlCol="0" anchor="ctr"/>
          <a:lstStyle/>
          <a:p>
            <a:pPr algn="ctr"/>
          </a:p>
        </p:txBody>
      </p:sp>
      <p:sp>
        <p:nvSpPr>
          <p:cNvPr id="16" name="TextBox 15"/>
          <p:cNvSpPr txBox="1"/>
          <p:nvPr/>
        </p:nvSpPr>
        <p:spPr>
          <a:xfrm>
            <a:off x="6464807" y="2816352"/>
            <a:ext cx="4736592" cy="292608"/>
          </a:xfrm>
          <a:prstGeom prst="rect">
            <a:avLst/>
          </a:prstGeom>
          <a:noFill/>
        </p:spPr>
        <p:txBody>
          <a:bodyPr wrap="square" lIns="0" rIns="0" tIns="0" bIns="0">
            <a:spAutoFit/>
          </a:bodyPr>
          <a:lstStyle/>
          <a:p>
            <a:pPr algn="l">
              <a:lnSpc>
                <a:spcPct val="112000"/>
              </a:lnSpc>
              <a:spcBef>
                <a:spcPts val="0"/>
              </a:spcBef>
              <a:spcAft>
                <a:spcPts val="500"/>
              </a:spcAft>
            </a:pPr>
            <a:r>
              <a:rPr sz="1600" b="1">
                <a:solidFill>
                  <a:srgbClr val="2D6DAF"/>
                </a:solidFill>
                <a:latin typeface="Aptos"/>
              </a:rPr>
              <a:t>MAIN QUEUE</a:t>
            </a:r>
          </a:p>
        </p:txBody>
      </p:sp>
      <p:sp>
        <p:nvSpPr>
          <p:cNvPr id="17" name="TextBox 16"/>
          <p:cNvSpPr txBox="1"/>
          <p:nvPr/>
        </p:nvSpPr>
        <p:spPr>
          <a:xfrm>
            <a:off x="6464807" y="3273552"/>
            <a:ext cx="4736592" cy="548640"/>
          </a:xfrm>
          <a:prstGeom prst="rect">
            <a:avLst/>
          </a:prstGeom>
          <a:noFill/>
        </p:spPr>
        <p:txBody>
          <a:bodyPr wrap="square" lIns="0" rIns="0" tIns="0" bIns="0">
            <a:spAutoFit/>
          </a:bodyPr>
          <a:lstStyle/>
          <a:p>
            <a:pPr algn="l">
              <a:lnSpc>
                <a:spcPct val="112000"/>
              </a:lnSpc>
              <a:spcBef>
                <a:spcPts val="0"/>
              </a:spcBef>
              <a:spcAft>
                <a:spcPts val="500"/>
              </a:spcAft>
            </a:pPr>
            <a:r>
              <a:rPr sz="3200" b="1">
                <a:solidFill>
                  <a:srgbClr val="2D6DAF"/>
                </a:solidFill>
                <a:latin typeface="Aptos"/>
              </a:rPr>
              <a:t>90%</a:t>
            </a:r>
          </a:p>
        </p:txBody>
      </p:sp>
      <p:sp>
        <p:nvSpPr>
          <p:cNvPr id="18" name="TextBox 17"/>
          <p:cNvSpPr txBox="1"/>
          <p:nvPr/>
        </p:nvSpPr>
        <p:spPr>
          <a:xfrm>
            <a:off x="6464807" y="3931920"/>
            <a:ext cx="4736592" cy="1207008"/>
          </a:xfrm>
          <a:prstGeom prst="rect">
            <a:avLst/>
          </a:prstGeom>
          <a:noFill/>
        </p:spPr>
        <p:txBody>
          <a:bodyPr wrap="square" lIns="0" rIns="0" tIns="0" bIns="0">
            <a:spAutoFit/>
          </a:bodyPr>
          <a:lstStyle/>
          <a:p>
            <a:pPr algn="l">
              <a:lnSpc>
                <a:spcPct val="114000"/>
              </a:lnSpc>
              <a:spcBef>
                <a:spcPts val="0"/>
              </a:spcBef>
              <a:spcAft>
                <a:spcPts val="1200"/>
              </a:spcAft>
            </a:pPr>
            <a:r>
              <a:rPr sz="1900">
                <a:solidFill>
                  <a:srgbClr val="172033"/>
                </a:solidFill>
                <a:latin typeface="Aptos"/>
              </a:rPr>
              <a:t>M keeps objects that have shown they are useful.</a:t>
            </a:r>
          </a:p>
          <a:p>
            <a:pPr>
              <a:lnSpc>
                <a:spcPct val="114000"/>
              </a:lnSpc>
              <a:spcAft>
                <a:spcPts val="1200"/>
              </a:spcAft>
            </a:pPr>
            <a:r>
              <a:rPr sz="1900">
                <a:solidFill>
                  <a:srgbClr val="172033"/>
                </a:solidFill>
                <a:latin typeface="Aptos"/>
              </a:rPr>
              <a:t>Useful objects stay in the cache for longer.</a:t>
            </a:r>
          </a:p>
        </p:txBody>
      </p:sp>
      <p:sp>
        <p:nvSpPr>
          <p:cNvPr id="19" name="Rounded Rectangle 18"/>
          <p:cNvSpPr/>
          <p:nvPr/>
        </p:nvSpPr>
        <p:spPr>
          <a:xfrm>
            <a:off x="731520" y="5632704"/>
            <a:ext cx="10789920" cy="475488"/>
          </a:xfrm>
          <a:prstGeom prst="roundRect">
            <a:avLst>
              <a:gd name="adj" fmla="val 12000"/>
            </a:avLst>
          </a:prstGeom>
          <a:solidFill>
            <a:srgbClr val="EAF3FF"/>
          </a:solidFill>
          <a:ln>
            <a:noFill/>
          </a:ln>
        </p:spPr>
        <p:txBody>
          <a:bodyPr rtlCol="0" anchor="ctr"/>
          <a:lstStyle/>
          <a:p>
            <a:pPr algn="ctr"/>
          </a:p>
        </p:txBody>
      </p:sp>
      <p:sp>
        <p:nvSpPr>
          <p:cNvPr id="20" name="TextBox 19"/>
          <p:cNvSpPr txBox="1"/>
          <p:nvPr/>
        </p:nvSpPr>
        <p:spPr>
          <a:xfrm>
            <a:off x="960120" y="5751576"/>
            <a:ext cx="10332720" cy="256032"/>
          </a:xfrm>
          <a:prstGeom prst="rect">
            <a:avLst/>
          </a:prstGeom>
          <a:noFill/>
        </p:spPr>
        <p:txBody>
          <a:bodyPr wrap="square" lIns="0" rIns="0" tIns="0" bIns="0">
            <a:spAutoFit/>
          </a:bodyPr>
          <a:lstStyle/>
          <a:p>
            <a:pPr algn="l">
              <a:lnSpc>
                <a:spcPct val="112000"/>
              </a:lnSpc>
              <a:spcBef>
                <a:spcPts val="0"/>
              </a:spcBef>
              <a:spcAft>
                <a:spcPts val="500"/>
              </a:spcAft>
            </a:pPr>
            <a:r>
              <a:rPr sz="1500" b="1">
                <a:solidFill>
                  <a:srgbClr val="13294B"/>
                </a:solidFill>
                <a:latin typeface="Aptos"/>
              </a:rPr>
              <a:t>Small + Main account for the actual cached data capacity.</a:t>
            </a:r>
          </a:p>
        </p:txBody>
      </p:sp>
      <p:sp>
        <p:nvSpPr>
          <p:cNvPr id="21" name="TextBox 20"/>
          <p:cNvSpPr txBox="1"/>
          <p:nvPr/>
        </p:nvSpPr>
        <p:spPr>
          <a:xfrm>
            <a:off x="530352" y="6281928"/>
            <a:ext cx="11064240" cy="210312"/>
          </a:xfrm>
          <a:prstGeom prst="rect">
            <a:avLst/>
          </a:prstGeom>
          <a:noFill/>
        </p:spPr>
        <p:txBody>
          <a:bodyPr wrap="square" lIns="0" rIns="0" tIns="0" bIns="0">
            <a:spAutoFit/>
          </a:bodyPr>
          <a:lstStyle/>
          <a:p>
            <a:pPr algn="l">
              <a:lnSpc>
                <a:spcPct val="112000"/>
              </a:lnSpc>
              <a:spcBef>
                <a:spcPts val="0"/>
              </a:spcBef>
              <a:spcAft>
                <a:spcPts val="500"/>
              </a:spcAft>
            </a:pPr>
            <a:r>
              <a:rPr sz="919" b="0">
                <a:solidFill>
                  <a:srgbClr val="738096"/>
                </a:solidFill>
                <a:latin typeface="Aptos"/>
              </a:rPr>
              <a:t>Source: §4.1, Yang et al., SOSP 2023.</a:t>
            </a:r>
          </a:p>
        </p:txBody>
      </p:sp>
      <p:sp>
        <p:nvSpPr>
          <p:cNvPr id="22" name="TextBox 21"/>
          <p:cNvSpPr txBox="1"/>
          <p:nvPr/>
        </p:nvSpPr>
        <p:spPr>
          <a:xfrm>
            <a:off x="530352" y="6537960"/>
            <a:ext cx="9875520" cy="182880"/>
          </a:xfrm>
          <a:prstGeom prst="rect">
            <a:avLst/>
          </a:prstGeom>
          <a:noFill/>
        </p:spPr>
        <p:txBody>
          <a:bodyPr wrap="square" lIns="0" rIns="0" tIns="0" bIns="0">
            <a:spAutoFit/>
          </a:bodyPr>
          <a:lstStyle/>
          <a:p>
            <a:pPr algn="l">
              <a:lnSpc>
                <a:spcPct val="112000"/>
              </a:lnSpc>
              <a:spcBef>
                <a:spcPts val="0"/>
              </a:spcBef>
              <a:spcAft>
                <a:spcPts val="500"/>
              </a:spcAft>
            </a:pPr>
            <a:r>
              <a:rPr sz="850" b="0">
                <a:solidFill>
                  <a:srgbClr val="738096"/>
                </a:solidFill>
                <a:latin typeface="Aptos"/>
              </a:rPr>
              <a:t>Yang et al., SOSP 2023 · Operating Systems · Theoretical Presentation</a:t>
            </a:r>
          </a:p>
        </p:txBody>
      </p:sp>
      <p:sp>
        <p:nvSpPr>
          <p:cNvPr id="23" name="TextBox 22"/>
          <p:cNvSpPr txBox="1"/>
          <p:nvPr/>
        </p:nvSpPr>
        <p:spPr>
          <a:xfrm>
            <a:off x="10744200" y="6537960"/>
            <a:ext cx="868680" cy="182880"/>
          </a:xfrm>
          <a:prstGeom prst="rect">
            <a:avLst/>
          </a:prstGeom>
          <a:noFill/>
        </p:spPr>
        <p:txBody>
          <a:bodyPr wrap="square" lIns="0" rIns="0" tIns="0" bIns="0">
            <a:spAutoFit/>
          </a:bodyPr>
          <a:lstStyle/>
          <a:p>
            <a:pPr algn="r">
              <a:lnSpc>
                <a:spcPct val="112000"/>
              </a:lnSpc>
              <a:spcBef>
                <a:spcPts val="0"/>
              </a:spcBef>
              <a:spcAft>
                <a:spcPts val="500"/>
              </a:spcAft>
            </a:pPr>
            <a:r>
              <a:rPr sz="850" b="0">
                <a:solidFill>
                  <a:srgbClr val="738096"/>
                </a:solidFill>
                <a:latin typeface="Aptos"/>
              </a:rPr>
              <a:t>Slide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3294B"/>
          </a:solidFill>
          <a:ln>
            <a:noFill/>
          </a:ln>
        </p:spPr>
        <p:txBody>
          <a:bodyPr rtlCol="0" anchor="ctr"/>
          <a:lstStyle/>
          <a:p>
            <a:pPr algn="ctr"/>
          </a:p>
        </p:txBody>
      </p:sp>
      <p:sp>
        <p:nvSpPr>
          <p:cNvPr id="3" name="TextBox 2"/>
          <p:cNvSpPr txBox="1"/>
          <p:nvPr/>
        </p:nvSpPr>
        <p:spPr>
          <a:xfrm>
            <a:off x="457200" y="96012"/>
            <a:ext cx="5166360" cy="210312"/>
          </a:xfrm>
          <a:prstGeom prst="rect">
            <a:avLst/>
          </a:prstGeom>
          <a:noFill/>
        </p:spPr>
        <p:txBody>
          <a:bodyPr wrap="square" lIns="0" rIns="0" tIns="0" bIns="0">
            <a:spAutoFit/>
          </a:bodyPr>
          <a:lstStyle/>
          <a:p>
            <a:pPr algn="l">
              <a:lnSpc>
                <a:spcPct val="112000"/>
              </a:lnSpc>
              <a:spcBef>
                <a:spcPts val="0"/>
              </a:spcBef>
              <a:spcAft>
                <a:spcPts val="500"/>
              </a:spcAft>
            </a:pPr>
            <a:r>
              <a:rPr sz="950" b="1">
                <a:solidFill>
                  <a:srgbClr val="FFFFFF"/>
                </a:solidFill>
                <a:latin typeface="Aptos"/>
              </a:rPr>
              <a:t>Part 2 · Ghost History</a:t>
            </a:r>
          </a:p>
        </p:txBody>
      </p:sp>
      <p:sp>
        <p:nvSpPr>
          <p:cNvPr id="4" name="TextBox 3"/>
          <p:cNvSpPr txBox="1"/>
          <p:nvPr/>
        </p:nvSpPr>
        <p:spPr>
          <a:xfrm>
            <a:off x="6400800" y="96012"/>
            <a:ext cx="5303520" cy="210312"/>
          </a:xfrm>
          <a:prstGeom prst="rect">
            <a:avLst/>
          </a:prstGeom>
          <a:noFill/>
        </p:spPr>
        <p:txBody>
          <a:bodyPr wrap="square" lIns="0" rIns="0" tIns="0" bIns="0">
            <a:spAutoFit/>
          </a:bodyPr>
          <a:lstStyle/>
          <a:p>
            <a:pPr algn="r">
              <a:lnSpc>
                <a:spcPct val="112000"/>
              </a:lnSpc>
              <a:spcBef>
                <a:spcPts val="0"/>
              </a:spcBef>
              <a:spcAft>
                <a:spcPts val="500"/>
              </a:spcAft>
            </a:pPr>
            <a:r>
              <a:rPr sz="950" b="0">
                <a:solidFill>
                  <a:srgbClr val="CFE8FF"/>
                </a:solidFill>
                <a:latin typeface="Aptos"/>
              </a:rPr>
              <a:t>S3-FIFO · FIFO Queues Are All You Need</a:t>
            </a:r>
          </a:p>
        </p:txBody>
      </p:sp>
      <p:sp>
        <p:nvSpPr>
          <p:cNvPr id="5" name="TextBox 4"/>
          <p:cNvSpPr txBox="1"/>
          <p:nvPr/>
        </p:nvSpPr>
        <p:spPr>
          <a:xfrm>
            <a:off x="548640" y="694944"/>
            <a:ext cx="10789920" cy="484632"/>
          </a:xfrm>
          <a:prstGeom prst="rect">
            <a:avLst/>
          </a:prstGeom>
          <a:noFill/>
        </p:spPr>
        <p:txBody>
          <a:bodyPr wrap="square" lIns="0" rIns="0" tIns="0" bIns="0">
            <a:spAutoFit/>
          </a:bodyPr>
          <a:lstStyle/>
          <a:p>
            <a:pPr algn="l">
              <a:lnSpc>
                <a:spcPct val="112000"/>
              </a:lnSpc>
              <a:spcBef>
                <a:spcPts val="0"/>
              </a:spcBef>
              <a:spcAft>
                <a:spcPts val="500"/>
              </a:spcAft>
            </a:pPr>
            <a:r>
              <a:rPr sz="2900" b="1">
                <a:solidFill>
                  <a:srgbClr val="172033"/>
                </a:solidFill>
                <a:latin typeface="Aptos Display"/>
              </a:rPr>
              <a:t>Ghost Queue: Remember IDs, Not Data</a:t>
            </a:r>
          </a:p>
        </p:txBody>
      </p:sp>
      <p:sp>
        <p:nvSpPr>
          <p:cNvPr id="6" name="TextBox 5"/>
          <p:cNvSpPr txBox="1"/>
          <p:nvPr/>
        </p:nvSpPr>
        <p:spPr>
          <a:xfrm>
            <a:off x="566928" y="1225296"/>
            <a:ext cx="10972800" cy="338328"/>
          </a:xfrm>
          <a:prstGeom prst="rect">
            <a:avLst/>
          </a:prstGeom>
          <a:noFill/>
        </p:spPr>
        <p:txBody>
          <a:bodyPr wrap="square" lIns="0" rIns="0" tIns="0" bIns="0">
            <a:spAutoFit/>
          </a:bodyPr>
          <a:lstStyle/>
          <a:p>
            <a:pPr algn="l">
              <a:lnSpc>
                <a:spcPct val="112000"/>
              </a:lnSpc>
              <a:spcBef>
                <a:spcPts val="0"/>
              </a:spcBef>
              <a:spcAft>
                <a:spcPts val="500"/>
              </a:spcAft>
            </a:pPr>
            <a:r>
              <a:rPr sz="1400" b="0">
                <a:solidFill>
                  <a:srgbClr val="5B6472"/>
                </a:solidFill>
                <a:latin typeface="Aptos"/>
              </a:rPr>
              <a:t>Ghost history helps recognize recently removed objects that may be useful again.</a:t>
            </a:r>
          </a:p>
        </p:txBody>
      </p:sp>
      <p:sp>
        <p:nvSpPr>
          <p:cNvPr id="7" name="Rounded Rectangle 6"/>
          <p:cNvSpPr/>
          <p:nvPr/>
        </p:nvSpPr>
        <p:spPr>
          <a:xfrm>
            <a:off x="685800" y="1783080"/>
            <a:ext cx="4681728" cy="3630168"/>
          </a:xfrm>
          <a:prstGeom prst="roundRect">
            <a:avLst>
              <a:gd name="adj" fmla="val 12000"/>
            </a:avLst>
          </a:prstGeom>
          <a:solidFill>
            <a:srgbClr val="FFFFFF"/>
          </a:solidFill>
          <a:ln w="9525">
            <a:solidFill>
              <a:srgbClr val="DCE5EF"/>
            </a:solidFill>
          </a:ln>
        </p:spPr>
        <p:txBody>
          <a:bodyPr rtlCol="0" anchor="ctr"/>
          <a:lstStyle/>
          <a:p>
            <a:pPr algn="ctr"/>
          </a:p>
        </p:txBody>
      </p:sp>
      <p:sp>
        <p:nvSpPr>
          <p:cNvPr id="8" name="TextBox 7"/>
          <p:cNvSpPr txBox="1"/>
          <p:nvPr/>
        </p:nvSpPr>
        <p:spPr>
          <a:xfrm>
            <a:off x="987552" y="2103120"/>
            <a:ext cx="4078224" cy="2926080"/>
          </a:xfrm>
          <a:prstGeom prst="rect">
            <a:avLst/>
          </a:prstGeom>
          <a:noFill/>
        </p:spPr>
        <p:txBody>
          <a:bodyPr wrap="square" lIns="0" rIns="0" tIns="0" bIns="0">
            <a:spAutoFit/>
          </a:bodyPr>
          <a:lstStyle/>
          <a:p>
            <a:pPr algn="l">
              <a:lnSpc>
                <a:spcPct val="114000"/>
              </a:lnSpc>
              <a:spcBef>
                <a:spcPts val="0"/>
              </a:spcBef>
              <a:spcAft>
                <a:spcPts val="1800"/>
              </a:spcAft>
            </a:pPr>
            <a:r>
              <a:rPr sz="2300">
                <a:solidFill>
                  <a:srgbClr val="172033"/>
                </a:solidFill>
                <a:latin typeface="Aptos"/>
              </a:rPr>
              <a:t>G remembers the IDs of recently removed objects.</a:t>
            </a:r>
          </a:p>
          <a:p>
            <a:pPr>
              <a:lnSpc>
                <a:spcPct val="114000"/>
              </a:lnSpc>
              <a:spcAft>
                <a:spcPts val="1800"/>
              </a:spcAft>
            </a:pPr>
            <a:r>
              <a:rPr sz="2300">
                <a:solidFill>
                  <a:srgbClr val="172033"/>
                </a:solidFill>
                <a:latin typeface="Aptos"/>
              </a:rPr>
              <a:t>It does not store the actual data.</a:t>
            </a:r>
          </a:p>
          <a:p>
            <a:pPr>
              <a:lnSpc>
                <a:spcPct val="114000"/>
              </a:lnSpc>
              <a:spcAft>
                <a:spcPts val="1800"/>
              </a:spcAft>
            </a:pPr>
            <a:r>
              <a:rPr sz="2300">
                <a:solidFill>
                  <a:srgbClr val="172033"/>
                </a:solidFill>
                <a:latin typeface="Aptos"/>
              </a:rPr>
              <a:t>The history can affect where an object is admitted next.</a:t>
            </a:r>
          </a:p>
        </p:txBody>
      </p:sp>
      <p:sp>
        <p:nvSpPr>
          <p:cNvPr id="9" name="Rounded Rectangle 8"/>
          <p:cNvSpPr/>
          <p:nvPr/>
        </p:nvSpPr>
        <p:spPr>
          <a:xfrm>
            <a:off x="5596128" y="1783080"/>
            <a:ext cx="5879592" cy="3630168"/>
          </a:xfrm>
          <a:prstGeom prst="roundRect">
            <a:avLst>
              <a:gd name="adj" fmla="val 12000"/>
            </a:avLst>
          </a:prstGeom>
          <a:solidFill>
            <a:srgbClr val="FFFFFF"/>
          </a:solidFill>
          <a:ln w="9525">
            <a:solidFill>
              <a:srgbClr val="DCE5EF"/>
            </a:solidFill>
          </a:ln>
        </p:spPr>
        <p:txBody>
          <a:bodyPr rtlCol="0" anchor="ctr"/>
          <a:lstStyle/>
          <a:p>
            <a:pPr algn="ctr"/>
          </a:p>
        </p:txBody>
      </p:sp>
      <p:sp>
        <p:nvSpPr>
          <p:cNvPr id="10" name="TextBox 9"/>
          <p:cNvSpPr txBox="1"/>
          <p:nvPr/>
        </p:nvSpPr>
        <p:spPr>
          <a:xfrm>
            <a:off x="5943600" y="2121408"/>
            <a:ext cx="5166360" cy="365760"/>
          </a:xfrm>
          <a:prstGeom prst="rect">
            <a:avLst/>
          </a:prstGeom>
          <a:noFill/>
        </p:spPr>
        <p:txBody>
          <a:bodyPr wrap="square" lIns="0" rIns="0" tIns="0" bIns="0">
            <a:spAutoFit/>
          </a:bodyPr>
          <a:lstStyle/>
          <a:p>
            <a:pPr algn="l">
              <a:lnSpc>
                <a:spcPct val="112000"/>
              </a:lnSpc>
              <a:spcBef>
                <a:spcPts val="0"/>
              </a:spcBef>
              <a:spcAft>
                <a:spcPts val="500"/>
              </a:spcAft>
            </a:pPr>
            <a:r>
              <a:rPr sz="1600" b="1">
                <a:solidFill>
                  <a:srgbClr val="788594"/>
                </a:solidFill>
                <a:latin typeface="Aptos"/>
              </a:rPr>
              <a:t>RECENTLY REMOVED OBJECT IDs</a:t>
            </a:r>
          </a:p>
        </p:txBody>
      </p:sp>
      <p:sp>
        <p:nvSpPr>
          <p:cNvPr id="11" name="Rounded Rectangle 10"/>
          <p:cNvSpPr/>
          <p:nvPr/>
        </p:nvSpPr>
        <p:spPr>
          <a:xfrm>
            <a:off x="6126480" y="2971800"/>
            <a:ext cx="1188720" cy="822960"/>
          </a:xfrm>
          <a:prstGeom prst="roundRect">
            <a:avLst>
              <a:gd name="adj" fmla="val 12000"/>
            </a:avLst>
          </a:prstGeom>
          <a:solidFill>
            <a:srgbClr val="FFFFFF"/>
          </a:solidFill>
          <a:ln w="9525">
            <a:solidFill>
              <a:srgbClr val="788594"/>
            </a:solidFill>
          </a:ln>
        </p:spPr>
        <p:txBody>
          <a:bodyPr rtlCol="0" anchor="ctr"/>
          <a:lstStyle/>
          <a:p>
            <a:pPr algn="ctr"/>
          </a:p>
        </p:txBody>
      </p:sp>
      <p:sp>
        <p:nvSpPr>
          <p:cNvPr id="12" name="TextBox 11"/>
          <p:cNvSpPr txBox="1"/>
          <p:nvPr/>
        </p:nvSpPr>
        <p:spPr>
          <a:xfrm>
            <a:off x="6236208" y="3118104"/>
            <a:ext cx="969264" cy="640080"/>
          </a:xfrm>
          <a:prstGeom prst="rect">
            <a:avLst/>
          </a:prstGeom>
          <a:noFill/>
        </p:spPr>
        <p:txBody>
          <a:bodyPr wrap="square" lIns="0" rIns="0" tIns="0" bIns="0">
            <a:spAutoFit/>
          </a:bodyPr>
          <a:lstStyle/>
          <a:p>
            <a:pPr algn="ctr">
              <a:lnSpc>
                <a:spcPct val="112000"/>
              </a:lnSpc>
              <a:spcBef>
                <a:spcPts val="0"/>
              </a:spcBef>
              <a:spcAft>
                <a:spcPts val="500"/>
              </a:spcAft>
            </a:pPr>
            <a:r>
              <a:rPr sz="2700" b="1">
                <a:solidFill>
                  <a:srgbClr val="788594"/>
                </a:solidFill>
                <a:latin typeface="Aptos"/>
              </a:rPr>
              <a:t>A</a:t>
            </a:r>
          </a:p>
        </p:txBody>
      </p:sp>
      <p:sp>
        <p:nvSpPr>
          <p:cNvPr id="13" name="Rounded Rectangle 12"/>
          <p:cNvSpPr/>
          <p:nvPr/>
        </p:nvSpPr>
        <p:spPr>
          <a:xfrm>
            <a:off x="7680960" y="2971800"/>
            <a:ext cx="1188720" cy="822960"/>
          </a:xfrm>
          <a:prstGeom prst="roundRect">
            <a:avLst>
              <a:gd name="adj" fmla="val 12000"/>
            </a:avLst>
          </a:prstGeom>
          <a:solidFill>
            <a:srgbClr val="FFFFFF"/>
          </a:solidFill>
          <a:ln w="9525">
            <a:solidFill>
              <a:srgbClr val="788594"/>
            </a:solidFill>
          </a:ln>
        </p:spPr>
        <p:txBody>
          <a:bodyPr rtlCol="0" anchor="ctr"/>
          <a:lstStyle/>
          <a:p>
            <a:pPr algn="ctr"/>
          </a:p>
        </p:txBody>
      </p:sp>
      <p:sp>
        <p:nvSpPr>
          <p:cNvPr id="14" name="TextBox 13"/>
          <p:cNvSpPr txBox="1"/>
          <p:nvPr/>
        </p:nvSpPr>
        <p:spPr>
          <a:xfrm>
            <a:off x="7790688" y="3118104"/>
            <a:ext cx="969264" cy="640080"/>
          </a:xfrm>
          <a:prstGeom prst="rect">
            <a:avLst/>
          </a:prstGeom>
          <a:noFill/>
        </p:spPr>
        <p:txBody>
          <a:bodyPr wrap="square" lIns="0" rIns="0" tIns="0" bIns="0">
            <a:spAutoFit/>
          </a:bodyPr>
          <a:lstStyle/>
          <a:p>
            <a:pPr algn="ctr">
              <a:lnSpc>
                <a:spcPct val="112000"/>
              </a:lnSpc>
              <a:spcBef>
                <a:spcPts val="0"/>
              </a:spcBef>
              <a:spcAft>
                <a:spcPts val="500"/>
              </a:spcAft>
            </a:pPr>
            <a:r>
              <a:rPr sz="2700" b="1">
                <a:solidFill>
                  <a:srgbClr val="788594"/>
                </a:solidFill>
                <a:latin typeface="Aptos"/>
              </a:rPr>
              <a:t>B</a:t>
            </a:r>
          </a:p>
        </p:txBody>
      </p:sp>
      <p:sp>
        <p:nvSpPr>
          <p:cNvPr id="15" name="Rounded Rectangle 14"/>
          <p:cNvSpPr/>
          <p:nvPr/>
        </p:nvSpPr>
        <p:spPr>
          <a:xfrm>
            <a:off x="9235440" y="2971800"/>
            <a:ext cx="1188720" cy="822960"/>
          </a:xfrm>
          <a:prstGeom prst="roundRect">
            <a:avLst>
              <a:gd name="adj" fmla="val 12000"/>
            </a:avLst>
          </a:prstGeom>
          <a:solidFill>
            <a:srgbClr val="FFFFFF"/>
          </a:solidFill>
          <a:ln w="9525">
            <a:solidFill>
              <a:srgbClr val="788594"/>
            </a:solidFill>
          </a:ln>
        </p:spPr>
        <p:txBody>
          <a:bodyPr rtlCol="0" anchor="ctr"/>
          <a:lstStyle/>
          <a:p>
            <a:pPr algn="ctr"/>
          </a:p>
        </p:txBody>
      </p:sp>
      <p:sp>
        <p:nvSpPr>
          <p:cNvPr id="16" name="TextBox 15"/>
          <p:cNvSpPr txBox="1"/>
          <p:nvPr/>
        </p:nvSpPr>
        <p:spPr>
          <a:xfrm>
            <a:off x="9345167" y="3118104"/>
            <a:ext cx="969264" cy="640080"/>
          </a:xfrm>
          <a:prstGeom prst="rect">
            <a:avLst/>
          </a:prstGeom>
          <a:noFill/>
        </p:spPr>
        <p:txBody>
          <a:bodyPr wrap="square" lIns="0" rIns="0" tIns="0" bIns="0">
            <a:spAutoFit/>
          </a:bodyPr>
          <a:lstStyle/>
          <a:p>
            <a:pPr algn="ctr">
              <a:lnSpc>
                <a:spcPct val="112000"/>
              </a:lnSpc>
              <a:spcBef>
                <a:spcPts val="0"/>
              </a:spcBef>
              <a:spcAft>
                <a:spcPts val="500"/>
              </a:spcAft>
            </a:pPr>
            <a:r>
              <a:rPr sz="2700" b="1">
                <a:solidFill>
                  <a:srgbClr val="788594"/>
                </a:solidFill>
                <a:latin typeface="Aptos"/>
              </a:rPr>
              <a:t>C</a:t>
            </a:r>
          </a:p>
        </p:txBody>
      </p:sp>
      <p:sp>
        <p:nvSpPr>
          <p:cNvPr id="17" name="TextBox 16"/>
          <p:cNvSpPr txBox="1"/>
          <p:nvPr/>
        </p:nvSpPr>
        <p:spPr>
          <a:xfrm>
            <a:off x="5989320" y="4251960"/>
            <a:ext cx="5093208" cy="548640"/>
          </a:xfrm>
          <a:prstGeom prst="rect">
            <a:avLst/>
          </a:prstGeom>
          <a:noFill/>
        </p:spPr>
        <p:txBody>
          <a:bodyPr wrap="square" lIns="0" rIns="0" tIns="0" bIns="0">
            <a:spAutoFit/>
          </a:bodyPr>
          <a:lstStyle/>
          <a:p>
            <a:pPr algn="ctr">
              <a:lnSpc>
                <a:spcPct val="112000"/>
              </a:lnSpc>
              <a:spcBef>
                <a:spcPts val="0"/>
              </a:spcBef>
              <a:spcAft>
                <a:spcPts val="500"/>
              </a:spcAft>
            </a:pPr>
            <a:r>
              <a:rPr sz="2300" b="1">
                <a:solidFill>
                  <a:srgbClr val="172033"/>
                </a:solidFill>
                <a:latin typeface="Aptos"/>
              </a:rPr>
              <a:t>IDs only · No cached payload</a:t>
            </a:r>
          </a:p>
        </p:txBody>
      </p:sp>
      <p:sp>
        <p:nvSpPr>
          <p:cNvPr id="18" name="Rounded Rectangle 17"/>
          <p:cNvSpPr/>
          <p:nvPr/>
        </p:nvSpPr>
        <p:spPr>
          <a:xfrm>
            <a:off x="731520" y="5632704"/>
            <a:ext cx="10789920" cy="475488"/>
          </a:xfrm>
          <a:prstGeom prst="roundRect">
            <a:avLst>
              <a:gd name="adj" fmla="val 12000"/>
            </a:avLst>
          </a:prstGeom>
          <a:solidFill>
            <a:srgbClr val="E7F6F0"/>
          </a:solidFill>
          <a:ln>
            <a:noFill/>
          </a:ln>
        </p:spPr>
        <p:txBody>
          <a:bodyPr rtlCol="0" anchor="ctr"/>
          <a:lstStyle/>
          <a:p>
            <a:pPr algn="ctr"/>
          </a:p>
        </p:txBody>
      </p:sp>
      <p:sp>
        <p:nvSpPr>
          <p:cNvPr id="19" name="TextBox 18"/>
          <p:cNvSpPr txBox="1"/>
          <p:nvPr/>
        </p:nvSpPr>
        <p:spPr>
          <a:xfrm>
            <a:off x="960120" y="5751576"/>
            <a:ext cx="10332720" cy="256032"/>
          </a:xfrm>
          <a:prstGeom prst="rect">
            <a:avLst/>
          </a:prstGeom>
          <a:noFill/>
        </p:spPr>
        <p:txBody>
          <a:bodyPr wrap="square" lIns="0" rIns="0" tIns="0" bIns="0">
            <a:spAutoFit/>
          </a:bodyPr>
          <a:lstStyle/>
          <a:p>
            <a:pPr algn="l">
              <a:lnSpc>
                <a:spcPct val="112000"/>
              </a:lnSpc>
              <a:spcBef>
                <a:spcPts val="0"/>
              </a:spcBef>
              <a:spcAft>
                <a:spcPts val="500"/>
              </a:spcAft>
            </a:pPr>
            <a:r>
              <a:rPr sz="1500" b="1">
                <a:solidFill>
                  <a:srgbClr val="238B6D"/>
                </a:solidFill>
                <a:latin typeface="Aptos"/>
              </a:rPr>
              <a:t>A remembered ID is useful history, but it is not a cache hit.</a:t>
            </a:r>
          </a:p>
        </p:txBody>
      </p:sp>
      <p:sp>
        <p:nvSpPr>
          <p:cNvPr id="20" name="TextBox 19"/>
          <p:cNvSpPr txBox="1"/>
          <p:nvPr/>
        </p:nvSpPr>
        <p:spPr>
          <a:xfrm>
            <a:off x="530352" y="6281928"/>
            <a:ext cx="11064240" cy="210312"/>
          </a:xfrm>
          <a:prstGeom prst="rect">
            <a:avLst/>
          </a:prstGeom>
          <a:noFill/>
        </p:spPr>
        <p:txBody>
          <a:bodyPr wrap="square" lIns="0" rIns="0" tIns="0" bIns="0">
            <a:spAutoFit/>
          </a:bodyPr>
          <a:lstStyle/>
          <a:p>
            <a:pPr algn="l">
              <a:lnSpc>
                <a:spcPct val="112000"/>
              </a:lnSpc>
              <a:spcBef>
                <a:spcPts val="0"/>
              </a:spcBef>
              <a:spcAft>
                <a:spcPts val="500"/>
              </a:spcAft>
            </a:pPr>
            <a:r>
              <a:rPr sz="919" b="0">
                <a:solidFill>
                  <a:srgbClr val="738096"/>
                </a:solidFill>
                <a:latin typeface="Aptos"/>
              </a:rPr>
              <a:t>Source: §4.1, Yang et al., SOSP 2023. Diagram is a schematic, not experimental data.</a:t>
            </a:r>
          </a:p>
        </p:txBody>
      </p:sp>
      <p:sp>
        <p:nvSpPr>
          <p:cNvPr id="21" name="TextBox 20"/>
          <p:cNvSpPr txBox="1"/>
          <p:nvPr/>
        </p:nvSpPr>
        <p:spPr>
          <a:xfrm>
            <a:off x="530352" y="6537960"/>
            <a:ext cx="9875520" cy="182880"/>
          </a:xfrm>
          <a:prstGeom prst="rect">
            <a:avLst/>
          </a:prstGeom>
          <a:noFill/>
        </p:spPr>
        <p:txBody>
          <a:bodyPr wrap="square" lIns="0" rIns="0" tIns="0" bIns="0">
            <a:spAutoFit/>
          </a:bodyPr>
          <a:lstStyle/>
          <a:p>
            <a:pPr algn="l">
              <a:lnSpc>
                <a:spcPct val="112000"/>
              </a:lnSpc>
              <a:spcBef>
                <a:spcPts val="0"/>
              </a:spcBef>
              <a:spcAft>
                <a:spcPts val="500"/>
              </a:spcAft>
            </a:pPr>
            <a:r>
              <a:rPr sz="850" b="0">
                <a:solidFill>
                  <a:srgbClr val="738096"/>
                </a:solidFill>
                <a:latin typeface="Aptos"/>
              </a:rPr>
              <a:t>Yang et al., SOSP 2023 · Operating Systems · Theoretical Presentation</a:t>
            </a:r>
          </a:p>
        </p:txBody>
      </p:sp>
      <p:sp>
        <p:nvSpPr>
          <p:cNvPr id="22" name="TextBox 21"/>
          <p:cNvSpPr txBox="1"/>
          <p:nvPr/>
        </p:nvSpPr>
        <p:spPr>
          <a:xfrm>
            <a:off x="10744200" y="6537960"/>
            <a:ext cx="868680" cy="182880"/>
          </a:xfrm>
          <a:prstGeom prst="rect">
            <a:avLst/>
          </a:prstGeom>
          <a:noFill/>
        </p:spPr>
        <p:txBody>
          <a:bodyPr wrap="square" lIns="0" rIns="0" tIns="0" bIns="0">
            <a:spAutoFit/>
          </a:bodyPr>
          <a:lstStyle/>
          <a:p>
            <a:pPr algn="r">
              <a:lnSpc>
                <a:spcPct val="112000"/>
              </a:lnSpc>
              <a:spcBef>
                <a:spcPts val="0"/>
              </a:spcBef>
              <a:spcAft>
                <a:spcPts val="500"/>
              </a:spcAft>
            </a:pPr>
            <a:r>
              <a:rPr sz="850" b="0">
                <a:solidFill>
                  <a:srgbClr val="738096"/>
                </a:solidFill>
                <a:latin typeface="Aptos"/>
              </a:rPr>
              <a:t>Slide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3294B"/>
          </a:solidFill>
          <a:ln>
            <a:noFill/>
          </a:ln>
        </p:spPr>
        <p:txBody>
          <a:bodyPr rtlCol="0" anchor="ctr"/>
          <a:lstStyle/>
          <a:p>
            <a:pPr algn="ctr"/>
          </a:p>
        </p:txBody>
      </p:sp>
      <p:sp>
        <p:nvSpPr>
          <p:cNvPr id="3" name="TextBox 2"/>
          <p:cNvSpPr txBox="1"/>
          <p:nvPr/>
        </p:nvSpPr>
        <p:spPr>
          <a:xfrm>
            <a:off x="457200" y="96012"/>
            <a:ext cx="5166360" cy="210312"/>
          </a:xfrm>
          <a:prstGeom prst="rect">
            <a:avLst/>
          </a:prstGeom>
          <a:noFill/>
        </p:spPr>
        <p:txBody>
          <a:bodyPr wrap="square" lIns="0" rIns="0" tIns="0" bIns="0">
            <a:spAutoFit/>
          </a:bodyPr>
          <a:lstStyle/>
          <a:p>
            <a:pPr algn="l">
              <a:lnSpc>
                <a:spcPct val="112000"/>
              </a:lnSpc>
              <a:spcBef>
                <a:spcPts val="0"/>
              </a:spcBef>
              <a:spcAft>
                <a:spcPts val="500"/>
              </a:spcAft>
            </a:pPr>
            <a:r>
              <a:rPr sz="950" b="1">
                <a:solidFill>
                  <a:srgbClr val="FFFFFF"/>
                </a:solidFill>
                <a:latin typeface="Aptos"/>
              </a:rPr>
              <a:t>Part 2 · Cache Hit</a:t>
            </a:r>
          </a:p>
        </p:txBody>
      </p:sp>
      <p:sp>
        <p:nvSpPr>
          <p:cNvPr id="4" name="TextBox 3"/>
          <p:cNvSpPr txBox="1"/>
          <p:nvPr/>
        </p:nvSpPr>
        <p:spPr>
          <a:xfrm>
            <a:off x="6400800" y="96012"/>
            <a:ext cx="5303520" cy="210312"/>
          </a:xfrm>
          <a:prstGeom prst="rect">
            <a:avLst/>
          </a:prstGeom>
          <a:noFill/>
        </p:spPr>
        <p:txBody>
          <a:bodyPr wrap="square" lIns="0" rIns="0" tIns="0" bIns="0">
            <a:spAutoFit/>
          </a:bodyPr>
          <a:lstStyle/>
          <a:p>
            <a:pPr algn="r">
              <a:lnSpc>
                <a:spcPct val="112000"/>
              </a:lnSpc>
              <a:spcBef>
                <a:spcPts val="0"/>
              </a:spcBef>
              <a:spcAft>
                <a:spcPts val="500"/>
              </a:spcAft>
            </a:pPr>
            <a:r>
              <a:rPr sz="950" b="0">
                <a:solidFill>
                  <a:srgbClr val="CFE8FF"/>
                </a:solidFill>
                <a:latin typeface="Aptos"/>
              </a:rPr>
              <a:t>S3-FIFO · FIFO Queues Are All You Need</a:t>
            </a:r>
          </a:p>
        </p:txBody>
      </p:sp>
      <p:sp>
        <p:nvSpPr>
          <p:cNvPr id="5" name="TextBox 4"/>
          <p:cNvSpPr txBox="1"/>
          <p:nvPr/>
        </p:nvSpPr>
        <p:spPr>
          <a:xfrm>
            <a:off x="548640" y="694944"/>
            <a:ext cx="10789920" cy="484632"/>
          </a:xfrm>
          <a:prstGeom prst="rect">
            <a:avLst/>
          </a:prstGeom>
          <a:noFill/>
        </p:spPr>
        <p:txBody>
          <a:bodyPr wrap="square" lIns="0" rIns="0" tIns="0" bIns="0">
            <a:spAutoFit/>
          </a:bodyPr>
          <a:lstStyle/>
          <a:p>
            <a:pPr algn="l">
              <a:lnSpc>
                <a:spcPct val="112000"/>
              </a:lnSpc>
              <a:spcBef>
                <a:spcPts val="0"/>
              </a:spcBef>
              <a:spcAft>
                <a:spcPts val="500"/>
              </a:spcAft>
            </a:pPr>
            <a:r>
              <a:rPr sz="2900" b="1">
                <a:solidFill>
                  <a:srgbClr val="172033"/>
                </a:solidFill>
                <a:latin typeface="Aptos Display"/>
              </a:rPr>
              <a:t>Cache Hit: Update the Counter</a:t>
            </a:r>
          </a:p>
        </p:txBody>
      </p:sp>
      <p:sp>
        <p:nvSpPr>
          <p:cNvPr id="6" name="TextBox 5"/>
          <p:cNvSpPr txBox="1"/>
          <p:nvPr/>
        </p:nvSpPr>
        <p:spPr>
          <a:xfrm>
            <a:off x="566928" y="1225296"/>
            <a:ext cx="10972800" cy="338328"/>
          </a:xfrm>
          <a:prstGeom prst="rect">
            <a:avLst/>
          </a:prstGeom>
          <a:noFill/>
        </p:spPr>
        <p:txBody>
          <a:bodyPr wrap="square" lIns="0" rIns="0" tIns="0" bIns="0">
            <a:spAutoFit/>
          </a:bodyPr>
          <a:lstStyle/>
          <a:p>
            <a:pPr algn="l">
              <a:lnSpc>
                <a:spcPct val="112000"/>
              </a:lnSpc>
              <a:spcBef>
                <a:spcPts val="0"/>
              </a:spcBef>
              <a:spcAft>
                <a:spcPts val="500"/>
              </a:spcAft>
            </a:pPr>
            <a:r>
              <a:rPr sz="1400" b="0">
                <a:solidFill>
                  <a:srgbClr val="5B6472"/>
                </a:solidFill>
                <a:latin typeface="Aptos"/>
              </a:rPr>
              <a:t>A request is a hit when the object is already in Small or Main.</a:t>
            </a:r>
          </a:p>
        </p:txBody>
      </p:sp>
      <p:sp>
        <p:nvSpPr>
          <p:cNvPr id="7" name="Rounded Rectangle 6"/>
          <p:cNvSpPr/>
          <p:nvPr/>
        </p:nvSpPr>
        <p:spPr>
          <a:xfrm>
            <a:off x="685800" y="1783080"/>
            <a:ext cx="10789920" cy="3630168"/>
          </a:xfrm>
          <a:prstGeom prst="roundRect">
            <a:avLst>
              <a:gd name="adj" fmla="val 12000"/>
            </a:avLst>
          </a:prstGeom>
          <a:solidFill>
            <a:srgbClr val="FFFFFF"/>
          </a:solidFill>
          <a:ln w="9525">
            <a:solidFill>
              <a:srgbClr val="DCE5EF"/>
            </a:solidFill>
          </a:ln>
        </p:spPr>
        <p:txBody>
          <a:bodyPr rtlCol="0" anchor="ctr"/>
          <a:lstStyle/>
          <a:p>
            <a:pPr algn="ctr"/>
          </a:p>
        </p:txBody>
      </p:sp>
      <p:sp>
        <p:nvSpPr>
          <p:cNvPr id="8" name="Rounded Rectangle 7"/>
          <p:cNvSpPr/>
          <p:nvPr/>
        </p:nvSpPr>
        <p:spPr>
          <a:xfrm>
            <a:off x="1005840" y="2240280"/>
            <a:ext cx="2788920" cy="777240"/>
          </a:xfrm>
          <a:prstGeom prst="roundRect">
            <a:avLst>
              <a:gd name="adj" fmla="val 12000"/>
            </a:avLst>
          </a:prstGeom>
          <a:solidFill>
            <a:srgbClr val="FFFFFF"/>
          </a:solidFill>
          <a:ln w="9525">
            <a:solidFill>
              <a:srgbClr val="13294B"/>
            </a:solidFill>
          </a:ln>
        </p:spPr>
        <p:txBody>
          <a:bodyPr rtlCol="0" anchor="ctr"/>
          <a:lstStyle/>
          <a:p>
            <a:pPr algn="ctr"/>
          </a:p>
        </p:txBody>
      </p:sp>
      <p:sp>
        <p:nvSpPr>
          <p:cNvPr id="9" name="TextBox 8"/>
          <p:cNvSpPr txBox="1"/>
          <p:nvPr/>
        </p:nvSpPr>
        <p:spPr>
          <a:xfrm>
            <a:off x="1115568" y="2386584"/>
            <a:ext cx="2569463" cy="594359"/>
          </a:xfrm>
          <a:prstGeom prst="rect">
            <a:avLst/>
          </a:prstGeom>
          <a:noFill/>
        </p:spPr>
        <p:txBody>
          <a:bodyPr wrap="square" lIns="0" rIns="0" tIns="0" bIns="0">
            <a:spAutoFit/>
          </a:bodyPr>
          <a:lstStyle/>
          <a:p>
            <a:pPr algn="ctr">
              <a:lnSpc>
                <a:spcPct val="112000"/>
              </a:lnSpc>
              <a:spcBef>
                <a:spcPts val="0"/>
              </a:spcBef>
              <a:spcAft>
                <a:spcPts val="500"/>
              </a:spcAft>
            </a:pPr>
            <a:r>
              <a:rPr sz="2200" b="1">
                <a:solidFill>
                  <a:srgbClr val="13294B"/>
                </a:solidFill>
                <a:latin typeface="Aptos"/>
              </a:rPr>
              <a:t>Object in S or M</a:t>
            </a:r>
          </a:p>
        </p:txBody>
      </p:sp>
      <p:cxnSp>
        <p:nvCxnSpPr>
          <p:cNvPr id="10" name="Connector 9"/>
          <p:cNvCxnSpPr/>
          <p:nvPr/>
        </p:nvCxnSpPr>
        <p:spPr>
          <a:xfrm>
            <a:off x="3794760" y="2633472"/>
            <a:ext cx="548640" cy="0"/>
          </a:xfrm>
          <a:prstGeom prst="line">
            <a:avLst/>
          </a:prstGeom>
          <a:ln w="22860">
            <a:solidFill>
              <a:srgbClr val="238B6D"/>
            </a:solidFill>
            <a:tailEnd type="triangle"/>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4343400" y="2240280"/>
            <a:ext cx="6126480" cy="777240"/>
          </a:xfrm>
          <a:prstGeom prst="roundRect">
            <a:avLst>
              <a:gd name="adj" fmla="val 12000"/>
            </a:avLst>
          </a:prstGeom>
          <a:solidFill>
            <a:srgbClr val="FFFFFF"/>
          </a:solidFill>
          <a:ln w="9525">
            <a:solidFill>
              <a:srgbClr val="238B6D"/>
            </a:solidFill>
          </a:ln>
        </p:spPr>
        <p:txBody>
          <a:bodyPr rtlCol="0" anchor="ctr"/>
          <a:lstStyle/>
          <a:p>
            <a:pPr algn="ctr"/>
          </a:p>
        </p:txBody>
      </p:sp>
      <p:sp>
        <p:nvSpPr>
          <p:cNvPr id="12" name="TextBox 11"/>
          <p:cNvSpPr txBox="1"/>
          <p:nvPr/>
        </p:nvSpPr>
        <p:spPr>
          <a:xfrm>
            <a:off x="4453128" y="2386584"/>
            <a:ext cx="5907024" cy="594359"/>
          </a:xfrm>
          <a:prstGeom prst="rect">
            <a:avLst/>
          </a:prstGeom>
          <a:noFill/>
        </p:spPr>
        <p:txBody>
          <a:bodyPr wrap="square" lIns="0" rIns="0" tIns="0" bIns="0">
            <a:spAutoFit/>
          </a:bodyPr>
          <a:lstStyle/>
          <a:p>
            <a:pPr algn="ctr">
              <a:lnSpc>
                <a:spcPct val="112000"/>
              </a:lnSpc>
              <a:spcBef>
                <a:spcPts val="0"/>
              </a:spcBef>
              <a:spcAft>
                <a:spcPts val="500"/>
              </a:spcAft>
            </a:pPr>
            <a:r>
              <a:rPr sz="2600" b="1">
                <a:solidFill>
                  <a:srgbClr val="238B6D"/>
                </a:solidFill>
                <a:latin typeface="Aptos"/>
              </a:rPr>
              <a:t>freq = min(freq + 1, 3)</a:t>
            </a:r>
          </a:p>
        </p:txBody>
      </p:sp>
      <p:sp>
        <p:nvSpPr>
          <p:cNvPr id="13" name="TextBox 12"/>
          <p:cNvSpPr txBox="1"/>
          <p:nvPr/>
        </p:nvSpPr>
        <p:spPr>
          <a:xfrm>
            <a:off x="1005840" y="3611880"/>
            <a:ext cx="10021824" cy="1371600"/>
          </a:xfrm>
          <a:prstGeom prst="rect">
            <a:avLst/>
          </a:prstGeom>
          <a:noFill/>
        </p:spPr>
        <p:txBody>
          <a:bodyPr wrap="square" lIns="0" rIns="0" tIns="0" bIns="0">
            <a:spAutoFit/>
          </a:bodyPr>
          <a:lstStyle/>
          <a:p>
            <a:pPr algn="l">
              <a:lnSpc>
                <a:spcPct val="114000"/>
              </a:lnSpc>
              <a:spcBef>
                <a:spcPts val="0"/>
              </a:spcBef>
              <a:spcAft>
                <a:spcPts val="1700"/>
              </a:spcAft>
            </a:pPr>
            <a:r>
              <a:rPr sz="2500">
                <a:solidFill>
                  <a:srgbClr val="172033"/>
                </a:solidFill>
                <a:latin typeface="Aptos"/>
              </a:rPr>
              <a:t>The access counter is capped at three.</a:t>
            </a:r>
          </a:p>
          <a:p>
            <a:pPr>
              <a:lnSpc>
                <a:spcPct val="114000"/>
              </a:lnSpc>
              <a:spcAft>
                <a:spcPts val="1700"/>
              </a:spcAft>
            </a:pPr>
            <a:r>
              <a:rPr sz="2500">
                <a:solidFill>
                  <a:srgbClr val="172033"/>
                </a:solidFill>
                <a:latin typeface="Aptos"/>
              </a:rPr>
              <a:t>Unlike LRU, S3-FIFO does not move the object after every cache hit.</a:t>
            </a:r>
          </a:p>
        </p:txBody>
      </p:sp>
      <p:sp>
        <p:nvSpPr>
          <p:cNvPr id="14" name="Rounded Rectangle 13"/>
          <p:cNvSpPr/>
          <p:nvPr/>
        </p:nvSpPr>
        <p:spPr>
          <a:xfrm>
            <a:off x="731520" y="5632704"/>
            <a:ext cx="10789920" cy="475488"/>
          </a:xfrm>
          <a:prstGeom prst="roundRect">
            <a:avLst>
              <a:gd name="adj" fmla="val 12000"/>
            </a:avLst>
          </a:prstGeom>
          <a:solidFill>
            <a:srgbClr val="E7F6F0"/>
          </a:solidFill>
          <a:ln>
            <a:noFill/>
          </a:ln>
        </p:spPr>
        <p:txBody>
          <a:bodyPr rtlCol="0" anchor="ctr"/>
          <a:lstStyle/>
          <a:p>
            <a:pPr algn="ctr"/>
          </a:p>
        </p:txBody>
      </p:sp>
      <p:sp>
        <p:nvSpPr>
          <p:cNvPr id="15" name="TextBox 14"/>
          <p:cNvSpPr txBox="1"/>
          <p:nvPr/>
        </p:nvSpPr>
        <p:spPr>
          <a:xfrm>
            <a:off x="960120" y="5751576"/>
            <a:ext cx="10332720" cy="256032"/>
          </a:xfrm>
          <a:prstGeom prst="rect">
            <a:avLst/>
          </a:prstGeom>
          <a:noFill/>
        </p:spPr>
        <p:txBody>
          <a:bodyPr wrap="square" lIns="0" rIns="0" tIns="0" bIns="0">
            <a:spAutoFit/>
          </a:bodyPr>
          <a:lstStyle/>
          <a:p>
            <a:pPr algn="l">
              <a:lnSpc>
                <a:spcPct val="112000"/>
              </a:lnSpc>
              <a:spcBef>
                <a:spcPts val="0"/>
              </a:spcBef>
              <a:spcAft>
                <a:spcPts val="500"/>
              </a:spcAft>
            </a:pPr>
            <a:r>
              <a:rPr sz="1500" b="1">
                <a:solidFill>
                  <a:srgbClr val="238B6D"/>
                </a:solidFill>
                <a:latin typeface="Aptos"/>
              </a:rPr>
              <a:t>On hits: update access information, keep the FIFO order unchanged.</a:t>
            </a:r>
          </a:p>
        </p:txBody>
      </p:sp>
      <p:sp>
        <p:nvSpPr>
          <p:cNvPr id="16" name="TextBox 15"/>
          <p:cNvSpPr txBox="1"/>
          <p:nvPr/>
        </p:nvSpPr>
        <p:spPr>
          <a:xfrm>
            <a:off x="530352" y="6281928"/>
            <a:ext cx="11064240" cy="210312"/>
          </a:xfrm>
          <a:prstGeom prst="rect">
            <a:avLst/>
          </a:prstGeom>
          <a:noFill/>
        </p:spPr>
        <p:txBody>
          <a:bodyPr wrap="square" lIns="0" rIns="0" tIns="0" bIns="0">
            <a:spAutoFit/>
          </a:bodyPr>
          <a:lstStyle/>
          <a:p>
            <a:pPr algn="l">
              <a:lnSpc>
                <a:spcPct val="112000"/>
              </a:lnSpc>
              <a:spcBef>
                <a:spcPts val="0"/>
              </a:spcBef>
              <a:spcAft>
                <a:spcPts val="500"/>
              </a:spcAft>
            </a:pPr>
            <a:r>
              <a:rPr sz="919" b="0">
                <a:solidFill>
                  <a:srgbClr val="738096"/>
                </a:solidFill>
                <a:latin typeface="Aptos"/>
              </a:rPr>
              <a:t>Source: Algorithm 1, lines 1–3, Yang et al., SOSP 2023.</a:t>
            </a:r>
          </a:p>
        </p:txBody>
      </p:sp>
      <p:sp>
        <p:nvSpPr>
          <p:cNvPr id="17" name="TextBox 16"/>
          <p:cNvSpPr txBox="1"/>
          <p:nvPr/>
        </p:nvSpPr>
        <p:spPr>
          <a:xfrm>
            <a:off x="530352" y="6537960"/>
            <a:ext cx="9875520" cy="182880"/>
          </a:xfrm>
          <a:prstGeom prst="rect">
            <a:avLst/>
          </a:prstGeom>
          <a:noFill/>
        </p:spPr>
        <p:txBody>
          <a:bodyPr wrap="square" lIns="0" rIns="0" tIns="0" bIns="0">
            <a:spAutoFit/>
          </a:bodyPr>
          <a:lstStyle/>
          <a:p>
            <a:pPr algn="l">
              <a:lnSpc>
                <a:spcPct val="112000"/>
              </a:lnSpc>
              <a:spcBef>
                <a:spcPts val="0"/>
              </a:spcBef>
              <a:spcAft>
                <a:spcPts val="500"/>
              </a:spcAft>
            </a:pPr>
            <a:r>
              <a:rPr sz="850" b="0">
                <a:solidFill>
                  <a:srgbClr val="738096"/>
                </a:solidFill>
                <a:latin typeface="Aptos"/>
              </a:rPr>
              <a:t>Yang et al., SOSP 2023 · Operating Systems · Theoretical Presentation</a:t>
            </a:r>
          </a:p>
        </p:txBody>
      </p:sp>
      <p:sp>
        <p:nvSpPr>
          <p:cNvPr id="18" name="TextBox 17"/>
          <p:cNvSpPr txBox="1"/>
          <p:nvPr/>
        </p:nvSpPr>
        <p:spPr>
          <a:xfrm>
            <a:off x="10744200" y="6537960"/>
            <a:ext cx="868680" cy="182880"/>
          </a:xfrm>
          <a:prstGeom prst="rect">
            <a:avLst/>
          </a:prstGeom>
          <a:noFill/>
        </p:spPr>
        <p:txBody>
          <a:bodyPr wrap="square" lIns="0" rIns="0" tIns="0" bIns="0">
            <a:spAutoFit/>
          </a:bodyPr>
          <a:lstStyle/>
          <a:p>
            <a:pPr algn="r">
              <a:lnSpc>
                <a:spcPct val="112000"/>
              </a:lnSpc>
              <a:spcBef>
                <a:spcPts val="0"/>
              </a:spcBef>
              <a:spcAft>
                <a:spcPts val="500"/>
              </a:spcAft>
            </a:pPr>
            <a:r>
              <a:rPr sz="850" b="0">
                <a:solidFill>
                  <a:srgbClr val="738096"/>
                </a:solidFill>
                <a:latin typeface="Aptos"/>
              </a:rPr>
              <a:t>Slide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3294B"/>
          </a:solidFill>
          <a:ln>
            <a:noFill/>
          </a:ln>
        </p:spPr>
        <p:txBody>
          <a:bodyPr rtlCol="0" anchor="ctr"/>
          <a:lstStyle/>
          <a:p>
            <a:pPr algn="ctr"/>
          </a:p>
        </p:txBody>
      </p:sp>
      <p:sp>
        <p:nvSpPr>
          <p:cNvPr id="3" name="TextBox 2"/>
          <p:cNvSpPr txBox="1"/>
          <p:nvPr/>
        </p:nvSpPr>
        <p:spPr>
          <a:xfrm>
            <a:off x="457200" y="96012"/>
            <a:ext cx="5166360" cy="210312"/>
          </a:xfrm>
          <a:prstGeom prst="rect">
            <a:avLst/>
          </a:prstGeom>
          <a:noFill/>
        </p:spPr>
        <p:txBody>
          <a:bodyPr wrap="square" lIns="0" rIns="0" tIns="0" bIns="0">
            <a:spAutoFit/>
          </a:bodyPr>
          <a:lstStyle/>
          <a:p>
            <a:pPr algn="l">
              <a:lnSpc>
                <a:spcPct val="112000"/>
              </a:lnSpc>
              <a:spcBef>
                <a:spcPts val="0"/>
              </a:spcBef>
              <a:spcAft>
                <a:spcPts val="500"/>
              </a:spcAft>
            </a:pPr>
            <a:r>
              <a:rPr sz="950" b="1">
                <a:solidFill>
                  <a:srgbClr val="FFFFFF"/>
                </a:solidFill>
                <a:latin typeface="Aptos"/>
              </a:rPr>
              <a:t>Part 2 · Cache Miss</a:t>
            </a:r>
          </a:p>
        </p:txBody>
      </p:sp>
      <p:sp>
        <p:nvSpPr>
          <p:cNvPr id="4" name="TextBox 3"/>
          <p:cNvSpPr txBox="1"/>
          <p:nvPr/>
        </p:nvSpPr>
        <p:spPr>
          <a:xfrm>
            <a:off x="6400800" y="96012"/>
            <a:ext cx="5303520" cy="210312"/>
          </a:xfrm>
          <a:prstGeom prst="rect">
            <a:avLst/>
          </a:prstGeom>
          <a:noFill/>
        </p:spPr>
        <p:txBody>
          <a:bodyPr wrap="square" lIns="0" rIns="0" tIns="0" bIns="0">
            <a:spAutoFit/>
          </a:bodyPr>
          <a:lstStyle/>
          <a:p>
            <a:pPr algn="r">
              <a:lnSpc>
                <a:spcPct val="112000"/>
              </a:lnSpc>
              <a:spcBef>
                <a:spcPts val="0"/>
              </a:spcBef>
              <a:spcAft>
                <a:spcPts val="500"/>
              </a:spcAft>
            </a:pPr>
            <a:r>
              <a:rPr sz="950" b="0">
                <a:solidFill>
                  <a:srgbClr val="CFE8FF"/>
                </a:solidFill>
                <a:latin typeface="Aptos"/>
              </a:rPr>
              <a:t>S3-FIFO · FIFO Queues Are All You Need</a:t>
            </a:r>
          </a:p>
        </p:txBody>
      </p:sp>
      <p:sp>
        <p:nvSpPr>
          <p:cNvPr id="5" name="TextBox 4"/>
          <p:cNvSpPr txBox="1"/>
          <p:nvPr/>
        </p:nvSpPr>
        <p:spPr>
          <a:xfrm>
            <a:off x="548640" y="694944"/>
            <a:ext cx="10789920" cy="484632"/>
          </a:xfrm>
          <a:prstGeom prst="rect">
            <a:avLst/>
          </a:prstGeom>
          <a:noFill/>
        </p:spPr>
        <p:txBody>
          <a:bodyPr wrap="square" lIns="0" rIns="0" tIns="0" bIns="0">
            <a:spAutoFit/>
          </a:bodyPr>
          <a:lstStyle/>
          <a:p>
            <a:pPr algn="l">
              <a:lnSpc>
                <a:spcPct val="112000"/>
              </a:lnSpc>
              <a:spcBef>
                <a:spcPts val="0"/>
              </a:spcBef>
              <a:spcAft>
                <a:spcPts val="500"/>
              </a:spcAft>
            </a:pPr>
            <a:r>
              <a:rPr sz="2900" b="1">
                <a:solidFill>
                  <a:srgbClr val="172033"/>
                </a:solidFill>
                <a:latin typeface="Aptos Display"/>
              </a:rPr>
              <a:t>Cache Miss: Use Ghost History</a:t>
            </a:r>
          </a:p>
        </p:txBody>
      </p:sp>
      <p:sp>
        <p:nvSpPr>
          <p:cNvPr id="6" name="TextBox 5"/>
          <p:cNvSpPr txBox="1"/>
          <p:nvPr/>
        </p:nvSpPr>
        <p:spPr>
          <a:xfrm>
            <a:off x="566928" y="1225296"/>
            <a:ext cx="10972800" cy="338328"/>
          </a:xfrm>
          <a:prstGeom prst="rect">
            <a:avLst/>
          </a:prstGeom>
          <a:noFill/>
        </p:spPr>
        <p:txBody>
          <a:bodyPr wrap="square" lIns="0" rIns="0" tIns="0" bIns="0">
            <a:spAutoFit/>
          </a:bodyPr>
          <a:lstStyle/>
          <a:p>
            <a:pPr algn="l">
              <a:lnSpc>
                <a:spcPct val="112000"/>
              </a:lnSpc>
              <a:spcBef>
                <a:spcPts val="0"/>
              </a:spcBef>
              <a:spcAft>
                <a:spcPts val="500"/>
              </a:spcAft>
            </a:pPr>
            <a:r>
              <a:rPr sz="1400" b="0">
                <a:solidFill>
                  <a:srgbClr val="5B6472"/>
                </a:solidFill>
                <a:latin typeface="Aptos"/>
              </a:rPr>
              <a:t>If the object is absent from Small and Main, its Ghost membership chooses the destination.</a:t>
            </a:r>
          </a:p>
        </p:txBody>
      </p:sp>
      <p:sp>
        <p:nvSpPr>
          <p:cNvPr id="7" name="Rounded Rectangle 6"/>
          <p:cNvSpPr/>
          <p:nvPr/>
        </p:nvSpPr>
        <p:spPr>
          <a:xfrm>
            <a:off x="685800" y="1783080"/>
            <a:ext cx="10789920" cy="3630168"/>
          </a:xfrm>
          <a:prstGeom prst="roundRect">
            <a:avLst>
              <a:gd name="adj" fmla="val 12000"/>
            </a:avLst>
          </a:prstGeom>
          <a:solidFill>
            <a:srgbClr val="FFFFFF"/>
          </a:solidFill>
          <a:ln w="9525">
            <a:solidFill>
              <a:srgbClr val="DCE5EF"/>
            </a:solidFill>
          </a:ln>
        </p:spPr>
        <p:txBody>
          <a:bodyPr rtlCol="0" anchor="ctr"/>
          <a:lstStyle/>
          <a:p>
            <a:pPr algn="ctr"/>
          </a:p>
        </p:txBody>
      </p:sp>
      <p:sp>
        <p:nvSpPr>
          <p:cNvPr id="8" name="Rounded Rectangle 7"/>
          <p:cNvSpPr/>
          <p:nvPr/>
        </p:nvSpPr>
        <p:spPr>
          <a:xfrm>
            <a:off x="987552" y="2743200"/>
            <a:ext cx="2240280" cy="777240"/>
          </a:xfrm>
          <a:prstGeom prst="roundRect">
            <a:avLst>
              <a:gd name="adj" fmla="val 12000"/>
            </a:avLst>
          </a:prstGeom>
          <a:solidFill>
            <a:srgbClr val="FFFFFF"/>
          </a:solidFill>
          <a:ln w="9525">
            <a:solidFill>
              <a:srgbClr val="13294B"/>
            </a:solidFill>
          </a:ln>
        </p:spPr>
        <p:txBody>
          <a:bodyPr rtlCol="0" anchor="ctr"/>
          <a:lstStyle/>
          <a:p>
            <a:pPr algn="ctr"/>
          </a:p>
        </p:txBody>
      </p:sp>
      <p:sp>
        <p:nvSpPr>
          <p:cNvPr id="9" name="TextBox 8"/>
          <p:cNvSpPr txBox="1"/>
          <p:nvPr/>
        </p:nvSpPr>
        <p:spPr>
          <a:xfrm>
            <a:off x="1097280" y="2889504"/>
            <a:ext cx="2020824" cy="594359"/>
          </a:xfrm>
          <a:prstGeom prst="rect">
            <a:avLst/>
          </a:prstGeom>
          <a:noFill/>
        </p:spPr>
        <p:txBody>
          <a:bodyPr wrap="square" lIns="0" rIns="0" tIns="0" bIns="0">
            <a:spAutoFit/>
          </a:bodyPr>
          <a:lstStyle/>
          <a:p>
            <a:pPr algn="ctr">
              <a:lnSpc>
                <a:spcPct val="112000"/>
              </a:lnSpc>
              <a:spcBef>
                <a:spcPts val="0"/>
              </a:spcBef>
              <a:spcAft>
                <a:spcPts val="500"/>
              </a:spcAft>
            </a:pPr>
            <a:r>
              <a:rPr sz="2300" b="1">
                <a:solidFill>
                  <a:srgbClr val="13294B"/>
                </a:solidFill>
                <a:latin typeface="Aptos"/>
              </a:rPr>
              <a:t>Cache miss</a:t>
            </a:r>
          </a:p>
        </p:txBody>
      </p:sp>
      <p:cxnSp>
        <p:nvCxnSpPr>
          <p:cNvPr id="10" name="Connector 9"/>
          <p:cNvCxnSpPr/>
          <p:nvPr/>
        </p:nvCxnSpPr>
        <p:spPr>
          <a:xfrm>
            <a:off x="3227832" y="3127248"/>
            <a:ext cx="566928" cy="0"/>
          </a:xfrm>
          <a:prstGeom prst="line">
            <a:avLst/>
          </a:prstGeom>
          <a:ln w="22860">
            <a:solidFill>
              <a:srgbClr val="2D6DAF"/>
            </a:solidFill>
            <a:tailEnd type="triangle"/>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3794760" y="2743200"/>
            <a:ext cx="2743200" cy="777240"/>
          </a:xfrm>
          <a:prstGeom prst="roundRect">
            <a:avLst>
              <a:gd name="adj" fmla="val 12000"/>
            </a:avLst>
          </a:prstGeom>
          <a:solidFill>
            <a:srgbClr val="FFFFFF"/>
          </a:solidFill>
          <a:ln w="9525">
            <a:solidFill>
              <a:srgbClr val="788594"/>
            </a:solidFill>
          </a:ln>
        </p:spPr>
        <p:txBody>
          <a:bodyPr rtlCol="0" anchor="ctr"/>
          <a:lstStyle/>
          <a:p>
            <a:pPr algn="ctr"/>
          </a:p>
        </p:txBody>
      </p:sp>
      <p:sp>
        <p:nvSpPr>
          <p:cNvPr id="12" name="TextBox 11"/>
          <p:cNvSpPr txBox="1"/>
          <p:nvPr/>
        </p:nvSpPr>
        <p:spPr>
          <a:xfrm>
            <a:off x="3904488" y="2889504"/>
            <a:ext cx="2523744" cy="594359"/>
          </a:xfrm>
          <a:prstGeom prst="rect">
            <a:avLst/>
          </a:prstGeom>
          <a:noFill/>
        </p:spPr>
        <p:txBody>
          <a:bodyPr wrap="square" lIns="0" rIns="0" tIns="0" bIns="0">
            <a:spAutoFit/>
          </a:bodyPr>
          <a:lstStyle/>
          <a:p>
            <a:pPr algn="ctr">
              <a:lnSpc>
                <a:spcPct val="112000"/>
              </a:lnSpc>
              <a:spcBef>
                <a:spcPts val="0"/>
              </a:spcBef>
              <a:spcAft>
                <a:spcPts val="500"/>
              </a:spcAft>
            </a:pPr>
            <a:r>
              <a:rPr sz="2100" b="1">
                <a:solidFill>
                  <a:srgbClr val="788594"/>
                </a:solidFill>
                <a:latin typeface="Aptos"/>
              </a:rPr>
              <a:t>ID recorded in G?</a:t>
            </a:r>
          </a:p>
        </p:txBody>
      </p:sp>
      <p:cxnSp>
        <p:nvCxnSpPr>
          <p:cNvPr id="13" name="Connector 12"/>
          <p:cNvCxnSpPr/>
          <p:nvPr/>
        </p:nvCxnSpPr>
        <p:spPr>
          <a:xfrm>
            <a:off x="6537960" y="3127248"/>
            <a:ext cx="1124712" cy="0"/>
          </a:xfrm>
          <a:prstGeom prst="line">
            <a:avLst/>
          </a:prstGeom>
          <a:ln w="22860">
            <a:solidFill>
              <a:srgbClr val="2D6DAF"/>
            </a:solidFill>
            <a:tailEnd type="triangle"/>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876288" y="2743200"/>
            <a:ext cx="685800" cy="274320"/>
          </a:xfrm>
          <a:prstGeom prst="rect">
            <a:avLst/>
          </a:prstGeom>
          <a:noFill/>
        </p:spPr>
        <p:txBody>
          <a:bodyPr wrap="square" lIns="0" rIns="0" tIns="0" bIns="0">
            <a:spAutoFit/>
          </a:bodyPr>
          <a:lstStyle/>
          <a:p>
            <a:pPr algn="l">
              <a:lnSpc>
                <a:spcPct val="112000"/>
              </a:lnSpc>
              <a:spcBef>
                <a:spcPts val="0"/>
              </a:spcBef>
              <a:spcAft>
                <a:spcPts val="500"/>
              </a:spcAft>
            </a:pPr>
            <a:r>
              <a:rPr sz="1400" b="0">
                <a:solidFill>
                  <a:srgbClr val="2D6DAF"/>
                </a:solidFill>
                <a:latin typeface="Aptos"/>
              </a:rPr>
              <a:t>Yes</a:t>
            </a:r>
          </a:p>
        </p:txBody>
      </p:sp>
      <p:sp>
        <p:nvSpPr>
          <p:cNvPr id="15" name="Rounded Rectangle 14"/>
          <p:cNvSpPr/>
          <p:nvPr/>
        </p:nvSpPr>
        <p:spPr>
          <a:xfrm>
            <a:off x="7662672" y="2743200"/>
            <a:ext cx="3182112" cy="777240"/>
          </a:xfrm>
          <a:prstGeom prst="roundRect">
            <a:avLst>
              <a:gd name="adj" fmla="val 12000"/>
            </a:avLst>
          </a:prstGeom>
          <a:solidFill>
            <a:srgbClr val="FFFFFF"/>
          </a:solidFill>
          <a:ln w="9525">
            <a:solidFill>
              <a:srgbClr val="2D6DAF"/>
            </a:solidFill>
          </a:ln>
        </p:spPr>
        <p:txBody>
          <a:bodyPr rtlCol="0" anchor="ctr"/>
          <a:lstStyle/>
          <a:p>
            <a:pPr algn="ctr"/>
          </a:p>
        </p:txBody>
      </p:sp>
      <p:sp>
        <p:nvSpPr>
          <p:cNvPr id="16" name="TextBox 15"/>
          <p:cNvSpPr txBox="1"/>
          <p:nvPr/>
        </p:nvSpPr>
        <p:spPr>
          <a:xfrm>
            <a:off x="7772400" y="2889504"/>
            <a:ext cx="2962656" cy="594359"/>
          </a:xfrm>
          <a:prstGeom prst="rect">
            <a:avLst/>
          </a:prstGeom>
          <a:noFill/>
        </p:spPr>
        <p:txBody>
          <a:bodyPr wrap="square" lIns="0" rIns="0" tIns="0" bIns="0">
            <a:spAutoFit/>
          </a:bodyPr>
          <a:lstStyle/>
          <a:p>
            <a:pPr algn="ctr">
              <a:lnSpc>
                <a:spcPct val="112000"/>
              </a:lnSpc>
              <a:spcBef>
                <a:spcPts val="0"/>
              </a:spcBef>
              <a:spcAft>
                <a:spcPts val="500"/>
              </a:spcAft>
            </a:pPr>
            <a:r>
              <a:rPr sz="2200" b="1">
                <a:solidFill>
                  <a:srgbClr val="2D6DAF"/>
                </a:solidFill>
                <a:latin typeface="Aptos"/>
              </a:rPr>
              <a:t>Insert into Main</a:t>
            </a:r>
          </a:p>
        </p:txBody>
      </p:sp>
      <p:cxnSp>
        <p:nvCxnSpPr>
          <p:cNvPr id="17" name="Connector 16"/>
          <p:cNvCxnSpPr/>
          <p:nvPr/>
        </p:nvCxnSpPr>
        <p:spPr>
          <a:xfrm>
            <a:off x="5166360" y="3520440"/>
            <a:ext cx="0" cy="731520"/>
          </a:xfrm>
          <a:prstGeom prst="line">
            <a:avLst/>
          </a:prstGeom>
          <a:ln w="22860">
            <a:solidFill>
              <a:srgbClr val="D9852A"/>
            </a:solidFill>
            <a:tailEnd type="triangle"/>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330952" y="3712463"/>
            <a:ext cx="640080" cy="274320"/>
          </a:xfrm>
          <a:prstGeom prst="rect">
            <a:avLst/>
          </a:prstGeom>
          <a:noFill/>
        </p:spPr>
        <p:txBody>
          <a:bodyPr wrap="square" lIns="0" rIns="0" tIns="0" bIns="0">
            <a:spAutoFit/>
          </a:bodyPr>
          <a:lstStyle/>
          <a:p>
            <a:pPr algn="l">
              <a:lnSpc>
                <a:spcPct val="112000"/>
              </a:lnSpc>
              <a:spcBef>
                <a:spcPts val="0"/>
              </a:spcBef>
              <a:spcAft>
                <a:spcPts val="500"/>
              </a:spcAft>
            </a:pPr>
            <a:r>
              <a:rPr sz="1400" b="0">
                <a:solidFill>
                  <a:srgbClr val="D9852A"/>
                </a:solidFill>
                <a:latin typeface="Aptos"/>
              </a:rPr>
              <a:t>No</a:t>
            </a:r>
          </a:p>
        </p:txBody>
      </p:sp>
      <p:sp>
        <p:nvSpPr>
          <p:cNvPr id="19" name="Rounded Rectangle 18"/>
          <p:cNvSpPr/>
          <p:nvPr/>
        </p:nvSpPr>
        <p:spPr>
          <a:xfrm>
            <a:off x="3694176" y="4251960"/>
            <a:ext cx="2944368" cy="777240"/>
          </a:xfrm>
          <a:prstGeom prst="roundRect">
            <a:avLst>
              <a:gd name="adj" fmla="val 12000"/>
            </a:avLst>
          </a:prstGeom>
          <a:solidFill>
            <a:srgbClr val="FFFFFF"/>
          </a:solidFill>
          <a:ln w="9525">
            <a:solidFill>
              <a:srgbClr val="D9852A"/>
            </a:solidFill>
          </a:ln>
        </p:spPr>
        <p:txBody>
          <a:bodyPr rtlCol="0" anchor="ctr"/>
          <a:lstStyle/>
          <a:p>
            <a:pPr algn="ctr"/>
          </a:p>
        </p:txBody>
      </p:sp>
      <p:sp>
        <p:nvSpPr>
          <p:cNvPr id="20" name="TextBox 19"/>
          <p:cNvSpPr txBox="1"/>
          <p:nvPr/>
        </p:nvSpPr>
        <p:spPr>
          <a:xfrm>
            <a:off x="3803904" y="4398264"/>
            <a:ext cx="2724912" cy="594359"/>
          </a:xfrm>
          <a:prstGeom prst="rect">
            <a:avLst/>
          </a:prstGeom>
          <a:noFill/>
        </p:spPr>
        <p:txBody>
          <a:bodyPr wrap="square" lIns="0" rIns="0" tIns="0" bIns="0">
            <a:spAutoFit/>
          </a:bodyPr>
          <a:lstStyle/>
          <a:p>
            <a:pPr algn="ctr">
              <a:lnSpc>
                <a:spcPct val="112000"/>
              </a:lnSpc>
              <a:spcBef>
                <a:spcPts val="0"/>
              </a:spcBef>
              <a:spcAft>
                <a:spcPts val="500"/>
              </a:spcAft>
            </a:pPr>
            <a:r>
              <a:rPr sz="2200" b="1">
                <a:solidFill>
                  <a:srgbClr val="D9852A"/>
                </a:solidFill>
                <a:latin typeface="Aptos"/>
              </a:rPr>
              <a:t>Insert into Small</a:t>
            </a:r>
          </a:p>
        </p:txBody>
      </p:sp>
      <p:sp>
        <p:nvSpPr>
          <p:cNvPr id="21" name="TextBox 20"/>
          <p:cNvSpPr txBox="1"/>
          <p:nvPr/>
        </p:nvSpPr>
        <p:spPr>
          <a:xfrm>
            <a:off x="7726679" y="4389120"/>
            <a:ext cx="3035808" cy="457200"/>
          </a:xfrm>
          <a:prstGeom prst="rect">
            <a:avLst/>
          </a:prstGeom>
          <a:noFill/>
        </p:spPr>
        <p:txBody>
          <a:bodyPr wrap="square" lIns="0" rIns="0" tIns="0" bIns="0">
            <a:spAutoFit/>
          </a:bodyPr>
          <a:lstStyle/>
          <a:p>
            <a:pPr algn="l">
              <a:lnSpc>
                <a:spcPct val="112000"/>
              </a:lnSpc>
              <a:spcBef>
                <a:spcPts val="0"/>
              </a:spcBef>
              <a:spcAft>
                <a:spcPts val="500"/>
              </a:spcAft>
            </a:pPr>
            <a:r>
              <a:rPr sz="1800" b="0">
                <a:solidFill>
                  <a:srgbClr val="5B6472"/>
                </a:solidFill>
                <a:latin typeface="Aptos"/>
              </a:rPr>
              <a:t>Initial counter: freq = 0</a:t>
            </a:r>
          </a:p>
        </p:txBody>
      </p:sp>
      <p:sp>
        <p:nvSpPr>
          <p:cNvPr id="22" name="Rounded Rectangle 21"/>
          <p:cNvSpPr/>
          <p:nvPr/>
        </p:nvSpPr>
        <p:spPr>
          <a:xfrm>
            <a:off x="731520" y="5632704"/>
            <a:ext cx="10789920" cy="475488"/>
          </a:xfrm>
          <a:prstGeom prst="roundRect">
            <a:avLst>
              <a:gd name="adj" fmla="val 12000"/>
            </a:avLst>
          </a:prstGeom>
          <a:solidFill>
            <a:srgbClr val="EAF3FF"/>
          </a:solidFill>
          <a:ln>
            <a:noFill/>
          </a:ln>
        </p:spPr>
        <p:txBody>
          <a:bodyPr rtlCol="0" anchor="ctr"/>
          <a:lstStyle/>
          <a:p>
            <a:pPr algn="ctr"/>
          </a:p>
        </p:txBody>
      </p:sp>
      <p:sp>
        <p:nvSpPr>
          <p:cNvPr id="23" name="TextBox 22"/>
          <p:cNvSpPr txBox="1"/>
          <p:nvPr/>
        </p:nvSpPr>
        <p:spPr>
          <a:xfrm>
            <a:off x="960120" y="5751576"/>
            <a:ext cx="10332720" cy="256032"/>
          </a:xfrm>
          <a:prstGeom prst="rect">
            <a:avLst/>
          </a:prstGeom>
          <a:noFill/>
        </p:spPr>
        <p:txBody>
          <a:bodyPr wrap="square" lIns="0" rIns="0" tIns="0" bIns="0">
            <a:spAutoFit/>
          </a:bodyPr>
          <a:lstStyle/>
          <a:p>
            <a:pPr algn="l">
              <a:lnSpc>
                <a:spcPct val="112000"/>
              </a:lnSpc>
              <a:spcBef>
                <a:spcPts val="0"/>
              </a:spcBef>
              <a:spcAft>
                <a:spcPts val="500"/>
              </a:spcAft>
            </a:pPr>
            <a:r>
              <a:rPr sz="1500" b="1">
                <a:solidFill>
                  <a:srgbClr val="13294B"/>
                </a:solidFill>
                <a:latin typeface="Aptos"/>
              </a:rPr>
              <a:t>No Ghost history → Small; remembered ID → Main.</a:t>
            </a:r>
          </a:p>
        </p:txBody>
      </p:sp>
      <p:sp>
        <p:nvSpPr>
          <p:cNvPr id="24" name="TextBox 23"/>
          <p:cNvSpPr txBox="1"/>
          <p:nvPr/>
        </p:nvSpPr>
        <p:spPr>
          <a:xfrm>
            <a:off x="530352" y="6281928"/>
            <a:ext cx="11064240" cy="210312"/>
          </a:xfrm>
          <a:prstGeom prst="rect">
            <a:avLst/>
          </a:prstGeom>
          <a:noFill/>
        </p:spPr>
        <p:txBody>
          <a:bodyPr wrap="square" lIns="0" rIns="0" tIns="0" bIns="0">
            <a:spAutoFit/>
          </a:bodyPr>
          <a:lstStyle/>
          <a:p>
            <a:pPr algn="l">
              <a:lnSpc>
                <a:spcPct val="112000"/>
              </a:lnSpc>
              <a:spcBef>
                <a:spcPts val="0"/>
              </a:spcBef>
              <a:spcAft>
                <a:spcPts val="500"/>
              </a:spcAft>
            </a:pPr>
            <a:r>
              <a:rPr sz="919" b="0">
                <a:solidFill>
                  <a:srgbClr val="738096"/>
                </a:solidFill>
                <a:latin typeface="Aptos"/>
              </a:rPr>
              <a:t>Source: Algorithm 1, lines 4–13, Yang et al., SOSP 2023. Simplified admission flowchart.</a:t>
            </a:r>
          </a:p>
        </p:txBody>
      </p:sp>
      <p:sp>
        <p:nvSpPr>
          <p:cNvPr id="25" name="TextBox 24"/>
          <p:cNvSpPr txBox="1"/>
          <p:nvPr/>
        </p:nvSpPr>
        <p:spPr>
          <a:xfrm>
            <a:off x="530352" y="6537960"/>
            <a:ext cx="9875520" cy="182880"/>
          </a:xfrm>
          <a:prstGeom prst="rect">
            <a:avLst/>
          </a:prstGeom>
          <a:noFill/>
        </p:spPr>
        <p:txBody>
          <a:bodyPr wrap="square" lIns="0" rIns="0" tIns="0" bIns="0">
            <a:spAutoFit/>
          </a:bodyPr>
          <a:lstStyle/>
          <a:p>
            <a:pPr algn="l">
              <a:lnSpc>
                <a:spcPct val="112000"/>
              </a:lnSpc>
              <a:spcBef>
                <a:spcPts val="0"/>
              </a:spcBef>
              <a:spcAft>
                <a:spcPts val="500"/>
              </a:spcAft>
            </a:pPr>
            <a:r>
              <a:rPr sz="850" b="0">
                <a:solidFill>
                  <a:srgbClr val="738096"/>
                </a:solidFill>
                <a:latin typeface="Aptos"/>
              </a:rPr>
              <a:t>Yang et al., SOSP 2023 · Operating Systems · Theoretical Presentation</a:t>
            </a:r>
          </a:p>
        </p:txBody>
      </p:sp>
      <p:sp>
        <p:nvSpPr>
          <p:cNvPr id="26" name="TextBox 25"/>
          <p:cNvSpPr txBox="1"/>
          <p:nvPr/>
        </p:nvSpPr>
        <p:spPr>
          <a:xfrm>
            <a:off x="10744200" y="6537960"/>
            <a:ext cx="868680" cy="182880"/>
          </a:xfrm>
          <a:prstGeom prst="rect">
            <a:avLst/>
          </a:prstGeom>
          <a:noFill/>
        </p:spPr>
        <p:txBody>
          <a:bodyPr wrap="square" lIns="0" rIns="0" tIns="0" bIns="0">
            <a:spAutoFit/>
          </a:bodyPr>
          <a:lstStyle/>
          <a:p>
            <a:pPr algn="r">
              <a:lnSpc>
                <a:spcPct val="112000"/>
              </a:lnSpc>
              <a:spcBef>
                <a:spcPts val="0"/>
              </a:spcBef>
              <a:spcAft>
                <a:spcPts val="500"/>
              </a:spcAft>
            </a:pPr>
            <a:r>
              <a:rPr sz="850" b="0">
                <a:solidFill>
                  <a:srgbClr val="738096"/>
                </a:solidFill>
                <a:latin typeface="Aptos"/>
              </a:rPr>
              <a:t>Slide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3294B"/>
          </a:solidFill>
          <a:ln>
            <a:noFill/>
          </a:ln>
        </p:spPr>
        <p:txBody>
          <a:bodyPr rtlCol="0" anchor="ctr"/>
          <a:lstStyle/>
          <a:p>
            <a:pPr algn="ctr"/>
          </a:p>
        </p:txBody>
      </p:sp>
      <p:sp>
        <p:nvSpPr>
          <p:cNvPr id="3" name="TextBox 2"/>
          <p:cNvSpPr txBox="1"/>
          <p:nvPr/>
        </p:nvSpPr>
        <p:spPr>
          <a:xfrm>
            <a:off x="457200" y="96012"/>
            <a:ext cx="5166360" cy="210312"/>
          </a:xfrm>
          <a:prstGeom prst="rect">
            <a:avLst/>
          </a:prstGeom>
          <a:noFill/>
        </p:spPr>
        <p:txBody>
          <a:bodyPr wrap="square" lIns="0" rIns="0" tIns="0" bIns="0">
            <a:spAutoFit/>
          </a:bodyPr>
          <a:lstStyle/>
          <a:p>
            <a:pPr algn="l">
              <a:lnSpc>
                <a:spcPct val="112000"/>
              </a:lnSpc>
              <a:spcBef>
                <a:spcPts val="0"/>
              </a:spcBef>
              <a:spcAft>
                <a:spcPts val="500"/>
              </a:spcAft>
            </a:pPr>
            <a:r>
              <a:rPr sz="950" b="1">
                <a:solidFill>
                  <a:srgbClr val="FFFFFF"/>
                </a:solidFill>
                <a:latin typeface="Aptos"/>
              </a:rPr>
              <a:t>Part 2 · Small Eviction</a:t>
            </a:r>
          </a:p>
        </p:txBody>
      </p:sp>
      <p:sp>
        <p:nvSpPr>
          <p:cNvPr id="4" name="TextBox 3"/>
          <p:cNvSpPr txBox="1"/>
          <p:nvPr/>
        </p:nvSpPr>
        <p:spPr>
          <a:xfrm>
            <a:off x="6400800" y="96012"/>
            <a:ext cx="5303520" cy="210312"/>
          </a:xfrm>
          <a:prstGeom prst="rect">
            <a:avLst/>
          </a:prstGeom>
          <a:noFill/>
        </p:spPr>
        <p:txBody>
          <a:bodyPr wrap="square" lIns="0" rIns="0" tIns="0" bIns="0">
            <a:spAutoFit/>
          </a:bodyPr>
          <a:lstStyle/>
          <a:p>
            <a:pPr algn="r">
              <a:lnSpc>
                <a:spcPct val="112000"/>
              </a:lnSpc>
              <a:spcBef>
                <a:spcPts val="0"/>
              </a:spcBef>
              <a:spcAft>
                <a:spcPts val="500"/>
              </a:spcAft>
            </a:pPr>
            <a:r>
              <a:rPr sz="950" b="0">
                <a:solidFill>
                  <a:srgbClr val="CFE8FF"/>
                </a:solidFill>
                <a:latin typeface="Aptos"/>
              </a:rPr>
              <a:t>S3-FIFO · FIFO Queues Are All You Need</a:t>
            </a:r>
          </a:p>
        </p:txBody>
      </p:sp>
      <p:sp>
        <p:nvSpPr>
          <p:cNvPr id="5" name="TextBox 4"/>
          <p:cNvSpPr txBox="1"/>
          <p:nvPr/>
        </p:nvSpPr>
        <p:spPr>
          <a:xfrm>
            <a:off x="548640" y="694944"/>
            <a:ext cx="10789920" cy="484632"/>
          </a:xfrm>
          <a:prstGeom prst="rect">
            <a:avLst/>
          </a:prstGeom>
          <a:noFill/>
        </p:spPr>
        <p:txBody>
          <a:bodyPr wrap="square" lIns="0" rIns="0" tIns="0" bIns="0">
            <a:spAutoFit/>
          </a:bodyPr>
          <a:lstStyle/>
          <a:p>
            <a:pPr algn="l">
              <a:lnSpc>
                <a:spcPct val="112000"/>
              </a:lnSpc>
              <a:spcBef>
                <a:spcPts val="0"/>
              </a:spcBef>
              <a:spcAft>
                <a:spcPts val="500"/>
              </a:spcAft>
            </a:pPr>
            <a:r>
              <a:rPr sz="2900" b="1">
                <a:solidFill>
                  <a:srgbClr val="172033"/>
                </a:solidFill>
                <a:latin typeface="Aptos Display"/>
              </a:rPr>
              <a:t>Small Queue Eviction: Filter New Objects</a:t>
            </a:r>
          </a:p>
        </p:txBody>
      </p:sp>
      <p:sp>
        <p:nvSpPr>
          <p:cNvPr id="6" name="TextBox 5"/>
          <p:cNvSpPr txBox="1"/>
          <p:nvPr/>
        </p:nvSpPr>
        <p:spPr>
          <a:xfrm>
            <a:off x="566928" y="1225296"/>
            <a:ext cx="10972800" cy="338328"/>
          </a:xfrm>
          <a:prstGeom prst="rect">
            <a:avLst/>
          </a:prstGeom>
          <a:noFill/>
        </p:spPr>
        <p:txBody>
          <a:bodyPr wrap="square" lIns="0" rIns="0" tIns="0" bIns="0">
            <a:spAutoFit/>
          </a:bodyPr>
          <a:lstStyle/>
          <a:p>
            <a:pPr algn="l">
              <a:lnSpc>
                <a:spcPct val="112000"/>
              </a:lnSpc>
              <a:spcBef>
                <a:spcPts val="0"/>
              </a:spcBef>
              <a:spcAft>
                <a:spcPts val="500"/>
              </a:spcAft>
            </a:pPr>
            <a:r>
              <a:rPr sz="1400" b="0">
                <a:solidFill>
                  <a:srgbClr val="5B6472"/>
                </a:solidFill>
                <a:latin typeface="Aptos"/>
              </a:rPr>
              <a:t>Inspect the oldest object when this queue needs to release space.</a:t>
            </a:r>
          </a:p>
        </p:txBody>
      </p:sp>
      <p:sp>
        <p:nvSpPr>
          <p:cNvPr id="7" name="Rounded Rectangle 6"/>
          <p:cNvSpPr/>
          <p:nvPr/>
        </p:nvSpPr>
        <p:spPr>
          <a:xfrm>
            <a:off x="685800" y="1783080"/>
            <a:ext cx="10789920" cy="3630168"/>
          </a:xfrm>
          <a:prstGeom prst="roundRect">
            <a:avLst>
              <a:gd name="adj" fmla="val 12000"/>
            </a:avLst>
          </a:prstGeom>
          <a:solidFill>
            <a:srgbClr val="FFFFFF"/>
          </a:solidFill>
          <a:ln w="9525">
            <a:solidFill>
              <a:srgbClr val="DCE5EF"/>
            </a:solidFill>
          </a:ln>
        </p:spPr>
        <p:txBody>
          <a:bodyPr rtlCol="0" anchor="ctr"/>
          <a:lstStyle/>
          <a:p>
            <a:pPr algn="ctr"/>
          </a:p>
        </p:txBody>
      </p:sp>
      <p:sp>
        <p:nvSpPr>
          <p:cNvPr id="8" name="Rounded Rectangle 7"/>
          <p:cNvSpPr/>
          <p:nvPr/>
        </p:nvSpPr>
        <p:spPr>
          <a:xfrm>
            <a:off x="2834640" y="2057400"/>
            <a:ext cx="6519672" cy="731520"/>
          </a:xfrm>
          <a:prstGeom prst="roundRect">
            <a:avLst>
              <a:gd name="adj" fmla="val 12000"/>
            </a:avLst>
          </a:prstGeom>
          <a:solidFill>
            <a:srgbClr val="FFFFFF"/>
          </a:solidFill>
          <a:ln w="9525">
            <a:solidFill>
              <a:srgbClr val="D9852A"/>
            </a:solidFill>
          </a:ln>
        </p:spPr>
        <p:txBody>
          <a:bodyPr rtlCol="0" anchor="ctr"/>
          <a:lstStyle/>
          <a:p>
            <a:pPr algn="ctr"/>
          </a:p>
        </p:txBody>
      </p:sp>
      <p:sp>
        <p:nvSpPr>
          <p:cNvPr id="9" name="TextBox 8"/>
          <p:cNvSpPr txBox="1"/>
          <p:nvPr/>
        </p:nvSpPr>
        <p:spPr>
          <a:xfrm>
            <a:off x="2944368" y="2203704"/>
            <a:ext cx="6300216" cy="548640"/>
          </a:xfrm>
          <a:prstGeom prst="rect">
            <a:avLst/>
          </a:prstGeom>
          <a:noFill/>
        </p:spPr>
        <p:txBody>
          <a:bodyPr wrap="square" lIns="0" rIns="0" tIns="0" bIns="0">
            <a:spAutoFit/>
          </a:bodyPr>
          <a:lstStyle/>
          <a:p>
            <a:pPr algn="ctr">
              <a:lnSpc>
                <a:spcPct val="112000"/>
              </a:lnSpc>
              <a:spcBef>
                <a:spcPts val="0"/>
              </a:spcBef>
              <a:spcAft>
                <a:spcPts val="500"/>
              </a:spcAft>
            </a:pPr>
            <a:r>
              <a:rPr sz="2500" b="1">
                <a:solidFill>
                  <a:srgbClr val="D9852A"/>
                </a:solidFill>
                <a:latin typeface="Aptos"/>
              </a:rPr>
              <a:t>Oldest object: freq &gt; 1?</a:t>
            </a:r>
          </a:p>
        </p:txBody>
      </p:sp>
      <p:cxnSp>
        <p:nvCxnSpPr>
          <p:cNvPr id="10" name="Connector 9"/>
          <p:cNvCxnSpPr/>
          <p:nvPr/>
        </p:nvCxnSpPr>
        <p:spPr>
          <a:xfrm>
            <a:off x="4114800" y="2788920"/>
            <a:ext cx="0" cy="832104"/>
          </a:xfrm>
          <a:prstGeom prst="line">
            <a:avLst/>
          </a:prstGeom>
          <a:ln w="22860">
            <a:solidFill>
              <a:srgbClr val="D9852A"/>
            </a:solidFill>
            <a:tailEnd type="triangle"/>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270248" y="3090672"/>
            <a:ext cx="640080" cy="274320"/>
          </a:xfrm>
          <a:prstGeom prst="rect">
            <a:avLst/>
          </a:prstGeom>
          <a:noFill/>
        </p:spPr>
        <p:txBody>
          <a:bodyPr wrap="square" lIns="0" rIns="0" tIns="0" bIns="0">
            <a:spAutoFit/>
          </a:bodyPr>
          <a:lstStyle/>
          <a:p>
            <a:pPr algn="l">
              <a:lnSpc>
                <a:spcPct val="112000"/>
              </a:lnSpc>
              <a:spcBef>
                <a:spcPts val="0"/>
              </a:spcBef>
              <a:spcAft>
                <a:spcPts val="500"/>
              </a:spcAft>
            </a:pPr>
            <a:r>
              <a:rPr sz="1400" b="0">
                <a:solidFill>
                  <a:srgbClr val="D9852A"/>
                </a:solidFill>
                <a:latin typeface="Aptos"/>
              </a:rPr>
              <a:t>Yes</a:t>
            </a:r>
          </a:p>
        </p:txBody>
      </p:sp>
      <p:cxnSp>
        <p:nvCxnSpPr>
          <p:cNvPr id="12" name="Connector 11"/>
          <p:cNvCxnSpPr/>
          <p:nvPr/>
        </p:nvCxnSpPr>
        <p:spPr>
          <a:xfrm>
            <a:off x="7955279" y="2788920"/>
            <a:ext cx="0" cy="832104"/>
          </a:xfrm>
          <a:prstGeom prst="line">
            <a:avLst/>
          </a:prstGeom>
          <a:ln w="22860">
            <a:solidFill>
              <a:srgbClr val="788594"/>
            </a:solidFill>
            <a:tailEnd type="triangle"/>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110727" y="3090672"/>
            <a:ext cx="640080" cy="274320"/>
          </a:xfrm>
          <a:prstGeom prst="rect">
            <a:avLst/>
          </a:prstGeom>
          <a:noFill/>
        </p:spPr>
        <p:txBody>
          <a:bodyPr wrap="square" lIns="0" rIns="0" tIns="0" bIns="0">
            <a:spAutoFit/>
          </a:bodyPr>
          <a:lstStyle/>
          <a:p>
            <a:pPr algn="l">
              <a:lnSpc>
                <a:spcPct val="112000"/>
              </a:lnSpc>
              <a:spcBef>
                <a:spcPts val="0"/>
              </a:spcBef>
              <a:spcAft>
                <a:spcPts val="500"/>
              </a:spcAft>
            </a:pPr>
            <a:r>
              <a:rPr sz="1400" b="0">
                <a:solidFill>
                  <a:srgbClr val="788594"/>
                </a:solidFill>
                <a:latin typeface="Aptos"/>
              </a:rPr>
              <a:t>No</a:t>
            </a:r>
          </a:p>
        </p:txBody>
      </p:sp>
      <p:sp>
        <p:nvSpPr>
          <p:cNvPr id="14" name="Rounded Rectangle 13"/>
          <p:cNvSpPr/>
          <p:nvPr/>
        </p:nvSpPr>
        <p:spPr>
          <a:xfrm>
            <a:off x="1078992" y="3621024"/>
            <a:ext cx="4700016" cy="731520"/>
          </a:xfrm>
          <a:prstGeom prst="roundRect">
            <a:avLst>
              <a:gd name="adj" fmla="val 12000"/>
            </a:avLst>
          </a:prstGeom>
          <a:solidFill>
            <a:srgbClr val="FFFFFF"/>
          </a:solidFill>
          <a:ln w="9525">
            <a:solidFill>
              <a:srgbClr val="D9852A"/>
            </a:solidFill>
          </a:ln>
        </p:spPr>
        <p:txBody>
          <a:bodyPr rtlCol="0" anchor="ctr"/>
          <a:lstStyle/>
          <a:p>
            <a:pPr algn="ctr"/>
          </a:p>
        </p:txBody>
      </p:sp>
      <p:sp>
        <p:nvSpPr>
          <p:cNvPr id="15" name="TextBox 14"/>
          <p:cNvSpPr txBox="1"/>
          <p:nvPr/>
        </p:nvSpPr>
        <p:spPr>
          <a:xfrm>
            <a:off x="1188719" y="3767328"/>
            <a:ext cx="4480559" cy="548640"/>
          </a:xfrm>
          <a:prstGeom prst="rect">
            <a:avLst/>
          </a:prstGeom>
          <a:noFill/>
        </p:spPr>
        <p:txBody>
          <a:bodyPr wrap="square" lIns="0" rIns="0" tIns="0" bIns="0">
            <a:spAutoFit/>
          </a:bodyPr>
          <a:lstStyle/>
          <a:p>
            <a:pPr algn="ctr">
              <a:lnSpc>
                <a:spcPct val="112000"/>
              </a:lnSpc>
              <a:spcBef>
                <a:spcPts val="0"/>
              </a:spcBef>
              <a:spcAft>
                <a:spcPts val="500"/>
              </a:spcAft>
            </a:pPr>
            <a:r>
              <a:rPr sz="2100" b="1">
                <a:solidFill>
                  <a:srgbClr val="D9852A"/>
                </a:solidFill>
                <a:latin typeface="Aptos"/>
              </a:rPr>
              <a:t>Move to Main</a:t>
            </a:r>
          </a:p>
        </p:txBody>
      </p:sp>
      <p:sp>
        <p:nvSpPr>
          <p:cNvPr id="16" name="Rounded Rectangle 15"/>
          <p:cNvSpPr/>
          <p:nvPr/>
        </p:nvSpPr>
        <p:spPr>
          <a:xfrm>
            <a:off x="6217920" y="3621024"/>
            <a:ext cx="4700016" cy="731520"/>
          </a:xfrm>
          <a:prstGeom prst="roundRect">
            <a:avLst>
              <a:gd name="adj" fmla="val 12000"/>
            </a:avLst>
          </a:prstGeom>
          <a:solidFill>
            <a:srgbClr val="FFFFFF"/>
          </a:solidFill>
          <a:ln w="9525">
            <a:solidFill>
              <a:srgbClr val="788594"/>
            </a:solidFill>
          </a:ln>
        </p:spPr>
        <p:txBody>
          <a:bodyPr rtlCol="0" anchor="ctr"/>
          <a:lstStyle/>
          <a:p>
            <a:pPr algn="ctr"/>
          </a:p>
        </p:txBody>
      </p:sp>
      <p:sp>
        <p:nvSpPr>
          <p:cNvPr id="17" name="TextBox 16"/>
          <p:cNvSpPr txBox="1"/>
          <p:nvPr/>
        </p:nvSpPr>
        <p:spPr>
          <a:xfrm>
            <a:off x="6327648" y="3767328"/>
            <a:ext cx="4480559" cy="548640"/>
          </a:xfrm>
          <a:prstGeom prst="rect">
            <a:avLst/>
          </a:prstGeom>
          <a:noFill/>
        </p:spPr>
        <p:txBody>
          <a:bodyPr wrap="square" lIns="0" rIns="0" tIns="0" bIns="0">
            <a:spAutoFit/>
          </a:bodyPr>
          <a:lstStyle/>
          <a:p>
            <a:pPr algn="ctr">
              <a:lnSpc>
                <a:spcPct val="112000"/>
              </a:lnSpc>
              <a:spcBef>
                <a:spcPts val="0"/>
              </a:spcBef>
              <a:spcAft>
                <a:spcPts val="500"/>
              </a:spcAft>
            </a:pPr>
            <a:r>
              <a:rPr sz="2000" b="1">
                <a:solidFill>
                  <a:srgbClr val="788594"/>
                </a:solidFill>
                <a:latin typeface="Aptos"/>
              </a:rPr>
              <a:t>Remove cached data; ID → G</a:t>
            </a:r>
          </a:p>
        </p:txBody>
      </p:sp>
      <p:sp>
        <p:nvSpPr>
          <p:cNvPr id="18" name="TextBox 17"/>
          <p:cNvSpPr txBox="1"/>
          <p:nvPr/>
        </p:nvSpPr>
        <p:spPr>
          <a:xfrm>
            <a:off x="1051560" y="4709160"/>
            <a:ext cx="10058400" cy="548640"/>
          </a:xfrm>
          <a:prstGeom prst="rect">
            <a:avLst/>
          </a:prstGeom>
          <a:noFill/>
        </p:spPr>
        <p:txBody>
          <a:bodyPr wrap="square" lIns="0" rIns="0" tIns="0" bIns="0">
            <a:spAutoFit/>
          </a:bodyPr>
          <a:lstStyle/>
          <a:p>
            <a:pPr algn="l">
              <a:lnSpc>
                <a:spcPct val="112000"/>
              </a:lnSpc>
              <a:spcBef>
                <a:spcPts val="0"/>
              </a:spcBef>
              <a:spcAft>
                <a:spcPts val="500"/>
              </a:spcAft>
            </a:pPr>
            <a:r>
              <a:rPr sz="1900" b="0">
                <a:solidFill>
                  <a:srgbClr val="172033"/>
                </a:solidFill>
                <a:latin typeface="Aptos"/>
              </a:rPr>
              <a:t>Objects with enough reuse move to Main. Otherwise, remove the data and record its ID in Ghost.</a:t>
            </a:r>
          </a:p>
        </p:txBody>
      </p:sp>
      <p:sp>
        <p:nvSpPr>
          <p:cNvPr id="19" name="Rounded Rectangle 18"/>
          <p:cNvSpPr/>
          <p:nvPr/>
        </p:nvSpPr>
        <p:spPr>
          <a:xfrm>
            <a:off x="731520" y="5632704"/>
            <a:ext cx="10789920" cy="475488"/>
          </a:xfrm>
          <a:prstGeom prst="roundRect">
            <a:avLst>
              <a:gd name="adj" fmla="val 12000"/>
            </a:avLst>
          </a:prstGeom>
          <a:solidFill>
            <a:srgbClr val="E7F6F0"/>
          </a:solidFill>
          <a:ln>
            <a:noFill/>
          </a:ln>
        </p:spPr>
        <p:txBody>
          <a:bodyPr rtlCol="0" anchor="ctr"/>
          <a:lstStyle/>
          <a:p>
            <a:pPr algn="ctr"/>
          </a:p>
        </p:txBody>
      </p:sp>
      <p:sp>
        <p:nvSpPr>
          <p:cNvPr id="20" name="TextBox 19"/>
          <p:cNvSpPr txBox="1"/>
          <p:nvPr/>
        </p:nvSpPr>
        <p:spPr>
          <a:xfrm>
            <a:off x="960120" y="5751576"/>
            <a:ext cx="10332720" cy="256032"/>
          </a:xfrm>
          <a:prstGeom prst="rect">
            <a:avLst/>
          </a:prstGeom>
          <a:noFill/>
        </p:spPr>
        <p:txBody>
          <a:bodyPr wrap="square" lIns="0" rIns="0" tIns="0" bIns="0">
            <a:spAutoFit/>
          </a:bodyPr>
          <a:lstStyle/>
          <a:p>
            <a:pPr algn="l">
              <a:lnSpc>
                <a:spcPct val="112000"/>
              </a:lnSpc>
              <a:spcBef>
                <a:spcPts val="0"/>
              </a:spcBef>
              <a:spcAft>
                <a:spcPts val="500"/>
              </a:spcAft>
            </a:pPr>
            <a:r>
              <a:rPr sz="1500" b="1">
                <a:solidFill>
                  <a:srgbClr val="238B6D"/>
                </a:solidFill>
                <a:latin typeface="Aptos"/>
              </a:rPr>
              <a:t>Small filters new objects; Main protects useful objects; Ghost remembers removed IDs.</a:t>
            </a:r>
          </a:p>
        </p:txBody>
      </p:sp>
      <p:sp>
        <p:nvSpPr>
          <p:cNvPr id="21" name="TextBox 20"/>
          <p:cNvSpPr txBox="1"/>
          <p:nvPr/>
        </p:nvSpPr>
        <p:spPr>
          <a:xfrm>
            <a:off x="530352" y="6281928"/>
            <a:ext cx="11064240" cy="210312"/>
          </a:xfrm>
          <a:prstGeom prst="rect">
            <a:avLst/>
          </a:prstGeom>
          <a:noFill/>
        </p:spPr>
        <p:txBody>
          <a:bodyPr wrap="square" lIns="0" rIns="0" tIns="0" bIns="0">
            <a:spAutoFit/>
          </a:bodyPr>
          <a:lstStyle/>
          <a:p>
            <a:pPr algn="l">
              <a:lnSpc>
                <a:spcPct val="112000"/>
              </a:lnSpc>
              <a:spcBef>
                <a:spcPts val="0"/>
              </a:spcBef>
              <a:spcAft>
                <a:spcPts val="500"/>
              </a:spcAft>
            </a:pPr>
            <a:r>
              <a:rPr sz="919" b="0">
                <a:solidFill>
                  <a:srgbClr val="738096"/>
                </a:solidFill>
                <a:latin typeface="Aptos"/>
              </a:rPr>
              <a:t>Source: Algorithm 1, lines 19–30, Yang et al., SOSP 2023. Simplified eviction flowchart.</a:t>
            </a:r>
          </a:p>
        </p:txBody>
      </p:sp>
      <p:sp>
        <p:nvSpPr>
          <p:cNvPr id="22" name="TextBox 21"/>
          <p:cNvSpPr txBox="1"/>
          <p:nvPr/>
        </p:nvSpPr>
        <p:spPr>
          <a:xfrm>
            <a:off x="530352" y="6537960"/>
            <a:ext cx="9875520" cy="182880"/>
          </a:xfrm>
          <a:prstGeom prst="rect">
            <a:avLst/>
          </a:prstGeom>
          <a:noFill/>
        </p:spPr>
        <p:txBody>
          <a:bodyPr wrap="square" lIns="0" rIns="0" tIns="0" bIns="0">
            <a:spAutoFit/>
          </a:bodyPr>
          <a:lstStyle/>
          <a:p>
            <a:pPr algn="l">
              <a:lnSpc>
                <a:spcPct val="112000"/>
              </a:lnSpc>
              <a:spcBef>
                <a:spcPts val="0"/>
              </a:spcBef>
              <a:spcAft>
                <a:spcPts val="500"/>
              </a:spcAft>
            </a:pPr>
            <a:r>
              <a:rPr sz="850" b="0">
                <a:solidFill>
                  <a:srgbClr val="738096"/>
                </a:solidFill>
                <a:latin typeface="Aptos"/>
              </a:rPr>
              <a:t>Yang et al., SOSP 2023 · Operating Systems · Theoretical Presentation</a:t>
            </a:r>
          </a:p>
        </p:txBody>
      </p:sp>
      <p:sp>
        <p:nvSpPr>
          <p:cNvPr id="23" name="TextBox 22"/>
          <p:cNvSpPr txBox="1"/>
          <p:nvPr/>
        </p:nvSpPr>
        <p:spPr>
          <a:xfrm>
            <a:off x="10744200" y="6537960"/>
            <a:ext cx="868680" cy="182880"/>
          </a:xfrm>
          <a:prstGeom prst="rect">
            <a:avLst/>
          </a:prstGeom>
          <a:noFill/>
        </p:spPr>
        <p:txBody>
          <a:bodyPr wrap="square" lIns="0" rIns="0" tIns="0" bIns="0">
            <a:spAutoFit/>
          </a:bodyPr>
          <a:lstStyle/>
          <a:p>
            <a:pPr algn="r">
              <a:lnSpc>
                <a:spcPct val="112000"/>
              </a:lnSpc>
              <a:spcBef>
                <a:spcPts val="0"/>
              </a:spcBef>
              <a:spcAft>
                <a:spcPts val="500"/>
              </a:spcAft>
            </a:pPr>
            <a:r>
              <a:rPr sz="850" b="0">
                <a:solidFill>
                  <a:srgbClr val="738096"/>
                </a:solidFill>
                <a:latin typeface="Aptos"/>
              </a:rPr>
              <a:t>Slide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3294B"/>
          </a:solidFill>
          <a:ln>
            <a:noFill/>
          </a:ln>
        </p:spPr>
        <p:txBody>
          <a:bodyPr rtlCol="0" anchor="ctr"/>
          <a:lstStyle/>
          <a:p>
            <a:pPr algn="ctr"/>
          </a:p>
        </p:txBody>
      </p:sp>
      <p:sp>
        <p:nvSpPr>
          <p:cNvPr id="3" name="TextBox 2"/>
          <p:cNvSpPr txBox="1"/>
          <p:nvPr/>
        </p:nvSpPr>
        <p:spPr>
          <a:xfrm>
            <a:off x="457200" y="96012"/>
            <a:ext cx="5166360" cy="210312"/>
          </a:xfrm>
          <a:prstGeom prst="rect">
            <a:avLst/>
          </a:prstGeom>
          <a:noFill/>
        </p:spPr>
        <p:txBody>
          <a:bodyPr wrap="square" lIns="0" rIns="0" tIns="0" bIns="0">
            <a:spAutoFit/>
          </a:bodyPr>
          <a:lstStyle/>
          <a:p>
            <a:pPr algn="l">
              <a:lnSpc>
                <a:spcPct val="112000"/>
              </a:lnSpc>
              <a:spcBef>
                <a:spcPts val="0"/>
              </a:spcBef>
              <a:spcAft>
                <a:spcPts val="500"/>
              </a:spcAft>
            </a:pPr>
            <a:r>
              <a:rPr sz="950" b="1">
                <a:solidFill>
                  <a:srgbClr val="FFFFFF"/>
                </a:solidFill>
                <a:latin typeface="Aptos"/>
              </a:rPr>
              <a:t>Part 2 · Main Eviction</a:t>
            </a:r>
          </a:p>
        </p:txBody>
      </p:sp>
      <p:sp>
        <p:nvSpPr>
          <p:cNvPr id="4" name="TextBox 3"/>
          <p:cNvSpPr txBox="1"/>
          <p:nvPr/>
        </p:nvSpPr>
        <p:spPr>
          <a:xfrm>
            <a:off x="6400800" y="96012"/>
            <a:ext cx="5303520" cy="210312"/>
          </a:xfrm>
          <a:prstGeom prst="rect">
            <a:avLst/>
          </a:prstGeom>
          <a:noFill/>
        </p:spPr>
        <p:txBody>
          <a:bodyPr wrap="square" lIns="0" rIns="0" tIns="0" bIns="0">
            <a:spAutoFit/>
          </a:bodyPr>
          <a:lstStyle/>
          <a:p>
            <a:pPr algn="r">
              <a:lnSpc>
                <a:spcPct val="112000"/>
              </a:lnSpc>
              <a:spcBef>
                <a:spcPts val="0"/>
              </a:spcBef>
              <a:spcAft>
                <a:spcPts val="500"/>
              </a:spcAft>
            </a:pPr>
            <a:r>
              <a:rPr sz="950" b="0">
                <a:solidFill>
                  <a:srgbClr val="CFE8FF"/>
                </a:solidFill>
                <a:latin typeface="Aptos"/>
              </a:rPr>
              <a:t>S3-FIFO · FIFO Queues Are All You Need</a:t>
            </a:r>
          </a:p>
        </p:txBody>
      </p:sp>
      <p:sp>
        <p:nvSpPr>
          <p:cNvPr id="5" name="TextBox 4"/>
          <p:cNvSpPr txBox="1"/>
          <p:nvPr/>
        </p:nvSpPr>
        <p:spPr>
          <a:xfrm>
            <a:off x="548640" y="694944"/>
            <a:ext cx="10789920" cy="484632"/>
          </a:xfrm>
          <a:prstGeom prst="rect">
            <a:avLst/>
          </a:prstGeom>
          <a:noFill/>
        </p:spPr>
        <p:txBody>
          <a:bodyPr wrap="square" lIns="0" rIns="0" tIns="0" bIns="0">
            <a:spAutoFit/>
          </a:bodyPr>
          <a:lstStyle/>
          <a:p>
            <a:pPr algn="l">
              <a:lnSpc>
                <a:spcPct val="112000"/>
              </a:lnSpc>
              <a:spcBef>
                <a:spcPts val="0"/>
              </a:spcBef>
              <a:spcAft>
                <a:spcPts val="500"/>
              </a:spcAft>
            </a:pPr>
            <a:r>
              <a:rPr sz="2900" b="1">
                <a:solidFill>
                  <a:srgbClr val="172033"/>
                </a:solidFill>
                <a:latin typeface="Aptos Display"/>
              </a:rPr>
              <a:t>Main Queue Eviction: A Second Chance</a:t>
            </a:r>
          </a:p>
        </p:txBody>
      </p:sp>
      <p:sp>
        <p:nvSpPr>
          <p:cNvPr id="6" name="TextBox 5"/>
          <p:cNvSpPr txBox="1"/>
          <p:nvPr/>
        </p:nvSpPr>
        <p:spPr>
          <a:xfrm>
            <a:off x="566928" y="1225296"/>
            <a:ext cx="10972800" cy="338328"/>
          </a:xfrm>
          <a:prstGeom prst="rect">
            <a:avLst/>
          </a:prstGeom>
          <a:noFill/>
        </p:spPr>
        <p:txBody>
          <a:bodyPr wrap="square" lIns="0" rIns="0" tIns="0" bIns="0">
            <a:spAutoFit/>
          </a:bodyPr>
          <a:lstStyle/>
          <a:p>
            <a:pPr algn="l">
              <a:lnSpc>
                <a:spcPct val="112000"/>
              </a:lnSpc>
              <a:spcBef>
                <a:spcPts val="0"/>
              </a:spcBef>
              <a:spcAft>
                <a:spcPts val="500"/>
              </a:spcAft>
            </a:pPr>
            <a:r>
              <a:rPr sz="1400" b="0">
                <a:solidFill>
                  <a:srgbClr val="5B6472"/>
                </a:solidFill>
                <a:latin typeface="Aptos"/>
              </a:rPr>
              <a:t>Inspect the oldest object when this queue needs to release space.</a:t>
            </a:r>
          </a:p>
        </p:txBody>
      </p:sp>
      <p:sp>
        <p:nvSpPr>
          <p:cNvPr id="7" name="Rounded Rectangle 6"/>
          <p:cNvSpPr/>
          <p:nvPr/>
        </p:nvSpPr>
        <p:spPr>
          <a:xfrm>
            <a:off x="685800" y="1783080"/>
            <a:ext cx="10789920" cy="3630168"/>
          </a:xfrm>
          <a:prstGeom prst="roundRect">
            <a:avLst>
              <a:gd name="adj" fmla="val 12000"/>
            </a:avLst>
          </a:prstGeom>
          <a:solidFill>
            <a:srgbClr val="FFFFFF"/>
          </a:solidFill>
          <a:ln w="9525">
            <a:solidFill>
              <a:srgbClr val="DCE5EF"/>
            </a:solidFill>
          </a:ln>
        </p:spPr>
        <p:txBody>
          <a:bodyPr rtlCol="0" anchor="ctr"/>
          <a:lstStyle/>
          <a:p>
            <a:pPr algn="ctr"/>
          </a:p>
        </p:txBody>
      </p:sp>
      <p:sp>
        <p:nvSpPr>
          <p:cNvPr id="8" name="Rounded Rectangle 7"/>
          <p:cNvSpPr/>
          <p:nvPr/>
        </p:nvSpPr>
        <p:spPr>
          <a:xfrm>
            <a:off x="2834640" y="2057400"/>
            <a:ext cx="6519672" cy="731520"/>
          </a:xfrm>
          <a:prstGeom prst="roundRect">
            <a:avLst>
              <a:gd name="adj" fmla="val 12000"/>
            </a:avLst>
          </a:prstGeom>
          <a:solidFill>
            <a:srgbClr val="FFFFFF"/>
          </a:solidFill>
          <a:ln w="9525">
            <a:solidFill>
              <a:srgbClr val="2D6DAF"/>
            </a:solidFill>
          </a:ln>
        </p:spPr>
        <p:txBody>
          <a:bodyPr rtlCol="0" anchor="ctr"/>
          <a:lstStyle/>
          <a:p>
            <a:pPr algn="ctr"/>
          </a:p>
        </p:txBody>
      </p:sp>
      <p:sp>
        <p:nvSpPr>
          <p:cNvPr id="9" name="TextBox 8"/>
          <p:cNvSpPr txBox="1"/>
          <p:nvPr/>
        </p:nvSpPr>
        <p:spPr>
          <a:xfrm>
            <a:off x="2944368" y="2203704"/>
            <a:ext cx="6300216" cy="548640"/>
          </a:xfrm>
          <a:prstGeom prst="rect">
            <a:avLst/>
          </a:prstGeom>
          <a:noFill/>
        </p:spPr>
        <p:txBody>
          <a:bodyPr wrap="square" lIns="0" rIns="0" tIns="0" bIns="0">
            <a:spAutoFit/>
          </a:bodyPr>
          <a:lstStyle/>
          <a:p>
            <a:pPr algn="ctr">
              <a:lnSpc>
                <a:spcPct val="112000"/>
              </a:lnSpc>
              <a:spcBef>
                <a:spcPts val="0"/>
              </a:spcBef>
              <a:spcAft>
                <a:spcPts val="500"/>
              </a:spcAft>
            </a:pPr>
            <a:r>
              <a:rPr sz="2500" b="1">
                <a:solidFill>
                  <a:srgbClr val="2D6DAF"/>
                </a:solidFill>
                <a:latin typeface="Aptos"/>
              </a:rPr>
              <a:t>Oldest object: freq &gt; 0?</a:t>
            </a:r>
          </a:p>
        </p:txBody>
      </p:sp>
      <p:cxnSp>
        <p:nvCxnSpPr>
          <p:cNvPr id="10" name="Connector 9"/>
          <p:cNvCxnSpPr/>
          <p:nvPr/>
        </p:nvCxnSpPr>
        <p:spPr>
          <a:xfrm>
            <a:off x="4114800" y="2788920"/>
            <a:ext cx="0" cy="832104"/>
          </a:xfrm>
          <a:prstGeom prst="line">
            <a:avLst/>
          </a:prstGeom>
          <a:ln w="22860">
            <a:solidFill>
              <a:srgbClr val="2D6DAF"/>
            </a:solidFill>
            <a:tailEnd type="triangle"/>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270248" y="3090672"/>
            <a:ext cx="640080" cy="274320"/>
          </a:xfrm>
          <a:prstGeom prst="rect">
            <a:avLst/>
          </a:prstGeom>
          <a:noFill/>
        </p:spPr>
        <p:txBody>
          <a:bodyPr wrap="square" lIns="0" rIns="0" tIns="0" bIns="0">
            <a:spAutoFit/>
          </a:bodyPr>
          <a:lstStyle/>
          <a:p>
            <a:pPr algn="l">
              <a:lnSpc>
                <a:spcPct val="112000"/>
              </a:lnSpc>
              <a:spcBef>
                <a:spcPts val="0"/>
              </a:spcBef>
              <a:spcAft>
                <a:spcPts val="500"/>
              </a:spcAft>
            </a:pPr>
            <a:r>
              <a:rPr sz="1400" b="0">
                <a:solidFill>
                  <a:srgbClr val="2D6DAF"/>
                </a:solidFill>
                <a:latin typeface="Aptos"/>
              </a:rPr>
              <a:t>Yes</a:t>
            </a:r>
          </a:p>
        </p:txBody>
      </p:sp>
      <p:cxnSp>
        <p:nvCxnSpPr>
          <p:cNvPr id="12" name="Connector 11"/>
          <p:cNvCxnSpPr/>
          <p:nvPr/>
        </p:nvCxnSpPr>
        <p:spPr>
          <a:xfrm>
            <a:off x="7955279" y="2788920"/>
            <a:ext cx="0" cy="832104"/>
          </a:xfrm>
          <a:prstGeom prst="line">
            <a:avLst/>
          </a:prstGeom>
          <a:ln w="22860">
            <a:solidFill>
              <a:srgbClr val="788594"/>
            </a:solidFill>
            <a:tailEnd type="triangle"/>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110727" y="3090672"/>
            <a:ext cx="640080" cy="274320"/>
          </a:xfrm>
          <a:prstGeom prst="rect">
            <a:avLst/>
          </a:prstGeom>
          <a:noFill/>
        </p:spPr>
        <p:txBody>
          <a:bodyPr wrap="square" lIns="0" rIns="0" tIns="0" bIns="0">
            <a:spAutoFit/>
          </a:bodyPr>
          <a:lstStyle/>
          <a:p>
            <a:pPr algn="l">
              <a:lnSpc>
                <a:spcPct val="112000"/>
              </a:lnSpc>
              <a:spcBef>
                <a:spcPts val="0"/>
              </a:spcBef>
              <a:spcAft>
                <a:spcPts val="500"/>
              </a:spcAft>
            </a:pPr>
            <a:r>
              <a:rPr sz="1400" b="0">
                <a:solidFill>
                  <a:srgbClr val="788594"/>
                </a:solidFill>
                <a:latin typeface="Aptos"/>
              </a:rPr>
              <a:t>No</a:t>
            </a:r>
          </a:p>
        </p:txBody>
      </p:sp>
      <p:sp>
        <p:nvSpPr>
          <p:cNvPr id="14" name="Rounded Rectangle 13"/>
          <p:cNvSpPr/>
          <p:nvPr/>
        </p:nvSpPr>
        <p:spPr>
          <a:xfrm>
            <a:off x="1078992" y="3621024"/>
            <a:ext cx="4700016" cy="731520"/>
          </a:xfrm>
          <a:prstGeom prst="roundRect">
            <a:avLst>
              <a:gd name="adj" fmla="val 12000"/>
            </a:avLst>
          </a:prstGeom>
          <a:solidFill>
            <a:srgbClr val="FFFFFF"/>
          </a:solidFill>
          <a:ln w="9525">
            <a:solidFill>
              <a:srgbClr val="2D6DAF"/>
            </a:solidFill>
          </a:ln>
        </p:spPr>
        <p:txBody>
          <a:bodyPr rtlCol="0" anchor="ctr"/>
          <a:lstStyle/>
          <a:p>
            <a:pPr algn="ctr"/>
          </a:p>
        </p:txBody>
      </p:sp>
      <p:sp>
        <p:nvSpPr>
          <p:cNvPr id="15" name="TextBox 14"/>
          <p:cNvSpPr txBox="1"/>
          <p:nvPr/>
        </p:nvSpPr>
        <p:spPr>
          <a:xfrm>
            <a:off x="1188719" y="3767328"/>
            <a:ext cx="4480559" cy="548640"/>
          </a:xfrm>
          <a:prstGeom prst="rect">
            <a:avLst/>
          </a:prstGeom>
          <a:noFill/>
        </p:spPr>
        <p:txBody>
          <a:bodyPr wrap="square" lIns="0" rIns="0" tIns="0" bIns="0">
            <a:spAutoFit/>
          </a:bodyPr>
          <a:lstStyle/>
          <a:p>
            <a:pPr algn="ctr">
              <a:lnSpc>
                <a:spcPct val="112000"/>
              </a:lnSpc>
              <a:spcBef>
                <a:spcPts val="0"/>
              </a:spcBef>
              <a:spcAft>
                <a:spcPts val="500"/>
              </a:spcAft>
            </a:pPr>
            <a:r>
              <a:rPr sz="2100" b="1">
                <a:solidFill>
                  <a:srgbClr val="2D6DAF"/>
                </a:solidFill>
                <a:latin typeface="Aptos"/>
              </a:rPr>
              <a:t>Reinsert into Main; freq − 1</a:t>
            </a:r>
          </a:p>
        </p:txBody>
      </p:sp>
      <p:sp>
        <p:nvSpPr>
          <p:cNvPr id="16" name="Rounded Rectangle 15"/>
          <p:cNvSpPr/>
          <p:nvPr/>
        </p:nvSpPr>
        <p:spPr>
          <a:xfrm>
            <a:off x="6217920" y="3621024"/>
            <a:ext cx="4700016" cy="731520"/>
          </a:xfrm>
          <a:prstGeom prst="roundRect">
            <a:avLst>
              <a:gd name="adj" fmla="val 12000"/>
            </a:avLst>
          </a:prstGeom>
          <a:solidFill>
            <a:srgbClr val="FFFFFF"/>
          </a:solidFill>
          <a:ln w="9525">
            <a:solidFill>
              <a:srgbClr val="788594"/>
            </a:solidFill>
          </a:ln>
        </p:spPr>
        <p:txBody>
          <a:bodyPr rtlCol="0" anchor="ctr"/>
          <a:lstStyle/>
          <a:p>
            <a:pPr algn="ctr"/>
          </a:p>
        </p:txBody>
      </p:sp>
      <p:sp>
        <p:nvSpPr>
          <p:cNvPr id="17" name="TextBox 16"/>
          <p:cNvSpPr txBox="1"/>
          <p:nvPr/>
        </p:nvSpPr>
        <p:spPr>
          <a:xfrm>
            <a:off x="6327648" y="3767328"/>
            <a:ext cx="4480559" cy="548640"/>
          </a:xfrm>
          <a:prstGeom prst="rect">
            <a:avLst/>
          </a:prstGeom>
          <a:noFill/>
        </p:spPr>
        <p:txBody>
          <a:bodyPr wrap="square" lIns="0" rIns="0" tIns="0" bIns="0">
            <a:spAutoFit/>
          </a:bodyPr>
          <a:lstStyle/>
          <a:p>
            <a:pPr algn="ctr">
              <a:lnSpc>
                <a:spcPct val="112000"/>
              </a:lnSpc>
              <a:spcBef>
                <a:spcPts val="0"/>
              </a:spcBef>
              <a:spcAft>
                <a:spcPts val="500"/>
              </a:spcAft>
            </a:pPr>
            <a:r>
              <a:rPr sz="2000" b="1">
                <a:solidFill>
                  <a:srgbClr val="788594"/>
                </a:solidFill>
                <a:latin typeface="Aptos"/>
              </a:rPr>
              <a:t>Evict the object</a:t>
            </a:r>
          </a:p>
        </p:txBody>
      </p:sp>
      <p:sp>
        <p:nvSpPr>
          <p:cNvPr id="18" name="TextBox 17"/>
          <p:cNvSpPr txBox="1"/>
          <p:nvPr/>
        </p:nvSpPr>
        <p:spPr>
          <a:xfrm>
            <a:off x="1051560" y="4709160"/>
            <a:ext cx="10058400" cy="548640"/>
          </a:xfrm>
          <a:prstGeom prst="rect">
            <a:avLst/>
          </a:prstGeom>
          <a:noFill/>
        </p:spPr>
        <p:txBody>
          <a:bodyPr wrap="square" lIns="0" rIns="0" tIns="0" bIns="0">
            <a:spAutoFit/>
          </a:bodyPr>
          <a:lstStyle/>
          <a:p>
            <a:pPr algn="l">
              <a:lnSpc>
                <a:spcPct val="112000"/>
              </a:lnSpc>
              <a:spcBef>
                <a:spcPts val="0"/>
              </a:spcBef>
              <a:spcAft>
                <a:spcPts val="500"/>
              </a:spcAft>
            </a:pPr>
            <a:r>
              <a:rPr sz="1900" b="0">
                <a:solidFill>
                  <a:srgbClr val="172033"/>
                </a:solidFill>
                <a:latin typeface="Aptos"/>
              </a:rPr>
              <a:t>An accessed object is reinserted with a smaller counter. If its counter is zero, it is removed.</a:t>
            </a:r>
          </a:p>
        </p:txBody>
      </p:sp>
      <p:sp>
        <p:nvSpPr>
          <p:cNvPr id="19" name="Rounded Rectangle 18"/>
          <p:cNvSpPr/>
          <p:nvPr/>
        </p:nvSpPr>
        <p:spPr>
          <a:xfrm>
            <a:off x="731520" y="5632704"/>
            <a:ext cx="10789920" cy="475488"/>
          </a:xfrm>
          <a:prstGeom prst="roundRect">
            <a:avLst>
              <a:gd name="adj" fmla="val 12000"/>
            </a:avLst>
          </a:prstGeom>
          <a:solidFill>
            <a:srgbClr val="E7F6F0"/>
          </a:solidFill>
          <a:ln>
            <a:noFill/>
          </a:ln>
        </p:spPr>
        <p:txBody>
          <a:bodyPr rtlCol="0" anchor="ctr"/>
          <a:lstStyle/>
          <a:p>
            <a:pPr algn="ctr"/>
          </a:p>
        </p:txBody>
      </p:sp>
      <p:sp>
        <p:nvSpPr>
          <p:cNvPr id="20" name="TextBox 19"/>
          <p:cNvSpPr txBox="1"/>
          <p:nvPr/>
        </p:nvSpPr>
        <p:spPr>
          <a:xfrm>
            <a:off x="960120" y="5751576"/>
            <a:ext cx="10332720" cy="256032"/>
          </a:xfrm>
          <a:prstGeom prst="rect">
            <a:avLst/>
          </a:prstGeom>
          <a:noFill/>
        </p:spPr>
        <p:txBody>
          <a:bodyPr wrap="square" lIns="0" rIns="0" tIns="0" bIns="0">
            <a:spAutoFit/>
          </a:bodyPr>
          <a:lstStyle/>
          <a:p>
            <a:pPr algn="l">
              <a:lnSpc>
                <a:spcPct val="112000"/>
              </a:lnSpc>
              <a:spcBef>
                <a:spcPts val="0"/>
              </a:spcBef>
              <a:spcAft>
                <a:spcPts val="500"/>
              </a:spcAft>
            </a:pPr>
            <a:r>
              <a:rPr sz="1500" b="1">
                <a:solidFill>
                  <a:srgbClr val="238B6D"/>
                </a:solidFill>
                <a:latin typeface="Aptos"/>
              </a:rPr>
              <a:t>Small filters new objects; Main protects useful objects; Ghost remembers removed IDs.</a:t>
            </a:r>
          </a:p>
        </p:txBody>
      </p:sp>
      <p:sp>
        <p:nvSpPr>
          <p:cNvPr id="21" name="TextBox 20"/>
          <p:cNvSpPr txBox="1"/>
          <p:nvPr/>
        </p:nvSpPr>
        <p:spPr>
          <a:xfrm>
            <a:off x="530352" y="6281928"/>
            <a:ext cx="11064240" cy="210312"/>
          </a:xfrm>
          <a:prstGeom prst="rect">
            <a:avLst/>
          </a:prstGeom>
          <a:noFill/>
        </p:spPr>
        <p:txBody>
          <a:bodyPr wrap="square" lIns="0" rIns="0" tIns="0" bIns="0">
            <a:spAutoFit/>
          </a:bodyPr>
          <a:lstStyle/>
          <a:p>
            <a:pPr algn="l">
              <a:lnSpc>
                <a:spcPct val="112000"/>
              </a:lnSpc>
              <a:spcBef>
                <a:spcPts val="0"/>
              </a:spcBef>
              <a:spcAft>
                <a:spcPts val="500"/>
              </a:spcAft>
            </a:pPr>
            <a:r>
              <a:rPr sz="919" b="0">
                <a:solidFill>
                  <a:srgbClr val="738096"/>
                </a:solidFill>
                <a:latin typeface="Aptos"/>
              </a:rPr>
              <a:t>Source: Algorithm 1, lines 31–40, Yang et al., SOSP 2023. Simplified eviction flowchart.</a:t>
            </a:r>
          </a:p>
        </p:txBody>
      </p:sp>
      <p:sp>
        <p:nvSpPr>
          <p:cNvPr id="22" name="TextBox 21"/>
          <p:cNvSpPr txBox="1"/>
          <p:nvPr/>
        </p:nvSpPr>
        <p:spPr>
          <a:xfrm>
            <a:off x="530352" y="6537960"/>
            <a:ext cx="9875520" cy="182880"/>
          </a:xfrm>
          <a:prstGeom prst="rect">
            <a:avLst/>
          </a:prstGeom>
          <a:noFill/>
        </p:spPr>
        <p:txBody>
          <a:bodyPr wrap="square" lIns="0" rIns="0" tIns="0" bIns="0">
            <a:spAutoFit/>
          </a:bodyPr>
          <a:lstStyle/>
          <a:p>
            <a:pPr algn="l">
              <a:lnSpc>
                <a:spcPct val="112000"/>
              </a:lnSpc>
              <a:spcBef>
                <a:spcPts val="0"/>
              </a:spcBef>
              <a:spcAft>
                <a:spcPts val="500"/>
              </a:spcAft>
            </a:pPr>
            <a:r>
              <a:rPr sz="850" b="0">
                <a:solidFill>
                  <a:srgbClr val="738096"/>
                </a:solidFill>
                <a:latin typeface="Aptos"/>
              </a:rPr>
              <a:t>Yang et al., SOSP 2023 · Operating Systems · Theoretical Presentation</a:t>
            </a:r>
          </a:p>
        </p:txBody>
      </p:sp>
      <p:sp>
        <p:nvSpPr>
          <p:cNvPr id="23" name="TextBox 22"/>
          <p:cNvSpPr txBox="1"/>
          <p:nvPr/>
        </p:nvSpPr>
        <p:spPr>
          <a:xfrm>
            <a:off x="10744200" y="6537960"/>
            <a:ext cx="868680" cy="182880"/>
          </a:xfrm>
          <a:prstGeom prst="rect">
            <a:avLst/>
          </a:prstGeom>
          <a:noFill/>
        </p:spPr>
        <p:txBody>
          <a:bodyPr wrap="square" lIns="0" rIns="0" tIns="0" bIns="0">
            <a:spAutoFit/>
          </a:bodyPr>
          <a:lstStyle/>
          <a:p>
            <a:pPr algn="r">
              <a:lnSpc>
                <a:spcPct val="112000"/>
              </a:lnSpc>
              <a:spcBef>
                <a:spcPts val="0"/>
              </a:spcBef>
              <a:spcAft>
                <a:spcPts val="500"/>
              </a:spcAft>
            </a:pPr>
            <a:r>
              <a:rPr sz="850" b="0">
                <a:solidFill>
                  <a:srgbClr val="738096"/>
                </a:solidFill>
                <a:latin typeface="Aptos"/>
              </a:rPr>
              <a:t>Slide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3294B"/>
        </a:solidFill>
        <a:effectLst/>
      </p:bgPr>
    </p:bg>
    <p:spTree>
      <p:nvGrpSpPr>
        <p:cNvPr id="1" name=""/>
        <p:cNvGrpSpPr/>
        <p:nvPr/>
      </p:nvGrpSpPr>
      <p:grpSpPr/>
      <p:sp>
        <p:nvSpPr>
          <p:cNvPr id="2" name="TextBox 1"/>
          <p:cNvSpPr txBox="1"/>
          <p:nvPr/>
        </p:nvSpPr>
        <p:spPr>
          <a:xfrm>
            <a:off x="731520" y="960120"/>
            <a:ext cx="9144000" cy="365760"/>
          </a:xfrm>
          <a:prstGeom prst="rect">
            <a:avLst/>
          </a:prstGeom>
          <a:noFill/>
        </p:spPr>
        <p:txBody>
          <a:bodyPr wrap="square" lIns="0" rIns="0" tIns="0" bIns="0">
            <a:spAutoFit/>
          </a:bodyPr>
          <a:lstStyle/>
          <a:p>
            <a:pPr algn="l">
              <a:lnSpc>
                <a:spcPct val="112000"/>
              </a:lnSpc>
              <a:spcBef>
                <a:spcPts val="0"/>
              </a:spcBef>
              <a:spcAft>
                <a:spcPts val="500"/>
              </a:spcAft>
            </a:pPr>
            <a:r>
              <a:rPr sz="1600" b="1">
                <a:solidFill>
                  <a:srgbClr val="F5B841"/>
                </a:solidFill>
                <a:latin typeface="Aptos"/>
              </a:rPr>
              <a:t>PART 3 · MEMBER 3</a:t>
            </a:r>
          </a:p>
        </p:txBody>
      </p:sp>
      <p:sp>
        <p:nvSpPr>
          <p:cNvPr id="3" name="TextBox 2"/>
          <p:cNvSpPr txBox="1"/>
          <p:nvPr/>
        </p:nvSpPr>
        <p:spPr>
          <a:xfrm>
            <a:off x="713232" y="1737360"/>
            <a:ext cx="10652760" cy="1005840"/>
          </a:xfrm>
          <a:prstGeom prst="rect">
            <a:avLst/>
          </a:prstGeom>
          <a:noFill/>
        </p:spPr>
        <p:txBody>
          <a:bodyPr wrap="square" lIns="0" rIns="0" tIns="0" bIns="0">
            <a:spAutoFit/>
          </a:bodyPr>
          <a:lstStyle/>
          <a:p>
            <a:pPr algn="l">
              <a:lnSpc>
                <a:spcPct val="112000"/>
              </a:lnSpc>
              <a:spcBef>
                <a:spcPts val="0"/>
              </a:spcBef>
              <a:spcAft>
                <a:spcPts val="500"/>
              </a:spcAft>
            </a:pPr>
            <a:r>
              <a:rPr sz="3700" b="1">
                <a:solidFill>
                  <a:srgbClr val="FFFFFF"/>
                </a:solidFill>
                <a:latin typeface="Aptos Display"/>
              </a:rPr>
              <a:t>Evaluation &amp; Conclusion</a:t>
            </a:r>
          </a:p>
        </p:txBody>
      </p:sp>
      <p:sp>
        <p:nvSpPr>
          <p:cNvPr id="4" name="TextBox 3"/>
          <p:cNvSpPr txBox="1"/>
          <p:nvPr/>
        </p:nvSpPr>
        <p:spPr>
          <a:xfrm>
            <a:off x="777240" y="2871216"/>
            <a:ext cx="9784080" cy="822960"/>
          </a:xfrm>
          <a:prstGeom prst="rect">
            <a:avLst/>
          </a:prstGeom>
          <a:noFill/>
        </p:spPr>
        <p:txBody>
          <a:bodyPr wrap="square" lIns="0" rIns="0" tIns="0" bIns="0">
            <a:spAutoFit/>
          </a:bodyPr>
          <a:lstStyle/>
          <a:p>
            <a:pPr algn="l">
              <a:lnSpc>
                <a:spcPct val="112000"/>
              </a:lnSpc>
              <a:spcBef>
                <a:spcPts val="0"/>
              </a:spcBef>
              <a:spcAft>
                <a:spcPts val="500"/>
              </a:spcAft>
            </a:pPr>
            <a:r>
              <a:rPr sz="2100" b="0">
                <a:solidFill>
                  <a:srgbClr val="BED6F0"/>
                </a:solidFill>
                <a:latin typeface="Aptos"/>
              </a:rPr>
              <a:t>What do the paper’s experiments show?</a:t>
            </a:r>
          </a:p>
        </p:txBody>
      </p:sp>
      <p:sp>
        <p:nvSpPr>
          <p:cNvPr id="5" name="Rectangle 4"/>
          <p:cNvSpPr/>
          <p:nvPr/>
        </p:nvSpPr>
        <p:spPr>
          <a:xfrm>
            <a:off x="822960" y="3977639"/>
            <a:ext cx="10515600" cy="16459"/>
          </a:xfrm>
          <a:prstGeom prst="rect">
            <a:avLst/>
          </a:prstGeom>
          <a:solidFill>
            <a:srgbClr val="F5B841"/>
          </a:solidFill>
          <a:ln>
            <a:noFill/>
          </a:ln>
        </p:spPr>
        <p:txBody>
          <a:bodyPr rtlCol="0" anchor="ctr"/>
          <a:lstStyle/>
          <a:p>
            <a:pPr algn="ctr"/>
          </a:p>
        </p:txBody>
      </p:sp>
      <p:sp>
        <p:nvSpPr>
          <p:cNvPr id="6" name="TextBox 5"/>
          <p:cNvSpPr txBox="1"/>
          <p:nvPr/>
        </p:nvSpPr>
        <p:spPr>
          <a:xfrm>
            <a:off x="822960" y="4297680"/>
            <a:ext cx="9144000" cy="365760"/>
          </a:xfrm>
          <a:prstGeom prst="rect">
            <a:avLst/>
          </a:prstGeom>
          <a:noFill/>
        </p:spPr>
        <p:txBody>
          <a:bodyPr wrap="square" lIns="0" rIns="0" tIns="0" bIns="0">
            <a:spAutoFit/>
          </a:bodyPr>
          <a:lstStyle/>
          <a:p>
            <a:pPr algn="l">
              <a:lnSpc>
                <a:spcPct val="112000"/>
              </a:lnSpc>
              <a:spcBef>
                <a:spcPts val="0"/>
              </a:spcBef>
              <a:spcAft>
                <a:spcPts val="500"/>
              </a:spcAft>
            </a:pPr>
            <a:r>
              <a:rPr sz="1500" b="0">
                <a:solidFill>
                  <a:srgbClr val="BED6F0"/>
                </a:solidFill>
                <a:latin typeface="Aptos"/>
              </a:rPr>
              <a:t>Experimental setup → Efficiency → Scalability</a:t>
            </a:r>
          </a:p>
        </p:txBody>
      </p:sp>
      <p:sp>
        <p:nvSpPr>
          <p:cNvPr id="7" name="TextBox 6"/>
          <p:cNvSpPr txBox="1"/>
          <p:nvPr/>
        </p:nvSpPr>
        <p:spPr>
          <a:xfrm>
            <a:off x="530352" y="6537960"/>
            <a:ext cx="9875520" cy="182880"/>
          </a:xfrm>
          <a:prstGeom prst="rect">
            <a:avLst/>
          </a:prstGeom>
          <a:noFill/>
        </p:spPr>
        <p:txBody>
          <a:bodyPr wrap="square" lIns="0" rIns="0" tIns="0" bIns="0">
            <a:spAutoFit/>
          </a:bodyPr>
          <a:lstStyle/>
          <a:p>
            <a:pPr algn="l">
              <a:lnSpc>
                <a:spcPct val="112000"/>
              </a:lnSpc>
              <a:spcBef>
                <a:spcPts val="0"/>
              </a:spcBef>
              <a:spcAft>
                <a:spcPts val="500"/>
              </a:spcAft>
            </a:pPr>
            <a:r>
              <a:rPr sz="850" b="0">
                <a:solidFill>
                  <a:srgbClr val="B8CBE0"/>
                </a:solidFill>
                <a:latin typeface="Aptos"/>
              </a:rPr>
              <a:t>Yang et al., SOSP 2023 · Operating Systems · Theoretical Presentation</a:t>
            </a:r>
          </a:p>
        </p:txBody>
      </p:sp>
      <p:sp>
        <p:nvSpPr>
          <p:cNvPr id="8" name="TextBox 7"/>
          <p:cNvSpPr txBox="1"/>
          <p:nvPr/>
        </p:nvSpPr>
        <p:spPr>
          <a:xfrm>
            <a:off x="10744200" y="6537960"/>
            <a:ext cx="868680" cy="182880"/>
          </a:xfrm>
          <a:prstGeom prst="rect">
            <a:avLst/>
          </a:prstGeom>
          <a:noFill/>
        </p:spPr>
        <p:txBody>
          <a:bodyPr wrap="square" lIns="0" rIns="0" tIns="0" bIns="0">
            <a:spAutoFit/>
          </a:bodyPr>
          <a:lstStyle/>
          <a:p>
            <a:pPr algn="r">
              <a:lnSpc>
                <a:spcPct val="112000"/>
              </a:lnSpc>
              <a:spcBef>
                <a:spcPts val="0"/>
              </a:spcBef>
              <a:spcAft>
                <a:spcPts val="500"/>
              </a:spcAft>
            </a:pPr>
            <a:r>
              <a:rPr sz="850" b="0">
                <a:solidFill>
                  <a:srgbClr val="B8CBE0"/>
                </a:solidFill>
                <a:latin typeface="Aptos"/>
              </a:rPr>
              <a:t>Slide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3294B"/>
          </a:solidFill>
          <a:ln>
            <a:noFill/>
          </a:ln>
        </p:spPr>
        <p:txBody>
          <a:bodyPr rtlCol="0" anchor="ctr"/>
          <a:lstStyle/>
          <a:p>
            <a:pPr algn="ctr"/>
          </a:p>
        </p:txBody>
      </p:sp>
      <p:sp>
        <p:nvSpPr>
          <p:cNvPr id="3" name="TextBox 2"/>
          <p:cNvSpPr txBox="1"/>
          <p:nvPr/>
        </p:nvSpPr>
        <p:spPr>
          <a:xfrm>
            <a:off x="457200" y="96012"/>
            <a:ext cx="5166360" cy="210312"/>
          </a:xfrm>
          <a:prstGeom prst="rect">
            <a:avLst/>
          </a:prstGeom>
          <a:noFill/>
        </p:spPr>
        <p:txBody>
          <a:bodyPr wrap="square" lIns="0" rIns="0" tIns="0" bIns="0">
            <a:spAutoFit/>
          </a:bodyPr>
          <a:lstStyle/>
          <a:p>
            <a:pPr algn="l">
              <a:lnSpc>
                <a:spcPct val="112000"/>
              </a:lnSpc>
              <a:spcBef>
                <a:spcPts val="0"/>
              </a:spcBef>
              <a:spcAft>
                <a:spcPts val="500"/>
              </a:spcAft>
            </a:pPr>
            <a:r>
              <a:rPr sz="950" b="1">
                <a:solidFill>
                  <a:srgbClr val="FFFFFF"/>
                </a:solidFill>
                <a:latin typeface="Aptos"/>
              </a:rPr>
              <a:t>Part 3 · Evaluation</a:t>
            </a:r>
          </a:p>
        </p:txBody>
      </p:sp>
      <p:sp>
        <p:nvSpPr>
          <p:cNvPr id="4" name="TextBox 3"/>
          <p:cNvSpPr txBox="1"/>
          <p:nvPr/>
        </p:nvSpPr>
        <p:spPr>
          <a:xfrm>
            <a:off x="6400800" y="96012"/>
            <a:ext cx="5303520" cy="210312"/>
          </a:xfrm>
          <a:prstGeom prst="rect">
            <a:avLst/>
          </a:prstGeom>
          <a:noFill/>
        </p:spPr>
        <p:txBody>
          <a:bodyPr wrap="square" lIns="0" rIns="0" tIns="0" bIns="0">
            <a:spAutoFit/>
          </a:bodyPr>
          <a:lstStyle/>
          <a:p>
            <a:pPr algn="r">
              <a:lnSpc>
                <a:spcPct val="112000"/>
              </a:lnSpc>
              <a:spcBef>
                <a:spcPts val="0"/>
              </a:spcBef>
              <a:spcAft>
                <a:spcPts val="500"/>
              </a:spcAft>
            </a:pPr>
            <a:r>
              <a:rPr sz="950" b="0">
                <a:solidFill>
                  <a:srgbClr val="CFE8FF"/>
                </a:solidFill>
                <a:latin typeface="Aptos"/>
              </a:rPr>
              <a:t>S3-FIFO · FIFO Queues Are All You Need</a:t>
            </a:r>
          </a:p>
        </p:txBody>
      </p:sp>
      <p:sp>
        <p:nvSpPr>
          <p:cNvPr id="5" name="TextBox 4"/>
          <p:cNvSpPr txBox="1"/>
          <p:nvPr/>
        </p:nvSpPr>
        <p:spPr>
          <a:xfrm>
            <a:off x="548640" y="694944"/>
            <a:ext cx="10789920" cy="484632"/>
          </a:xfrm>
          <a:prstGeom prst="rect">
            <a:avLst/>
          </a:prstGeom>
          <a:noFill/>
        </p:spPr>
        <p:txBody>
          <a:bodyPr wrap="square" lIns="0" rIns="0" tIns="0" bIns="0">
            <a:spAutoFit/>
          </a:bodyPr>
          <a:lstStyle/>
          <a:p>
            <a:pPr algn="l">
              <a:lnSpc>
                <a:spcPct val="112000"/>
              </a:lnSpc>
              <a:spcBef>
                <a:spcPts val="0"/>
              </a:spcBef>
              <a:spcAft>
                <a:spcPts val="500"/>
              </a:spcAft>
            </a:pPr>
            <a:r>
              <a:rPr sz="2900" b="1">
                <a:solidFill>
                  <a:srgbClr val="172033"/>
                </a:solidFill>
                <a:latin typeface="Aptos Display"/>
              </a:rPr>
              <a:t>Experimental Setup: Real-World Workloads</a:t>
            </a:r>
          </a:p>
        </p:txBody>
      </p:sp>
      <p:sp>
        <p:nvSpPr>
          <p:cNvPr id="6" name="TextBox 5"/>
          <p:cNvSpPr txBox="1"/>
          <p:nvPr/>
        </p:nvSpPr>
        <p:spPr>
          <a:xfrm>
            <a:off x="566928" y="1225296"/>
            <a:ext cx="10972800" cy="338328"/>
          </a:xfrm>
          <a:prstGeom prst="rect">
            <a:avLst/>
          </a:prstGeom>
          <a:noFill/>
        </p:spPr>
        <p:txBody>
          <a:bodyPr wrap="square" lIns="0" rIns="0" tIns="0" bIns="0">
            <a:spAutoFit/>
          </a:bodyPr>
          <a:lstStyle/>
          <a:p>
            <a:pPr algn="l">
              <a:lnSpc>
                <a:spcPct val="112000"/>
              </a:lnSpc>
              <a:spcBef>
                <a:spcPts val="0"/>
              </a:spcBef>
              <a:spcAft>
                <a:spcPts val="500"/>
              </a:spcAft>
            </a:pPr>
            <a:r>
              <a:rPr sz="1400" b="0">
                <a:solidFill>
                  <a:srgbClr val="5B6472"/>
                </a:solidFill>
                <a:latin typeface="Aptos"/>
              </a:rPr>
              <a:t>The researchers evaluated S3-FIFO using a broad collection of cache traces.</a:t>
            </a:r>
          </a:p>
        </p:txBody>
      </p:sp>
      <p:sp>
        <p:nvSpPr>
          <p:cNvPr id="7" name="Rounded Rectangle 6"/>
          <p:cNvSpPr/>
          <p:nvPr/>
        </p:nvSpPr>
        <p:spPr>
          <a:xfrm>
            <a:off x="685800" y="1783080"/>
            <a:ext cx="10789920" cy="3630168"/>
          </a:xfrm>
          <a:prstGeom prst="roundRect">
            <a:avLst>
              <a:gd name="adj" fmla="val 12000"/>
            </a:avLst>
          </a:prstGeom>
          <a:solidFill>
            <a:srgbClr val="FFFFFF"/>
          </a:solidFill>
          <a:ln w="9525">
            <a:solidFill>
              <a:srgbClr val="DCE5EF"/>
            </a:solidFill>
          </a:ln>
        </p:spPr>
        <p:txBody>
          <a:bodyPr rtlCol="0" anchor="ctr"/>
          <a:lstStyle/>
          <a:p>
            <a:pPr algn="ctr"/>
          </a:p>
        </p:txBody>
      </p:sp>
      <p:sp>
        <p:nvSpPr>
          <p:cNvPr id="8" name="TextBox 7"/>
          <p:cNvSpPr txBox="1"/>
          <p:nvPr/>
        </p:nvSpPr>
        <p:spPr>
          <a:xfrm>
            <a:off x="987552" y="2057400"/>
            <a:ext cx="4114800" cy="777240"/>
          </a:xfrm>
          <a:prstGeom prst="rect">
            <a:avLst/>
          </a:prstGeom>
          <a:noFill/>
        </p:spPr>
        <p:txBody>
          <a:bodyPr wrap="square" lIns="0" rIns="0" tIns="0" bIns="0">
            <a:spAutoFit/>
          </a:bodyPr>
          <a:lstStyle/>
          <a:p>
            <a:pPr algn="l">
              <a:lnSpc>
                <a:spcPct val="112000"/>
              </a:lnSpc>
              <a:spcBef>
                <a:spcPts val="0"/>
              </a:spcBef>
              <a:spcAft>
                <a:spcPts val="500"/>
              </a:spcAft>
            </a:pPr>
            <a:r>
              <a:rPr sz="4700" b="1">
                <a:solidFill>
                  <a:srgbClr val="2D6DAF"/>
                </a:solidFill>
                <a:latin typeface="Aptos"/>
              </a:rPr>
              <a:t>6,594</a:t>
            </a:r>
          </a:p>
        </p:txBody>
      </p:sp>
      <p:sp>
        <p:nvSpPr>
          <p:cNvPr id="9" name="TextBox 8"/>
          <p:cNvSpPr txBox="1"/>
          <p:nvPr/>
        </p:nvSpPr>
        <p:spPr>
          <a:xfrm>
            <a:off x="987552" y="2926080"/>
            <a:ext cx="4114800" cy="365760"/>
          </a:xfrm>
          <a:prstGeom prst="rect">
            <a:avLst/>
          </a:prstGeom>
          <a:noFill/>
        </p:spPr>
        <p:txBody>
          <a:bodyPr wrap="square" lIns="0" rIns="0" tIns="0" bIns="0">
            <a:spAutoFit/>
          </a:bodyPr>
          <a:lstStyle/>
          <a:p>
            <a:pPr algn="l">
              <a:lnSpc>
                <a:spcPct val="112000"/>
              </a:lnSpc>
              <a:spcBef>
                <a:spcPts val="0"/>
              </a:spcBef>
              <a:spcAft>
                <a:spcPts val="500"/>
              </a:spcAft>
            </a:pPr>
            <a:r>
              <a:rPr sz="2300" b="0">
                <a:solidFill>
                  <a:srgbClr val="5B6472"/>
                </a:solidFill>
                <a:latin typeface="Aptos"/>
              </a:rPr>
              <a:t>real cache traces</a:t>
            </a:r>
          </a:p>
        </p:txBody>
      </p:sp>
      <p:sp>
        <p:nvSpPr>
          <p:cNvPr id="10" name="TextBox 9"/>
          <p:cNvSpPr txBox="1"/>
          <p:nvPr/>
        </p:nvSpPr>
        <p:spPr>
          <a:xfrm>
            <a:off x="6062472" y="2057400"/>
            <a:ext cx="4114800" cy="777240"/>
          </a:xfrm>
          <a:prstGeom prst="rect">
            <a:avLst/>
          </a:prstGeom>
          <a:noFill/>
        </p:spPr>
        <p:txBody>
          <a:bodyPr wrap="square" lIns="0" rIns="0" tIns="0" bIns="0">
            <a:spAutoFit/>
          </a:bodyPr>
          <a:lstStyle/>
          <a:p>
            <a:pPr algn="l">
              <a:lnSpc>
                <a:spcPct val="112000"/>
              </a:lnSpc>
              <a:spcBef>
                <a:spcPts val="0"/>
              </a:spcBef>
              <a:spcAft>
                <a:spcPts val="500"/>
              </a:spcAft>
            </a:pPr>
            <a:r>
              <a:rPr sz="4700" b="1">
                <a:solidFill>
                  <a:srgbClr val="2D6DAF"/>
                </a:solidFill>
                <a:latin typeface="Aptos"/>
              </a:rPr>
              <a:t>14</a:t>
            </a:r>
          </a:p>
        </p:txBody>
      </p:sp>
      <p:sp>
        <p:nvSpPr>
          <p:cNvPr id="11" name="TextBox 10"/>
          <p:cNvSpPr txBox="1"/>
          <p:nvPr/>
        </p:nvSpPr>
        <p:spPr>
          <a:xfrm>
            <a:off x="6062472" y="2926080"/>
            <a:ext cx="4114800" cy="365760"/>
          </a:xfrm>
          <a:prstGeom prst="rect">
            <a:avLst/>
          </a:prstGeom>
          <a:noFill/>
        </p:spPr>
        <p:txBody>
          <a:bodyPr wrap="square" lIns="0" rIns="0" tIns="0" bIns="0">
            <a:spAutoFit/>
          </a:bodyPr>
          <a:lstStyle/>
          <a:p>
            <a:pPr algn="l">
              <a:lnSpc>
                <a:spcPct val="112000"/>
              </a:lnSpc>
              <a:spcBef>
                <a:spcPts val="0"/>
              </a:spcBef>
              <a:spcAft>
                <a:spcPts val="500"/>
              </a:spcAft>
            </a:pPr>
            <a:r>
              <a:rPr sz="2300" b="0">
                <a:solidFill>
                  <a:srgbClr val="5B6472"/>
                </a:solidFill>
                <a:latin typeface="Aptos"/>
              </a:rPr>
              <a:t>datasets / data groups</a:t>
            </a:r>
          </a:p>
        </p:txBody>
      </p:sp>
      <p:sp>
        <p:nvSpPr>
          <p:cNvPr id="12" name="Rectangle 11"/>
          <p:cNvSpPr/>
          <p:nvPr/>
        </p:nvSpPr>
        <p:spPr>
          <a:xfrm>
            <a:off x="987552" y="3602736"/>
            <a:ext cx="10040112" cy="13716"/>
          </a:xfrm>
          <a:prstGeom prst="rect">
            <a:avLst/>
          </a:prstGeom>
          <a:solidFill>
            <a:srgbClr val="DCE5EF"/>
          </a:solidFill>
          <a:ln>
            <a:noFill/>
          </a:ln>
        </p:spPr>
        <p:txBody>
          <a:bodyPr rtlCol="0" anchor="ctr"/>
          <a:lstStyle/>
          <a:p>
            <a:pPr algn="ctr"/>
          </a:p>
        </p:txBody>
      </p:sp>
      <p:sp>
        <p:nvSpPr>
          <p:cNvPr id="13" name="TextBox 12"/>
          <p:cNvSpPr txBox="1"/>
          <p:nvPr/>
        </p:nvSpPr>
        <p:spPr>
          <a:xfrm>
            <a:off x="987552" y="3950208"/>
            <a:ext cx="10012680" cy="329184"/>
          </a:xfrm>
          <a:prstGeom prst="rect">
            <a:avLst/>
          </a:prstGeom>
          <a:noFill/>
        </p:spPr>
        <p:txBody>
          <a:bodyPr wrap="square" lIns="0" rIns="0" tIns="0" bIns="0">
            <a:spAutoFit/>
          </a:bodyPr>
          <a:lstStyle/>
          <a:p>
            <a:pPr algn="l">
              <a:lnSpc>
                <a:spcPct val="112000"/>
              </a:lnSpc>
              <a:spcBef>
                <a:spcPts val="0"/>
              </a:spcBef>
              <a:spcAft>
                <a:spcPts val="500"/>
              </a:spcAft>
            </a:pPr>
            <a:r>
              <a:rPr sz="1600" b="1">
                <a:solidFill>
                  <a:srgbClr val="2D6DAF"/>
                </a:solidFill>
                <a:latin typeface="Aptos"/>
              </a:rPr>
              <a:t>WORKLOAD CATEGORIES</a:t>
            </a:r>
          </a:p>
        </p:txBody>
      </p:sp>
      <p:sp>
        <p:nvSpPr>
          <p:cNvPr id="14" name="Rounded Rectangle 13"/>
          <p:cNvSpPr/>
          <p:nvPr/>
        </p:nvSpPr>
        <p:spPr>
          <a:xfrm>
            <a:off x="987552" y="4617720"/>
            <a:ext cx="3063240" cy="557784"/>
          </a:xfrm>
          <a:prstGeom prst="roundRect">
            <a:avLst>
              <a:gd name="adj" fmla="val 12000"/>
            </a:avLst>
          </a:prstGeom>
          <a:solidFill>
            <a:srgbClr val="FFFFFF"/>
          </a:solidFill>
          <a:ln w="9525">
            <a:solidFill>
              <a:srgbClr val="2D6DAF"/>
            </a:solidFill>
          </a:ln>
        </p:spPr>
        <p:txBody>
          <a:bodyPr rtlCol="0" anchor="ctr"/>
          <a:lstStyle/>
          <a:p>
            <a:pPr algn="ctr"/>
          </a:p>
        </p:txBody>
      </p:sp>
      <p:sp>
        <p:nvSpPr>
          <p:cNvPr id="15" name="TextBox 14"/>
          <p:cNvSpPr txBox="1"/>
          <p:nvPr/>
        </p:nvSpPr>
        <p:spPr>
          <a:xfrm>
            <a:off x="1097280" y="4764024"/>
            <a:ext cx="2843784" cy="374904"/>
          </a:xfrm>
          <a:prstGeom prst="rect">
            <a:avLst/>
          </a:prstGeom>
          <a:noFill/>
        </p:spPr>
        <p:txBody>
          <a:bodyPr wrap="square" lIns="0" rIns="0" tIns="0" bIns="0">
            <a:spAutoFit/>
          </a:bodyPr>
          <a:lstStyle/>
          <a:p>
            <a:pPr algn="ctr">
              <a:lnSpc>
                <a:spcPct val="112000"/>
              </a:lnSpc>
              <a:spcBef>
                <a:spcPts val="0"/>
              </a:spcBef>
              <a:spcAft>
                <a:spcPts val="500"/>
              </a:spcAft>
            </a:pPr>
            <a:r>
              <a:rPr sz="1900" b="1">
                <a:solidFill>
                  <a:srgbClr val="2D6DAF"/>
                </a:solidFill>
                <a:latin typeface="Aptos"/>
              </a:rPr>
              <a:t>Storage blocks</a:t>
            </a:r>
          </a:p>
        </p:txBody>
      </p:sp>
      <p:sp>
        <p:nvSpPr>
          <p:cNvPr id="16" name="Rounded Rectangle 15"/>
          <p:cNvSpPr/>
          <p:nvPr/>
        </p:nvSpPr>
        <p:spPr>
          <a:xfrm>
            <a:off x="4416552" y="4617720"/>
            <a:ext cx="3063240" cy="557784"/>
          </a:xfrm>
          <a:prstGeom prst="roundRect">
            <a:avLst>
              <a:gd name="adj" fmla="val 12000"/>
            </a:avLst>
          </a:prstGeom>
          <a:solidFill>
            <a:srgbClr val="FFFFFF"/>
          </a:solidFill>
          <a:ln w="9525">
            <a:solidFill>
              <a:srgbClr val="2D6DAF"/>
            </a:solidFill>
          </a:ln>
        </p:spPr>
        <p:txBody>
          <a:bodyPr rtlCol="0" anchor="ctr"/>
          <a:lstStyle/>
          <a:p>
            <a:pPr algn="ctr"/>
          </a:p>
        </p:txBody>
      </p:sp>
      <p:sp>
        <p:nvSpPr>
          <p:cNvPr id="17" name="TextBox 16"/>
          <p:cNvSpPr txBox="1"/>
          <p:nvPr/>
        </p:nvSpPr>
        <p:spPr>
          <a:xfrm>
            <a:off x="4526280" y="4764024"/>
            <a:ext cx="2843784" cy="374904"/>
          </a:xfrm>
          <a:prstGeom prst="rect">
            <a:avLst/>
          </a:prstGeom>
          <a:noFill/>
        </p:spPr>
        <p:txBody>
          <a:bodyPr wrap="square" lIns="0" rIns="0" tIns="0" bIns="0">
            <a:spAutoFit/>
          </a:bodyPr>
          <a:lstStyle/>
          <a:p>
            <a:pPr algn="ctr">
              <a:lnSpc>
                <a:spcPct val="112000"/>
              </a:lnSpc>
              <a:spcBef>
                <a:spcPts val="0"/>
              </a:spcBef>
              <a:spcAft>
                <a:spcPts val="500"/>
              </a:spcAft>
            </a:pPr>
            <a:r>
              <a:rPr sz="1900" b="1">
                <a:solidFill>
                  <a:srgbClr val="2D6DAF"/>
                </a:solidFill>
                <a:latin typeface="Aptos"/>
              </a:rPr>
              <a:t>Key-value data</a:t>
            </a:r>
          </a:p>
        </p:txBody>
      </p:sp>
      <p:sp>
        <p:nvSpPr>
          <p:cNvPr id="18" name="Rounded Rectangle 17"/>
          <p:cNvSpPr/>
          <p:nvPr/>
        </p:nvSpPr>
        <p:spPr>
          <a:xfrm>
            <a:off x="7845552" y="4617720"/>
            <a:ext cx="3063240" cy="557784"/>
          </a:xfrm>
          <a:prstGeom prst="roundRect">
            <a:avLst>
              <a:gd name="adj" fmla="val 12000"/>
            </a:avLst>
          </a:prstGeom>
          <a:solidFill>
            <a:srgbClr val="FFFFFF"/>
          </a:solidFill>
          <a:ln w="9525">
            <a:solidFill>
              <a:srgbClr val="2D6DAF"/>
            </a:solidFill>
          </a:ln>
        </p:spPr>
        <p:txBody>
          <a:bodyPr rtlCol="0" anchor="ctr"/>
          <a:lstStyle/>
          <a:p>
            <a:pPr algn="ctr"/>
          </a:p>
        </p:txBody>
      </p:sp>
      <p:sp>
        <p:nvSpPr>
          <p:cNvPr id="19" name="TextBox 18"/>
          <p:cNvSpPr txBox="1"/>
          <p:nvPr/>
        </p:nvSpPr>
        <p:spPr>
          <a:xfrm>
            <a:off x="7955279" y="4764024"/>
            <a:ext cx="2843784" cy="374904"/>
          </a:xfrm>
          <a:prstGeom prst="rect">
            <a:avLst/>
          </a:prstGeom>
          <a:noFill/>
        </p:spPr>
        <p:txBody>
          <a:bodyPr wrap="square" lIns="0" rIns="0" tIns="0" bIns="0">
            <a:spAutoFit/>
          </a:bodyPr>
          <a:lstStyle/>
          <a:p>
            <a:pPr algn="ctr">
              <a:lnSpc>
                <a:spcPct val="112000"/>
              </a:lnSpc>
              <a:spcBef>
                <a:spcPts val="0"/>
              </a:spcBef>
              <a:spcAft>
                <a:spcPts val="500"/>
              </a:spcAft>
            </a:pPr>
            <a:r>
              <a:rPr sz="1900" b="1">
                <a:solidFill>
                  <a:srgbClr val="2D6DAF"/>
                </a:solidFill>
                <a:latin typeface="Aptos"/>
              </a:rPr>
              <a:t>Web content</a:t>
            </a:r>
          </a:p>
        </p:txBody>
      </p:sp>
      <p:sp>
        <p:nvSpPr>
          <p:cNvPr id="20" name="Rounded Rectangle 19"/>
          <p:cNvSpPr/>
          <p:nvPr/>
        </p:nvSpPr>
        <p:spPr>
          <a:xfrm>
            <a:off x="731520" y="5632704"/>
            <a:ext cx="10789920" cy="475488"/>
          </a:xfrm>
          <a:prstGeom prst="roundRect">
            <a:avLst>
              <a:gd name="adj" fmla="val 12000"/>
            </a:avLst>
          </a:prstGeom>
          <a:solidFill>
            <a:srgbClr val="EAF3FF"/>
          </a:solidFill>
          <a:ln>
            <a:noFill/>
          </a:ln>
        </p:spPr>
        <p:txBody>
          <a:bodyPr rtlCol="0" anchor="ctr"/>
          <a:lstStyle/>
          <a:p>
            <a:pPr algn="ctr"/>
          </a:p>
        </p:txBody>
      </p:sp>
      <p:sp>
        <p:nvSpPr>
          <p:cNvPr id="21" name="TextBox 20"/>
          <p:cNvSpPr txBox="1"/>
          <p:nvPr/>
        </p:nvSpPr>
        <p:spPr>
          <a:xfrm>
            <a:off x="960120" y="5751576"/>
            <a:ext cx="10332720" cy="256032"/>
          </a:xfrm>
          <a:prstGeom prst="rect">
            <a:avLst/>
          </a:prstGeom>
          <a:noFill/>
        </p:spPr>
        <p:txBody>
          <a:bodyPr wrap="square" lIns="0" rIns="0" tIns="0" bIns="0">
            <a:spAutoFit/>
          </a:bodyPr>
          <a:lstStyle/>
          <a:p>
            <a:pPr algn="l">
              <a:lnSpc>
                <a:spcPct val="112000"/>
              </a:lnSpc>
              <a:spcBef>
                <a:spcPts val="0"/>
              </a:spcBef>
              <a:spcAft>
                <a:spcPts val="500"/>
              </a:spcAft>
            </a:pPr>
            <a:r>
              <a:rPr sz="1500" b="1">
                <a:solidFill>
                  <a:srgbClr val="13294B"/>
                </a:solidFill>
                <a:latin typeface="Aptos"/>
              </a:rPr>
              <a:t>All experimental results are reported by the original paper’s authors.</a:t>
            </a:r>
          </a:p>
        </p:txBody>
      </p:sp>
      <p:sp>
        <p:nvSpPr>
          <p:cNvPr id="22" name="TextBox 21"/>
          <p:cNvSpPr txBox="1"/>
          <p:nvPr/>
        </p:nvSpPr>
        <p:spPr>
          <a:xfrm>
            <a:off x="530352" y="6281928"/>
            <a:ext cx="11064240" cy="210312"/>
          </a:xfrm>
          <a:prstGeom prst="rect">
            <a:avLst/>
          </a:prstGeom>
          <a:noFill/>
        </p:spPr>
        <p:txBody>
          <a:bodyPr wrap="square" lIns="0" rIns="0" tIns="0" bIns="0">
            <a:spAutoFit/>
          </a:bodyPr>
          <a:lstStyle/>
          <a:p>
            <a:pPr algn="l">
              <a:lnSpc>
                <a:spcPct val="112000"/>
              </a:lnSpc>
              <a:spcBef>
                <a:spcPts val="0"/>
              </a:spcBef>
              <a:spcAft>
                <a:spcPts val="500"/>
              </a:spcAft>
            </a:pPr>
            <a:r>
              <a:rPr sz="919" b="0">
                <a:solidFill>
                  <a:srgbClr val="738096"/>
                </a:solidFill>
                <a:latin typeface="Aptos"/>
              </a:rPr>
              <a:t>Source: Table 1 and §5.1, Yang et al., SOSP 2023.</a:t>
            </a:r>
          </a:p>
        </p:txBody>
      </p:sp>
      <p:sp>
        <p:nvSpPr>
          <p:cNvPr id="23" name="TextBox 22"/>
          <p:cNvSpPr txBox="1"/>
          <p:nvPr/>
        </p:nvSpPr>
        <p:spPr>
          <a:xfrm>
            <a:off x="530352" y="6537960"/>
            <a:ext cx="9875520" cy="182880"/>
          </a:xfrm>
          <a:prstGeom prst="rect">
            <a:avLst/>
          </a:prstGeom>
          <a:noFill/>
        </p:spPr>
        <p:txBody>
          <a:bodyPr wrap="square" lIns="0" rIns="0" tIns="0" bIns="0">
            <a:spAutoFit/>
          </a:bodyPr>
          <a:lstStyle/>
          <a:p>
            <a:pPr algn="l">
              <a:lnSpc>
                <a:spcPct val="112000"/>
              </a:lnSpc>
              <a:spcBef>
                <a:spcPts val="0"/>
              </a:spcBef>
              <a:spcAft>
                <a:spcPts val="500"/>
              </a:spcAft>
            </a:pPr>
            <a:r>
              <a:rPr sz="850" b="0">
                <a:solidFill>
                  <a:srgbClr val="738096"/>
                </a:solidFill>
                <a:latin typeface="Aptos"/>
              </a:rPr>
              <a:t>Yang et al., SOSP 2023 · Operating Systems · Theoretical Presentation</a:t>
            </a:r>
          </a:p>
        </p:txBody>
      </p:sp>
      <p:sp>
        <p:nvSpPr>
          <p:cNvPr id="24" name="TextBox 23"/>
          <p:cNvSpPr txBox="1"/>
          <p:nvPr/>
        </p:nvSpPr>
        <p:spPr>
          <a:xfrm>
            <a:off x="10744200" y="6537960"/>
            <a:ext cx="868680" cy="182880"/>
          </a:xfrm>
          <a:prstGeom prst="rect">
            <a:avLst/>
          </a:prstGeom>
          <a:noFill/>
        </p:spPr>
        <p:txBody>
          <a:bodyPr wrap="square" lIns="0" rIns="0" tIns="0" bIns="0">
            <a:spAutoFit/>
          </a:bodyPr>
          <a:lstStyle/>
          <a:p>
            <a:pPr algn="r">
              <a:lnSpc>
                <a:spcPct val="112000"/>
              </a:lnSpc>
              <a:spcBef>
                <a:spcPts val="0"/>
              </a:spcBef>
              <a:spcAft>
                <a:spcPts val="500"/>
              </a:spcAft>
            </a:pPr>
            <a:r>
              <a:rPr sz="850" b="0">
                <a:solidFill>
                  <a:srgbClr val="738096"/>
                </a:solidFill>
                <a:latin typeface="Aptos"/>
              </a:rPr>
              <a:t>Slide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3294B"/>
          </a:solidFill>
          <a:ln>
            <a:noFill/>
          </a:ln>
        </p:spPr>
        <p:txBody>
          <a:bodyPr rtlCol="0" anchor="ctr"/>
          <a:lstStyle/>
          <a:p>
            <a:pPr algn="ctr"/>
          </a:p>
        </p:txBody>
      </p:sp>
      <p:sp>
        <p:nvSpPr>
          <p:cNvPr id="3" name="TextBox 2"/>
          <p:cNvSpPr txBox="1"/>
          <p:nvPr/>
        </p:nvSpPr>
        <p:spPr>
          <a:xfrm>
            <a:off x="457200" y="96012"/>
            <a:ext cx="5166360" cy="210312"/>
          </a:xfrm>
          <a:prstGeom prst="rect">
            <a:avLst/>
          </a:prstGeom>
          <a:noFill/>
        </p:spPr>
        <p:txBody>
          <a:bodyPr wrap="square" lIns="0" rIns="0" tIns="0" bIns="0">
            <a:spAutoFit/>
          </a:bodyPr>
          <a:lstStyle/>
          <a:p>
            <a:pPr algn="l">
              <a:lnSpc>
                <a:spcPct val="112000"/>
              </a:lnSpc>
              <a:spcBef>
                <a:spcPts val="0"/>
              </a:spcBef>
              <a:spcAft>
                <a:spcPts val="500"/>
              </a:spcAft>
            </a:pPr>
            <a:r>
              <a:rPr sz="950" b="1">
                <a:solidFill>
                  <a:srgbClr val="FFFFFF"/>
                </a:solidFill>
                <a:latin typeface="Aptos"/>
              </a:rPr>
              <a:t>Part 3 · Comparison</a:t>
            </a:r>
          </a:p>
        </p:txBody>
      </p:sp>
      <p:sp>
        <p:nvSpPr>
          <p:cNvPr id="4" name="TextBox 3"/>
          <p:cNvSpPr txBox="1"/>
          <p:nvPr/>
        </p:nvSpPr>
        <p:spPr>
          <a:xfrm>
            <a:off x="6400800" y="96012"/>
            <a:ext cx="5303520" cy="210312"/>
          </a:xfrm>
          <a:prstGeom prst="rect">
            <a:avLst/>
          </a:prstGeom>
          <a:noFill/>
        </p:spPr>
        <p:txBody>
          <a:bodyPr wrap="square" lIns="0" rIns="0" tIns="0" bIns="0">
            <a:spAutoFit/>
          </a:bodyPr>
          <a:lstStyle/>
          <a:p>
            <a:pPr algn="r">
              <a:lnSpc>
                <a:spcPct val="112000"/>
              </a:lnSpc>
              <a:spcBef>
                <a:spcPts val="0"/>
              </a:spcBef>
              <a:spcAft>
                <a:spcPts val="500"/>
              </a:spcAft>
            </a:pPr>
            <a:r>
              <a:rPr sz="950" b="0">
                <a:solidFill>
                  <a:srgbClr val="CFE8FF"/>
                </a:solidFill>
                <a:latin typeface="Aptos"/>
              </a:rPr>
              <a:t>S3-FIFO · FIFO Queues Are All You Need</a:t>
            </a:r>
          </a:p>
        </p:txBody>
      </p:sp>
      <p:sp>
        <p:nvSpPr>
          <p:cNvPr id="5" name="TextBox 4"/>
          <p:cNvSpPr txBox="1"/>
          <p:nvPr/>
        </p:nvSpPr>
        <p:spPr>
          <a:xfrm>
            <a:off x="548640" y="694944"/>
            <a:ext cx="10789920" cy="484632"/>
          </a:xfrm>
          <a:prstGeom prst="rect">
            <a:avLst/>
          </a:prstGeom>
          <a:noFill/>
        </p:spPr>
        <p:txBody>
          <a:bodyPr wrap="square" lIns="0" rIns="0" tIns="0" bIns="0">
            <a:spAutoFit/>
          </a:bodyPr>
          <a:lstStyle/>
          <a:p>
            <a:pPr algn="l">
              <a:lnSpc>
                <a:spcPct val="112000"/>
              </a:lnSpc>
              <a:spcBef>
                <a:spcPts val="0"/>
              </a:spcBef>
              <a:spcAft>
                <a:spcPts val="500"/>
              </a:spcAft>
            </a:pPr>
            <a:r>
              <a:rPr sz="2900" b="1">
                <a:solidFill>
                  <a:srgbClr val="172033"/>
                </a:solidFill>
                <a:latin typeface="Aptos Display"/>
              </a:rPr>
              <a:t>What Did the Researchers Compare?</a:t>
            </a:r>
          </a:p>
        </p:txBody>
      </p:sp>
      <p:sp>
        <p:nvSpPr>
          <p:cNvPr id="6" name="TextBox 5"/>
          <p:cNvSpPr txBox="1"/>
          <p:nvPr/>
        </p:nvSpPr>
        <p:spPr>
          <a:xfrm>
            <a:off x="566928" y="1225296"/>
            <a:ext cx="10972800" cy="338328"/>
          </a:xfrm>
          <a:prstGeom prst="rect">
            <a:avLst/>
          </a:prstGeom>
          <a:noFill/>
        </p:spPr>
        <p:txBody>
          <a:bodyPr wrap="square" lIns="0" rIns="0" tIns="0" bIns="0">
            <a:spAutoFit/>
          </a:bodyPr>
          <a:lstStyle/>
          <a:p>
            <a:pPr algn="l">
              <a:lnSpc>
                <a:spcPct val="112000"/>
              </a:lnSpc>
              <a:spcBef>
                <a:spcPts val="0"/>
              </a:spcBef>
              <a:spcAft>
                <a:spcPts val="500"/>
              </a:spcAft>
            </a:pPr>
            <a:r>
              <a:rPr sz="1400" b="0">
                <a:solidFill>
                  <a:srgbClr val="5B6472"/>
                </a:solidFill>
                <a:latin typeface="Aptos"/>
              </a:rPr>
              <a:t>S3-FIFO was compared with FIFO, LRU and other cache replacement methods.</a:t>
            </a:r>
          </a:p>
        </p:txBody>
      </p:sp>
      <p:sp>
        <p:nvSpPr>
          <p:cNvPr id="7" name="Rounded Rectangle 6"/>
          <p:cNvSpPr/>
          <p:nvPr/>
        </p:nvSpPr>
        <p:spPr>
          <a:xfrm>
            <a:off x="685800" y="1783080"/>
            <a:ext cx="10789920" cy="3630168"/>
          </a:xfrm>
          <a:prstGeom prst="roundRect">
            <a:avLst>
              <a:gd name="adj" fmla="val 12000"/>
            </a:avLst>
          </a:prstGeom>
          <a:solidFill>
            <a:srgbClr val="FFFFFF"/>
          </a:solidFill>
          <a:ln w="9525">
            <a:solidFill>
              <a:srgbClr val="DCE5EF"/>
            </a:solidFill>
          </a:ln>
        </p:spPr>
        <p:txBody>
          <a:bodyPr rtlCol="0" anchor="ctr"/>
          <a:lstStyle/>
          <a:p>
            <a:pPr algn="ctr"/>
          </a:p>
        </p:txBody>
      </p:sp>
      <p:sp>
        <p:nvSpPr>
          <p:cNvPr id="8" name="TextBox 7"/>
          <p:cNvSpPr txBox="1"/>
          <p:nvPr/>
        </p:nvSpPr>
        <p:spPr>
          <a:xfrm>
            <a:off x="987552" y="2249424"/>
            <a:ext cx="3191256" cy="640080"/>
          </a:xfrm>
          <a:prstGeom prst="rect">
            <a:avLst/>
          </a:prstGeom>
          <a:noFill/>
        </p:spPr>
        <p:txBody>
          <a:bodyPr wrap="square" lIns="0" rIns="0" tIns="0" bIns="0">
            <a:spAutoFit/>
          </a:bodyPr>
          <a:lstStyle/>
          <a:p>
            <a:pPr algn="l">
              <a:lnSpc>
                <a:spcPct val="112000"/>
              </a:lnSpc>
              <a:spcBef>
                <a:spcPts val="0"/>
              </a:spcBef>
              <a:spcAft>
                <a:spcPts val="500"/>
              </a:spcAft>
            </a:pPr>
            <a:r>
              <a:rPr sz="3400" b="1">
                <a:solidFill>
                  <a:srgbClr val="2D6DAF"/>
                </a:solidFill>
                <a:latin typeface="Aptos"/>
              </a:rPr>
              <a:t>FIFO</a:t>
            </a:r>
          </a:p>
        </p:txBody>
      </p:sp>
      <p:sp>
        <p:nvSpPr>
          <p:cNvPr id="9" name="TextBox 8"/>
          <p:cNvSpPr txBox="1"/>
          <p:nvPr/>
        </p:nvSpPr>
        <p:spPr>
          <a:xfrm>
            <a:off x="987552" y="3145536"/>
            <a:ext cx="3127248" cy="1024128"/>
          </a:xfrm>
          <a:prstGeom prst="rect">
            <a:avLst/>
          </a:prstGeom>
          <a:noFill/>
        </p:spPr>
        <p:txBody>
          <a:bodyPr wrap="square" lIns="0" rIns="0" tIns="0" bIns="0">
            <a:spAutoFit/>
          </a:bodyPr>
          <a:lstStyle/>
          <a:p>
            <a:pPr algn="l">
              <a:lnSpc>
                <a:spcPct val="112000"/>
              </a:lnSpc>
              <a:spcBef>
                <a:spcPts val="0"/>
              </a:spcBef>
              <a:spcAft>
                <a:spcPts val="500"/>
              </a:spcAft>
            </a:pPr>
            <a:r>
              <a:rPr sz="2200" b="0">
                <a:solidFill>
                  <a:srgbClr val="172033"/>
                </a:solidFill>
                <a:latin typeface="Aptos"/>
              </a:rPr>
              <a:t>Simple insertion-order eviction</a:t>
            </a:r>
          </a:p>
        </p:txBody>
      </p:sp>
      <p:sp>
        <p:nvSpPr>
          <p:cNvPr id="10" name="TextBox 9"/>
          <p:cNvSpPr txBox="1"/>
          <p:nvPr/>
        </p:nvSpPr>
        <p:spPr>
          <a:xfrm>
            <a:off x="4489704" y="2249424"/>
            <a:ext cx="3191256" cy="640080"/>
          </a:xfrm>
          <a:prstGeom prst="rect">
            <a:avLst/>
          </a:prstGeom>
          <a:noFill/>
        </p:spPr>
        <p:txBody>
          <a:bodyPr wrap="square" lIns="0" rIns="0" tIns="0" bIns="0">
            <a:spAutoFit/>
          </a:bodyPr>
          <a:lstStyle/>
          <a:p>
            <a:pPr algn="l">
              <a:lnSpc>
                <a:spcPct val="112000"/>
              </a:lnSpc>
              <a:spcBef>
                <a:spcPts val="0"/>
              </a:spcBef>
              <a:spcAft>
                <a:spcPts val="500"/>
              </a:spcAft>
            </a:pPr>
            <a:r>
              <a:rPr sz="3400" b="1">
                <a:solidFill>
                  <a:srgbClr val="238B6D"/>
                </a:solidFill>
                <a:latin typeface="Aptos"/>
              </a:rPr>
              <a:t>LRU</a:t>
            </a:r>
          </a:p>
        </p:txBody>
      </p:sp>
      <p:sp>
        <p:nvSpPr>
          <p:cNvPr id="11" name="TextBox 10"/>
          <p:cNvSpPr txBox="1"/>
          <p:nvPr/>
        </p:nvSpPr>
        <p:spPr>
          <a:xfrm>
            <a:off x="4489704" y="3145536"/>
            <a:ext cx="3127248" cy="1024128"/>
          </a:xfrm>
          <a:prstGeom prst="rect">
            <a:avLst/>
          </a:prstGeom>
          <a:noFill/>
        </p:spPr>
        <p:txBody>
          <a:bodyPr wrap="square" lIns="0" rIns="0" tIns="0" bIns="0">
            <a:spAutoFit/>
          </a:bodyPr>
          <a:lstStyle/>
          <a:p>
            <a:pPr algn="l">
              <a:lnSpc>
                <a:spcPct val="112000"/>
              </a:lnSpc>
              <a:spcBef>
                <a:spcPts val="0"/>
              </a:spcBef>
              <a:spcAft>
                <a:spcPts val="500"/>
              </a:spcAft>
            </a:pPr>
            <a:r>
              <a:rPr sz="2200" b="0">
                <a:solidFill>
                  <a:srgbClr val="172033"/>
                </a:solidFill>
                <a:latin typeface="Aptos"/>
              </a:rPr>
              <a:t>Evict the least recently used object</a:t>
            </a:r>
          </a:p>
        </p:txBody>
      </p:sp>
      <p:sp>
        <p:nvSpPr>
          <p:cNvPr id="12" name="TextBox 11"/>
          <p:cNvSpPr txBox="1"/>
          <p:nvPr/>
        </p:nvSpPr>
        <p:spPr>
          <a:xfrm>
            <a:off x="7991856" y="2249424"/>
            <a:ext cx="3191256" cy="640080"/>
          </a:xfrm>
          <a:prstGeom prst="rect">
            <a:avLst/>
          </a:prstGeom>
          <a:noFill/>
        </p:spPr>
        <p:txBody>
          <a:bodyPr wrap="square" lIns="0" rIns="0" tIns="0" bIns="0">
            <a:spAutoFit/>
          </a:bodyPr>
          <a:lstStyle/>
          <a:p>
            <a:pPr algn="l">
              <a:lnSpc>
                <a:spcPct val="112000"/>
              </a:lnSpc>
              <a:spcBef>
                <a:spcPts val="0"/>
              </a:spcBef>
              <a:spcAft>
                <a:spcPts val="500"/>
              </a:spcAft>
            </a:pPr>
            <a:r>
              <a:rPr sz="3400" b="1">
                <a:solidFill>
                  <a:srgbClr val="D9852A"/>
                </a:solidFill>
                <a:latin typeface="Aptos"/>
              </a:rPr>
              <a:t>S3-FIFO</a:t>
            </a:r>
          </a:p>
        </p:txBody>
      </p:sp>
      <p:sp>
        <p:nvSpPr>
          <p:cNvPr id="13" name="TextBox 12"/>
          <p:cNvSpPr txBox="1"/>
          <p:nvPr/>
        </p:nvSpPr>
        <p:spPr>
          <a:xfrm>
            <a:off x="7991856" y="3145536"/>
            <a:ext cx="3127248" cy="1024128"/>
          </a:xfrm>
          <a:prstGeom prst="rect">
            <a:avLst/>
          </a:prstGeom>
          <a:noFill/>
        </p:spPr>
        <p:txBody>
          <a:bodyPr wrap="square" lIns="0" rIns="0" tIns="0" bIns="0">
            <a:spAutoFit/>
          </a:bodyPr>
          <a:lstStyle/>
          <a:p>
            <a:pPr algn="l">
              <a:lnSpc>
                <a:spcPct val="112000"/>
              </a:lnSpc>
              <a:spcBef>
                <a:spcPts val="0"/>
              </a:spcBef>
              <a:spcAft>
                <a:spcPts val="500"/>
              </a:spcAft>
            </a:pPr>
            <a:r>
              <a:rPr sz="2200" b="0">
                <a:solidFill>
                  <a:srgbClr val="172033"/>
                </a:solidFill>
                <a:latin typeface="Aptos"/>
              </a:rPr>
              <a:t>Three static FIFO queues</a:t>
            </a:r>
          </a:p>
        </p:txBody>
      </p:sp>
      <p:sp>
        <p:nvSpPr>
          <p:cNvPr id="14" name="Rectangle 13"/>
          <p:cNvSpPr/>
          <p:nvPr/>
        </p:nvSpPr>
        <p:spPr>
          <a:xfrm>
            <a:off x="987552" y="4517136"/>
            <a:ext cx="10040112" cy="13716"/>
          </a:xfrm>
          <a:prstGeom prst="rect">
            <a:avLst/>
          </a:prstGeom>
          <a:solidFill>
            <a:srgbClr val="DCE5EF"/>
          </a:solidFill>
          <a:ln>
            <a:noFill/>
          </a:ln>
        </p:spPr>
        <p:txBody>
          <a:bodyPr rtlCol="0" anchor="ctr"/>
          <a:lstStyle/>
          <a:p>
            <a:pPr algn="ctr"/>
          </a:p>
        </p:txBody>
      </p:sp>
      <p:sp>
        <p:nvSpPr>
          <p:cNvPr id="15" name="TextBox 14"/>
          <p:cNvSpPr txBox="1"/>
          <p:nvPr/>
        </p:nvSpPr>
        <p:spPr>
          <a:xfrm>
            <a:off x="987552" y="4809744"/>
            <a:ext cx="10040112" cy="365760"/>
          </a:xfrm>
          <a:prstGeom prst="rect">
            <a:avLst/>
          </a:prstGeom>
          <a:noFill/>
        </p:spPr>
        <p:txBody>
          <a:bodyPr wrap="square" lIns="0" rIns="0" tIns="0" bIns="0">
            <a:spAutoFit/>
          </a:bodyPr>
          <a:lstStyle/>
          <a:p>
            <a:pPr algn="l">
              <a:lnSpc>
                <a:spcPct val="112000"/>
              </a:lnSpc>
              <a:spcBef>
                <a:spcPts val="0"/>
              </a:spcBef>
              <a:spcAft>
                <a:spcPts val="500"/>
              </a:spcAft>
            </a:pPr>
            <a:r>
              <a:rPr sz="2000" b="0">
                <a:solidFill>
                  <a:srgbClr val="5B6472"/>
                </a:solidFill>
                <a:latin typeface="Aptos"/>
              </a:rPr>
              <a:t>Other eviction policies were included in the paper’s evaluation as well.</a:t>
            </a:r>
          </a:p>
        </p:txBody>
      </p:sp>
      <p:sp>
        <p:nvSpPr>
          <p:cNvPr id="16" name="Rounded Rectangle 15"/>
          <p:cNvSpPr/>
          <p:nvPr/>
        </p:nvSpPr>
        <p:spPr>
          <a:xfrm>
            <a:off x="731520" y="5632704"/>
            <a:ext cx="10789920" cy="475488"/>
          </a:xfrm>
          <a:prstGeom prst="roundRect">
            <a:avLst>
              <a:gd name="adj" fmla="val 12000"/>
            </a:avLst>
          </a:prstGeom>
          <a:solidFill>
            <a:srgbClr val="EAF3FF"/>
          </a:solidFill>
          <a:ln>
            <a:noFill/>
          </a:ln>
        </p:spPr>
        <p:txBody>
          <a:bodyPr rtlCol="0" anchor="ctr"/>
          <a:lstStyle/>
          <a:p>
            <a:pPr algn="ctr"/>
          </a:p>
        </p:txBody>
      </p:sp>
      <p:sp>
        <p:nvSpPr>
          <p:cNvPr id="17" name="TextBox 16"/>
          <p:cNvSpPr txBox="1"/>
          <p:nvPr/>
        </p:nvSpPr>
        <p:spPr>
          <a:xfrm>
            <a:off x="960120" y="5751576"/>
            <a:ext cx="10332720" cy="256032"/>
          </a:xfrm>
          <a:prstGeom prst="rect">
            <a:avLst/>
          </a:prstGeom>
          <a:noFill/>
        </p:spPr>
        <p:txBody>
          <a:bodyPr wrap="square" lIns="0" rIns="0" tIns="0" bIns="0">
            <a:spAutoFit/>
          </a:bodyPr>
          <a:lstStyle/>
          <a:p>
            <a:pPr algn="l">
              <a:lnSpc>
                <a:spcPct val="112000"/>
              </a:lnSpc>
              <a:spcBef>
                <a:spcPts val="0"/>
              </a:spcBef>
              <a:spcAft>
                <a:spcPts val="500"/>
              </a:spcAft>
            </a:pPr>
            <a:r>
              <a:rPr sz="1500" b="1">
                <a:solidFill>
                  <a:srgbClr val="13294B"/>
                </a:solidFill>
                <a:latin typeface="Aptos"/>
              </a:rPr>
              <a:t>Compare both cache efficiency and the cost of serving requests.</a:t>
            </a:r>
          </a:p>
        </p:txBody>
      </p:sp>
      <p:sp>
        <p:nvSpPr>
          <p:cNvPr id="18" name="TextBox 17"/>
          <p:cNvSpPr txBox="1"/>
          <p:nvPr/>
        </p:nvSpPr>
        <p:spPr>
          <a:xfrm>
            <a:off x="530352" y="6281928"/>
            <a:ext cx="11064240" cy="210312"/>
          </a:xfrm>
          <a:prstGeom prst="rect">
            <a:avLst/>
          </a:prstGeom>
          <a:noFill/>
        </p:spPr>
        <p:txBody>
          <a:bodyPr wrap="square" lIns="0" rIns="0" tIns="0" bIns="0">
            <a:spAutoFit/>
          </a:bodyPr>
          <a:lstStyle/>
          <a:p>
            <a:pPr algn="l">
              <a:lnSpc>
                <a:spcPct val="112000"/>
              </a:lnSpc>
              <a:spcBef>
                <a:spcPts val="0"/>
              </a:spcBef>
              <a:spcAft>
                <a:spcPts val="500"/>
              </a:spcAft>
            </a:pPr>
            <a:r>
              <a:rPr sz="919" b="0">
                <a:solidFill>
                  <a:srgbClr val="738096"/>
                </a:solidFill>
                <a:latin typeface="Aptos"/>
              </a:rPr>
              <a:t>Source: §§5.1–5.3, Yang et al., SOSP 2023.</a:t>
            </a:r>
          </a:p>
        </p:txBody>
      </p:sp>
      <p:sp>
        <p:nvSpPr>
          <p:cNvPr id="19" name="TextBox 18"/>
          <p:cNvSpPr txBox="1"/>
          <p:nvPr/>
        </p:nvSpPr>
        <p:spPr>
          <a:xfrm>
            <a:off x="530352" y="6537960"/>
            <a:ext cx="9875520" cy="182880"/>
          </a:xfrm>
          <a:prstGeom prst="rect">
            <a:avLst/>
          </a:prstGeom>
          <a:noFill/>
        </p:spPr>
        <p:txBody>
          <a:bodyPr wrap="square" lIns="0" rIns="0" tIns="0" bIns="0">
            <a:spAutoFit/>
          </a:bodyPr>
          <a:lstStyle/>
          <a:p>
            <a:pPr algn="l">
              <a:lnSpc>
                <a:spcPct val="112000"/>
              </a:lnSpc>
              <a:spcBef>
                <a:spcPts val="0"/>
              </a:spcBef>
              <a:spcAft>
                <a:spcPts val="500"/>
              </a:spcAft>
            </a:pPr>
            <a:r>
              <a:rPr sz="850" b="0">
                <a:solidFill>
                  <a:srgbClr val="738096"/>
                </a:solidFill>
                <a:latin typeface="Aptos"/>
              </a:rPr>
              <a:t>Yang et al., SOSP 2023 · Operating Systems · Theoretical Presentation</a:t>
            </a:r>
          </a:p>
        </p:txBody>
      </p:sp>
      <p:sp>
        <p:nvSpPr>
          <p:cNvPr id="20" name="TextBox 19"/>
          <p:cNvSpPr txBox="1"/>
          <p:nvPr/>
        </p:nvSpPr>
        <p:spPr>
          <a:xfrm>
            <a:off x="10744200" y="6537960"/>
            <a:ext cx="868680" cy="182880"/>
          </a:xfrm>
          <a:prstGeom prst="rect">
            <a:avLst/>
          </a:prstGeom>
          <a:noFill/>
        </p:spPr>
        <p:txBody>
          <a:bodyPr wrap="square" lIns="0" rIns="0" tIns="0" bIns="0">
            <a:spAutoFit/>
          </a:bodyPr>
          <a:lstStyle/>
          <a:p>
            <a:pPr algn="r">
              <a:lnSpc>
                <a:spcPct val="112000"/>
              </a:lnSpc>
              <a:spcBef>
                <a:spcPts val="0"/>
              </a:spcBef>
              <a:spcAft>
                <a:spcPts val="500"/>
              </a:spcAft>
            </a:pPr>
            <a:r>
              <a:rPr sz="850" b="0">
                <a:solidFill>
                  <a:srgbClr val="738096"/>
                </a:solidFill>
                <a:latin typeface="Aptos"/>
              </a:rPr>
              <a:t>Slide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3294B"/>
          </a:solidFill>
          <a:ln>
            <a:noFill/>
          </a:ln>
        </p:spPr>
        <p:txBody>
          <a:bodyPr rtlCol="0" anchor="ctr"/>
          <a:lstStyle/>
          <a:p>
            <a:pPr algn="ctr"/>
          </a:p>
        </p:txBody>
      </p:sp>
      <p:sp>
        <p:nvSpPr>
          <p:cNvPr id="3" name="TextBox 2"/>
          <p:cNvSpPr txBox="1"/>
          <p:nvPr/>
        </p:nvSpPr>
        <p:spPr>
          <a:xfrm>
            <a:off x="457200" y="96012"/>
            <a:ext cx="5166360" cy="210312"/>
          </a:xfrm>
          <a:prstGeom prst="rect">
            <a:avLst/>
          </a:prstGeom>
          <a:noFill/>
        </p:spPr>
        <p:txBody>
          <a:bodyPr wrap="square" lIns="0" rIns="0" tIns="0" bIns="0">
            <a:spAutoFit/>
          </a:bodyPr>
          <a:lstStyle/>
          <a:p>
            <a:pPr algn="l">
              <a:lnSpc>
                <a:spcPct val="112000"/>
              </a:lnSpc>
              <a:spcBef>
                <a:spcPts val="0"/>
              </a:spcBef>
              <a:spcAft>
                <a:spcPts val="500"/>
              </a:spcAft>
            </a:pPr>
            <a:r>
              <a:rPr sz="950" b="1">
                <a:solidFill>
                  <a:srgbClr val="FFFFFF"/>
                </a:solidFill>
                <a:latin typeface="Aptos"/>
              </a:rPr>
              <a:t>Part 3 · Efficiency Metric</a:t>
            </a:r>
          </a:p>
        </p:txBody>
      </p:sp>
      <p:sp>
        <p:nvSpPr>
          <p:cNvPr id="4" name="TextBox 3"/>
          <p:cNvSpPr txBox="1"/>
          <p:nvPr/>
        </p:nvSpPr>
        <p:spPr>
          <a:xfrm>
            <a:off x="6400800" y="96012"/>
            <a:ext cx="5303520" cy="210312"/>
          </a:xfrm>
          <a:prstGeom prst="rect">
            <a:avLst/>
          </a:prstGeom>
          <a:noFill/>
        </p:spPr>
        <p:txBody>
          <a:bodyPr wrap="square" lIns="0" rIns="0" tIns="0" bIns="0">
            <a:spAutoFit/>
          </a:bodyPr>
          <a:lstStyle/>
          <a:p>
            <a:pPr algn="r">
              <a:lnSpc>
                <a:spcPct val="112000"/>
              </a:lnSpc>
              <a:spcBef>
                <a:spcPts val="0"/>
              </a:spcBef>
              <a:spcAft>
                <a:spcPts val="500"/>
              </a:spcAft>
            </a:pPr>
            <a:r>
              <a:rPr sz="950" b="0">
                <a:solidFill>
                  <a:srgbClr val="CFE8FF"/>
                </a:solidFill>
                <a:latin typeface="Aptos"/>
              </a:rPr>
              <a:t>S3-FIFO · FIFO Queues Are All You Need</a:t>
            </a:r>
          </a:p>
        </p:txBody>
      </p:sp>
      <p:sp>
        <p:nvSpPr>
          <p:cNvPr id="5" name="TextBox 4"/>
          <p:cNvSpPr txBox="1"/>
          <p:nvPr/>
        </p:nvSpPr>
        <p:spPr>
          <a:xfrm>
            <a:off x="548640" y="694944"/>
            <a:ext cx="10789920" cy="484632"/>
          </a:xfrm>
          <a:prstGeom prst="rect">
            <a:avLst/>
          </a:prstGeom>
          <a:noFill/>
        </p:spPr>
        <p:txBody>
          <a:bodyPr wrap="square" lIns="0" rIns="0" tIns="0" bIns="0">
            <a:spAutoFit/>
          </a:bodyPr>
          <a:lstStyle/>
          <a:p>
            <a:pPr algn="l">
              <a:lnSpc>
                <a:spcPct val="112000"/>
              </a:lnSpc>
              <a:spcBef>
                <a:spcPts val="0"/>
              </a:spcBef>
              <a:spcAft>
                <a:spcPts val="500"/>
              </a:spcAft>
            </a:pPr>
            <a:r>
              <a:rPr sz="2900" b="1">
                <a:solidFill>
                  <a:srgbClr val="172033"/>
                </a:solidFill>
                <a:latin typeface="Aptos Display"/>
              </a:rPr>
              <a:t>What Does Miss Ratio Mean?</a:t>
            </a:r>
          </a:p>
        </p:txBody>
      </p:sp>
      <p:sp>
        <p:nvSpPr>
          <p:cNvPr id="6" name="TextBox 5"/>
          <p:cNvSpPr txBox="1"/>
          <p:nvPr/>
        </p:nvSpPr>
        <p:spPr>
          <a:xfrm>
            <a:off x="566928" y="1225296"/>
            <a:ext cx="10972800" cy="338328"/>
          </a:xfrm>
          <a:prstGeom prst="rect">
            <a:avLst/>
          </a:prstGeom>
          <a:noFill/>
        </p:spPr>
        <p:txBody>
          <a:bodyPr wrap="square" lIns="0" rIns="0" tIns="0" bIns="0">
            <a:spAutoFit/>
          </a:bodyPr>
          <a:lstStyle/>
          <a:p>
            <a:pPr algn="l">
              <a:lnSpc>
                <a:spcPct val="112000"/>
              </a:lnSpc>
              <a:spcBef>
                <a:spcPts val="0"/>
              </a:spcBef>
              <a:spcAft>
                <a:spcPts val="500"/>
              </a:spcAft>
            </a:pPr>
            <a:r>
              <a:rPr sz="1400" b="0">
                <a:solidFill>
                  <a:srgbClr val="5B6472"/>
                </a:solidFill>
                <a:latin typeface="Aptos"/>
              </a:rPr>
              <a:t>A cache miss occurs when the requested data is not in the cache.</a:t>
            </a:r>
          </a:p>
        </p:txBody>
      </p:sp>
      <p:sp>
        <p:nvSpPr>
          <p:cNvPr id="7" name="Rounded Rectangle 6"/>
          <p:cNvSpPr/>
          <p:nvPr/>
        </p:nvSpPr>
        <p:spPr>
          <a:xfrm>
            <a:off x="685800" y="1783080"/>
            <a:ext cx="10789920" cy="3630168"/>
          </a:xfrm>
          <a:prstGeom prst="roundRect">
            <a:avLst>
              <a:gd name="adj" fmla="val 12000"/>
            </a:avLst>
          </a:prstGeom>
          <a:solidFill>
            <a:srgbClr val="FFFFFF"/>
          </a:solidFill>
          <a:ln w="9525">
            <a:solidFill>
              <a:srgbClr val="DCE5EF"/>
            </a:solidFill>
          </a:ln>
        </p:spPr>
        <p:txBody>
          <a:bodyPr rtlCol="0" anchor="ctr"/>
          <a:lstStyle/>
          <a:p>
            <a:pPr algn="ctr"/>
          </a:p>
        </p:txBody>
      </p:sp>
      <p:sp>
        <p:nvSpPr>
          <p:cNvPr id="8" name="TextBox 7"/>
          <p:cNvSpPr txBox="1"/>
          <p:nvPr/>
        </p:nvSpPr>
        <p:spPr>
          <a:xfrm>
            <a:off x="1005840" y="2148840"/>
            <a:ext cx="10040112" cy="457200"/>
          </a:xfrm>
          <a:prstGeom prst="rect">
            <a:avLst/>
          </a:prstGeom>
          <a:noFill/>
        </p:spPr>
        <p:txBody>
          <a:bodyPr wrap="square" lIns="0" rIns="0" tIns="0" bIns="0">
            <a:spAutoFit/>
          </a:bodyPr>
          <a:lstStyle/>
          <a:p>
            <a:pPr algn="l">
              <a:lnSpc>
                <a:spcPct val="112000"/>
              </a:lnSpc>
              <a:spcBef>
                <a:spcPts val="0"/>
              </a:spcBef>
              <a:spcAft>
                <a:spcPts val="500"/>
              </a:spcAft>
            </a:pPr>
            <a:r>
              <a:rPr sz="2900" b="1">
                <a:solidFill>
                  <a:srgbClr val="2D6DAF"/>
                </a:solidFill>
                <a:latin typeface="Aptos"/>
              </a:rPr>
              <a:t>Miss ratio = cache misses / total requests</a:t>
            </a:r>
          </a:p>
        </p:txBody>
      </p:sp>
      <p:sp>
        <p:nvSpPr>
          <p:cNvPr id="9" name="Rectangle 8"/>
          <p:cNvSpPr/>
          <p:nvPr/>
        </p:nvSpPr>
        <p:spPr>
          <a:xfrm>
            <a:off x="1005840" y="3017520"/>
            <a:ext cx="10040112" cy="13716"/>
          </a:xfrm>
          <a:prstGeom prst="rect">
            <a:avLst/>
          </a:prstGeom>
          <a:solidFill>
            <a:srgbClr val="DCE5EF"/>
          </a:solidFill>
          <a:ln>
            <a:noFill/>
          </a:ln>
        </p:spPr>
        <p:txBody>
          <a:bodyPr rtlCol="0" anchor="ctr"/>
          <a:lstStyle/>
          <a:p>
            <a:pPr algn="ctr"/>
          </a:p>
        </p:txBody>
      </p:sp>
      <p:sp>
        <p:nvSpPr>
          <p:cNvPr id="10" name="TextBox 9"/>
          <p:cNvSpPr txBox="1"/>
          <p:nvPr/>
        </p:nvSpPr>
        <p:spPr>
          <a:xfrm>
            <a:off x="1005840" y="3364992"/>
            <a:ext cx="10012680" cy="1572768"/>
          </a:xfrm>
          <a:prstGeom prst="rect">
            <a:avLst/>
          </a:prstGeom>
          <a:noFill/>
        </p:spPr>
        <p:txBody>
          <a:bodyPr wrap="square" lIns="0" rIns="0" tIns="0" bIns="0">
            <a:spAutoFit/>
          </a:bodyPr>
          <a:lstStyle/>
          <a:p>
            <a:pPr algn="l">
              <a:lnSpc>
                <a:spcPct val="114000"/>
              </a:lnSpc>
              <a:spcBef>
                <a:spcPts val="0"/>
              </a:spcBef>
              <a:spcAft>
                <a:spcPts val="2100"/>
              </a:spcAft>
            </a:pPr>
            <a:r>
              <a:rPr sz="2700">
                <a:solidFill>
                  <a:srgbClr val="172033"/>
                </a:solidFill>
                <a:latin typeface="Aptos"/>
              </a:rPr>
              <a:t>A lower miss ratio is better.</a:t>
            </a:r>
          </a:p>
          <a:p>
            <a:pPr>
              <a:lnSpc>
                <a:spcPct val="114000"/>
              </a:lnSpc>
              <a:spcAft>
                <a:spcPts val="2100"/>
              </a:spcAft>
            </a:pPr>
            <a:r>
              <a:rPr sz="2700">
                <a:solidFill>
                  <a:srgbClr val="172033"/>
                </a:solidFill>
                <a:latin typeface="Aptos"/>
              </a:rPr>
              <a:t>It means more requests can be served directly from the cache.</a:t>
            </a:r>
          </a:p>
        </p:txBody>
      </p:sp>
      <p:sp>
        <p:nvSpPr>
          <p:cNvPr id="11" name="Rounded Rectangle 10"/>
          <p:cNvSpPr/>
          <p:nvPr/>
        </p:nvSpPr>
        <p:spPr>
          <a:xfrm>
            <a:off x="731520" y="5632704"/>
            <a:ext cx="10789920" cy="475488"/>
          </a:xfrm>
          <a:prstGeom prst="roundRect">
            <a:avLst>
              <a:gd name="adj" fmla="val 12000"/>
            </a:avLst>
          </a:prstGeom>
          <a:solidFill>
            <a:srgbClr val="E7F6F0"/>
          </a:solidFill>
          <a:ln>
            <a:noFill/>
          </a:ln>
        </p:spPr>
        <p:txBody>
          <a:bodyPr rtlCol="0" anchor="ctr"/>
          <a:lstStyle/>
          <a:p>
            <a:pPr algn="ctr"/>
          </a:p>
        </p:txBody>
      </p:sp>
      <p:sp>
        <p:nvSpPr>
          <p:cNvPr id="12" name="TextBox 11"/>
          <p:cNvSpPr txBox="1"/>
          <p:nvPr/>
        </p:nvSpPr>
        <p:spPr>
          <a:xfrm>
            <a:off x="960120" y="5751576"/>
            <a:ext cx="10332720" cy="256032"/>
          </a:xfrm>
          <a:prstGeom prst="rect">
            <a:avLst/>
          </a:prstGeom>
          <a:noFill/>
        </p:spPr>
        <p:txBody>
          <a:bodyPr wrap="square" lIns="0" rIns="0" tIns="0" bIns="0">
            <a:spAutoFit/>
          </a:bodyPr>
          <a:lstStyle/>
          <a:p>
            <a:pPr algn="l">
              <a:lnSpc>
                <a:spcPct val="112000"/>
              </a:lnSpc>
              <a:spcBef>
                <a:spcPts val="0"/>
              </a:spcBef>
              <a:spcAft>
                <a:spcPts val="500"/>
              </a:spcAft>
            </a:pPr>
            <a:r>
              <a:rPr sz="1500" b="1">
                <a:solidFill>
                  <a:srgbClr val="238B6D"/>
                </a:solidFill>
                <a:latin typeface="Aptos"/>
              </a:rPr>
              <a:t>Miss ratio measures cache efficiency: lower is better.</a:t>
            </a:r>
          </a:p>
        </p:txBody>
      </p:sp>
      <p:sp>
        <p:nvSpPr>
          <p:cNvPr id="13" name="TextBox 12"/>
          <p:cNvSpPr txBox="1"/>
          <p:nvPr/>
        </p:nvSpPr>
        <p:spPr>
          <a:xfrm>
            <a:off x="530352" y="6281928"/>
            <a:ext cx="11064240" cy="210312"/>
          </a:xfrm>
          <a:prstGeom prst="rect">
            <a:avLst/>
          </a:prstGeom>
          <a:noFill/>
        </p:spPr>
        <p:txBody>
          <a:bodyPr wrap="square" lIns="0" rIns="0" tIns="0" bIns="0">
            <a:spAutoFit/>
          </a:bodyPr>
          <a:lstStyle/>
          <a:p>
            <a:pPr algn="l">
              <a:lnSpc>
                <a:spcPct val="112000"/>
              </a:lnSpc>
              <a:spcBef>
                <a:spcPts val="0"/>
              </a:spcBef>
              <a:spcAft>
                <a:spcPts val="500"/>
              </a:spcAft>
            </a:pPr>
            <a:r>
              <a:rPr sz="919" b="0">
                <a:solidFill>
                  <a:srgbClr val="738096"/>
                </a:solidFill>
                <a:latin typeface="Aptos"/>
              </a:rPr>
              <a:t>Source: §5.2, Yang et al., SOSP 2023.</a:t>
            </a:r>
          </a:p>
        </p:txBody>
      </p:sp>
      <p:sp>
        <p:nvSpPr>
          <p:cNvPr id="14" name="TextBox 13"/>
          <p:cNvSpPr txBox="1"/>
          <p:nvPr/>
        </p:nvSpPr>
        <p:spPr>
          <a:xfrm>
            <a:off x="530352" y="6537960"/>
            <a:ext cx="9875520" cy="182880"/>
          </a:xfrm>
          <a:prstGeom prst="rect">
            <a:avLst/>
          </a:prstGeom>
          <a:noFill/>
        </p:spPr>
        <p:txBody>
          <a:bodyPr wrap="square" lIns="0" rIns="0" tIns="0" bIns="0">
            <a:spAutoFit/>
          </a:bodyPr>
          <a:lstStyle/>
          <a:p>
            <a:pPr algn="l">
              <a:lnSpc>
                <a:spcPct val="112000"/>
              </a:lnSpc>
              <a:spcBef>
                <a:spcPts val="0"/>
              </a:spcBef>
              <a:spcAft>
                <a:spcPts val="500"/>
              </a:spcAft>
            </a:pPr>
            <a:r>
              <a:rPr sz="850" b="0">
                <a:solidFill>
                  <a:srgbClr val="738096"/>
                </a:solidFill>
                <a:latin typeface="Aptos"/>
              </a:rPr>
              <a:t>Yang et al., SOSP 2023 · Operating Systems · Theoretical Presentation</a:t>
            </a:r>
          </a:p>
        </p:txBody>
      </p:sp>
      <p:sp>
        <p:nvSpPr>
          <p:cNvPr id="15" name="TextBox 14"/>
          <p:cNvSpPr txBox="1"/>
          <p:nvPr/>
        </p:nvSpPr>
        <p:spPr>
          <a:xfrm>
            <a:off x="10744200" y="6537960"/>
            <a:ext cx="868680" cy="182880"/>
          </a:xfrm>
          <a:prstGeom prst="rect">
            <a:avLst/>
          </a:prstGeom>
          <a:noFill/>
        </p:spPr>
        <p:txBody>
          <a:bodyPr wrap="square" lIns="0" rIns="0" tIns="0" bIns="0">
            <a:spAutoFit/>
          </a:bodyPr>
          <a:lstStyle/>
          <a:p>
            <a:pPr algn="r">
              <a:lnSpc>
                <a:spcPct val="112000"/>
              </a:lnSpc>
              <a:spcBef>
                <a:spcPts val="0"/>
              </a:spcBef>
              <a:spcAft>
                <a:spcPts val="500"/>
              </a:spcAft>
            </a:pPr>
            <a:r>
              <a:rPr sz="850" b="0">
                <a:solidFill>
                  <a:srgbClr val="738096"/>
                </a:solidFill>
                <a:latin typeface="Aptos"/>
              </a:rPr>
              <a:t>Slide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3294B"/>
          </a:solidFill>
          <a:ln>
            <a:noFill/>
          </a:ln>
        </p:spPr>
        <p:txBody>
          <a:bodyPr rtlCol="0" anchor="ctr"/>
          <a:lstStyle/>
          <a:p>
            <a:pPr algn="ctr"/>
          </a:p>
        </p:txBody>
      </p:sp>
      <p:sp>
        <p:nvSpPr>
          <p:cNvPr id="3" name="TextBox 2"/>
          <p:cNvSpPr txBox="1"/>
          <p:nvPr/>
        </p:nvSpPr>
        <p:spPr>
          <a:xfrm>
            <a:off x="457200" y="96012"/>
            <a:ext cx="5166360" cy="210312"/>
          </a:xfrm>
          <a:prstGeom prst="rect">
            <a:avLst/>
          </a:prstGeom>
          <a:noFill/>
        </p:spPr>
        <p:txBody>
          <a:bodyPr wrap="square" lIns="0" rIns="0" tIns="0" bIns="0">
            <a:spAutoFit/>
          </a:bodyPr>
          <a:lstStyle/>
          <a:p>
            <a:pPr algn="l">
              <a:lnSpc>
                <a:spcPct val="112000"/>
              </a:lnSpc>
              <a:spcBef>
                <a:spcPts val="0"/>
              </a:spcBef>
              <a:spcAft>
                <a:spcPts val="500"/>
              </a:spcAft>
            </a:pPr>
            <a:r>
              <a:rPr sz="950" b="1">
                <a:solidFill>
                  <a:srgbClr val="FFFFFF"/>
                </a:solidFill>
                <a:latin typeface="Aptos"/>
              </a:rPr>
              <a:t>Part 3 · Results</a:t>
            </a:r>
          </a:p>
        </p:txBody>
      </p:sp>
      <p:sp>
        <p:nvSpPr>
          <p:cNvPr id="4" name="TextBox 3"/>
          <p:cNvSpPr txBox="1"/>
          <p:nvPr/>
        </p:nvSpPr>
        <p:spPr>
          <a:xfrm>
            <a:off x="6400800" y="96012"/>
            <a:ext cx="5303520" cy="210312"/>
          </a:xfrm>
          <a:prstGeom prst="rect">
            <a:avLst/>
          </a:prstGeom>
          <a:noFill/>
        </p:spPr>
        <p:txBody>
          <a:bodyPr wrap="square" lIns="0" rIns="0" tIns="0" bIns="0">
            <a:spAutoFit/>
          </a:bodyPr>
          <a:lstStyle/>
          <a:p>
            <a:pPr algn="r">
              <a:lnSpc>
                <a:spcPct val="112000"/>
              </a:lnSpc>
              <a:spcBef>
                <a:spcPts val="0"/>
              </a:spcBef>
              <a:spcAft>
                <a:spcPts val="500"/>
              </a:spcAft>
            </a:pPr>
            <a:r>
              <a:rPr sz="950" b="0">
                <a:solidFill>
                  <a:srgbClr val="CFE8FF"/>
                </a:solidFill>
                <a:latin typeface="Aptos"/>
              </a:rPr>
              <a:t>S3-FIFO · FIFO Queues Are All You Need</a:t>
            </a:r>
          </a:p>
        </p:txBody>
      </p:sp>
      <p:sp>
        <p:nvSpPr>
          <p:cNvPr id="5" name="TextBox 4"/>
          <p:cNvSpPr txBox="1"/>
          <p:nvPr/>
        </p:nvSpPr>
        <p:spPr>
          <a:xfrm>
            <a:off x="548640" y="694944"/>
            <a:ext cx="10789920" cy="484632"/>
          </a:xfrm>
          <a:prstGeom prst="rect">
            <a:avLst/>
          </a:prstGeom>
          <a:noFill/>
        </p:spPr>
        <p:txBody>
          <a:bodyPr wrap="square" lIns="0" rIns="0" tIns="0" bIns="0">
            <a:spAutoFit/>
          </a:bodyPr>
          <a:lstStyle/>
          <a:p>
            <a:pPr algn="l">
              <a:lnSpc>
                <a:spcPct val="112000"/>
              </a:lnSpc>
              <a:spcBef>
                <a:spcPts val="0"/>
              </a:spcBef>
              <a:spcAft>
                <a:spcPts val="500"/>
              </a:spcAft>
            </a:pPr>
            <a:r>
              <a:rPr sz="2900" b="1">
                <a:solidFill>
                  <a:srgbClr val="172033"/>
                </a:solidFill>
                <a:latin typeface="Aptos Display"/>
              </a:rPr>
              <a:t>Result 1: Cache Efficiency</a:t>
            </a:r>
          </a:p>
        </p:txBody>
      </p:sp>
      <p:sp>
        <p:nvSpPr>
          <p:cNvPr id="6" name="TextBox 5"/>
          <p:cNvSpPr txBox="1"/>
          <p:nvPr/>
        </p:nvSpPr>
        <p:spPr>
          <a:xfrm>
            <a:off x="566928" y="1225296"/>
            <a:ext cx="10972800" cy="338328"/>
          </a:xfrm>
          <a:prstGeom prst="rect">
            <a:avLst/>
          </a:prstGeom>
          <a:noFill/>
        </p:spPr>
        <p:txBody>
          <a:bodyPr wrap="square" lIns="0" rIns="0" tIns="0" bIns="0">
            <a:spAutoFit/>
          </a:bodyPr>
          <a:lstStyle/>
          <a:p>
            <a:pPr algn="l">
              <a:lnSpc>
                <a:spcPct val="112000"/>
              </a:lnSpc>
              <a:spcBef>
                <a:spcPts val="0"/>
              </a:spcBef>
              <a:spcAft>
                <a:spcPts val="500"/>
              </a:spcAft>
            </a:pPr>
            <a:r>
              <a:rPr sz="1400" b="0">
                <a:solidFill>
                  <a:srgbClr val="5B6472"/>
                </a:solidFill>
                <a:latin typeface="Aptos"/>
              </a:rPr>
              <a:t>Figure 6 compares miss-ratio reduction relative to FIFO, rather than raw miss ratios.</a:t>
            </a:r>
          </a:p>
        </p:txBody>
      </p:sp>
      <p:sp>
        <p:nvSpPr>
          <p:cNvPr id="7" name="Rounded Rectangle 6"/>
          <p:cNvSpPr/>
          <p:nvPr/>
        </p:nvSpPr>
        <p:spPr>
          <a:xfrm>
            <a:off x="685800" y="1783080"/>
            <a:ext cx="10789920" cy="2761488"/>
          </a:xfrm>
          <a:prstGeom prst="roundRect">
            <a:avLst>
              <a:gd name="adj" fmla="val 12000"/>
            </a:avLst>
          </a:prstGeom>
          <a:solidFill>
            <a:srgbClr val="FFFFFF"/>
          </a:solidFill>
          <a:ln w="9525">
            <a:solidFill>
              <a:srgbClr val="DCE5EF"/>
            </a:solidFill>
          </a:ln>
        </p:spPr>
        <p:txBody>
          <a:bodyPr rtlCol="0" anchor="ctr"/>
          <a:lstStyle/>
          <a:p>
            <a:pPr algn="ctr"/>
          </a:p>
        </p:txBody>
      </p:sp>
      <p:pic>
        <p:nvPicPr>
          <p:cNvPr id="8" name="Picture 7" descr="image.png"/>
          <p:cNvPicPr>
            <a:picLocks noChangeAspect="1"/>
          </p:cNvPicPr>
          <p:nvPr/>
        </p:nvPicPr>
        <p:blipFill>
          <a:blip r:embed="rId2"/>
          <a:stretch>
            <a:fillRect/>
          </a:stretch>
        </p:blipFill>
        <p:spPr>
          <a:xfrm>
            <a:off x="859536" y="1904251"/>
            <a:ext cx="10442448" cy="2381984"/>
          </a:xfrm>
          <a:prstGeom prst="rect">
            <a:avLst/>
          </a:prstGeom>
        </p:spPr>
      </p:pic>
      <p:sp>
        <p:nvSpPr>
          <p:cNvPr id="9" name="TextBox 8"/>
          <p:cNvSpPr txBox="1"/>
          <p:nvPr/>
        </p:nvSpPr>
        <p:spPr>
          <a:xfrm>
            <a:off x="914400" y="4297680"/>
            <a:ext cx="10287000" cy="201168"/>
          </a:xfrm>
          <a:prstGeom prst="rect">
            <a:avLst/>
          </a:prstGeom>
          <a:noFill/>
        </p:spPr>
        <p:txBody>
          <a:bodyPr wrap="square" lIns="0" rIns="0" tIns="0" bIns="0">
            <a:spAutoFit/>
          </a:bodyPr>
          <a:lstStyle/>
          <a:p>
            <a:pPr algn="l">
              <a:lnSpc>
                <a:spcPct val="112000"/>
              </a:lnSpc>
              <a:spcBef>
                <a:spcPts val="0"/>
              </a:spcBef>
              <a:spcAft>
                <a:spcPts val="500"/>
              </a:spcAft>
            </a:pPr>
            <a:r>
              <a:rPr sz="1100" b="0">
                <a:solidFill>
                  <a:srgbClr val="5B6472"/>
                </a:solidFill>
                <a:latin typeface="Aptos"/>
              </a:rPr>
              <a:t>Original Figure 6 · Miss-ratio reduction relative to FIFO: a larger reduction is better.</a:t>
            </a:r>
          </a:p>
        </p:txBody>
      </p:sp>
      <p:sp>
        <p:nvSpPr>
          <p:cNvPr id="10" name="Rounded Rectangle 9"/>
          <p:cNvSpPr/>
          <p:nvPr/>
        </p:nvSpPr>
        <p:spPr>
          <a:xfrm>
            <a:off x="731520" y="4773168"/>
            <a:ext cx="2468880" cy="585216"/>
          </a:xfrm>
          <a:prstGeom prst="roundRect">
            <a:avLst>
              <a:gd name="adj" fmla="val 12000"/>
            </a:avLst>
          </a:prstGeom>
          <a:solidFill>
            <a:srgbClr val="EAF3FF"/>
          </a:solidFill>
          <a:ln>
            <a:noFill/>
          </a:ln>
        </p:spPr>
        <p:txBody>
          <a:bodyPr rtlCol="0" anchor="ctr"/>
          <a:lstStyle/>
          <a:p>
            <a:pPr algn="ctr"/>
          </a:p>
        </p:txBody>
      </p:sp>
      <p:sp>
        <p:nvSpPr>
          <p:cNvPr id="11" name="TextBox 10"/>
          <p:cNvSpPr txBox="1"/>
          <p:nvPr/>
        </p:nvSpPr>
        <p:spPr>
          <a:xfrm>
            <a:off x="932688" y="4837176"/>
            <a:ext cx="2066543" cy="457200"/>
          </a:xfrm>
          <a:prstGeom prst="rect">
            <a:avLst/>
          </a:prstGeom>
          <a:noFill/>
        </p:spPr>
        <p:txBody>
          <a:bodyPr wrap="square" lIns="0" rIns="0" tIns="0" bIns="0">
            <a:spAutoFit/>
          </a:bodyPr>
          <a:lstStyle/>
          <a:p>
            <a:pPr algn="l">
              <a:lnSpc>
                <a:spcPct val="112000"/>
              </a:lnSpc>
              <a:spcBef>
                <a:spcPts val="0"/>
              </a:spcBef>
              <a:spcAft>
                <a:spcPts val="500"/>
              </a:spcAft>
            </a:pPr>
            <a:r>
              <a:rPr sz="2600" b="1">
                <a:solidFill>
                  <a:srgbClr val="2D6DAF"/>
                </a:solidFill>
                <a:latin typeface="Aptos"/>
              </a:rPr>
              <a:t>10 / 14</a:t>
            </a:r>
          </a:p>
        </p:txBody>
      </p:sp>
      <p:sp>
        <p:nvSpPr>
          <p:cNvPr id="12" name="TextBox 11"/>
          <p:cNvSpPr txBox="1"/>
          <p:nvPr/>
        </p:nvSpPr>
        <p:spPr>
          <a:xfrm>
            <a:off x="3447288" y="4782312"/>
            <a:ext cx="7790688" cy="585216"/>
          </a:xfrm>
          <a:prstGeom prst="rect">
            <a:avLst/>
          </a:prstGeom>
          <a:noFill/>
        </p:spPr>
        <p:txBody>
          <a:bodyPr wrap="square" lIns="0" rIns="0" tIns="0" bIns="0">
            <a:spAutoFit/>
          </a:bodyPr>
          <a:lstStyle/>
          <a:p>
            <a:pPr algn="l">
              <a:lnSpc>
                <a:spcPct val="112000"/>
              </a:lnSpc>
              <a:spcBef>
                <a:spcPts val="0"/>
              </a:spcBef>
              <a:spcAft>
                <a:spcPts val="500"/>
              </a:spcAft>
            </a:pPr>
            <a:r>
              <a:rPr sz="1800" b="1">
                <a:solidFill>
                  <a:srgbClr val="172033"/>
                </a:solidFill>
                <a:latin typeface="Aptos"/>
              </a:rPr>
              <a:t>Lowest average miss ratio in 10 of 14 datasets</a:t>
            </a:r>
          </a:p>
          <a:p>
            <a:pPr algn="l">
              <a:lnSpc>
                <a:spcPct val="112000"/>
              </a:lnSpc>
              <a:spcBef>
                <a:spcPts val="0"/>
              </a:spcBef>
              <a:spcAft>
                <a:spcPts val="500"/>
              </a:spcAft>
            </a:pPr>
            <a:r>
              <a:rPr sz="1800" b="1">
                <a:solidFill>
                  <a:srgbClr val="172033"/>
                </a:solidFill>
                <a:latin typeface="Aptos"/>
              </a:rPr>
              <a:t>with a relatively large cache.</a:t>
            </a:r>
          </a:p>
        </p:txBody>
      </p:sp>
      <p:sp>
        <p:nvSpPr>
          <p:cNvPr id="13" name="Rounded Rectangle 12"/>
          <p:cNvSpPr/>
          <p:nvPr/>
        </p:nvSpPr>
        <p:spPr>
          <a:xfrm>
            <a:off x="731520" y="5632704"/>
            <a:ext cx="10789920" cy="475488"/>
          </a:xfrm>
          <a:prstGeom prst="roundRect">
            <a:avLst>
              <a:gd name="adj" fmla="val 12000"/>
            </a:avLst>
          </a:prstGeom>
          <a:solidFill>
            <a:srgbClr val="E7F6F0"/>
          </a:solidFill>
          <a:ln>
            <a:noFill/>
          </a:ln>
        </p:spPr>
        <p:txBody>
          <a:bodyPr rtlCol="0" anchor="ctr"/>
          <a:lstStyle/>
          <a:p>
            <a:pPr algn="ctr"/>
          </a:p>
        </p:txBody>
      </p:sp>
      <p:sp>
        <p:nvSpPr>
          <p:cNvPr id="14" name="TextBox 13"/>
          <p:cNvSpPr txBox="1"/>
          <p:nvPr/>
        </p:nvSpPr>
        <p:spPr>
          <a:xfrm>
            <a:off x="960120" y="5751576"/>
            <a:ext cx="10332720" cy="256032"/>
          </a:xfrm>
          <a:prstGeom prst="rect">
            <a:avLst/>
          </a:prstGeom>
          <a:noFill/>
        </p:spPr>
        <p:txBody>
          <a:bodyPr wrap="square" lIns="0" rIns="0" tIns="0" bIns="0">
            <a:spAutoFit/>
          </a:bodyPr>
          <a:lstStyle/>
          <a:p>
            <a:pPr algn="l">
              <a:lnSpc>
                <a:spcPct val="112000"/>
              </a:lnSpc>
              <a:spcBef>
                <a:spcPts val="0"/>
              </a:spcBef>
              <a:spcAft>
                <a:spcPts val="500"/>
              </a:spcAft>
            </a:pPr>
            <a:r>
              <a:rPr sz="1500" b="1">
                <a:solidFill>
                  <a:srgbClr val="238B6D"/>
                </a:solidFill>
                <a:latin typeface="Aptos"/>
              </a:rPr>
              <a:t>S3-FIFO performs well across many workloads.</a:t>
            </a:r>
          </a:p>
        </p:txBody>
      </p:sp>
      <p:sp>
        <p:nvSpPr>
          <p:cNvPr id="15" name="TextBox 14"/>
          <p:cNvSpPr txBox="1"/>
          <p:nvPr/>
        </p:nvSpPr>
        <p:spPr>
          <a:xfrm>
            <a:off x="530352" y="6281928"/>
            <a:ext cx="11064240" cy="210312"/>
          </a:xfrm>
          <a:prstGeom prst="rect">
            <a:avLst/>
          </a:prstGeom>
          <a:noFill/>
        </p:spPr>
        <p:txBody>
          <a:bodyPr wrap="square" lIns="0" rIns="0" tIns="0" bIns="0">
            <a:spAutoFit/>
          </a:bodyPr>
          <a:lstStyle/>
          <a:p>
            <a:pPr algn="l">
              <a:lnSpc>
                <a:spcPct val="112000"/>
              </a:lnSpc>
              <a:spcBef>
                <a:spcPts val="0"/>
              </a:spcBef>
              <a:spcAft>
                <a:spcPts val="500"/>
              </a:spcAft>
            </a:pPr>
            <a:r>
              <a:rPr sz="919" b="0">
                <a:solidFill>
                  <a:srgbClr val="738096"/>
                </a:solidFill>
                <a:latin typeface="Aptos"/>
              </a:rPr>
              <a:t>Source: Figure 6 and §5.2, Yang et al., SOSP 2023. The 10/14 dataset result is reported in §5.2 / Figure 7.</a:t>
            </a:r>
          </a:p>
        </p:txBody>
      </p:sp>
      <p:sp>
        <p:nvSpPr>
          <p:cNvPr id="16" name="TextBox 15"/>
          <p:cNvSpPr txBox="1"/>
          <p:nvPr/>
        </p:nvSpPr>
        <p:spPr>
          <a:xfrm>
            <a:off x="530352" y="6537960"/>
            <a:ext cx="9875520" cy="182880"/>
          </a:xfrm>
          <a:prstGeom prst="rect">
            <a:avLst/>
          </a:prstGeom>
          <a:noFill/>
        </p:spPr>
        <p:txBody>
          <a:bodyPr wrap="square" lIns="0" rIns="0" tIns="0" bIns="0">
            <a:spAutoFit/>
          </a:bodyPr>
          <a:lstStyle/>
          <a:p>
            <a:pPr algn="l">
              <a:lnSpc>
                <a:spcPct val="112000"/>
              </a:lnSpc>
              <a:spcBef>
                <a:spcPts val="0"/>
              </a:spcBef>
              <a:spcAft>
                <a:spcPts val="500"/>
              </a:spcAft>
            </a:pPr>
            <a:r>
              <a:rPr sz="850" b="0">
                <a:solidFill>
                  <a:srgbClr val="738096"/>
                </a:solidFill>
                <a:latin typeface="Aptos"/>
              </a:rPr>
              <a:t>Yang et al., SOSP 2023 · Operating Systems · Theoretical Presentation</a:t>
            </a:r>
          </a:p>
        </p:txBody>
      </p:sp>
      <p:sp>
        <p:nvSpPr>
          <p:cNvPr id="17" name="TextBox 16"/>
          <p:cNvSpPr txBox="1"/>
          <p:nvPr/>
        </p:nvSpPr>
        <p:spPr>
          <a:xfrm>
            <a:off x="10744200" y="6537960"/>
            <a:ext cx="868680" cy="182880"/>
          </a:xfrm>
          <a:prstGeom prst="rect">
            <a:avLst/>
          </a:prstGeom>
          <a:noFill/>
        </p:spPr>
        <p:txBody>
          <a:bodyPr wrap="square" lIns="0" rIns="0" tIns="0" bIns="0">
            <a:spAutoFit/>
          </a:bodyPr>
          <a:lstStyle/>
          <a:p>
            <a:pPr algn="r">
              <a:lnSpc>
                <a:spcPct val="112000"/>
              </a:lnSpc>
              <a:spcBef>
                <a:spcPts val="0"/>
              </a:spcBef>
              <a:spcAft>
                <a:spcPts val="500"/>
              </a:spcAft>
            </a:pPr>
            <a:r>
              <a:rPr sz="850" b="0">
                <a:solidFill>
                  <a:srgbClr val="738096"/>
                </a:solidFill>
                <a:latin typeface="Aptos"/>
              </a:rPr>
              <a:t>Slide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3294B"/>
          </a:solidFill>
          <a:ln>
            <a:noFill/>
          </a:ln>
        </p:spPr>
        <p:txBody>
          <a:bodyPr rtlCol="0" anchor="ctr"/>
          <a:lstStyle/>
          <a:p>
            <a:pPr algn="ctr"/>
          </a:p>
        </p:txBody>
      </p:sp>
      <p:sp>
        <p:nvSpPr>
          <p:cNvPr id="3" name="TextBox 2"/>
          <p:cNvSpPr txBox="1"/>
          <p:nvPr/>
        </p:nvSpPr>
        <p:spPr>
          <a:xfrm>
            <a:off x="457200" y="96012"/>
            <a:ext cx="5166360" cy="210312"/>
          </a:xfrm>
          <a:prstGeom prst="rect">
            <a:avLst/>
          </a:prstGeom>
          <a:noFill/>
        </p:spPr>
        <p:txBody>
          <a:bodyPr wrap="square" lIns="0" rIns="0" tIns="0" bIns="0">
            <a:spAutoFit/>
          </a:bodyPr>
          <a:lstStyle/>
          <a:p>
            <a:pPr algn="l">
              <a:lnSpc>
                <a:spcPct val="112000"/>
              </a:lnSpc>
              <a:spcBef>
                <a:spcPts val="0"/>
              </a:spcBef>
              <a:spcAft>
                <a:spcPts val="500"/>
              </a:spcAft>
            </a:pPr>
            <a:r>
              <a:rPr sz="950" b="1">
                <a:solidFill>
                  <a:srgbClr val="FFFFFF"/>
                </a:solidFill>
                <a:latin typeface="Aptos"/>
              </a:rPr>
              <a:t>Part 3 · Throughput Metric</a:t>
            </a:r>
          </a:p>
        </p:txBody>
      </p:sp>
      <p:sp>
        <p:nvSpPr>
          <p:cNvPr id="4" name="TextBox 3"/>
          <p:cNvSpPr txBox="1"/>
          <p:nvPr/>
        </p:nvSpPr>
        <p:spPr>
          <a:xfrm>
            <a:off x="6400800" y="96012"/>
            <a:ext cx="5303520" cy="210312"/>
          </a:xfrm>
          <a:prstGeom prst="rect">
            <a:avLst/>
          </a:prstGeom>
          <a:noFill/>
        </p:spPr>
        <p:txBody>
          <a:bodyPr wrap="square" lIns="0" rIns="0" tIns="0" bIns="0">
            <a:spAutoFit/>
          </a:bodyPr>
          <a:lstStyle/>
          <a:p>
            <a:pPr algn="r">
              <a:lnSpc>
                <a:spcPct val="112000"/>
              </a:lnSpc>
              <a:spcBef>
                <a:spcPts val="0"/>
              </a:spcBef>
              <a:spcAft>
                <a:spcPts val="500"/>
              </a:spcAft>
            </a:pPr>
            <a:r>
              <a:rPr sz="950" b="0">
                <a:solidFill>
                  <a:srgbClr val="CFE8FF"/>
                </a:solidFill>
                <a:latin typeface="Aptos"/>
              </a:rPr>
              <a:t>S3-FIFO · FIFO Queues Are All You Need</a:t>
            </a:r>
          </a:p>
        </p:txBody>
      </p:sp>
      <p:sp>
        <p:nvSpPr>
          <p:cNvPr id="5" name="TextBox 4"/>
          <p:cNvSpPr txBox="1"/>
          <p:nvPr/>
        </p:nvSpPr>
        <p:spPr>
          <a:xfrm>
            <a:off x="548640" y="694944"/>
            <a:ext cx="10789920" cy="484632"/>
          </a:xfrm>
          <a:prstGeom prst="rect">
            <a:avLst/>
          </a:prstGeom>
          <a:noFill/>
        </p:spPr>
        <p:txBody>
          <a:bodyPr wrap="square" lIns="0" rIns="0" tIns="0" bIns="0">
            <a:spAutoFit/>
          </a:bodyPr>
          <a:lstStyle/>
          <a:p>
            <a:pPr algn="l">
              <a:lnSpc>
                <a:spcPct val="112000"/>
              </a:lnSpc>
              <a:spcBef>
                <a:spcPts val="0"/>
              </a:spcBef>
              <a:spcAft>
                <a:spcPts val="500"/>
              </a:spcAft>
            </a:pPr>
            <a:r>
              <a:rPr sz="2900" b="1">
                <a:solidFill>
                  <a:srgbClr val="172033"/>
                </a:solidFill>
                <a:latin typeface="Aptos Display"/>
              </a:rPr>
              <a:t>What Does Throughput Mean?</a:t>
            </a:r>
          </a:p>
        </p:txBody>
      </p:sp>
      <p:sp>
        <p:nvSpPr>
          <p:cNvPr id="6" name="TextBox 5"/>
          <p:cNvSpPr txBox="1"/>
          <p:nvPr/>
        </p:nvSpPr>
        <p:spPr>
          <a:xfrm>
            <a:off x="566928" y="1225296"/>
            <a:ext cx="10972800" cy="338328"/>
          </a:xfrm>
          <a:prstGeom prst="rect">
            <a:avLst/>
          </a:prstGeom>
          <a:noFill/>
        </p:spPr>
        <p:txBody>
          <a:bodyPr wrap="square" lIns="0" rIns="0" tIns="0" bIns="0">
            <a:spAutoFit/>
          </a:bodyPr>
          <a:lstStyle/>
          <a:p>
            <a:pPr algn="l">
              <a:lnSpc>
                <a:spcPct val="112000"/>
              </a:lnSpc>
              <a:spcBef>
                <a:spcPts val="0"/>
              </a:spcBef>
              <a:spcAft>
                <a:spcPts val="500"/>
              </a:spcAft>
            </a:pPr>
            <a:r>
              <a:rPr sz="1400" b="0">
                <a:solidFill>
                  <a:srgbClr val="5B6472"/>
                </a:solidFill>
                <a:latin typeface="Aptos"/>
              </a:rPr>
              <a:t>Throughput describes how many requests a system can handle in one second.</a:t>
            </a:r>
          </a:p>
        </p:txBody>
      </p:sp>
      <p:sp>
        <p:nvSpPr>
          <p:cNvPr id="7" name="Rounded Rectangle 6"/>
          <p:cNvSpPr/>
          <p:nvPr/>
        </p:nvSpPr>
        <p:spPr>
          <a:xfrm>
            <a:off x="685800" y="1783080"/>
            <a:ext cx="10789920" cy="3630168"/>
          </a:xfrm>
          <a:prstGeom prst="roundRect">
            <a:avLst>
              <a:gd name="adj" fmla="val 12000"/>
            </a:avLst>
          </a:prstGeom>
          <a:solidFill>
            <a:srgbClr val="FFFFFF"/>
          </a:solidFill>
          <a:ln w="9525">
            <a:solidFill>
              <a:srgbClr val="DCE5EF"/>
            </a:solidFill>
          </a:ln>
        </p:spPr>
        <p:txBody>
          <a:bodyPr rtlCol="0" anchor="ctr"/>
          <a:lstStyle/>
          <a:p>
            <a:pPr algn="ctr"/>
          </a:p>
        </p:txBody>
      </p:sp>
      <p:sp>
        <p:nvSpPr>
          <p:cNvPr id="8" name="TextBox 7"/>
          <p:cNvSpPr txBox="1"/>
          <p:nvPr/>
        </p:nvSpPr>
        <p:spPr>
          <a:xfrm>
            <a:off x="1005840" y="2148840"/>
            <a:ext cx="10040112" cy="502920"/>
          </a:xfrm>
          <a:prstGeom prst="rect">
            <a:avLst/>
          </a:prstGeom>
          <a:noFill/>
        </p:spPr>
        <p:txBody>
          <a:bodyPr wrap="square" lIns="0" rIns="0" tIns="0" bIns="0">
            <a:spAutoFit/>
          </a:bodyPr>
          <a:lstStyle/>
          <a:p>
            <a:pPr algn="l">
              <a:lnSpc>
                <a:spcPct val="112000"/>
              </a:lnSpc>
              <a:spcBef>
                <a:spcPts val="0"/>
              </a:spcBef>
              <a:spcAft>
                <a:spcPts val="500"/>
              </a:spcAft>
            </a:pPr>
            <a:r>
              <a:rPr sz="2900" b="1">
                <a:solidFill>
                  <a:srgbClr val="2D6DAF"/>
                </a:solidFill>
                <a:latin typeface="Aptos"/>
              </a:rPr>
              <a:t>Throughput = requests handled per second</a:t>
            </a:r>
          </a:p>
        </p:txBody>
      </p:sp>
      <p:sp>
        <p:nvSpPr>
          <p:cNvPr id="9" name="Rectangle 8"/>
          <p:cNvSpPr/>
          <p:nvPr/>
        </p:nvSpPr>
        <p:spPr>
          <a:xfrm>
            <a:off x="1005840" y="3017520"/>
            <a:ext cx="10040112" cy="13716"/>
          </a:xfrm>
          <a:prstGeom prst="rect">
            <a:avLst/>
          </a:prstGeom>
          <a:solidFill>
            <a:srgbClr val="DCE5EF"/>
          </a:solidFill>
          <a:ln>
            <a:noFill/>
          </a:ln>
        </p:spPr>
        <p:txBody>
          <a:bodyPr rtlCol="0" anchor="ctr"/>
          <a:lstStyle/>
          <a:p>
            <a:pPr algn="ctr"/>
          </a:p>
        </p:txBody>
      </p:sp>
      <p:sp>
        <p:nvSpPr>
          <p:cNvPr id="10" name="TextBox 9"/>
          <p:cNvSpPr txBox="1"/>
          <p:nvPr/>
        </p:nvSpPr>
        <p:spPr>
          <a:xfrm>
            <a:off x="1005840" y="3374136"/>
            <a:ext cx="10012680" cy="1481328"/>
          </a:xfrm>
          <a:prstGeom prst="rect">
            <a:avLst/>
          </a:prstGeom>
          <a:noFill/>
        </p:spPr>
        <p:txBody>
          <a:bodyPr wrap="square" lIns="0" rIns="0" tIns="0" bIns="0">
            <a:spAutoFit/>
          </a:bodyPr>
          <a:lstStyle/>
          <a:p>
            <a:pPr algn="l">
              <a:lnSpc>
                <a:spcPct val="114000"/>
              </a:lnSpc>
              <a:spcBef>
                <a:spcPts val="0"/>
              </a:spcBef>
              <a:spcAft>
                <a:spcPts val="1700"/>
              </a:spcAft>
            </a:pPr>
            <a:r>
              <a:rPr sz="2300">
                <a:solidFill>
                  <a:srgbClr val="172033"/>
                </a:solidFill>
                <a:latin typeface="Aptos"/>
              </a:rPr>
              <a:t>Higher throughput means more requests can be processed in the same time.</a:t>
            </a:r>
          </a:p>
          <a:p>
            <a:pPr>
              <a:lnSpc>
                <a:spcPct val="114000"/>
              </a:lnSpc>
              <a:spcAft>
                <a:spcPts val="1700"/>
              </a:spcAft>
            </a:pPr>
            <a:r>
              <a:rPr sz="2300">
                <a:solidFill>
                  <a:srgbClr val="172033"/>
                </a:solidFill>
                <a:latin typeface="Aptos"/>
              </a:rPr>
              <a:t>The next figure shows how throughput changes as thread count increases.</a:t>
            </a:r>
          </a:p>
        </p:txBody>
      </p:sp>
      <p:sp>
        <p:nvSpPr>
          <p:cNvPr id="11" name="Rounded Rectangle 10"/>
          <p:cNvSpPr/>
          <p:nvPr/>
        </p:nvSpPr>
        <p:spPr>
          <a:xfrm>
            <a:off x="731520" y="5632704"/>
            <a:ext cx="10789920" cy="475488"/>
          </a:xfrm>
          <a:prstGeom prst="roundRect">
            <a:avLst>
              <a:gd name="adj" fmla="val 12000"/>
            </a:avLst>
          </a:prstGeom>
          <a:solidFill>
            <a:srgbClr val="E7F6F0"/>
          </a:solidFill>
          <a:ln>
            <a:noFill/>
          </a:ln>
        </p:spPr>
        <p:txBody>
          <a:bodyPr rtlCol="0" anchor="ctr"/>
          <a:lstStyle/>
          <a:p>
            <a:pPr algn="ctr"/>
          </a:p>
        </p:txBody>
      </p:sp>
      <p:sp>
        <p:nvSpPr>
          <p:cNvPr id="12" name="TextBox 11"/>
          <p:cNvSpPr txBox="1"/>
          <p:nvPr/>
        </p:nvSpPr>
        <p:spPr>
          <a:xfrm>
            <a:off x="960120" y="5751576"/>
            <a:ext cx="10332720" cy="256032"/>
          </a:xfrm>
          <a:prstGeom prst="rect">
            <a:avLst/>
          </a:prstGeom>
          <a:noFill/>
        </p:spPr>
        <p:txBody>
          <a:bodyPr wrap="square" lIns="0" rIns="0" tIns="0" bIns="0">
            <a:spAutoFit/>
          </a:bodyPr>
          <a:lstStyle/>
          <a:p>
            <a:pPr algn="l">
              <a:lnSpc>
                <a:spcPct val="112000"/>
              </a:lnSpc>
              <a:spcBef>
                <a:spcPts val="0"/>
              </a:spcBef>
              <a:spcAft>
                <a:spcPts val="500"/>
              </a:spcAft>
            </a:pPr>
            <a:r>
              <a:rPr sz="1500" b="1">
                <a:solidFill>
                  <a:srgbClr val="238B6D"/>
                </a:solidFill>
                <a:latin typeface="Aptos"/>
              </a:rPr>
              <a:t>Throughput measures processing performance: higher is better.</a:t>
            </a:r>
          </a:p>
        </p:txBody>
      </p:sp>
      <p:sp>
        <p:nvSpPr>
          <p:cNvPr id="13" name="TextBox 12"/>
          <p:cNvSpPr txBox="1"/>
          <p:nvPr/>
        </p:nvSpPr>
        <p:spPr>
          <a:xfrm>
            <a:off x="530352" y="6281928"/>
            <a:ext cx="11064240" cy="210312"/>
          </a:xfrm>
          <a:prstGeom prst="rect">
            <a:avLst/>
          </a:prstGeom>
          <a:noFill/>
        </p:spPr>
        <p:txBody>
          <a:bodyPr wrap="square" lIns="0" rIns="0" tIns="0" bIns="0">
            <a:spAutoFit/>
          </a:bodyPr>
          <a:lstStyle/>
          <a:p>
            <a:pPr algn="l">
              <a:lnSpc>
                <a:spcPct val="112000"/>
              </a:lnSpc>
              <a:spcBef>
                <a:spcPts val="0"/>
              </a:spcBef>
              <a:spcAft>
                <a:spcPts val="500"/>
              </a:spcAft>
            </a:pPr>
            <a:r>
              <a:rPr sz="919" b="0">
                <a:solidFill>
                  <a:srgbClr val="738096"/>
                </a:solidFill>
                <a:latin typeface="Aptos"/>
              </a:rPr>
              <a:t>Source: §5.3, Yang et al., SOSP 2023.</a:t>
            </a:r>
          </a:p>
        </p:txBody>
      </p:sp>
      <p:sp>
        <p:nvSpPr>
          <p:cNvPr id="14" name="TextBox 13"/>
          <p:cNvSpPr txBox="1"/>
          <p:nvPr/>
        </p:nvSpPr>
        <p:spPr>
          <a:xfrm>
            <a:off x="530352" y="6537960"/>
            <a:ext cx="9875520" cy="182880"/>
          </a:xfrm>
          <a:prstGeom prst="rect">
            <a:avLst/>
          </a:prstGeom>
          <a:noFill/>
        </p:spPr>
        <p:txBody>
          <a:bodyPr wrap="square" lIns="0" rIns="0" tIns="0" bIns="0">
            <a:spAutoFit/>
          </a:bodyPr>
          <a:lstStyle/>
          <a:p>
            <a:pPr algn="l">
              <a:lnSpc>
                <a:spcPct val="112000"/>
              </a:lnSpc>
              <a:spcBef>
                <a:spcPts val="0"/>
              </a:spcBef>
              <a:spcAft>
                <a:spcPts val="500"/>
              </a:spcAft>
            </a:pPr>
            <a:r>
              <a:rPr sz="850" b="0">
                <a:solidFill>
                  <a:srgbClr val="738096"/>
                </a:solidFill>
                <a:latin typeface="Aptos"/>
              </a:rPr>
              <a:t>Yang et al., SOSP 2023 · Operating Systems · Theoretical Presentation</a:t>
            </a:r>
          </a:p>
        </p:txBody>
      </p:sp>
      <p:sp>
        <p:nvSpPr>
          <p:cNvPr id="15" name="TextBox 14"/>
          <p:cNvSpPr txBox="1"/>
          <p:nvPr/>
        </p:nvSpPr>
        <p:spPr>
          <a:xfrm>
            <a:off x="10744200" y="6537960"/>
            <a:ext cx="868680" cy="182880"/>
          </a:xfrm>
          <a:prstGeom prst="rect">
            <a:avLst/>
          </a:prstGeom>
          <a:noFill/>
        </p:spPr>
        <p:txBody>
          <a:bodyPr wrap="square" lIns="0" rIns="0" tIns="0" bIns="0">
            <a:spAutoFit/>
          </a:bodyPr>
          <a:lstStyle/>
          <a:p>
            <a:pPr algn="r">
              <a:lnSpc>
                <a:spcPct val="112000"/>
              </a:lnSpc>
              <a:spcBef>
                <a:spcPts val="0"/>
              </a:spcBef>
              <a:spcAft>
                <a:spcPts val="500"/>
              </a:spcAft>
            </a:pPr>
            <a:r>
              <a:rPr sz="850" b="0">
                <a:solidFill>
                  <a:srgbClr val="738096"/>
                </a:solidFill>
                <a:latin typeface="Aptos"/>
              </a:rPr>
              <a:t>Slide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3294B"/>
          </a:solidFill>
          <a:ln>
            <a:noFill/>
          </a:ln>
        </p:spPr>
        <p:txBody>
          <a:bodyPr rtlCol="0" anchor="ctr"/>
          <a:lstStyle/>
          <a:p>
            <a:pPr algn="ctr"/>
          </a:p>
        </p:txBody>
      </p:sp>
      <p:sp>
        <p:nvSpPr>
          <p:cNvPr id="3" name="TextBox 2"/>
          <p:cNvSpPr txBox="1"/>
          <p:nvPr/>
        </p:nvSpPr>
        <p:spPr>
          <a:xfrm>
            <a:off x="457200" y="96012"/>
            <a:ext cx="5166360" cy="210312"/>
          </a:xfrm>
          <a:prstGeom prst="rect">
            <a:avLst/>
          </a:prstGeom>
          <a:noFill/>
        </p:spPr>
        <p:txBody>
          <a:bodyPr wrap="square" lIns="0" rIns="0" tIns="0" bIns="0">
            <a:spAutoFit/>
          </a:bodyPr>
          <a:lstStyle/>
          <a:p>
            <a:pPr algn="l">
              <a:lnSpc>
                <a:spcPct val="112000"/>
              </a:lnSpc>
              <a:spcBef>
                <a:spcPts val="0"/>
              </a:spcBef>
              <a:spcAft>
                <a:spcPts val="500"/>
              </a:spcAft>
            </a:pPr>
            <a:r>
              <a:rPr sz="950" b="1">
                <a:solidFill>
                  <a:srgbClr val="FFFFFF"/>
                </a:solidFill>
                <a:latin typeface="Aptos"/>
              </a:rPr>
              <a:t>Part 3 · Results</a:t>
            </a:r>
          </a:p>
        </p:txBody>
      </p:sp>
      <p:sp>
        <p:nvSpPr>
          <p:cNvPr id="4" name="TextBox 3"/>
          <p:cNvSpPr txBox="1"/>
          <p:nvPr/>
        </p:nvSpPr>
        <p:spPr>
          <a:xfrm>
            <a:off x="6400800" y="96012"/>
            <a:ext cx="5303520" cy="210312"/>
          </a:xfrm>
          <a:prstGeom prst="rect">
            <a:avLst/>
          </a:prstGeom>
          <a:noFill/>
        </p:spPr>
        <p:txBody>
          <a:bodyPr wrap="square" lIns="0" rIns="0" tIns="0" bIns="0">
            <a:spAutoFit/>
          </a:bodyPr>
          <a:lstStyle/>
          <a:p>
            <a:pPr algn="r">
              <a:lnSpc>
                <a:spcPct val="112000"/>
              </a:lnSpc>
              <a:spcBef>
                <a:spcPts val="0"/>
              </a:spcBef>
              <a:spcAft>
                <a:spcPts val="500"/>
              </a:spcAft>
            </a:pPr>
            <a:r>
              <a:rPr sz="950" b="0">
                <a:solidFill>
                  <a:srgbClr val="CFE8FF"/>
                </a:solidFill>
                <a:latin typeface="Aptos"/>
              </a:rPr>
              <a:t>S3-FIFO · FIFO Queues Are All You Need</a:t>
            </a:r>
          </a:p>
        </p:txBody>
      </p:sp>
      <p:sp>
        <p:nvSpPr>
          <p:cNvPr id="5" name="TextBox 4"/>
          <p:cNvSpPr txBox="1"/>
          <p:nvPr/>
        </p:nvSpPr>
        <p:spPr>
          <a:xfrm>
            <a:off x="548640" y="694944"/>
            <a:ext cx="10789920" cy="484632"/>
          </a:xfrm>
          <a:prstGeom prst="rect">
            <a:avLst/>
          </a:prstGeom>
          <a:noFill/>
        </p:spPr>
        <p:txBody>
          <a:bodyPr wrap="square" lIns="0" rIns="0" tIns="0" bIns="0">
            <a:spAutoFit/>
          </a:bodyPr>
          <a:lstStyle/>
          <a:p>
            <a:pPr algn="l">
              <a:lnSpc>
                <a:spcPct val="112000"/>
              </a:lnSpc>
              <a:spcBef>
                <a:spcPts val="0"/>
              </a:spcBef>
              <a:spcAft>
                <a:spcPts val="500"/>
              </a:spcAft>
            </a:pPr>
            <a:r>
              <a:rPr sz="2900" b="1">
                <a:solidFill>
                  <a:srgbClr val="172033"/>
                </a:solidFill>
                <a:latin typeface="Aptos Display"/>
              </a:rPr>
              <a:t>Result 2: Throughput &amp; Scalability</a:t>
            </a:r>
          </a:p>
        </p:txBody>
      </p:sp>
      <p:sp>
        <p:nvSpPr>
          <p:cNvPr id="6" name="TextBox 5"/>
          <p:cNvSpPr txBox="1"/>
          <p:nvPr/>
        </p:nvSpPr>
        <p:spPr>
          <a:xfrm>
            <a:off x="566928" y="1225296"/>
            <a:ext cx="10972800" cy="338328"/>
          </a:xfrm>
          <a:prstGeom prst="rect">
            <a:avLst/>
          </a:prstGeom>
          <a:noFill/>
        </p:spPr>
        <p:txBody>
          <a:bodyPr wrap="square" lIns="0" rIns="0" tIns="0" bIns="0">
            <a:spAutoFit/>
          </a:bodyPr>
          <a:lstStyle/>
          <a:p>
            <a:pPr algn="l">
              <a:lnSpc>
                <a:spcPct val="112000"/>
              </a:lnSpc>
              <a:spcBef>
                <a:spcPts val="0"/>
              </a:spcBef>
              <a:spcAft>
                <a:spcPts val="500"/>
              </a:spcAft>
            </a:pPr>
            <a:r>
              <a:rPr sz="1400" b="0">
                <a:solidFill>
                  <a:srgbClr val="5B6472"/>
                </a:solidFill>
                <a:latin typeface="Aptos"/>
              </a:rPr>
              <a:t>Figure 8 compares throughput as thread count increases.</a:t>
            </a:r>
          </a:p>
        </p:txBody>
      </p:sp>
      <p:sp>
        <p:nvSpPr>
          <p:cNvPr id="7" name="Rounded Rectangle 6"/>
          <p:cNvSpPr/>
          <p:nvPr/>
        </p:nvSpPr>
        <p:spPr>
          <a:xfrm>
            <a:off x="685800" y="1783080"/>
            <a:ext cx="7461504" cy="3639312"/>
          </a:xfrm>
          <a:prstGeom prst="roundRect">
            <a:avLst>
              <a:gd name="adj" fmla="val 12000"/>
            </a:avLst>
          </a:prstGeom>
          <a:solidFill>
            <a:srgbClr val="FFFFFF"/>
          </a:solidFill>
          <a:ln w="9525">
            <a:solidFill>
              <a:srgbClr val="DCE5EF"/>
            </a:solidFill>
          </a:ln>
        </p:spPr>
        <p:txBody>
          <a:bodyPr rtlCol="0" anchor="ctr"/>
          <a:lstStyle/>
          <a:p>
            <a:pPr algn="ctr"/>
          </a:p>
        </p:txBody>
      </p:sp>
      <p:pic>
        <p:nvPicPr>
          <p:cNvPr id="8" name="Picture 7" descr="image.png"/>
          <p:cNvPicPr>
            <a:picLocks noChangeAspect="1"/>
          </p:cNvPicPr>
          <p:nvPr/>
        </p:nvPicPr>
        <p:blipFill>
          <a:blip r:embed="rId2"/>
          <a:stretch>
            <a:fillRect/>
          </a:stretch>
        </p:blipFill>
        <p:spPr>
          <a:xfrm>
            <a:off x="896112" y="1993392"/>
            <a:ext cx="7040879" cy="3017520"/>
          </a:xfrm>
          <a:prstGeom prst="rect">
            <a:avLst/>
          </a:prstGeom>
        </p:spPr>
      </p:pic>
      <p:sp>
        <p:nvSpPr>
          <p:cNvPr id="9" name="TextBox 8"/>
          <p:cNvSpPr txBox="1"/>
          <p:nvPr/>
        </p:nvSpPr>
        <p:spPr>
          <a:xfrm>
            <a:off x="914400" y="5157216"/>
            <a:ext cx="6995160" cy="201168"/>
          </a:xfrm>
          <a:prstGeom prst="rect">
            <a:avLst/>
          </a:prstGeom>
          <a:noFill/>
        </p:spPr>
        <p:txBody>
          <a:bodyPr wrap="square" lIns="0" rIns="0" tIns="0" bIns="0">
            <a:spAutoFit/>
          </a:bodyPr>
          <a:lstStyle/>
          <a:p>
            <a:pPr algn="l">
              <a:lnSpc>
                <a:spcPct val="112000"/>
              </a:lnSpc>
              <a:spcBef>
                <a:spcPts val="0"/>
              </a:spcBef>
              <a:spcAft>
                <a:spcPts val="500"/>
              </a:spcAft>
            </a:pPr>
            <a:r>
              <a:rPr sz="1100" b="0">
                <a:solidFill>
                  <a:srgbClr val="5B6472"/>
                </a:solidFill>
                <a:latin typeface="Aptos"/>
              </a:rPr>
              <a:t>Original Figure 8 · Synthetic Zipf workload (α = 1.0)</a:t>
            </a:r>
          </a:p>
        </p:txBody>
      </p:sp>
      <p:sp>
        <p:nvSpPr>
          <p:cNvPr id="10" name="Rounded Rectangle 9"/>
          <p:cNvSpPr/>
          <p:nvPr/>
        </p:nvSpPr>
        <p:spPr>
          <a:xfrm>
            <a:off x="8366760" y="1783080"/>
            <a:ext cx="3108960" cy="3639312"/>
          </a:xfrm>
          <a:prstGeom prst="roundRect">
            <a:avLst>
              <a:gd name="adj" fmla="val 12000"/>
            </a:avLst>
          </a:prstGeom>
          <a:solidFill>
            <a:srgbClr val="FFFFFF"/>
          </a:solidFill>
          <a:ln w="9525">
            <a:solidFill>
              <a:srgbClr val="DCE5EF"/>
            </a:solidFill>
          </a:ln>
        </p:spPr>
        <p:txBody>
          <a:bodyPr rtlCol="0" anchor="ctr"/>
          <a:lstStyle/>
          <a:p>
            <a:pPr algn="ctr"/>
          </a:p>
        </p:txBody>
      </p:sp>
      <p:sp>
        <p:nvSpPr>
          <p:cNvPr id="11" name="TextBox 10"/>
          <p:cNvSpPr txBox="1"/>
          <p:nvPr/>
        </p:nvSpPr>
        <p:spPr>
          <a:xfrm>
            <a:off x="8641080" y="2103120"/>
            <a:ext cx="2560320" cy="822960"/>
          </a:xfrm>
          <a:prstGeom prst="rect">
            <a:avLst/>
          </a:prstGeom>
          <a:noFill/>
        </p:spPr>
        <p:txBody>
          <a:bodyPr wrap="square" lIns="0" rIns="0" tIns="0" bIns="0">
            <a:spAutoFit/>
          </a:bodyPr>
          <a:lstStyle/>
          <a:p>
            <a:pPr algn="l">
              <a:lnSpc>
                <a:spcPct val="112000"/>
              </a:lnSpc>
              <a:spcBef>
                <a:spcPts val="0"/>
              </a:spcBef>
              <a:spcAft>
                <a:spcPts val="500"/>
              </a:spcAft>
            </a:pPr>
            <a:r>
              <a:rPr sz="4300" b="1">
                <a:solidFill>
                  <a:srgbClr val="2D6DAF"/>
                </a:solidFill>
                <a:latin typeface="Aptos"/>
              </a:rPr>
              <a:t>&gt;6×</a:t>
            </a:r>
          </a:p>
        </p:txBody>
      </p:sp>
      <p:sp>
        <p:nvSpPr>
          <p:cNvPr id="12" name="TextBox 11"/>
          <p:cNvSpPr txBox="1"/>
          <p:nvPr/>
        </p:nvSpPr>
        <p:spPr>
          <a:xfrm>
            <a:off x="8641080" y="3054096"/>
            <a:ext cx="2560320" cy="2048256"/>
          </a:xfrm>
          <a:prstGeom prst="rect">
            <a:avLst/>
          </a:prstGeom>
          <a:noFill/>
        </p:spPr>
        <p:txBody>
          <a:bodyPr wrap="square" lIns="0" rIns="0" tIns="0" bIns="0">
            <a:spAutoFit/>
          </a:bodyPr>
          <a:lstStyle/>
          <a:p>
            <a:pPr algn="l">
              <a:lnSpc>
                <a:spcPct val="114000"/>
              </a:lnSpc>
              <a:spcBef>
                <a:spcPts val="0"/>
              </a:spcBef>
              <a:spcAft>
                <a:spcPts val="1500"/>
              </a:spcAft>
            </a:pPr>
            <a:r>
              <a:rPr sz="1800">
                <a:solidFill>
                  <a:srgbClr val="172033"/>
                </a:solidFill>
                <a:latin typeface="Aptos"/>
              </a:rPr>
              <a:t>Compared with optimized LRU at 16 threads.</a:t>
            </a:r>
          </a:p>
          <a:p>
            <a:pPr>
              <a:lnSpc>
                <a:spcPct val="114000"/>
              </a:lnSpc>
              <a:spcAft>
                <a:spcPts val="1500"/>
              </a:spcAft>
            </a:pPr>
            <a:r>
              <a:rPr sz="1800">
                <a:solidFill>
                  <a:srgbClr val="172033"/>
                </a:solidFill>
                <a:latin typeface="Aptos"/>
              </a:rPr>
              <a:t>S3-FIFO scales as the number of threads grows.</a:t>
            </a:r>
          </a:p>
        </p:txBody>
      </p:sp>
      <p:sp>
        <p:nvSpPr>
          <p:cNvPr id="13" name="Rounded Rectangle 12"/>
          <p:cNvSpPr/>
          <p:nvPr/>
        </p:nvSpPr>
        <p:spPr>
          <a:xfrm>
            <a:off x="731520" y="5632704"/>
            <a:ext cx="10789920" cy="475488"/>
          </a:xfrm>
          <a:prstGeom prst="roundRect">
            <a:avLst>
              <a:gd name="adj" fmla="val 12000"/>
            </a:avLst>
          </a:prstGeom>
          <a:solidFill>
            <a:srgbClr val="E7F6F0"/>
          </a:solidFill>
          <a:ln>
            <a:noFill/>
          </a:ln>
        </p:spPr>
        <p:txBody>
          <a:bodyPr rtlCol="0" anchor="ctr"/>
          <a:lstStyle/>
          <a:p>
            <a:pPr algn="ctr"/>
          </a:p>
        </p:txBody>
      </p:sp>
      <p:sp>
        <p:nvSpPr>
          <p:cNvPr id="14" name="TextBox 13"/>
          <p:cNvSpPr txBox="1"/>
          <p:nvPr/>
        </p:nvSpPr>
        <p:spPr>
          <a:xfrm>
            <a:off x="960120" y="5751576"/>
            <a:ext cx="10332720" cy="256032"/>
          </a:xfrm>
          <a:prstGeom prst="rect">
            <a:avLst/>
          </a:prstGeom>
          <a:noFill/>
        </p:spPr>
        <p:txBody>
          <a:bodyPr wrap="square" lIns="0" rIns="0" tIns="0" bIns="0">
            <a:spAutoFit/>
          </a:bodyPr>
          <a:lstStyle/>
          <a:p>
            <a:pPr algn="l">
              <a:lnSpc>
                <a:spcPct val="112000"/>
              </a:lnSpc>
              <a:spcBef>
                <a:spcPts val="0"/>
              </a:spcBef>
              <a:spcAft>
                <a:spcPts val="500"/>
              </a:spcAft>
            </a:pPr>
            <a:r>
              <a:rPr sz="1500" b="1">
                <a:solidFill>
                  <a:srgbClr val="238B6D"/>
                </a:solidFill>
                <a:latin typeface="Aptos"/>
              </a:rPr>
              <a:t>Fewer operations on cache hits support better performance under concurrency.</a:t>
            </a:r>
          </a:p>
        </p:txBody>
      </p:sp>
      <p:sp>
        <p:nvSpPr>
          <p:cNvPr id="15" name="TextBox 14"/>
          <p:cNvSpPr txBox="1"/>
          <p:nvPr/>
        </p:nvSpPr>
        <p:spPr>
          <a:xfrm>
            <a:off x="530352" y="6281928"/>
            <a:ext cx="11064240" cy="210312"/>
          </a:xfrm>
          <a:prstGeom prst="rect">
            <a:avLst/>
          </a:prstGeom>
          <a:noFill/>
        </p:spPr>
        <p:txBody>
          <a:bodyPr wrap="square" lIns="0" rIns="0" tIns="0" bIns="0">
            <a:spAutoFit/>
          </a:bodyPr>
          <a:lstStyle/>
          <a:p>
            <a:pPr algn="l">
              <a:lnSpc>
                <a:spcPct val="112000"/>
              </a:lnSpc>
              <a:spcBef>
                <a:spcPts val="0"/>
              </a:spcBef>
              <a:spcAft>
                <a:spcPts val="500"/>
              </a:spcAft>
            </a:pPr>
            <a:r>
              <a:rPr sz="919" b="0">
                <a:solidFill>
                  <a:srgbClr val="738096"/>
                </a:solidFill>
                <a:latin typeface="Aptos"/>
              </a:rPr>
              <a:t>Source: original Figure 8 and §5.3, Yang et al., SOSP 2023. Reported authors’ experiments.</a:t>
            </a:r>
          </a:p>
        </p:txBody>
      </p:sp>
      <p:sp>
        <p:nvSpPr>
          <p:cNvPr id="16" name="TextBox 15"/>
          <p:cNvSpPr txBox="1"/>
          <p:nvPr/>
        </p:nvSpPr>
        <p:spPr>
          <a:xfrm>
            <a:off x="530352" y="6537960"/>
            <a:ext cx="9875520" cy="182880"/>
          </a:xfrm>
          <a:prstGeom prst="rect">
            <a:avLst/>
          </a:prstGeom>
          <a:noFill/>
        </p:spPr>
        <p:txBody>
          <a:bodyPr wrap="square" lIns="0" rIns="0" tIns="0" bIns="0">
            <a:spAutoFit/>
          </a:bodyPr>
          <a:lstStyle/>
          <a:p>
            <a:pPr algn="l">
              <a:lnSpc>
                <a:spcPct val="112000"/>
              </a:lnSpc>
              <a:spcBef>
                <a:spcPts val="0"/>
              </a:spcBef>
              <a:spcAft>
                <a:spcPts val="500"/>
              </a:spcAft>
            </a:pPr>
            <a:r>
              <a:rPr sz="850" b="0">
                <a:solidFill>
                  <a:srgbClr val="738096"/>
                </a:solidFill>
                <a:latin typeface="Aptos"/>
              </a:rPr>
              <a:t>Yang et al., SOSP 2023 · Operating Systems · Theoretical Presentation</a:t>
            </a:r>
          </a:p>
        </p:txBody>
      </p:sp>
      <p:sp>
        <p:nvSpPr>
          <p:cNvPr id="17" name="TextBox 16"/>
          <p:cNvSpPr txBox="1"/>
          <p:nvPr/>
        </p:nvSpPr>
        <p:spPr>
          <a:xfrm>
            <a:off x="10744200" y="6537960"/>
            <a:ext cx="868680" cy="182880"/>
          </a:xfrm>
          <a:prstGeom prst="rect">
            <a:avLst/>
          </a:prstGeom>
          <a:noFill/>
        </p:spPr>
        <p:txBody>
          <a:bodyPr wrap="square" lIns="0" rIns="0" tIns="0" bIns="0">
            <a:spAutoFit/>
          </a:bodyPr>
          <a:lstStyle/>
          <a:p>
            <a:pPr algn="r">
              <a:lnSpc>
                <a:spcPct val="112000"/>
              </a:lnSpc>
              <a:spcBef>
                <a:spcPts val="0"/>
              </a:spcBef>
              <a:spcAft>
                <a:spcPts val="500"/>
              </a:spcAft>
            </a:pPr>
            <a:r>
              <a:rPr sz="850" b="0">
                <a:solidFill>
                  <a:srgbClr val="738096"/>
                </a:solidFill>
                <a:latin typeface="Aptos"/>
              </a:rPr>
              <a:t>Slide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3294B"/>
          </a:solidFill>
          <a:ln>
            <a:noFill/>
          </a:ln>
        </p:spPr>
        <p:txBody>
          <a:bodyPr rtlCol="0" anchor="ctr"/>
          <a:lstStyle/>
          <a:p>
            <a:pPr algn="ctr"/>
          </a:p>
        </p:txBody>
      </p:sp>
      <p:sp>
        <p:nvSpPr>
          <p:cNvPr id="3" name="TextBox 2"/>
          <p:cNvSpPr txBox="1"/>
          <p:nvPr/>
        </p:nvSpPr>
        <p:spPr>
          <a:xfrm>
            <a:off x="457200" y="96012"/>
            <a:ext cx="5166360" cy="210312"/>
          </a:xfrm>
          <a:prstGeom prst="rect">
            <a:avLst/>
          </a:prstGeom>
          <a:noFill/>
        </p:spPr>
        <p:txBody>
          <a:bodyPr wrap="square" lIns="0" rIns="0" tIns="0" bIns="0">
            <a:spAutoFit/>
          </a:bodyPr>
          <a:lstStyle/>
          <a:p>
            <a:pPr algn="l">
              <a:lnSpc>
                <a:spcPct val="112000"/>
              </a:lnSpc>
              <a:spcBef>
                <a:spcPts val="0"/>
              </a:spcBef>
              <a:spcAft>
                <a:spcPts val="500"/>
              </a:spcAft>
            </a:pPr>
            <a:r>
              <a:rPr sz="950" b="1">
                <a:solidFill>
                  <a:srgbClr val="FFFFFF"/>
                </a:solidFill>
                <a:latin typeface="Aptos"/>
              </a:rPr>
              <a:t>Part 3 · Limitations</a:t>
            </a:r>
          </a:p>
        </p:txBody>
      </p:sp>
      <p:sp>
        <p:nvSpPr>
          <p:cNvPr id="4" name="TextBox 3"/>
          <p:cNvSpPr txBox="1"/>
          <p:nvPr/>
        </p:nvSpPr>
        <p:spPr>
          <a:xfrm>
            <a:off x="6400800" y="96012"/>
            <a:ext cx="5303520" cy="210312"/>
          </a:xfrm>
          <a:prstGeom prst="rect">
            <a:avLst/>
          </a:prstGeom>
          <a:noFill/>
        </p:spPr>
        <p:txBody>
          <a:bodyPr wrap="square" lIns="0" rIns="0" tIns="0" bIns="0">
            <a:spAutoFit/>
          </a:bodyPr>
          <a:lstStyle/>
          <a:p>
            <a:pPr algn="r">
              <a:lnSpc>
                <a:spcPct val="112000"/>
              </a:lnSpc>
              <a:spcBef>
                <a:spcPts val="0"/>
              </a:spcBef>
              <a:spcAft>
                <a:spcPts val="500"/>
              </a:spcAft>
            </a:pPr>
            <a:r>
              <a:rPr sz="950" b="0">
                <a:solidFill>
                  <a:srgbClr val="CFE8FF"/>
                </a:solidFill>
                <a:latin typeface="Aptos"/>
              </a:rPr>
              <a:t>S3-FIFO · FIFO Queues Are All You Need</a:t>
            </a:r>
          </a:p>
        </p:txBody>
      </p:sp>
      <p:sp>
        <p:nvSpPr>
          <p:cNvPr id="5" name="TextBox 4"/>
          <p:cNvSpPr txBox="1"/>
          <p:nvPr/>
        </p:nvSpPr>
        <p:spPr>
          <a:xfrm>
            <a:off x="548640" y="694944"/>
            <a:ext cx="10789920" cy="484632"/>
          </a:xfrm>
          <a:prstGeom prst="rect">
            <a:avLst/>
          </a:prstGeom>
          <a:noFill/>
        </p:spPr>
        <p:txBody>
          <a:bodyPr wrap="square" lIns="0" rIns="0" tIns="0" bIns="0">
            <a:spAutoFit/>
          </a:bodyPr>
          <a:lstStyle/>
          <a:p>
            <a:pPr algn="l">
              <a:lnSpc>
                <a:spcPct val="112000"/>
              </a:lnSpc>
              <a:spcBef>
                <a:spcPts val="0"/>
              </a:spcBef>
              <a:spcAft>
                <a:spcPts val="500"/>
              </a:spcAft>
            </a:pPr>
            <a:r>
              <a:rPr sz="2900" b="1">
                <a:solidFill>
                  <a:srgbClr val="172033"/>
                </a:solidFill>
                <a:latin typeface="Aptos Display"/>
              </a:rPr>
              <a:t>A Limitation: The Second Request May Arrive Late</a:t>
            </a:r>
          </a:p>
        </p:txBody>
      </p:sp>
      <p:sp>
        <p:nvSpPr>
          <p:cNvPr id="6" name="TextBox 5"/>
          <p:cNvSpPr txBox="1"/>
          <p:nvPr/>
        </p:nvSpPr>
        <p:spPr>
          <a:xfrm>
            <a:off x="566928" y="1225296"/>
            <a:ext cx="10972800" cy="338328"/>
          </a:xfrm>
          <a:prstGeom prst="rect">
            <a:avLst/>
          </a:prstGeom>
          <a:noFill/>
        </p:spPr>
        <p:txBody>
          <a:bodyPr wrap="square" lIns="0" rIns="0" tIns="0" bIns="0">
            <a:spAutoFit/>
          </a:bodyPr>
          <a:lstStyle/>
          <a:p>
            <a:pPr algn="l">
              <a:lnSpc>
                <a:spcPct val="112000"/>
              </a:lnSpc>
              <a:spcBef>
                <a:spcPts val="0"/>
              </a:spcBef>
              <a:spcAft>
                <a:spcPts val="500"/>
              </a:spcAft>
            </a:pPr>
            <a:r>
              <a:rPr sz="1400" b="0">
                <a:solidFill>
                  <a:srgbClr val="5B6472"/>
                </a:solidFill>
                <a:latin typeface="Aptos"/>
              </a:rPr>
              <a:t>Performance still depends on how users access the data.</a:t>
            </a:r>
          </a:p>
        </p:txBody>
      </p:sp>
      <p:sp>
        <p:nvSpPr>
          <p:cNvPr id="7" name="Rounded Rectangle 6"/>
          <p:cNvSpPr/>
          <p:nvPr/>
        </p:nvSpPr>
        <p:spPr>
          <a:xfrm>
            <a:off x="685800" y="1783080"/>
            <a:ext cx="10789920" cy="3630168"/>
          </a:xfrm>
          <a:prstGeom prst="roundRect">
            <a:avLst>
              <a:gd name="adj" fmla="val 12000"/>
            </a:avLst>
          </a:prstGeom>
          <a:solidFill>
            <a:srgbClr val="FFFFFF"/>
          </a:solidFill>
          <a:ln w="9525">
            <a:solidFill>
              <a:srgbClr val="DCE5EF"/>
            </a:solidFill>
          </a:ln>
        </p:spPr>
        <p:txBody>
          <a:bodyPr rtlCol="0" anchor="ctr"/>
          <a:lstStyle/>
          <a:p>
            <a:pPr algn="ctr"/>
          </a:p>
        </p:txBody>
      </p:sp>
      <p:sp>
        <p:nvSpPr>
          <p:cNvPr id="8" name="TextBox 7"/>
          <p:cNvSpPr txBox="1"/>
          <p:nvPr/>
        </p:nvSpPr>
        <p:spPr>
          <a:xfrm>
            <a:off x="1005840" y="2093976"/>
            <a:ext cx="10149840" cy="1508760"/>
          </a:xfrm>
          <a:prstGeom prst="rect">
            <a:avLst/>
          </a:prstGeom>
          <a:noFill/>
        </p:spPr>
        <p:txBody>
          <a:bodyPr wrap="square" lIns="0" rIns="0" tIns="0" bIns="0">
            <a:spAutoFit/>
          </a:bodyPr>
          <a:lstStyle/>
          <a:p>
            <a:pPr algn="l">
              <a:lnSpc>
                <a:spcPct val="114000"/>
              </a:lnSpc>
              <a:spcBef>
                <a:spcPts val="0"/>
              </a:spcBef>
              <a:spcAft>
                <a:spcPts val="1700"/>
              </a:spcAft>
            </a:pPr>
            <a:r>
              <a:rPr sz="2500">
                <a:solidFill>
                  <a:srgbClr val="172033"/>
                </a:solidFill>
                <a:latin typeface="Aptos"/>
              </a:rPr>
              <a:t>Sometimes an object is removed from the Small Queue before its second request arrives.</a:t>
            </a:r>
          </a:p>
          <a:p>
            <a:pPr>
              <a:lnSpc>
                <a:spcPct val="114000"/>
              </a:lnSpc>
              <a:spcAft>
                <a:spcPts val="1700"/>
              </a:spcAft>
            </a:pPr>
            <a:r>
              <a:rPr sz="2500">
                <a:solidFill>
                  <a:srgbClr val="172033"/>
                </a:solidFill>
                <a:latin typeface="Aptos"/>
              </a:rPr>
              <a:t>This can cause an extra cache miss.</a:t>
            </a:r>
          </a:p>
        </p:txBody>
      </p:sp>
      <p:sp>
        <p:nvSpPr>
          <p:cNvPr id="9" name="Rounded Rectangle 8"/>
          <p:cNvSpPr/>
          <p:nvPr/>
        </p:nvSpPr>
        <p:spPr>
          <a:xfrm>
            <a:off x="1042415" y="4315968"/>
            <a:ext cx="2377440" cy="658368"/>
          </a:xfrm>
          <a:prstGeom prst="roundRect">
            <a:avLst>
              <a:gd name="adj" fmla="val 12000"/>
            </a:avLst>
          </a:prstGeom>
          <a:solidFill>
            <a:srgbClr val="FFFFFF"/>
          </a:solidFill>
          <a:ln w="9525">
            <a:solidFill>
              <a:srgbClr val="D9852A"/>
            </a:solidFill>
          </a:ln>
        </p:spPr>
        <p:txBody>
          <a:bodyPr rtlCol="0" anchor="ctr"/>
          <a:lstStyle/>
          <a:p>
            <a:pPr algn="ctr"/>
          </a:p>
        </p:txBody>
      </p:sp>
      <p:sp>
        <p:nvSpPr>
          <p:cNvPr id="10" name="TextBox 9"/>
          <p:cNvSpPr txBox="1"/>
          <p:nvPr/>
        </p:nvSpPr>
        <p:spPr>
          <a:xfrm>
            <a:off x="1152143" y="4462272"/>
            <a:ext cx="2157984" cy="475488"/>
          </a:xfrm>
          <a:prstGeom prst="rect">
            <a:avLst/>
          </a:prstGeom>
          <a:noFill/>
        </p:spPr>
        <p:txBody>
          <a:bodyPr wrap="square" lIns="0" rIns="0" tIns="0" bIns="0">
            <a:spAutoFit/>
          </a:bodyPr>
          <a:lstStyle/>
          <a:p>
            <a:pPr algn="ctr">
              <a:lnSpc>
                <a:spcPct val="112000"/>
              </a:lnSpc>
              <a:spcBef>
                <a:spcPts val="0"/>
              </a:spcBef>
              <a:spcAft>
                <a:spcPts val="500"/>
              </a:spcAft>
            </a:pPr>
            <a:r>
              <a:rPr sz="1900" b="1">
                <a:solidFill>
                  <a:srgbClr val="D9852A"/>
                </a:solidFill>
                <a:latin typeface="Aptos"/>
              </a:rPr>
              <a:t>Object enters S</a:t>
            </a:r>
          </a:p>
        </p:txBody>
      </p:sp>
      <p:cxnSp>
        <p:nvCxnSpPr>
          <p:cNvPr id="11" name="Connector 10"/>
          <p:cNvCxnSpPr/>
          <p:nvPr/>
        </p:nvCxnSpPr>
        <p:spPr>
          <a:xfrm>
            <a:off x="3419856" y="4645152"/>
            <a:ext cx="457200" cy="0"/>
          </a:xfrm>
          <a:prstGeom prst="line">
            <a:avLst/>
          </a:prstGeom>
          <a:ln w="22860">
            <a:solidFill>
              <a:srgbClr val="788594"/>
            </a:solidFill>
            <a:tailEnd type="triangle"/>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877056" y="4315968"/>
            <a:ext cx="2743200" cy="658368"/>
          </a:xfrm>
          <a:prstGeom prst="roundRect">
            <a:avLst>
              <a:gd name="adj" fmla="val 12000"/>
            </a:avLst>
          </a:prstGeom>
          <a:solidFill>
            <a:srgbClr val="FFFFFF"/>
          </a:solidFill>
          <a:ln w="9525">
            <a:solidFill>
              <a:srgbClr val="788594"/>
            </a:solidFill>
          </a:ln>
        </p:spPr>
        <p:txBody>
          <a:bodyPr rtlCol="0" anchor="ctr"/>
          <a:lstStyle/>
          <a:p>
            <a:pPr algn="ctr"/>
          </a:p>
        </p:txBody>
      </p:sp>
      <p:sp>
        <p:nvSpPr>
          <p:cNvPr id="13" name="TextBox 12"/>
          <p:cNvSpPr txBox="1"/>
          <p:nvPr/>
        </p:nvSpPr>
        <p:spPr>
          <a:xfrm>
            <a:off x="3986784" y="4462272"/>
            <a:ext cx="2523744" cy="475488"/>
          </a:xfrm>
          <a:prstGeom prst="rect">
            <a:avLst/>
          </a:prstGeom>
          <a:noFill/>
        </p:spPr>
        <p:txBody>
          <a:bodyPr wrap="square" lIns="0" rIns="0" tIns="0" bIns="0">
            <a:spAutoFit/>
          </a:bodyPr>
          <a:lstStyle/>
          <a:p>
            <a:pPr algn="ctr">
              <a:lnSpc>
                <a:spcPct val="112000"/>
              </a:lnSpc>
              <a:spcBef>
                <a:spcPts val="0"/>
              </a:spcBef>
              <a:spcAft>
                <a:spcPts val="500"/>
              </a:spcAft>
            </a:pPr>
            <a:r>
              <a:rPr sz="1900" b="1">
                <a:solidFill>
                  <a:srgbClr val="788594"/>
                </a:solidFill>
                <a:latin typeface="Aptos"/>
              </a:rPr>
              <a:t>Removed from S</a:t>
            </a:r>
          </a:p>
        </p:txBody>
      </p:sp>
      <p:cxnSp>
        <p:nvCxnSpPr>
          <p:cNvPr id="14" name="Connector 13"/>
          <p:cNvCxnSpPr/>
          <p:nvPr/>
        </p:nvCxnSpPr>
        <p:spPr>
          <a:xfrm>
            <a:off x="6620256" y="4645152"/>
            <a:ext cx="457200" cy="0"/>
          </a:xfrm>
          <a:prstGeom prst="line">
            <a:avLst/>
          </a:prstGeom>
          <a:ln w="22860">
            <a:solidFill>
              <a:srgbClr val="788594"/>
            </a:solidFill>
            <a:tailEnd type="triangle"/>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7077456" y="4315968"/>
            <a:ext cx="3931920" cy="658368"/>
          </a:xfrm>
          <a:prstGeom prst="roundRect">
            <a:avLst>
              <a:gd name="adj" fmla="val 12000"/>
            </a:avLst>
          </a:prstGeom>
          <a:solidFill>
            <a:srgbClr val="FFFFFF"/>
          </a:solidFill>
          <a:ln w="9525">
            <a:solidFill>
              <a:srgbClr val="2D6DAF"/>
            </a:solidFill>
          </a:ln>
        </p:spPr>
        <p:txBody>
          <a:bodyPr rtlCol="0" anchor="ctr"/>
          <a:lstStyle/>
          <a:p>
            <a:pPr algn="ctr"/>
          </a:p>
        </p:txBody>
      </p:sp>
      <p:sp>
        <p:nvSpPr>
          <p:cNvPr id="16" name="TextBox 15"/>
          <p:cNvSpPr txBox="1"/>
          <p:nvPr/>
        </p:nvSpPr>
        <p:spPr>
          <a:xfrm>
            <a:off x="7187184" y="4462272"/>
            <a:ext cx="3712463" cy="475488"/>
          </a:xfrm>
          <a:prstGeom prst="rect">
            <a:avLst/>
          </a:prstGeom>
          <a:noFill/>
        </p:spPr>
        <p:txBody>
          <a:bodyPr wrap="square" lIns="0" rIns="0" tIns="0" bIns="0">
            <a:spAutoFit/>
          </a:bodyPr>
          <a:lstStyle/>
          <a:p>
            <a:pPr algn="ctr">
              <a:lnSpc>
                <a:spcPct val="112000"/>
              </a:lnSpc>
              <a:spcBef>
                <a:spcPts val="0"/>
              </a:spcBef>
              <a:spcAft>
                <a:spcPts val="500"/>
              </a:spcAft>
            </a:pPr>
            <a:r>
              <a:rPr sz="1900" b="1">
                <a:solidFill>
                  <a:srgbClr val="2D6DAF"/>
                </a:solidFill>
                <a:latin typeface="Aptos"/>
              </a:rPr>
              <a:t>Second request → cache miss</a:t>
            </a:r>
          </a:p>
        </p:txBody>
      </p:sp>
      <p:sp>
        <p:nvSpPr>
          <p:cNvPr id="17" name="Rounded Rectangle 16"/>
          <p:cNvSpPr/>
          <p:nvPr/>
        </p:nvSpPr>
        <p:spPr>
          <a:xfrm>
            <a:off x="731520" y="5632704"/>
            <a:ext cx="10789920" cy="475488"/>
          </a:xfrm>
          <a:prstGeom prst="roundRect">
            <a:avLst>
              <a:gd name="adj" fmla="val 12000"/>
            </a:avLst>
          </a:prstGeom>
          <a:solidFill>
            <a:srgbClr val="FFF6E2"/>
          </a:solidFill>
          <a:ln>
            <a:noFill/>
          </a:ln>
        </p:spPr>
        <p:txBody>
          <a:bodyPr rtlCol="0" anchor="ctr"/>
          <a:lstStyle/>
          <a:p>
            <a:pPr algn="ctr"/>
          </a:p>
        </p:txBody>
      </p:sp>
      <p:sp>
        <p:nvSpPr>
          <p:cNvPr id="18" name="TextBox 17"/>
          <p:cNvSpPr txBox="1"/>
          <p:nvPr/>
        </p:nvSpPr>
        <p:spPr>
          <a:xfrm>
            <a:off x="960120" y="5751576"/>
            <a:ext cx="10332720" cy="256032"/>
          </a:xfrm>
          <a:prstGeom prst="rect">
            <a:avLst/>
          </a:prstGeom>
          <a:noFill/>
        </p:spPr>
        <p:txBody>
          <a:bodyPr wrap="square" lIns="0" rIns="0" tIns="0" bIns="0">
            <a:spAutoFit/>
          </a:bodyPr>
          <a:lstStyle/>
          <a:p>
            <a:pPr algn="l">
              <a:lnSpc>
                <a:spcPct val="112000"/>
              </a:lnSpc>
              <a:spcBef>
                <a:spcPts val="0"/>
              </a:spcBef>
              <a:spcAft>
                <a:spcPts val="500"/>
              </a:spcAft>
            </a:pPr>
            <a:r>
              <a:rPr sz="1500" b="1">
                <a:solidFill>
                  <a:srgbClr val="946812"/>
                </a:solidFill>
                <a:latin typeface="Aptos"/>
              </a:rPr>
              <a:t>Quick demotion is useful, but a late reuse can still cause an additional miss.</a:t>
            </a:r>
          </a:p>
        </p:txBody>
      </p:sp>
      <p:sp>
        <p:nvSpPr>
          <p:cNvPr id="19" name="TextBox 18"/>
          <p:cNvSpPr txBox="1"/>
          <p:nvPr/>
        </p:nvSpPr>
        <p:spPr>
          <a:xfrm>
            <a:off x="530352" y="6281928"/>
            <a:ext cx="11064240" cy="210312"/>
          </a:xfrm>
          <a:prstGeom prst="rect">
            <a:avLst/>
          </a:prstGeom>
          <a:noFill/>
        </p:spPr>
        <p:txBody>
          <a:bodyPr wrap="square" lIns="0" rIns="0" tIns="0" bIns="0">
            <a:spAutoFit/>
          </a:bodyPr>
          <a:lstStyle/>
          <a:p>
            <a:pPr algn="l">
              <a:lnSpc>
                <a:spcPct val="112000"/>
              </a:lnSpc>
              <a:spcBef>
                <a:spcPts val="0"/>
              </a:spcBef>
              <a:spcAft>
                <a:spcPts val="500"/>
              </a:spcAft>
            </a:pPr>
            <a:r>
              <a:rPr sz="919" b="0">
                <a:solidFill>
                  <a:srgbClr val="738096"/>
                </a:solidFill>
                <a:latin typeface="Aptos"/>
              </a:rPr>
              <a:t>Source: §5.2, Yang et al., SOSP 2023.</a:t>
            </a:r>
          </a:p>
        </p:txBody>
      </p:sp>
      <p:sp>
        <p:nvSpPr>
          <p:cNvPr id="20" name="TextBox 19"/>
          <p:cNvSpPr txBox="1"/>
          <p:nvPr/>
        </p:nvSpPr>
        <p:spPr>
          <a:xfrm>
            <a:off x="530352" y="6537960"/>
            <a:ext cx="9875520" cy="182880"/>
          </a:xfrm>
          <a:prstGeom prst="rect">
            <a:avLst/>
          </a:prstGeom>
          <a:noFill/>
        </p:spPr>
        <p:txBody>
          <a:bodyPr wrap="square" lIns="0" rIns="0" tIns="0" bIns="0">
            <a:spAutoFit/>
          </a:bodyPr>
          <a:lstStyle/>
          <a:p>
            <a:pPr algn="l">
              <a:lnSpc>
                <a:spcPct val="112000"/>
              </a:lnSpc>
              <a:spcBef>
                <a:spcPts val="0"/>
              </a:spcBef>
              <a:spcAft>
                <a:spcPts val="500"/>
              </a:spcAft>
            </a:pPr>
            <a:r>
              <a:rPr sz="850" b="0">
                <a:solidFill>
                  <a:srgbClr val="738096"/>
                </a:solidFill>
                <a:latin typeface="Aptos"/>
              </a:rPr>
              <a:t>Yang et al., SOSP 2023 · Operating Systems · Theoretical Presentation</a:t>
            </a:r>
          </a:p>
        </p:txBody>
      </p:sp>
      <p:sp>
        <p:nvSpPr>
          <p:cNvPr id="21" name="TextBox 20"/>
          <p:cNvSpPr txBox="1"/>
          <p:nvPr/>
        </p:nvSpPr>
        <p:spPr>
          <a:xfrm>
            <a:off x="10744200" y="6537960"/>
            <a:ext cx="868680" cy="182880"/>
          </a:xfrm>
          <a:prstGeom prst="rect">
            <a:avLst/>
          </a:prstGeom>
          <a:noFill/>
        </p:spPr>
        <p:txBody>
          <a:bodyPr wrap="square" lIns="0" rIns="0" tIns="0" bIns="0">
            <a:spAutoFit/>
          </a:bodyPr>
          <a:lstStyle/>
          <a:p>
            <a:pPr algn="r">
              <a:lnSpc>
                <a:spcPct val="112000"/>
              </a:lnSpc>
              <a:spcBef>
                <a:spcPts val="0"/>
              </a:spcBef>
              <a:spcAft>
                <a:spcPts val="500"/>
              </a:spcAft>
            </a:pPr>
            <a:r>
              <a:rPr sz="850" b="0">
                <a:solidFill>
                  <a:srgbClr val="738096"/>
                </a:solidFill>
                <a:latin typeface="Aptos"/>
              </a:rPr>
              <a:t>Slide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3294B"/>
        </a:solidFill>
        <a:effectLst/>
      </p:bgPr>
    </p:bg>
    <p:spTree>
      <p:nvGrpSpPr>
        <p:cNvPr id="1" name=""/>
        <p:cNvGrpSpPr/>
        <p:nvPr/>
      </p:nvGrpSpPr>
      <p:grpSpPr/>
      <p:sp>
        <p:nvSpPr>
          <p:cNvPr id="2" name="TextBox 1"/>
          <p:cNvSpPr txBox="1"/>
          <p:nvPr/>
        </p:nvSpPr>
        <p:spPr>
          <a:xfrm>
            <a:off x="731520" y="777240"/>
            <a:ext cx="9144000" cy="411480"/>
          </a:xfrm>
          <a:prstGeom prst="rect">
            <a:avLst/>
          </a:prstGeom>
          <a:noFill/>
        </p:spPr>
        <p:txBody>
          <a:bodyPr wrap="square" lIns="0" rIns="0" tIns="0" bIns="0">
            <a:spAutoFit/>
          </a:bodyPr>
          <a:lstStyle/>
          <a:p>
            <a:pPr algn="l">
              <a:lnSpc>
                <a:spcPct val="112000"/>
              </a:lnSpc>
              <a:spcBef>
                <a:spcPts val="0"/>
              </a:spcBef>
              <a:spcAft>
                <a:spcPts val="500"/>
              </a:spcAft>
            </a:pPr>
            <a:r>
              <a:rPr sz="2400" b="1">
                <a:solidFill>
                  <a:srgbClr val="F5B841"/>
                </a:solidFill>
                <a:latin typeface="Aptos"/>
              </a:rPr>
              <a:t>Final Takeaway</a:t>
            </a:r>
          </a:p>
        </p:txBody>
      </p:sp>
      <p:sp>
        <p:nvSpPr>
          <p:cNvPr id="3" name="TextBox 2"/>
          <p:cNvSpPr txBox="1"/>
          <p:nvPr/>
        </p:nvSpPr>
        <p:spPr>
          <a:xfrm>
            <a:off x="731520" y="1673352"/>
            <a:ext cx="10698480" cy="1325880"/>
          </a:xfrm>
          <a:prstGeom prst="rect">
            <a:avLst/>
          </a:prstGeom>
          <a:noFill/>
        </p:spPr>
        <p:txBody>
          <a:bodyPr wrap="square" lIns="0" rIns="0" tIns="0" bIns="0">
            <a:spAutoFit/>
          </a:bodyPr>
          <a:lstStyle/>
          <a:p>
            <a:pPr algn="l">
              <a:lnSpc>
                <a:spcPct val="112000"/>
              </a:lnSpc>
              <a:spcBef>
                <a:spcPts val="0"/>
              </a:spcBef>
              <a:spcAft>
                <a:spcPts val="500"/>
              </a:spcAft>
            </a:pPr>
            <a:r>
              <a:rPr sz="3400" b="1">
                <a:solidFill>
                  <a:srgbClr val="FFFFFF"/>
                </a:solidFill>
                <a:latin typeface="Aptos Display"/>
              </a:rPr>
              <a:t>A simple cache algorithm can still</a:t>
            </a:r>
          </a:p>
          <a:p>
            <a:pPr algn="l">
              <a:lnSpc>
                <a:spcPct val="112000"/>
              </a:lnSpc>
              <a:spcBef>
                <a:spcPts val="0"/>
              </a:spcBef>
              <a:spcAft>
                <a:spcPts val="500"/>
              </a:spcAft>
            </a:pPr>
            <a:r>
              <a:rPr sz="3400" b="1">
                <a:solidFill>
                  <a:srgbClr val="FFFFFF"/>
                </a:solidFill>
                <a:latin typeface="Aptos Display"/>
              </a:rPr>
              <a:t>deliver strong performance.</a:t>
            </a:r>
          </a:p>
        </p:txBody>
      </p:sp>
      <p:sp>
        <p:nvSpPr>
          <p:cNvPr id="4" name="TextBox 3"/>
          <p:cNvSpPr txBox="1"/>
          <p:nvPr/>
        </p:nvSpPr>
        <p:spPr>
          <a:xfrm>
            <a:off x="768096" y="3227832"/>
            <a:ext cx="10561320" cy="914400"/>
          </a:xfrm>
          <a:prstGeom prst="rect">
            <a:avLst/>
          </a:prstGeom>
          <a:noFill/>
        </p:spPr>
        <p:txBody>
          <a:bodyPr wrap="square" lIns="0" rIns="0" tIns="0" bIns="0">
            <a:spAutoFit/>
          </a:bodyPr>
          <a:lstStyle/>
          <a:p>
            <a:pPr algn="l">
              <a:lnSpc>
                <a:spcPct val="112000"/>
              </a:lnSpc>
              <a:spcBef>
                <a:spcPts val="0"/>
              </a:spcBef>
              <a:spcAft>
                <a:spcPts val="500"/>
              </a:spcAft>
            </a:pPr>
            <a:r>
              <a:rPr sz="2300" b="0">
                <a:solidFill>
                  <a:srgbClr val="BED6F0"/>
                </a:solidFill>
                <a:latin typeface="Aptos"/>
              </a:rPr>
              <a:t>Three FIFO queues remove less useful data quickly</a:t>
            </a:r>
          </a:p>
          <a:p>
            <a:pPr algn="l">
              <a:lnSpc>
                <a:spcPct val="112000"/>
              </a:lnSpc>
              <a:spcBef>
                <a:spcPts val="0"/>
              </a:spcBef>
              <a:spcAft>
                <a:spcPts val="500"/>
              </a:spcAft>
            </a:pPr>
            <a:r>
              <a:rPr sz="2300" b="0">
                <a:solidFill>
                  <a:srgbClr val="BED6F0"/>
                </a:solidFill>
                <a:latin typeface="Aptos"/>
              </a:rPr>
              <a:t>while keeping useful data for longer.</a:t>
            </a:r>
          </a:p>
        </p:txBody>
      </p:sp>
      <p:sp>
        <p:nvSpPr>
          <p:cNvPr id="5" name="TextBox 4"/>
          <p:cNvSpPr txBox="1"/>
          <p:nvPr/>
        </p:nvSpPr>
        <p:spPr>
          <a:xfrm>
            <a:off x="768096" y="4434840"/>
            <a:ext cx="10561320" cy="457200"/>
          </a:xfrm>
          <a:prstGeom prst="rect">
            <a:avLst/>
          </a:prstGeom>
          <a:noFill/>
        </p:spPr>
        <p:txBody>
          <a:bodyPr wrap="square" lIns="0" rIns="0" tIns="0" bIns="0">
            <a:spAutoFit/>
          </a:bodyPr>
          <a:lstStyle/>
          <a:p>
            <a:pPr algn="l">
              <a:lnSpc>
                <a:spcPct val="112000"/>
              </a:lnSpc>
              <a:spcBef>
                <a:spcPts val="0"/>
              </a:spcBef>
              <a:spcAft>
                <a:spcPts val="500"/>
              </a:spcAft>
            </a:pPr>
            <a:r>
              <a:rPr sz="2400" b="1">
                <a:solidFill>
                  <a:srgbClr val="F5B841"/>
                </a:solidFill>
                <a:latin typeface="Aptos"/>
              </a:rPr>
              <a:t>Lower miss ratios · Better scalability</a:t>
            </a:r>
          </a:p>
        </p:txBody>
      </p:sp>
      <p:sp>
        <p:nvSpPr>
          <p:cNvPr id="6" name="Rounded Rectangle 5"/>
          <p:cNvSpPr/>
          <p:nvPr/>
        </p:nvSpPr>
        <p:spPr>
          <a:xfrm>
            <a:off x="822960" y="5276088"/>
            <a:ext cx="10515600" cy="777240"/>
          </a:xfrm>
          <a:prstGeom prst="roundRect">
            <a:avLst>
              <a:gd name="adj" fmla="val 12000"/>
            </a:avLst>
          </a:prstGeom>
          <a:solidFill>
            <a:srgbClr val="1F3B63"/>
          </a:solidFill>
          <a:ln>
            <a:noFill/>
          </a:ln>
        </p:spPr>
        <p:txBody>
          <a:bodyPr rtlCol="0" anchor="ctr"/>
          <a:lstStyle/>
          <a:p>
            <a:pPr algn="ctr"/>
          </a:p>
        </p:txBody>
      </p:sp>
      <p:sp>
        <p:nvSpPr>
          <p:cNvPr id="7" name="TextBox 6"/>
          <p:cNvSpPr txBox="1"/>
          <p:nvPr/>
        </p:nvSpPr>
        <p:spPr>
          <a:xfrm>
            <a:off x="1005840" y="5449824"/>
            <a:ext cx="10149840" cy="457200"/>
          </a:xfrm>
          <a:prstGeom prst="rect">
            <a:avLst/>
          </a:prstGeom>
          <a:noFill/>
        </p:spPr>
        <p:txBody>
          <a:bodyPr wrap="square" lIns="0" rIns="0" tIns="0" bIns="0">
            <a:spAutoFit/>
          </a:bodyPr>
          <a:lstStyle/>
          <a:p>
            <a:pPr algn="ctr">
              <a:lnSpc>
                <a:spcPct val="112000"/>
              </a:lnSpc>
              <a:spcBef>
                <a:spcPts val="0"/>
              </a:spcBef>
              <a:spcAft>
                <a:spcPts val="500"/>
              </a:spcAft>
            </a:pPr>
            <a:r>
              <a:rPr sz="2900" b="0">
                <a:solidFill>
                  <a:srgbClr val="FFFFFF"/>
                </a:solidFill>
                <a:latin typeface="Aptos"/>
              </a:rPr>
              <a:t>Thank you for listening.</a:t>
            </a:r>
          </a:p>
        </p:txBody>
      </p:sp>
      <p:sp>
        <p:nvSpPr>
          <p:cNvPr id="8" name="TextBox 7"/>
          <p:cNvSpPr txBox="1"/>
          <p:nvPr/>
        </p:nvSpPr>
        <p:spPr>
          <a:xfrm>
            <a:off x="530352" y="6537960"/>
            <a:ext cx="9875520" cy="182880"/>
          </a:xfrm>
          <a:prstGeom prst="rect">
            <a:avLst/>
          </a:prstGeom>
          <a:noFill/>
        </p:spPr>
        <p:txBody>
          <a:bodyPr wrap="square" lIns="0" rIns="0" tIns="0" bIns="0">
            <a:spAutoFit/>
          </a:bodyPr>
          <a:lstStyle/>
          <a:p>
            <a:pPr algn="l">
              <a:lnSpc>
                <a:spcPct val="112000"/>
              </a:lnSpc>
              <a:spcBef>
                <a:spcPts val="0"/>
              </a:spcBef>
              <a:spcAft>
                <a:spcPts val="500"/>
              </a:spcAft>
            </a:pPr>
            <a:r>
              <a:rPr sz="850" b="0">
                <a:solidFill>
                  <a:srgbClr val="B8CBE0"/>
                </a:solidFill>
                <a:latin typeface="Aptos"/>
              </a:rPr>
              <a:t>Yang et al., SOSP 2023 · Operating Systems · Theoretical Presentation</a:t>
            </a:r>
          </a:p>
        </p:txBody>
      </p:sp>
      <p:sp>
        <p:nvSpPr>
          <p:cNvPr id="9" name="TextBox 8"/>
          <p:cNvSpPr txBox="1"/>
          <p:nvPr/>
        </p:nvSpPr>
        <p:spPr>
          <a:xfrm>
            <a:off x="10744200" y="6537960"/>
            <a:ext cx="868680" cy="182880"/>
          </a:xfrm>
          <a:prstGeom prst="rect">
            <a:avLst/>
          </a:prstGeom>
          <a:noFill/>
        </p:spPr>
        <p:txBody>
          <a:bodyPr wrap="square" lIns="0" rIns="0" tIns="0" bIns="0">
            <a:spAutoFit/>
          </a:bodyPr>
          <a:lstStyle/>
          <a:p>
            <a:pPr algn="r">
              <a:lnSpc>
                <a:spcPct val="112000"/>
              </a:lnSpc>
              <a:spcBef>
                <a:spcPts val="0"/>
              </a:spcBef>
              <a:spcAft>
                <a:spcPts val="500"/>
              </a:spcAft>
            </a:pPr>
            <a:r>
              <a:rPr sz="850" b="0">
                <a:solidFill>
                  <a:srgbClr val="B8CBE0"/>
                </a:solidFill>
                <a:latin typeface="Aptos"/>
              </a:rPr>
              <a:t>Slide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AFC"/>
        </a:solidFill>
        <a:effectLst/>
      </p:bgPr>
    </p:bg>
    <p:spTree>
      <p:nvGrpSpPr>
        <p:cNvPr id="1" name=""/>
        <p:cNvGrpSpPr/>
        <p:nvPr/>
      </p:nvGrpSpPr>
      <p:grpSpPr/>
      <p:sp>
        <p:nvSpPr>
          <p:cNvPr id="2" name="Rectangle 1"/>
          <p:cNvSpPr/>
          <p:nvPr/>
        </p:nvSpPr>
        <p:spPr>
          <a:xfrm>
            <a:off x="0" y="0"/>
            <a:ext cx="12191695" cy="411480"/>
          </a:xfrm>
          <a:prstGeom prst="rect">
            <a:avLst/>
          </a:prstGeom>
          <a:solidFill>
            <a:srgbClr val="13294B"/>
          </a:solidFill>
          <a:ln>
            <a:noFill/>
          </a:ln>
        </p:spPr>
        <p:txBody>
          <a:bodyPr rtlCol="0" anchor="ctr"/>
          <a:lstStyle/>
          <a:p>
            <a:pPr algn="ctr"/>
          </a:p>
        </p:txBody>
      </p:sp>
      <p:sp>
        <p:nvSpPr>
          <p:cNvPr id="3" name="TextBox 2"/>
          <p:cNvSpPr txBox="1"/>
          <p:nvPr/>
        </p:nvSpPr>
        <p:spPr>
          <a:xfrm>
            <a:off x="457200" y="96012"/>
            <a:ext cx="5166360" cy="210312"/>
          </a:xfrm>
          <a:prstGeom prst="rect">
            <a:avLst/>
          </a:prstGeom>
          <a:noFill/>
        </p:spPr>
        <p:txBody>
          <a:bodyPr wrap="square" lIns="0" rIns="0" tIns="0" bIns="0">
            <a:spAutoFit/>
          </a:bodyPr>
          <a:lstStyle/>
          <a:p>
            <a:pPr algn="l">
              <a:lnSpc>
                <a:spcPct val="112000"/>
              </a:lnSpc>
              <a:spcBef>
                <a:spcPts val="0"/>
              </a:spcBef>
              <a:spcAft>
                <a:spcPts val="500"/>
              </a:spcAft>
            </a:pPr>
            <a:r>
              <a:rPr sz="950" b="1">
                <a:solidFill>
                  <a:srgbClr val="FFFFFF"/>
                </a:solidFill>
                <a:latin typeface="Aptos"/>
              </a:rPr>
              <a:t>References</a:t>
            </a:r>
          </a:p>
        </p:txBody>
      </p:sp>
      <p:sp>
        <p:nvSpPr>
          <p:cNvPr id="4" name="TextBox 3"/>
          <p:cNvSpPr txBox="1"/>
          <p:nvPr/>
        </p:nvSpPr>
        <p:spPr>
          <a:xfrm>
            <a:off x="6400800" y="96012"/>
            <a:ext cx="5303520" cy="210312"/>
          </a:xfrm>
          <a:prstGeom prst="rect">
            <a:avLst/>
          </a:prstGeom>
          <a:noFill/>
        </p:spPr>
        <p:txBody>
          <a:bodyPr wrap="square" lIns="0" rIns="0" tIns="0" bIns="0">
            <a:spAutoFit/>
          </a:bodyPr>
          <a:lstStyle/>
          <a:p>
            <a:pPr algn="r">
              <a:lnSpc>
                <a:spcPct val="112000"/>
              </a:lnSpc>
              <a:spcBef>
                <a:spcPts val="0"/>
              </a:spcBef>
              <a:spcAft>
                <a:spcPts val="500"/>
              </a:spcAft>
            </a:pPr>
            <a:r>
              <a:rPr sz="950" b="0">
                <a:solidFill>
                  <a:srgbClr val="CFE8FF"/>
                </a:solidFill>
                <a:latin typeface="Aptos"/>
              </a:rPr>
              <a:t>S3-FIFO · FIFO Queues Are All You Need</a:t>
            </a:r>
          </a:p>
        </p:txBody>
      </p:sp>
      <p:sp>
        <p:nvSpPr>
          <p:cNvPr id="5" name="TextBox 4"/>
          <p:cNvSpPr txBox="1"/>
          <p:nvPr/>
        </p:nvSpPr>
        <p:spPr>
          <a:xfrm>
            <a:off x="548640" y="694944"/>
            <a:ext cx="10789920" cy="484632"/>
          </a:xfrm>
          <a:prstGeom prst="rect">
            <a:avLst/>
          </a:prstGeom>
          <a:noFill/>
        </p:spPr>
        <p:txBody>
          <a:bodyPr wrap="square" lIns="0" rIns="0" tIns="0" bIns="0">
            <a:spAutoFit/>
          </a:bodyPr>
          <a:lstStyle/>
          <a:p>
            <a:pPr algn="l">
              <a:lnSpc>
                <a:spcPct val="112000"/>
              </a:lnSpc>
              <a:spcBef>
                <a:spcPts val="0"/>
              </a:spcBef>
              <a:spcAft>
                <a:spcPts val="500"/>
              </a:spcAft>
            </a:pPr>
            <a:r>
              <a:rPr sz="2900" b="1">
                <a:solidFill>
                  <a:srgbClr val="172033"/>
                </a:solidFill>
                <a:latin typeface="Aptos Display"/>
              </a:rPr>
              <a:t>References</a:t>
            </a:r>
          </a:p>
        </p:txBody>
      </p:sp>
      <p:sp>
        <p:nvSpPr>
          <p:cNvPr id="6" name="TextBox 5"/>
          <p:cNvSpPr txBox="1"/>
          <p:nvPr/>
        </p:nvSpPr>
        <p:spPr>
          <a:xfrm>
            <a:off x="566928" y="1225296"/>
            <a:ext cx="10972800" cy="338328"/>
          </a:xfrm>
          <a:prstGeom prst="rect">
            <a:avLst/>
          </a:prstGeom>
          <a:noFill/>
        </p:spPr>
        <p:txBody>
          <a:bodyPr wrap="square" lIns="0" rIns="0" tIns="0" bIns="0">
            <a:spAutoFit/>
          </a:bodyPr>
          <a:lstStyle/>
          <a:p>
            <a:pPr algn="l">
              <a:lnSpc>
                <a:spcPct val="112000"/>
              </a:lnSpc>
              <a:spcBef>
                <a:spcPts val="0"/>
              </a:spcBef>
              <a:spcAft>
                <a:spcPts val="500"/>
              </a:spcAft>
            </a:pPr>
            <a:r>
              <a:rPr sz="1400" b="0">
                <a:solidFill>
                  <a:srgbClr val="5B6472"/>
                </a:solidFill>
                <a:latin typeface="Aptos"/>
              </a:rPr>
              <a:t>Primary paper, original figures, and the official code and data.</a:t>
            </a:r>
          </a:p>
        </p:txBody>
      </p:sp>
      <p:sp>
        <p:nvSpPr>
          <p:cNvPr id="7" name="Rounded Rectangle 6"/>
          <p:cNvSpPr/>
          <p:nvPr/>
        </p:nvSpPr>
        <p:spPr>
          <a:xfrm>
            <a:off x="685800" y="1783080"/>
            <a:ext cx="10789920" cy="4315968"/>
          </a:xfrm>
          <a:prstGeom prst="roundRect">
            <a:avLst>
              <a:gd name="adj" fmla="val 12000"/>
            </a:avLst>
          </a:prstGeom>
          <a:solidFill>
            <a:srgbClr val="FFFFFF"/>
          </a:solidFill>
          <a:ln w="9525">
            <a:solidFill>
              <a:srgbClr val="DCE5EF"/>
            </a:solidFill>
          </a:ln>
        </p:spPr>
        <p:txBody>
          <a:bodyPr rtlCol="0" anchor="ctr"/>
          <a:lstStyle/>
          <a:p>
            <a:pPr algn="ctr"/>
          </a:p>
        </p:txBody>
      </p:sp>
      <p:sp>
        <p:nvSpPr>
          <p:cNvPr id="8" name="TextBox 7"/>
          <p:cNvSpPr txBox="1"/>
          <p:nvPr/>
        </p:nvSpPr>
        <p:spPr>
          <a:xfrm>
            <a:off x="987552" y="2057400"/>
            <a:ext cx="10012680" cy="274320"/>
          </a:xfrm>
          <a:prstGeom prst="rect">
            <a:avLst/>
          </a:prstGeom>
          <a:noFill/>
        </p:spPr>
        <p:txBody>
          <a:bodyPr wrap="square" lIns="0" rIns="0" tIns="0" bIns="0">
            <a:spAutoFit/>
          </a:bodyPr>
          <a:lstStyle/>
          <a:p>
            <a:pPr algn="l">
              <a:lnSpc>
                <a:spcPct val="112000"/>
              </a:lnSpc>
              <a:spcBef>
                <a:spcPts val="0"/>
              </a:spcBef>
              <a:spcAft>
                <a:spcPts val="500"/>
              </a:spcAft>
            </a:pPr>
            <a:r>
              <a:rPr sz="1400" b="1">
                <a:solidFill>
                  <a:srgbClr val="2D6DAF"/>
                </a:solidFill>
                <a:latin typeface="Aptos"/>
              </a:rPr>
              <a:t>PRIMARY PAPER</a:t>
            </a:r>
          </a:p>
        </p:txBody>
      </p:sp>
      <p:sp>
        <p:nvSpPr>
          <p:cNvPr id="9" name="TextBox 8"/>
          <p:cNvSpPr txBox="1"/>
          <p:nvPr/>
        </p:nvSpPr>
        <p:spPr>
          <a:xfrm>
            <a:off x="987552" y="2569464"/>
            <a:ext cx="10012680" cy="1161288"/>
          </a:xfrm>
          <a:prstGeom prst="rect">
            <a:avLst/>
          </a:prstGeom>
          <a:noFill/>
        </p:spPr>
        <p:txBody>
          <a:bodyPr wrap="square" lIns="0" rIns="0" tIns="0" bIns="0">
            <a:spAutoFit/>
          </a:bodyPr>
          <a:lstStyle/>
          <a:p>
            <a:pPr algn="l">
              <a:lnSpc>
                <a:spcPct val="114000"/>
              </a:lnSpc>
              <a:spcBef>
                <a:spcPts val="0"/>
              </a:spcBef>
              <a:spcAft>
                <a:spcPts val="1000"/>
              </a:spcAft>
            </a:pPr>
            <a:r>
              <a:rPr sz="2200">
                <a:solidFill>
                  <a:srgbClr val="172033"/>
                </a:solidFill>
                <a:latin typeface="Aptos"/>
              </a:rPr>
              <a:t>Yang, J., Zhang, Y., Qiu, Z., Yue, Y., &amp; Rashmi, K. V. (2023).</a:t>
            </a:r>
          </a:p>
          <a:p>
            <a:pPr>
              <a:lnSpc>
                <a:spcPct val="114000"/>
              </a:lnSpc>
              <a:spcAft>
                <a:spcPts val="1000"/>
              </a:spcAft>
            </a:pPr>
            <a:r>
              <a:rPr sz="2200">
                <a:solidFill>
                  <a:srgbClr val="172033"/>
                </a:solidFill>
                <a:latin typeface="Aptos"/>
              </a:rPr>
              <a:t>FIFO Queues Are All You Need for Cache Eviction. SOSP ’23.</a:t>
            </a:r>
          </a:p>
        </p:txBody>
      </p:sp>
      <p:sp>
        <p:nvSpPr>
          <p:cNvPr id="10" name="TextBox 9"/>
          <p:cNvSpPr txBox="1"/>
          <p:nvPr/>
        </p:nvSpPr>
        <p:spPr>
          <a:xfrm>
            <a:off x="987552" y="4041648"/>
            <a:ext cx="10012680" cy="256032"/>
          </a:xfrm>
          <a:prstGeom prst="rect">
            <a:avLst/>
          </a:prstGeom>
          <a:noFill/>
        </p:spPr>
        <p:txBody>
          <a:bodyPr wrap="square" lIns="0" rIns="0" tIns="0" bIns="0">
            <a:spAutoFit/>
          </a:bodyPr>
          <a:lstStyle/>
          <a:p>
            <a:pPr algn="l">
              <a:lnSpc>
                <a:spcPct val="112000"/>
              </a:lnSpc>
              <a:spcBef>
                <a:spcPts val="0"/>
              </a:spcBef>
              <a:spcAft>
                <a:spcPts val="500"/>
              </a:spcAft>
            </a:pPr>
            <a:r>
              <a:rPr sz="1300" b="1">
                <a:solidFill>
                  <a:srgbClr val="2D6DAF"/>
                </a:solidFill>
                <a:latin typeface="Aptos"/>
              </a:rPr>
              <a:t>DOI</a:t>
            </a:r>
          </a:p>
        </p:txBody>
      </p:sp>
      <p:sp>
        <p:nvSpPr>
          <p:cNvPr id="11" name="TextBox 10"/>
          <p:cNvSpPr txBox="1"/>
          <p:nvPr/>
        </p:nvSpPr>
        <p:spPr>
          <a:xfrm>
            <a:off x="987552" y="4425696"/>
            <a:ext cx="10012680" cy="384048"/>
          </a:xfrm>
          <a:prstGeom prst="rect">
            <a:avLst/>
          </a:prstGeom>
          <a:noFill/>
        </p:spPr>
        <p:txBody>
          <a:bodyPr wrap="square" lIns="0" rIns="0" tIns="0" bIns="0">
            <a:spAutoFit/>
          </a:bodyPr>
          <a:lstStyle/>
          <a:p>
            <a:pPr algn="l">
              <a:lnSpc>
                <a:spcPct val="112000"/>
              </a:lnSpc>
              <a:spcBef>
                <a:spcPts val="0"/>
              </a:spcBef>
              <a:spcAft>
                <a:spcPts val="500"/>
              </a:spcAft>
            </a:pPr>
            <a:r>
              <a:rPr sz="2000" b="0">
                <a:solidFill>
                  <a:srgbClr val="13294B"/>
                </a:solidFill>
                <a:latin typeface="Aptos"/>
                <a:hlinkClick r:id="rId2"/>
              </a:rPr>
              <a:t>https://doi.org/10.1145/3600006.3613147</a:t>
            </a:r>
          </a:p>
        </p:txBody>
      </p:sp>
      <p:sp>
        <p:nvSpPr>
          <p:cNvPr id="12" name="TextBox 11"/>
          <p:cNvSpPr txBox="1"/>
          <p:nvPr/>
        </p:nvSpPr>
        <p:spPr>
          <a:xfrm>
            <a:off x="987552" y="5056632"/>
            <a:ext cx="10012680" cy="256032"/>
          </a:xfrm>
          <a:prstGeom prst="rect">
            <a:avLst/>
          </a:prstGeom>
          <a:noFill/>
        </p:spPr>
        <p:txBody>
          <a:bodyPr wrap="square" lIns="0" rIns="0" tIns="0" bIns="0">
            <a:spAutoFit/>
          </a:bodyPr>
          <a:lstStyle/>
          <a:p>
            <a:pPr algn="l">
              <a:lnSpc>
                <a:spcPct val="112000"/>
              </a:lnSpc>
              <a:spcBef>
                <a:spcPts val="0"/>
              </a:spcBef>
              <a:spcAft>
                <a:spcPts val="500"/>
              </a:spcAft>
            </a:pPr>
            <a:r>
              <a:rPr sz="1300" b="1">
                <a:solidFill>
                  <a:srgbClr val="2D6DAF"/>
                </a:solidFill>
                <a:latin typeface="Aptos"/>
              </a:rPr>
              <a:t>OFFICIAL CODE &amp; DATA</a:t>
            </a:r>
          </a:p>
        </p:txBody>
      </p:sp>
      <p:sp>
        <p:nvSpPr>
          <p:cNvPr id="13" name="TextBox 12"/>
          <p:cNvSpPr txBox="1"/>
          <p:nvPr/>
        </p:nvSpPr>
        <p:spPr>
          <a:xfrm>
            <a:off x="987552" y="5440680"/>
            <a:ext cx="10012680" cy="384048"/>
          </a:xfrm>
          <a:prstGeom prst="rect">
            <a:avLst/>
          </a:prstGeom>
          <a:noFill/>
        </p:spPr>
        <p:txBody>
          <a:bodyPr wrap="square" lIns="0" rIns="0" tIns="0" bIns="0">
            <a:spAutoFit/>
          </a:bodyPr>
          <a:lstStyle/>
          <a:p>
            <a:pPr algn="l">
              <a:lnSpc>
                <a:spcPct val="112000"/>
              </a:lnSpc>
              <a:spcBef>
                <a:spcPts val="0"/>
              </a:spcBef>
              <a:spcAft>
                <a:spcPts val="500"/>
              </a:spcAft>
            </a:pPr>
            <a:r>
              <a:rPr sz="2000" b="0">
                <a:solidFill>
                  <a:srgbClr val="13294B"/>
                </a:solidFill>
                <a:latin typeface="Aptos"/>
                <a:hlinkClick r:id="rId3"/>
              </a:rPr>
              <a:t>https://github.com/TheSys-lab/sosp23-s3fifo</a:t>
            </a:r>
          </a:p>
        </p:txBody>
      </p:sp>
      <p:sp>
        <p:nvSpPr>
          <p:cNvPr id="14" name="TextBox 13"/>
          <p:cNvSpPr txBox="1"/>
          <p:nvPr/>
        </p:nvSpPr>
        <p:spPr>
          <a:xfrm>
            <a:off x="530352" y="6281928"/>
            <a:ext cx="11064240" cy="210312"/>
          </a:xfrm>
          <a:prstGeom prst="rect">
            <a:avLst/>
          </a:prstGeom>
          <a:noFill/>
        </p:spPr>
        <p:txBody>
          <a:bodyPr wrap="square" lIns="0" rIns="0" tIns="0" bIns="0">
            <a:spAutoFit/>
          </a:bodyPr>
          <a:lstStyle/>
          <a:p>
            <a:pPr algn="l">
              <a:lnSpc>
                <a:spcPct val="112000"/>
              </a:lnSpc>
              <a:spcBef>
                <a:spcPts val="0"/>
              </a:spcBef>
              <a:spcAft>
                <a:spcPts val="500"/>
              </a:spcAft>
            </a:pPr>
            <a:r>
              <a:rPr sz="919" b="0">
                <a:solidFill>
                  <a:srgbClr val="738096"/>
                </a:solidFill>
                <a:latin typeface="Aptos"/>
              </a:rPr>
              <a:t>Figures 1, 5, 6 and 8: Yang et al., SOSP 2023. Mechanism diagrams redrawn from Algorithm 1.</a:t>
            </a:r>
          </a:p>
        </p:txBody>
      </p:sp>
      <p:sp>
        <p:nvSpPr>
          <p:cNvPr id="15" name="TextBox 14"/>
          <p:cNvSpPr txBox="1"/>
          <p:nvPr/>
        </p:nvSpPr>
        <p:spPr>
          <a:xfrm>
            <a:off x="530352" y="6537960"/>
            <a:ext cx="9875520" cy="182880"/>
          </a:xfrm>
          <a:prstGeom prst="rect">
            <a:avLst/>
          </a:prstGeom>
          <a:noFill/>
        </p:spPr>
        <p:txBody>
          <a:bodyPr wrap="square" lIns="0" rIns="0" tIns="0" bIns="0">
            <a:spAutoFit/>
          </a:bodyPr>
          <a:lstStyle/>
          <a:p>
            <a:pPr algn="l">
              <a:lnSpc>
                <a:spcPct val="112000"/>
              </a:lnSpc>
              <a:spcBef>
                <a:spcPts val="0"/>
              </a:spcBef>
              <a:spcAft>
                <a:spcPts val="500"/>
              </a:spcAft>
            </a:pPr>
            <a:r>
              <a:rPr sz="850" b="0">
                <a:solidFill>
                  <a:srgbClr val="738096"/>
                </a:solidFill>
                <a:latin typeface="Aptos"/>
              </a:rPr>
              <a:t>Yang et al., SOSP 2023 · Operating Systems · Theoretical Presentation</a:t>
            </a:r>
          </a:p>
        </p:txBody>
      </p:sp>
      <p:sp>
        <p:nvSpPr>
          <p:cNvPr id="16" name="TextBox 15"/>
          <p:cNvSpPr txBox="1"/>
          <p:nvPr/>
        </p:nvSpPr>
        <p:spPr>
          <a:xfrm>
            <a:off x="10744200" y="6537960"/>
            <a:ext cx="868680" cy="182880"/>
          </a:xfrm>
          <a:prstGeom prst="rect">
            <a:avLst/>
          </a:prstGeom>
          <a:noFill/>
        </p:spPr>
        <p:txBody>
          <a:bodyPr wrap="square" lIns="0" rIns="0" tIns="0" bIns="0">
            <a:spAutoFit/>
          </a:bodyPr>
          <a:lstStyle/>
          <a:p>
            <a:pPr algn="r">
              <a:lnSpc>
                <a:spcPct val="112000"/>
              </a:lnSpc>
              <a:spcBef>
                <a:spcPts val="0"/>
              </a:spcBef>
              <a:spcAft>
                <a:spcPts val="500"/>
              </a:spcAft>
            </a:pPr>
            <a:r>
              <a:rPr sz="850" b="0">
                <a:solidFill>
                  <a:srgbClr val="738096"/>
                </a:solidFill>
                <a:latin typeface="Aptos"/>
              </a:rPr>
              <a:t>Slide 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14920</Words>
  <Application>WPS 演示</Application>
  <PresentationFormat>On-screen Show (16:9)</PresentationFormat>
  <Paragraphs>756</Paragraphs>
  <Slides>39</Slides>
  <Notes>43</Notes>
  <HiddenSlides>0</HiddenSlides>
  <MMClips>0</MMClips>
  <ScaleCrop>false</ScaleCrop>
  <HeadingPairs>
    <vt:vector size="6" baseType="variant">
      <vt:variant>
        <vt:lpstr>已用的字体</vt:lpstr>
      </vt:variant>
      <vt:variant>
        <vt:i4>13</vt:i4>
      </vt:variant>
      <vt:variant>
        <vt:lpstr>主题</vt:lpstr>
      </vt:variant>
      <vt:variant>
        <vt:i4>2</vt:i4>
      </vt:variant>
      <vt:variant>
        <vt:lpstr>幻灯片标题</vt:lpstr>
      </vt:variant>
      <vt:variant>
        <vt:i4>39</vt:i4>
      </vt:variant>
    </vt:vector>
  </HeadingPairs>
  <TitlesOfParts>
    <vt:vector size="54" baseType="lpstr">
      <vt:lpstr>Arial</vt:lpstr>
      <vt:lpstr>宋体</vt:lpstr>
      <vt:lpstr>Wingdings</vt:lpstr>
      <vt:lpstr>Aptos</vt:lpstr>
      <vt:lpstr>Segoe UI</vt:lpstr>
      <vt:lpstr>Aptos</vt:lpstr>
      <vt:lpstr>Aptos</vt:lpstr>
      <vt:lpstr>微软雅黑</vt:lpstr>
      <vt:lpstr>Arial Unicode MS</vt:lpstr>
      <vt:lpstr>Aptos Display</vt:lpstr>
      <vt:lpstr>Segoe UI Variable Display</vt:lpstr>
      <vt:lpstr>等线</vt:lpstr>
      <vt:lpstr>Calibri</vt:lpstr>
      <vt:lpstr>Office Theme</vt:lpstr>
      <vt:lpstr>1_Office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CS112 Web Technologies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S3-FIFO — Theoretical Presentation (DIG Style)</dc:title>
  <dc:creator>Course presentation group</dc:creator>
  <dc:subject>Restyled using Group 10 DIG, aligned to the supplied three-member speaking script</dc:subject>
  <cp:lastModifiedBy>星尘</cp:lastModifiedBy>
  <cp:revision>21</cp:revision>
  <dcterms:created xsi:type="dcterms:W3CDTF">2026-04-25T06:13:00Z</dcterms:created>
  <dcterms:modified xsi:type="dcterms:W3CDTF">2026-04-27T09:26:51Z</dcterms:modified>
  <dc:description>Original One-hit Wonders Figure 1 preserved in full on slide 6.</dc:descript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2052-12.1.0.25865</vt:lpwstr>
  </property>
  <property fmtid="{D5CDD505-2E9C-101B-9397-08002B2CF9AE}" pid="3" name="ICV">
    <vt:lpwstr>2E4FC1B308D74BA4A38BC7062AE0266F_12</vt:lpwstr>
  </property>
</Properties>
</file>