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 id="2147483652" r:id="rId4"/>
  </p:sldMasterIdLst>
  <p:notesMasterIdLst>
    <p:notesMasterId r:id="rId6"/>
  </p:notesMasterIdLst>
  <p:sldIdLst>
    <p:sldId id="256" r:id="rId5"/>
    <p:sldId id="257" r:id="rId7"/>
    <p:sldId id="258" r:id="rId8"/>
    <p:sldId id="259" r:id="rId9"/>
    <p:sldId id="260" r:id="rId10"/>
    <p:sldId id="261"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70" r:id="rId24"/>
    <p:sldId id="271" r:id="rId25"/>
    <p:sldId id="272" r:id="rId26"/>
    <p:sldId id="273" r:id="rId27"/>
    <p:sldId id="274" r:id="rId28"/>
    <p:sldId id="275" r:id="rId29"/>
    <p:sldId id="276" r:id="rId30"/>
    <p:sldId id="277" r:id="rId31"/>
    <p:sldId id="278" r:id="rId32"/>
    <p:sldId id="279"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everyone. Today, our group will introduce a research paper called FIFO Queues Are All You Need for Cache Eviction. It was published at SOSP in 2023. The paper introduces a new cache eviction algorithm called S3-FIFO.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First, what is a cache? A cache is a small and fast storage space that keeps data we may need again. For example, when a computer reads the same data many times, getting it from the cache is faster than getting it from slower storage.</a:t>
            </a:r>
          </a:p>
          <a:p/>
          <a:p>
            <a:r>
              <a:t>However, cache space is limited. When the cache is full, the system must decide which data to remove. This process is called cache eviction.</a:t>
            </a:r>
          </a:p>
          <a:p/>
          <a:p>
            <a:r>
              <a:t>In other words, the system needs a smart way to decide what should stay and what should go.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There are two common methods: FIFO and LRU.</a:t>
            </a:r>
          </a:p>
          <a:p/>
          <a:p>
            <a:r>
              <a:t>FIFO means First In, First Out. It removes the data that entered the cache first. FIFO is simple and fast, but it may remove useful data.</a:t>
            </a:r>
          </a:p>
          <a:p/>
          <a:p>
            <a:r>
              <a:t>LRU means Least Recently Used. It removes data that has not been used for the longest time. LRU can be more effective, but it needs to update the order of objects whenever they are accessed. This can slow down the system when many threads work at the same time.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researchers noticed another problem. Many objects are used only once before they leave the cache. The paper calls these objects one-hit wonders.</a:t>
            </a:r>
          </a:p>
          <a:p/>
          <a:p>
            <a:r>
              <a:t>The researchers found that these objects are especially common in short access sequences. This means some data take up cache space without being used again.（讲diagram：Like this diagram, if the sequence length is long, the ratio of one hit wonders is quite low. But,as the sequence length decrease,the ratio of one hit wonders become much higher.）</a:t>
            </a:r>
          </a:p>
          <a:p/>
          <a:p>
            <a:r>
              <a:t>So, the main idea is to remove less useful objects quickly and keep frequently used objects for longer. The researchers call this quick demotion.</a:t>
            </a:r>
          </a:p>
          <a:p/>
          <a:p>
            <a:r>
              <a:t>This leads to an important question: Can we combine the simplicity of FIFO with better cache efficiency?</a:t>
            </a:r>
          </a:p>
          <a:p/>
          <a:p>
            <a:r>
              <a:t>To answer this question, the researchers designed S3-FIFO.</a:t>
            </a:r>
          </a:p>
          <a:p/>
          <a:p>
            <a:r>
              <a:t>Now, my teammate will explain how this algorithm works.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Thank you. Now, I will explain how S3-FIFO works.</a:t>
            </a:r>
          </a:p>
          <a:p>
            <a:r>
              <a:t>The main idea is simple. S3-FIFO uses three FIFO queues: the Small Queue, the Main Queue, and the Ghost Queue.</a:t>
            </a:r>
          </a:p>
          <a:p/>
          <a:p>
            <a:r>
              <a:t>Source: Yang et al., FIFO Queues Are All You Need for Cache Eviction, SOSP 2023. Section 4.1.</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original architecture shows how the three queues work together. Small filters new objects, Main protects useful objects, and Ghost remembers removed IDs.</a:t>
            </a:r>
          </a:p>
          <a:p/>
          <a:p>
            <a:r>
              <a:t>Source: Yang et al., FIFO Queues Are All You Need for Cache Eviction, SOSP 2023. Original Figure 5 and Section 4.1.</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First, the Small Queue, or S, uses about 10% of the cache space. New objects usually enter here. It helps remove objects that are not used again.</a:t>
            </a:r>
          </a:p>
          <a:p/>
          <a:p>
            <a:r>
              <a:t>Source: Yang et al., FIFO Queues Are All You Need for Cache Eviction, SOSP 2023. Section 4.1. The original capacity illustration is retained.</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Second, the Main Queue, or M, uses the remaining 90%. It stores objects that are accessed more frequently.</a:t>
            </a:r>
          </a:p>
          <a:p>
            <a:r>
              <a:t>Objects can reach Main after showing reuse in Small or Ghost.</a:t>
            </a:r>
          </a:p>
          <a:p/>
          <a:p>
            <a:r>
              <a:t>Source: Yang et al., FIFO Queues Are All You Need for Cache Eviction, SOSP 2023. Section 4.1 and Algorithm 1.</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Third, the Ghost Queue, or G, only stores the IDs of recently removed objects from the Small Queue, not the actual data. It helps recognize objects that may be useful again.</a:t>
            </a:r>
          </a:p>
          <a:p>
            <a:r>
              <a:t>The paper sizes Ghost to hold as many IDs as Main holds objects. When Ghost is full, it removes the oldest ID in FIFO order.</a:t>
            </a:r>
          </a:p>
          <a:p/>
          <a:p>
            <a:r>
              <a:t>Source: Yang et al., FIFO Queues Are All You Need for Cache Eviction, SOSP 2023. Section 4.1. Original ID illustration retained.</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Now, let's see how S3-FIFO handles requests. If an object is already in the cache, it is a cache hit. Its access counter increases, up to a maximum of three. Unlike LRU, S3-FIFO does not move objects after every hit.</a:t>
            </a:r>
          </a:p>
          <a:p>
            <a:r>
              <a:t>The paper uses only two bits per object to store the counter.</a:t>
            </a:r>
          </a:p>
          <a:p/>
          <a:p>
            <a:r>
              <a:t>Source: Yang et al., FIFO Queues Are All You Need for Cache Eviction, SOSP 2023. Section 4.1 and Algorithm 1, lines 1-3. Original hit diagram retained.</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If an object is not in the cache, it is a cache miss. If its ID is in the Ghost Queue, it enters the Main Queue directly. Otherwise, it enters the Small Queue.</a:t>
            </a:r>
          </a:p>
          <a:p>
            <a:r>
              <a:t>The new object starts with a counter of zero.</a:t>
            </a:r>
          </a:p>
          <a:p/>
          <a:p>
            <a:r>
              <a:t>Source: Yang et al., FIFO Queues Are All You Need for Cache Eviction, SOSP 2023. Algorithm 1, lines 4-13. Original admission flowchart retained, including initial freq = 0.</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Next, let's look at cache eviction. When the cache is full, S3-FIFO chooses which queue to evict from based on the Small Queue's size.</a:t>
            </a:r>
          </a:p>
          <a:p>
            <a:r>
              <a:t>If Small is at or above 10% of cache capacity, it evicts from Small. Otherwise, it evicts from Main.</a:t>
            </a:r>
          </a:p>
          <a:p/>
          <a:p>
            <a:r>
              <a:t>Source: Yang et al., FIFO Queues Are All You Need for Cache Eviction, SOSP 2023. Algorithm 1, lines 14-18.</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 the Small Queue, objects with an access counter greater than one move to the Main Queue. Otherwise, they are removed, and their IDs enter the Ghost Queue.</a:t>
            </a:r>
          </a:p>
          <a:p>
            <a:r>
              <a:t>The paper also clears the access bits during the move. If Main becomes full, it runs its own eviction procedure.</a:t>
            </a:r>
          </a:p>
          <a:p/>
          <a:p>
            <a:r>
              <a:t>Source: Yang et al., FIFO Queues Are All You Need for Cache Eviction, SOSP 2023. Section 4.1 and Algorithm 1, lines 19-30. Original Small eviction flowchart retained.</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 the Main Queue, objects with a positive counter get another chance, and the counter decreases by one. Objects with a counter of zero are removed.</a:t>
            </a:r>
          </a:p>
          <a:p>
            <a:r>
              <a:t>A positive-counter object is reinserted at the head of Main. Reinsertion happens when it becomes an eviction candidate.</a:t>
            </a:r>
          </a:p>
          <a:p/>
          <a:p>
            <a:r>
              <a:t>Source: Yang et al., FIFO Queues Are All You Need for Cache Eviction, SOSP 2023. Algorithm 1, lines 31-40. Original Main eviction flowchart retained.</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paper explains why the design works. Small provides quick demotion, so objects with little reuse leave after a short stay. Main gives useful objects another chance during eviction. Cache hits only update a small counter and do not reorder the queues.</a:t>
            </a:r>
          </a:p>
          <a:p/>
          <a:p>
            <a:r>
              <a:t>Source: Yang et al., FIFO Queues Are All You Need for Cache Eviction, SOSP 2023. Sections 3.2, 4.1 and 4.3. Lazy promotion describes reinsertion at eviction rather than reordering on each hit.</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 summary, the Small Queue filters new objects, the Main Queue protects useful objects, and the Ghost Queue remembers removed objects. This design reduces unnecessary updates and improves cache efficiency.</a:t>
            </a:r>
          </a:p>
          <a:p>
            <a:r>
              <a:t>Now, let's look at the experimental results.</a:t>
            </a:r>
          </a:p>
          <a:p/>
          <a:p>
            <a:r>
              <a:t>Source: Yang et al., FIFO Queues Are All You Need for Cache Eviction, SOSP 2023. Section 4.</a:t>
            </a:r>
          </a:p>
          <a:p>
            <a:r>
              <a:t>https://jasony.me/publication/sosp23-s3fifo.pdf</a:t>
            </a:r>
          </a:p>
          <a:p>
            <a:r>
              <a:t>https://doi.org/10.1145/3600006.3613147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Thank you. Next, I’ll go over the test results and key findings of this paper.</a:t>
            </a:r>
          </a:p>
          <a:p/>
          <a:p>
            <a:r>
              <a:t>The research team tested S3-FIFO using 6,594 real cache records from 14 data</a:t>
            </a:r>
          </a:p>
          <a:p/>
          <a:p>
            <a:r>
              <a:t>groups. These covered different types of data, such as storage blocks, key-value data,</a:t>
            </a:r>
          </a:p>
          <a:p/>
          <a:p>
            <a:r>
              <a:t>and web content.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They compared S3-FIFO with FIFO, LRU, and several other cache replacement</a:t>
            </a:r>
          </a:p>
          <a:p/>
          <a:p>
            <a:r>
              <a:t>methods.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First, let’s look at the miss ratio.</a:t>
            </a:r>
          </a:p>
          <a:p/>
          <a:p>
            <a:r>
              <a:t>A cache miss means the requested data is not stored in the cache. A lower miss ratio</a:t>
            </a:r>
          </a:p>
          <a:p/>
          <a:p>
            <a:r>
              <a:t>is better, because more requests can be answered directly from the cache.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Figure 6 in the paper compares the miss ratio performance of different methods. The</a:t>
            </a:r>
          </a:p>
          <a:p/>
          <a:p>
            <a:r>
              <a:t>results show that S3-FIFO works well across many workloads. With a fairly large</a:t>
            </a:r>
          </a:p>
          <a:p/>
          <a:p>
            <a:r>
              <a:t>cache, S3-FIFO had the lowest average miss ratio in 10 out of 14 data groups.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second key point is throughput. Throughput is how many requests a system can</a:t>
            </a:r>
          </a:p>
          <a:p/>
          <a:p>
            <a:r>
              <a:t>handle in one second.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Figure 8 shows how each method performs as the number of threads grows.</a:t>
            </a:r>
          </a:p>
          <a:p/>
          <a:p>
            <a:r>
              <a:t>In the team’s tests, S3-FIFO reached over six times the throughput of a tuned LRU</a:t>
            </a:r>
          </a:p>
          <a:p/>
          <a:p>
            <a:r>
              <a:t>version with 16 threads. This means S3-FIFO works better when lots of requests are</a:t>
            </a:r>
          </a:p>
          <a:p/>
          <a:p>
            <a:r>
              <a:t>processed at the same time.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However, S3-FIFO also has downsides. Sometimes a data entry is removed from the</a:t>
            </a:r>
          </a:p>
          <a:p/>
          <a:p>
            <a:r>
              <a:t>Small Queue before its second request comes in. This can cause an extra cache miss.</a:t>
            </a:r>
          </a:p>
          <a:p/>
          <a:p>
            <a:r>
              <a:t>So its performance still depends on how users access the data.</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sum up, this paper shows that a simple cache algorithm can still deliver strong</a:t>
            </a:r>
          </a:p>
          <a:p/>
          <a:p>
            <a:r>
              <a:t>performance.</a:t>
            </a:r>
          </a:p>
          <a:p/>
          <a:p>
            <a:r>
              <a:t>By using three FIFO queues, S3-FIFO quickly removes less useful data while keeping</a:t>
            </a:r>
          </a:p>
          <a:p/>
          <a:p>
            <a:r>
              <a:t>useful data for longer. Its main advantages are lower miss ratios and better</a:t>
            </a:r>
          </a:p>
          <a:p/>
          <a:p>
            <a:r>
              <a:t>scalability.</a:t>
            </a:r>
          </a:p>
          <a:p/>
          <a:p>
            <a:r>
              <a:t>Thank you for listening.</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doi.org/10.1145/3600006.3613147" TargetMode="External"/><Relationship Id="rId2" Type="http://schemas.openxmlformats.org/officeDocument/2006/relationships/hyperlink" Target="https://github.com/TheSys-lab/sosp23-s3fifo"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
        <p:cNvGrpSpPr/>
        <p:nvPr/>
      </p:nvGrpSpPr>
      <p:grpSpPr/>
      <p:sp>
        <p:nvSpPr>
          <p:cNvPr id="2" name="TextBox 1"/>
          <p:cNvSpPr txBox="1"/>
          <p:nvPr/>
        </p:nvSpPr>
        <p:spPr>
          <a:xfrm>
            <a:off x="640080" y="640080"/>
            <a:ext cx="5303520" cy="365760"/>
          </a:xfrm>
          <a:prstGeom prst="rect">
            <a:avLst/>
          </a:prstGeom>
          <a:noFill/>
        </p:spPr>
        <p:txBody>
          <a:bodyPr wrap="square" lIns="0" tIns="0" rIns="0" bIns="0">
            <a:spAutoFit/>
          </a:bodyPr>
          <a:lstStyle/>
          <a:p>
            <a:pPr algn="l">
              <a:lnSpc>
                <a:spcPct val="112000"/>
              </a:lnSpc>
              <a:spcBef>
                <a:spcPts val="0"/>
              </a:spcBef>
              <a:spcAft>
                <a:spcPts val="500"/>
              </a:spcAft>
            </a:pPr>
            <a:r>
              <a:rPr sz="1400" b="1">
                <a:solidFill>
                  <a:srgbClr val="F5B841"/>
                </a:solidFill>
                <a:latin typeface="Aptos"/>
              </a:rPr>
              <a:t>OPERATING SYSTEMS · PAPER PRESENTATION</a:t>
            </a:r>
            <a:endParaRPr sz="1400" b="1">
              <a:solidFill>
                <a:srgbClr val="F5B841"/>
              </a:solidFill>
              <a:latin typeface="Aptos"/>
            </a:endParaRPr>
          </a:p>
        </p:txBody>
      </p:sp>
      <p:sp>
        <p:nvSpPr>
          <p:cNvPr id="3" name="TextBox 2"/>
          <p:cNvSpPr txBox="1"/>
          <p:nvPr/>
        </p:nvSpPr>
        <p:spPr>
          <a:xfrm>
            <a:off x="640080" y="1417320"/>
            <a:ext cx="5285232" cy="1554480"/>
          </a:xfrm>
          <a:prstGeom prst="rect">
            <a:avLst/>
          </a:prstGeom>
          <a:noFill/>
        </p:spPr>
        <p:txBody>
          <a:bodyPr wrap="square" lIns="0" tIns="0" rIns="0" bIns="0">
            <a:spAutoFit/>
          </a:bodyPr>
          <a:lstStyle/>
          <a:p>
            <a:pPr algn="l">
              <a:lnSpc>
                <a:spcPct val="112000"/>
              </a:lnSpc>
              <a:spcBef>
                <a:spcPts val="0"/>
              </a:spcBef>
              <a:spcAft>
                <a:spcPts val="500"/>
              </a:spcAft>
            </a:pPr>
            <a:r>
              <a:rPr sz="4200" b="1">
                <a:solidFill>
                  <a:srgbClr val="FFFFFF"/>
                </a:solidFill>
                <a:latin typeface="Aptos Display"/>
              </a:rPr>
              <a:t>S3-FIFO:</a:t>
            </a:r>
            <a:endParaRPr sz="4200" b="1">
              <a:solidFill>
                <a:srgbClr val="FFFFFF"/>
              </a:solidFill>
              <a:latin typeface="Aptos Display"/>
            </a:endParaRPr>
          </a:p>
          <a:p>
            <a:pPr algn="l">
              <a:lnSpc>
                <a:spcPct val="112000"/>
              </a:lnSpc>
              <a:spcBef>
                <a:spcPts val="0"/>
              </a:spcBef>
              <a:spcAft>
                <a:spcPts val="500"/>
              </a:spcAft>
            </a:pPr>
            <a:r>
              <a:rPr sz="4200" b="1">
                <a:solidFill>
                  <a:srgbClr val="FFFFFF"/>
                </a:solidFill>
                <a:latin typeface="Aptos Display"/>
              </a:rPr>
              <a:t>Cache Eviction</a:t>
            </a:r>
            <a:endParaRPr sz="4200" b="1">
              <a:solidFill>
                <a:srgbClr val="FFFFFF"/>
              </a:solidFill>
              <a:latin typeface="Aptos Display"/>
            </a:endParaRPr>
          </a:p>
        </p:txBody>
      </p:sp>
      <p:sp>
        <p:nvSpPr>
          <p:cNvPr id="4" name="TextBox 3"/>
          <p:cNvSpPr txBox="1"/>
          <p:nvPr/>
        </p:nvSpPr>
        <p:spPr>
          <a:xfrm>
            <a:off x="676656" y="3227832"/>
            <a:ext cx="5212080" cy="960120"/>
          </a:xfrm>
          <a:prstGeom prst="rect">
            <a:avLst/>
          </a:prstGeom>
          <a:noFill/>
        </p:spPr>
        <p:txBody>
          <a:bodyPr wrap="square" lIns="0" tIns="0" rIns="0" bIns="0">
            <a:spAutoFit/>
          </a:bodyPr>
          <a:lstStyle/>
          <a:p>
            <a:pPr algn="l">
              <a:lnSpc>
                <a:spcPct val="112000"/>
              </a:lnSpc>
              <a:spcBef>
                <a:spcPts val="0"/>
              </a:spcBef>
              <a:spcAft>
                <a:spcPts val="500"/>
              </a:spcAft>
            </a:pPr>
            <a:r>
              <a:rPr sz="2200" b="0">
                <a:solidFill>
                  <a:srgbClr val="BED6F0"/>
                </a:solidFill>
                <a:latin typeface="Aptos"/>
              </a:rPr>
              <a:t>FIFO Queues Are All You Need</a:t>
            </a:r>
            <a:endParaRPr sz="2200" b="0">
              <a:solidFill>
                <a:srgbClr val="BED6F0"/>
              </a:solidFill>
              <a:latin typeface="Aptos"/>
            </a:endParaRPr>
          </a:p>
          <a:p>
            <a:pPr algn="l">
              <a:lnSpc>
                <a:spcPct val="112000"/>
              </a:lnSpc>
              <a:spcBef>
                <a:spcPts val="0"/>
              </a:spcBef>
              <a:spcAft>
                <a:spcPts val="500"/>
              </a:spcAft>
            </a:pPr>
            <a:r>
              <a:rPr sz="2200" b="0">
                <a:solidFill>
                  <a:srgbClr val="BED6F0"/>
                </a:solidFill>
                <a:latin typeface="Aptos"/>
              </a:rPr>
              <a:t>for Cache Eviction</a:t>
            </a:r>
            <a:endParaRPr sz="2200" b="0">
              <a:solidFill>
                <a:srgbClr val="BED6F0"/>
              </a:solidFill>
              <a:latin typeface="Aptos"/>
            </a:endParaRPr>
          </a:p>
        </p:txBody>
      </p:sp>
      <p:sp>
        <p:nvSpPr>
          <p:cNvPr id="5" name="Rounded Rectangle 4"/>
          <p:cNvSpPr/>
          <p:nvPr/>
        </p:nvSpPr>
        <p:spPr>
          <a:xfrm>
            <a:off x="673100" y="4175760"/>
            <a:ext cx="5568950" cy="2189480"/>
          </a:xfrm>
          <a:prstGeom prst="roundRect">
            <a:avLst>
              <a:gd name="adj" fmla="val 12000"/>
            </a:avLst>
          </a:prstGeom>
          <a:solidFill>
            <a:srgbClr val="1F3B63"/>
          </a:solidFill>
          <a:ln>
            <a:noFill/>
          </a:ln>
        </p:spPr>
        <p:txBody>
          <a:bodyPr rtlCol="0" anchor="ctr"/>
          <a:lstStyle/>
          <a:p>
            <a:pPr algn="ctr"/>
          </a:p>
        </p:txBody>
      </p:sp>
      <p:sp>
        <p:nvSpPr>
          <p:cNvPr id="6" name="TextBox 5"/>
          <p:cNvSpPr txBox="1"/>
          <p:nvPr/>
        </p:nvSpPr>
        <p:spPr>
          <a:xfrm>
            <a:off x="882015" y="4522978"/>
            <a:ext cx="4800600" cy="1212850"/>
          </a:xfrm>
          <a:prstGeom prst="rect">
            <a:avLst/>
          </a:prstGeom>
          <a:noFill/>
        </p:spPr>
        <p:txBody>
          <a:bodyPr wrap="square" lIns="0" tIns="0" rIns="0" bIns="0">
            <a:spAutoFit/>
          </a:bodyPr>
          <a:lstStyle/>
          <a:p>
            <a:pPr algn="l">
              <a:lnSpc>
                <a:spcPct val="112000"/>
              </a:lnSpc>
              <a:spcBef>
                <a:spcPts val="0"/>
              </a:spcBef>
              <a:spcAft>
                <a:spcPts val="500"/>
              </a:spcAft>
            </a:pPr>
            <a:r>
              <a:rPr lang="en-US" sz="2100" b="1">
                <a:solidFill>
                  <a:srgbClr val="FFFFFF"/>
                </a:solidFill>
                <a:latin typeface="Aptos"/>
              </a:rPr>
              <a:t>Li </a:t>
            </a:r>
            <a:r>
              <a:rPr lang="en-US" sz="2100" b="1">
                <a:solidFill>
                  <a:srgbClr val="FFFFFF"/>
                </a:solidFill>
                <a:latin typeface="Aptos"/>
              </a:rPr>
              <a:t>Zhiqing (1240016612)</a:t>
            </a:r>
            <a:endParaRPr lang="en-US" sz="2100" b="1">
              <a:solidFill>
                <a:srgbClr val="FFFFFF"/>
              </a:solidFill>
              <a:latin typeface="Aptos"/>
            </a:endParaRPr>
          </a:p>
          <a:p>
            <a:pPr algn="l">
              <a:lnSpc>
                <a:spcPct val="112000"/>
              </a:lnSpc>
              <a:spcBef>
                <a:spcPts val="0"/>
              </a:spcBef>
              <a:spcAft>
                <a:spcPts val="500"/>
              </a:spcAft>
            </a:pPr>
            <a:r>
              <a:rPr lang="en-US" sz="2100" b="1">
                <a:solidFill>
                  <a:srgbClr val="FFFFFF"/>
                </a:solidFill>
                <a:latin typeface="Aptos"/>
              </a:rPr>
              <a:t>Xia Youran (1240010751)</a:t>
            </a:r>
            <a:endParaRPr lang="en-US" sz="2100" b="1">
              <a:solidFill>
                <a:srgbClr val="FFFFFF"/>
              </a:solidFill>
              <a:latin typeface="Aptos"/>
            </a:endParaRPr>
          </a:p>
          <a:p>
            <a:pPr algn="l">
              <a:lnSpc>
                <a:spcPct val="112000"/>
              </a:lnSpc>
              <a:spcBef>
                <a:spcPts val="0"/>
              </a:spcBef>
              <a:spcAft>
                <a:spcPts val="500"/>
              </a:spcAft>
            </a:pPr>
            <a:r>
              <a:rPr lang="en-US" sz="2100" b="1">
                <a:solidFill>
                  <a:srgbClr val="FFFFFF"/>
                </a:solidFill>
                <a:latin typeface="Aptos"/>
              </a:rPr>
              <a:t>Zhang Xiaocheng (1240021715)</a:t>
            </a:r>
            <a:endParaRPr lang="en-US" sz="2100" b="1">
              <a:solidFill>
                <a:srgbClr val="FFFFFF"/>
              </a:solidFill>
              <a:latin typeface="Aptos"/>
            </a:endParaRPr>
          </a:p>
        </p:txBody>
      </p:sp>
      <p:sp>
        <p:nvSpPr>
          <p:cNvPr id="7" name="TextBox 6"/>
          <p:cNvSpPr txBox="1"/>
          <p:nvPr/>
        </p:nvSpPr>
        <p:spPr>
          <a:xfrm>
            <a:off x="914400" y="5951982"/>
            <a:ext cx="4800600" cy="228600"/>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CFE8FF"/>
                </a:solidFill>
                <a:latin typeface="Aptos"/>
              </a:rPr>
              <a:t>SOSP 2023 · Juncheng Yang et al.</a:t>
            </a:r>
            <a:endParaRPr sz="1400" b="0">
              <a:solidFill>
                <a:srgbClr val="CFE8FF"/>
              </a:solidFill>
              <a:latin typeface="Aptos"/>
            </a:endParaRPr>
          </a:p>
        </p:txBody>
      </p:sp>
      <p:sp>
        <p:nvSpPr>
          <p:cNvPr id="8" name="Rounded Rectangle 7"/>
          <p:cNvSpPr/>
          <p:nvPr/>
        </p:nvSpPr>
        <p:spPr>
          <a:xfrm>
            <a:off x="6336665" y="1455420"/>
            <a:ext cx="5212080" cy="3436620"/>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9" name="Picture 8" descr="image.png"/>
          <p:cNvPicPr>
            <a:picLocks noChangeAspect="1"/>
          </p:cNvPicPr>
          <p:nvPr/>
        </p:nvPicPr>
        <p:blipFill>
          <a:blip r:embed="rId1"/>
          <a:stretch>
            <a:fillRect/>
          </a:stretch>
        </p:blipFill>
        <p:spPr>
          <a:xfrm>
            <a:off x="6492240" y="2004770"/>
            <a:ext cx="4901184" cy="2372971"/>
          </a:xfrm>
          <a:prstGeom prst="rect">
            <a:avLst/>
          </a:prstGeom>
        </p:spPr>
      </p:pic>
      <p:sp>
        <p:nvSpPr>
          <p:cNvPr id="10" name="TextBox 9"/>
          <p:cNvSpPr txBox="1"/>
          <p:nvPr/>
        </p:nvSpPr>
        <p:spPr>
          <a:xfrm>
            <a:off x="6492240" y="5357749"/>
            <a:ext cx="4901184" cy="683260"/>
          </a:xfrm>
          <a:prstGeom prst="rect">
            <a:avLst/>
          </a:prstGeom>
          <a:noFill/>
        </p:spPr>
        <p:txBody>
          <a:bodyPr wrap="square" lIns="0" tIns="0" rIns="0" bIns="0">
            <a:spAutoFit/>
          </a:bodyPr>
          <a:lstStyle/>
          <a:p>
            <a:pPr algn="l">
              <a:lnSpc>
                <a:spcPct val="112000"/>
              </a:lnSpc>
              <a:spcBef>
                <a:spcPts val="0"/>
              </a:spcBef>
              <a:spcAft>
                <a:spcPts val="500"/>
              </a:spcAft>
            </a:pPr>
            <a:r>
              <a:rPr b="0">
                <a:solidFill>
                  <a:srgbClr val="BED6F0"/>
                </a:solidFill>
                <a:latin typeface="Aptos"/>
              </a:rPr>
              <a:t>Original Figure 5 · S3-FIFO architecture</a:t>
            </a:r>
            <a:endParaRPr b="0">
              <a:solidFill>
                <a:srgbClr val="BED6F0"/>
              </a:solidFill>
              <a:latin typeface="Aptos"/>
            </a:endParaRPr>
          </a:p>
          <a:p>
            <a:pPr algn="l">
              <a:lnSpc>
                <a:spcPct val="112000"/>
              </a:lnSpc>
              <a:spcBef>
                <a:spcPts val="0"/>
              </a:spcBef>
              <a:spcAft>
                <a:spcPts val="500"/>
              </a:spcAft>
            </a:pPr>
            <a:r>
              <a:rPr b="0">
                <a:solidFill>
                  <a:srgbClr val="BED6F0"/>
                </a:solidFill>
                <a:latin typeface="Aptos"/>
              </a:rPr>
              <a:t>Source: Yang et al., SOSP 2023</a:t>
            </a:r>
            <a:endParaRPr b="0">
              <a:solidFill>
                <a:srgbClr val="BED6F0"/>
              </a:solidFill>
              <a:latin typeface="Aptos"/>
            </a:endParaRPr>
          </a:p>
        </p:txBody>
      </p:sp>
      <p:sp>
        <p:nvSpPr>
          <p:cNvPr id="11" name="TextBox 10"/>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endParaRPr sz="850" b="0">
              <a:solidFill>
                <a:srgbClr val="B8CBE0"/>
              </a:solidFill>
              <a:latin typeface="Aptos"/>
            </a:endParaRPr>
          </a:p>
        </p:txBody>
      </p:sp>
      <p:sp>
        <p:nvSpPr>
          <p:cNvPr id="12" name="TextBox 11"/>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B8CBE0"/>
                </a:solidFill>
                <a:latin typeface="Aptos"/>
              </a:rPr>
              <a:t>Slide 1</a:t>
            </a:r>
            <a:endParaRPr sz="850" b="0">
              <a:solidFill>
                <a:srgbClr val="B8CBE0"/>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Opening</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Team Structure &amp; Timing</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Three speakers follow the supplied script: background, algorithm, then evaluation.</a:t>
            </a:r>
            <a:endParaRPr sz="1400" b="0">
              <a:solidFill>
                <a:srgbClr val="5B6472"/>
              </a:solidFill>
              <a:latin typeface="Aptos"/>
            </a:endParaRPr>
          </a:p>
        </p:txBody>
      </p:sp>
      <p:sp>
        <p:nvSpPr>
          <p:cNvPr id="7" name="Rounded Rectangle 6"/>
          <p:cNvSpPr/>
          <p:nvPr/>
        </p:nvSpPr>
        <p:spPr>
          <a:xfrm>
            <a:off x="685800" y="1764792"/>
            <a:ext cx="10789920" cy="352044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32688" y="1993392"/>
            <a:ext cx="1828800" cy="320040"/>
          </a:xfrm>
          <a:prstGeom prst="rect">
            <a:avLst/>
          </a:prstGeom>
          <a:noFill/>
        </p:spPr>
        <p:txBody>
          <a:bodyPr wrap="square" lIns="0" tIns="0" rIns="0" bIns="0">
            <a:spAutoFit/>
          </a:bodyPr>
          <a:lstStyle/>
          <a:p>
            <a:pPr algn="l">
              <a:lnSpc>
                <a:spcPct val="112000"/>
              </a:lnSpc>
              <a:spcBef>
                <a:spcPts val="0"/>
              </a:spcBef>
              <a:spcAft>
                <a:spcPts val="500"/>
              </a:spcAft>
            </a:pPr>
            <a:r>
              <a:rPr sz="1600" b="1">
                <a:solidFill>
                  <a:srgbClr val="5B6472"/>
                </a:solidFill>
                <a:latin typeface="Aptos"/>
              </a:rPr>
              <a:t>Speaker</a:t>
            </a:r>
            <a:endParaRPr sz="1600" b="1">
              <a:solidFill>
                <a:srgbClr val="5B6472"/>
              </a:solidFill>
              <a:latin typeface="Aptos"/>
            </a:endParaRPr>
          </a:p>
        </p:txBody>
      </p:sp>
      <p:sp>
        <p:nvSpPr>
          <p:cNvPr id="10" name="TextBox 9"/>
          <p:cNvSpPr txBox="1"/>
          <p:nvPr/>
        </p:nvSpPr>
        <p:spPr>
          <a:xfrm>
            <a:off x="4224528" y="1993392"/>
            <a:ext cx="6812280" cy="320040"/>
          </a:xfrm>
          <a:prstGeom prst="rect">
            <a:avLst/>
          </a:prstGeom>
          <a:noFill/>
        </p:spPr>
        <p:txBody>
          <a:bodyPr wrap="square" lIns="0" tIns="0" rIns="0" bIns="0">
            <a:spAutoFit/>
          </a:bodyPr>
          <a:lstStyle/>
          <a:p>
            <a:pPr algn="l">
              <a:lnSpc>
                <a:spcPct val="112000"/>
              </a:lnSpc>
              <a:spcBef>
                <a:spcPts val="0"/>
              </a:spcBef>
              <a:spcAft>
                <a:spcPts val="500"/>
              </a:spcAft>
            </a:pPr>
            <a:r>
              <a:rPr sz="1600" b="1">
                <a:solidFill>
                  <a:srgbClr val="5B6472"/>
                </a:solidFill>
                <a:latin typeface="Aptos"/>
              </a:rPr>
              <a:t>Main responsibility</a:t>
            </a:r>
            <a:endParaRPr sz="1600" b="1">
              <a:solidFill>
                <a:srgbClr val="5B6472"/>
              </a:solidFill>
              <a:latin typeface="Aptos"/>
            </a:endParaRPr>
          </a:p>
        </p:txBody>
      </p:sp>
      <p:sp>
        <p:nvSpPr>
          <p:cNvPr id="11" name="Rectangle 10"/>
          <p:cNvSpPr/>
          <p:nvPr>
            <p:custDataLst>
              <p:tags r:id="rId1"/>
            </p:custDataLst>
          </p:nvPr>
        </p:nvSpPr>
        <p:spPr>
          <a:xfrm>
            <a:off x="877824" y="2542032"/>
            <a:ext cx="10378440" cy="685800"/>
          </a:xfrm>
          <a:prstGeom prst="rect">
            <a:avLst/>
          </a:prstGeom>
          <a:solidFill>
            <a:srgbClr val="F1F6FD"/>
          </a:solidFill>
          <a:ln>
            <a:noFill/>
          </a:ln>
        </p:spPr>
        <p:txBody>
          <a:bodyPr rtlCol="0" anchor="ctr"/>
          <a:lstStyle/>
          <a:p>
            <a:pPr algn="ctr"/>
          </a:p>
        </p:txBody>
      </p:sp>
      <p:sp>
        <p:nvSpPr>
          <p:cNvPr id="12" name="TextBox 11"/>
          <p:cNvSpPr txBox="1"/>
          <p:nvPr>
            <p:custDataLst>
              <p:tags r:id="rId2"/>
            </p:custDataLst>
          </p:nvPr>
        </p:nvSpPr>
        <p:spPr>
          <a:xfrm>
            <a:off x="950976" y="2615184"/>
            <a:ext cx="1783080" cy="361315"/>
          </a:xfrm>
          <a:prstGeom prst="rect">
            <a:avLst/>
          </a:prstGeom>
          <a:noFill/>
        </p:spPr>
        <p:txBody>
          <a:bodyPr wrap="square" lIns="0" tIns="0" rIns="0" bIns="0">
            <a:spAutoFit/>
          </a:bodyPr>
          <a:lstStyle/>
          <a:p>
            <a:pPr algn="l">
              <a:lnSpc>
                <a:spcPct val="112000"/>
              </a:lnSpc>
              <a:spcBef>
                <a:spcPts val="0"/>
              </a:spcBef>
              <a:spcAft>
                <a:spcPts val="500"/>
              </a:spcAft>
            </a:pPr>
            <a:r>
              <a:rPr lang="en-US" sz="2100" b="1">
                <a:solidFill>
                  <a:schemeClr val="tx1"/>
                </a:solidFill>
                <a:latin typeface="Aptos"/>
                <a:sym typeface="+mn-ea"/>
              </a:rPr>
              <a:t>Xia Youran</a:t>
            </a:r>
            <a:endParaRPr lang="en-US" sz="2100" b="1">
              <a:solidFill>
                <a:schemeClr val="tx1"/>
              </a:solidFill>
              <a:latin typeface="Aptos"/>
              <a:sym typeface="+mn-ea"/>
            </a:endParaRPr>
          </a:p>
        </p:txBody>
      </p:sp>
      <p:sp>
        <p:nvSpPr>
          <p:cNvPr id="14" name="TextBox 13"/>
          <p:cNvSpPr txBox="1"/>
          <p:nvPr>
            <p:custDataLst>
              <p:tags r:id="rId3"/>
            </p:custDataLst>
          </p:nvPr>
        </p:nvSpPr>
        <p:spPr>
          <a:xfrm>
            <a:off x="4224528" y="2615184"/>
            <a:ext cx="6693408" cy="566928"/>
          </a:xfrm>
          <a:prstGeom prst="rect">
            <a:avLst/>
          </a:prstGeom>
          <a:noFill/>
        </p:spPr>
        <p:txBody>
          <a:bodyPr wrap="square" lIns="0" tIns="0" rIns="0" bIns="0">
            <a:spAutoFit/>
          </a:bodyPr>
          <a:lstStyle/>
          <a:p>
            <a:pPr algn="l">
              <a:lnSpc>
                <a:spcPct val="112000"/>
              </a:lnSpc>
              <a:spcBef>
                <a:spcPts val="0"/>
              </a:spcBef>
              <a:spcAft>
                <a:spcPts val="500"/>
              </a:spcAft>
            </a:pPr>
            <a:r>
              <a:rPr sz="1900" b="0">
                <a:solidFill>
                  <a:srgbClr val="172033"/>
                </a:solidFill>
                <a:latin typeface="Aptos"/>
              </a:rPr>
              <a:t>Background, cache eviction, FIFO / LRU, one-hit wonders.</a:t>
            </a:r>
            <a:endParaRPr sz="1900" b="0">
              <a:solidFill>
                <a:srgbClr val="172033"/>
              </a:solidFill>
              <a:latin typeface="Aptos"/>
            </a:endParaRPr>
          </a:p>
        </p:txBody>
      </p:sp>
      <p:sp>
        <p:nvSpPr>
          <p:cNvPr id="15" name="TextBox 14"/>
          <p:cNvSpPr txBox="1"/>
          <p:nvPr>
            <p:custDataLst>
              <p:tags r:id="rId4"/>
            </p:custDataLst>
          </p:nvPr>
        </p:nvSpPr>
        <p:spPr>
          <a:xfrm>
            <a:off x="950976" y="3392424"/>
            <a:ext cx="1783080" cy="361315"/>
          </a:xfrm>
          <a:prstGeom prst="rect">
            <a:avLst/>
          </a:prstGeom>
          <a:noFill/>
        </p:spPr>
        <p:txBody>
          <a:bodyPr wrap="square" lIns="0" tIns="0" rIns="0" bIns="0">
            <a:spAutoFit/>
          </a:bodyPr>
          <a:lstStyle/>
          <a:p>
            <a:pPr algn="l">
              <a:lnSpc>
                <a:spcPct val="112000"/>
              </a:lnSpc>
              <a:spcBef>
                <a:spcPts val="0"/>
              </a:spcBef>
              <a:spcAft>
                <a:spcPts val="500"/>
              </a:spcAft>
            </a:pPr>
            <a:r>
              <a:rPr lang="en-US" sz="2100" b="1">
                <a:solidFill>
                  <a:schemeClr val="tx1"/>
                </a:solidFill>
                <a:latin typeface="Aptos"/>
                <a:sym typeface="+mn-ea"/>
              </a:rPr>
              <a:t>Li Zhiqing </a:t>
            </a:r>
            <a:endParaRPr lang="en-US" sz="2100" b="1">
              <a:solidFill>
                <a:schemeClr val="tx1"/>
              </a:solidFill>
              <a:latin typeface="Aptos"/>
              <a:sym typeface="+mn-ea"/>
            </a:endParaRPr>
          </a:p>
        </p:txBody>
      </p:sp>
      <p:sp>
        <p:nvSpPr>
          <p:cNvPr id="17" name="TextBox 16"/>
          <p:cNvSpPr txBox="1"/>
          <p:nvPr>
            <p:custDataLst>
              <p:tags r:id="rId5"/>
            </p:custDataLst>
          </p:nvPr>
        </p:nvSpPr>
        <p:spPr>
          <a:xfrm>
            <a:off x="4224528" y="3392424"/>
            <a:ext cx="6693408" cy="566928"/>
          </a:xfrm>
          <a:prstGeom prst="rect">
            <a:avLst/>
          </a:prstGeom>
          <a:noFill/>
        </p:spPr>
        <p:txBody>
          <a:bodyPr wrap="square" lIns="0" tIns="0" rIns="0" bIns="0">
            <a:spAutoFit/>
          </a:bodyPr>
          <a:lstStyle/>
          <a:p>
            <a:pPr algn="l">
              <a:lnSpc>
                <a:spcPct val="112000"/>
              </a:lnSpc>
              <a:spcBef>
                <a:spcPts val="0"/>
              </a:spcBef>
              <a:spcAft>
                <a:spcPts val="500"/>
              </a:spcAft>
            </a:pPr>
            <a:r>
              <a:rPr sz="1900" b="0">
                <a:solidFill>
                  <a:srgbClr val="172033"/>
                </a:solidFill>
                <a:latin typeface="Aptos"/>
              </a:rPr>
              <a:t>Three FIFO queues, cache requests and eviction rules.</a:t>
            </a:r>
            <a:endParaRPr sz="1900" b="0">
              <a:solidFill>
                <a:srgbClr val="172033"/>
              </a:solidFill>
              <a:latin typeface="Aptos"/>
            </a:endParaRPr>
          </a:p>
        </p:txBody>
      </p:sp>
      <p:sp>
        <p:nvSpPr>
          <p:cNvPr id="18" name="Rectangle 17"/>
          <p:cNvSpPr/>
          <p:nvPr>
            <p:custDataLst>
              <p:tags r:id="rId6"/>
            </p:custDataLst>
          </p:nvPr>
        </p:nvSpPr>
        <p:spPr>
          <a:xfrm>
            <a:off x="877824" y="4096511"/>
            <a:ext cx="10378440" cy="685800"/>
          </a:xfrm>
          <a:prstGeom prst="rect">
            <a:avLst/>
          </a:prstGeom>
          <a:solidFill>
            <a:srgbClr val="F1F6FD"/>
          </a:solidFill>
          <a:ln>
            <a:noFill/>
          </a:ln>
        </p:spPr>
        <p:txBody>
          <a:bodyPr rtlCol="0" anchor="ctr"/>
          <a:lstStyle/>
          <a:p>
            <a:pPr algn="ctr"/>
          </a:p>
        </p:txBody>
      </p:sp>
      <p:sp>
        <p:nvSpPr>
          <p:cNvPr id="19" name="TextBox 18"/>
          <p:cNvSpPr txBox="1"/>
          <p:nvPr>
            <p:custDataLst>
              <p:tags r:id="rId7"/>
            </p:custDataLst>
          </p:nvPr>
        </p:nvSpPr>
        <p:spPr>
          <a:xfrm>
            <a:off x="951230" y="4169410"/>
            <a:ext cx="2619375" cy="361315"/>
          </a:xfrm>
          <a:prstGeom prst="rect">
            <a:avLst/>
          </a:prstGeom>
          <a:noFill/>
        </p:spPr>
        <p:txBody>
          <a:bodyPr wrap="square" lIns="0" tIns="0" rIns="0" bIns="0">
            <a:spAutoFit/>
          </a:bodyPr>
          <a:lstStyle/>
          <a:p>
            <a:pPr algn="l">
              <a:lnSpc>
                <a:spcPct val="112000"/>
              </a:lnSpc>
              <a:spcBef>
                <a:spcPts val="0"/>
              </a:spcBef>
              <a:spcAft>
                <a:spcPts val="500"/>
              </a:spcAft>
            </a:pPr>
            <a:r>
              <a:rPr lang="en-US" sz="2100" b="1">
                <a:solidFill>
                  <a:schemeClr val="tx1"/>
                </a:solidFill>
                <a:latin typeface="Aptos"/>
                <a:sym typeface="+mn-ea"/>
              </a:rPr>
              <a:t>Zhang Xiaocheng</a:t>
            </a:r>
            <a:endParaRPr lang="en-US" sz="2100" b="1">
              <a:solidFill>
                <a:schemeClr val="tx1"/>
              </a:solidFill>
              <a:latin typeface="Aptos"/>
              <a:sym typeface="+mn-ea"/>
            </a:endParaRPr>
          </a:p>
        </p:txBody>
      </p:sp>
      <p:sp>
        <p:nvSpPr>
          <p:cNvPr id="21" name="TextBox 20"/>
          <p:cNvSpPr txBox="1"/>
          <p:nvPr>
            <p:custDataLst>
              <p:tags r:id="rId8"/>
            </p:custDataLst>
          </p:nvPr>
        </p:nvSpPr>
        <p:spPr>
          <a:xfrm>
            <a:off x="4224528" y="4169663"/>
            <a:ext cx="6693408" cy="566928"/>
          </a:xfrm>
          <a:prstGeom prst="rect">
            <a:avLst/>
          </a:prstGeom>
          <a:noFill/>
        </p:spPr>
        <p:txBody>
          <a:bodyPr wrap="square" lIns="0" tIns="0" rIns="0" bIns="0">
            <a:spAutoFit/>
          </a:bodyPr>
          <a:lstStyle/>
          <a:p>
            <a:pPr algn="l">
              <a:lnSpc>
                <a:spcPct val="112000"/>
              </a:lnSpc>
              <a:spcBef>
                <a:spcPts val="0"/>
              </a:spcBef>
              <a:spcAft>
                <a:spcPts val="500"/>
              </a:spcAft>
            </a:pPr>
            <a:r>
              <a:rPr sz="1900" b="0">
                <a:solidFill>
                  <a:srgbClr val="172033"/>
                </a:solidFill>
                <a:latin typeface="Aptos"/>
              </a:rPr>
              <a:t>Experimental setup, results, limitations and conclusion.</a:t>
            </a:r>
            <a:endParaRPr sz="1900" b="0">
              <a:solidFill>
                <a:srgbClr val="172033"/>
              </a:solidFill>
              <a:latin typeface="Aptos"/>
            </a:endParaRP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13294B"/>
                </a:solidFill>
                <a:latin typeface="Aptos"/>
              </a:rPr>
              <a:t>10-minute theoretical presentation · Results are reported by the original paper’s authors.</a:t>
            </a:r>
            <a:endParaRPr sz="1500" b="1">
              <a:solidFill>
                <a:srgbClr val="13294B"/>
              </a:solidFill>
              <a:latin typeface="Aptos"/>
            </a:endParaRPr>
          </a:p>
        </p:txBody>
      </p:sp>
      <p:sp>
        <p:nvSpPr>
          <p:cNvPr id="24" name="TextBox 23"/>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25" name="TextBox 24"/>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2</a:t>
            </a:r>
            <a:endParaRPr sz="850" b="0">
              <a:solidFill>
                <a:srgbClr val="738096"/>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tIns="0" rIns="0" bIns="0">
            <a:spAutoFit/>
          </a:bodyPr>
          <a:lstStyle/>
          <a:p>
            <a:pPr algn="l">
              <a:lnSpc>
                <a:spcPct val="112000"/>
              </a:lnSpc>
              <a:spcBef>
                <a:spcPts val="0"/>
              </a:spcBef>
              <a:spcAft>
                <a:spcPts val="500"/>
              </a:spcAft>
            </a:pPr>
            <a:r>
              <a:rPr sz="1600" b="1">
                <a:solidFill>
                  <a:srgbClr val="F5B841"/>
                </a:solidFill>
                <a:latin typeface="Aptos"/>
              </a:rPr>
              <a:t>PART 1 · MEMBER 1</a:t>
            </a:r>
            <a:endParaRPr sz="1600" b="1">
              <a:solidFill>
                <a:srgbClr val="F5B841"/>
              </a:solidFill>
              <a:latin typeface="Aptos"/>
            </a:endParaRPr>
          </a:p>
        </p:txBody>
      </p:sp>
      <p:sp>
        <p:nvSpPr>
          <p:cNvPr id="3" name="TextBox 2"/>
          <p:cNvSpPr txBox="1"/>
          <p:nvPr/>
        </p:nvSpPr>
        <p:spPr>
          <a:xfrm>
            <a:off x="713232" y="1737360"/>
            <a:ext cx="10652760" cy="1005840"/>
          </a:xfrm>
          <a:prstGeom prst="rect">
            <a:avLst/>
          </a:prstGeom>
          <a:noFill/>
        </p:spPr>
        <p:txBody>
          <a:bodyPr wrap="square" lIns="0" tIns="0" rIns="0" bIns="0">
            <a:spAutoFit/>
          </a:bodyPr>
          <a:lstStyle/>
          <a:p>
            <a:pPr algn="l">
              <a:lnSpc>
                <a:spcPct val="112000"/>
              </a:lnSpc>
              <a:spcBef>
                <a:spcPts val="0"/>
              </a:spcBef>
              <a:spcAft>
                <a:spcPts val="500"/>
              </a:spcAft>
            </a:pPr>
            <a:r>
              <a:rPr sz="3700" b="1">
                <a:solidFill>
                  <a:srgbClr val="FFFFFF"/>
                </a:solidFill>
                <a:latin typeface="Aptos Display"/>
              </a:rPr>
              <a:t>Background &amp; Motivation</a:t>
            </a:r>
            <a:endParaRPr sz="3700" b="1">
              <a:solidFill>
                <a:srgbClr val="FFFFFF"/>
              </a:solidFill>
              <a:latin typeface="Aptos Display"/>
            </a:endParaRPr>
          </a:p>
        </p:txBody>
      </p:sp>
      <p:sp>
        <p:nvSpPr>
          <p:cNvPr id="4" name="TextBox 3"/>
          <p:cNvSpPr txBox="1"/>
          <p:nvPr/>
        </p:nvSpPr>
        <p:spPr>
          <a:xfrm>
            <a:off x="777240" y="2871216"/>
            <a:ext cx="9784080" cy="822960"/>
          </a:xfrm>
          <a:prstGeom prst="rect">
            <a:avLst/>
          </a:prstGeom>
          <a:noFill/>
        </p:spPr>
        <p:txBody>
          <a:bodyPr wrap="square" lIns="0" tIns="0" rIns="0" bIns="0">
            <a:spAutoFit/>
          </a:bodyPr>
          <a:lstStyle/>
          <a:p>
            <a:pPr algn="l">
              <a:lnSpc>
                <a:spcPct val="112000"/>
              </a:lnSpc>
              <a:spcBef>
                <a:spcPts val="0"/>
              </a:spcBef>
              <a:spcAft>
                <a:spcPts val="500"/>
              </a:spcAft>
            </a:pPr>
            <a:r>
              <a:rPr sz="2100" b="0">
                <a:solidFill>
                  <a:srgbClr val="BED6F0"/>
                </a:solidFill>
                <a:latin typeface="Aptos"/>
              </a:rPr>
              <a:t>Why does a cache need a better eviction policy?</a:t>
            </a:r>
            <a:endParaRPr sz="2100" b="0">
              <a:solidFill>
                <a:srgbClr val="BED6F0"/>
              </a:solidFill>
              <a:latin typeface="Aptos"/>
            </a:endParaRP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tIns="0" rIns="0" bIns="0">
            <a:spAutoFit/>
          </a:bodyPr>
          <a:lstStyle/>
          <a:p>
            <a:pPr algn="l">
              <a:lnSpc>
                <a:spcPct val="112000"/>
              </a:lnSpc>
              <a:spcBef>
                <a:spcPts val="0"/>
              </a:spcBef>
              <a:spcAft>
                <a:spcPts val="500"/>
              </a:spcAft>
            </a:pPr>
            <a:r>
              <a:rPr sz="1500" b="0">
                <a:solidFill>
                  <a:srgbClr val="BED6F0"/>
                </a:solidFill>
                <a:latin typeface="Aptos"/>
              </a:rPr>
              <a:t>Background → FIFO vs LRU → One-hit Wonders</a:t>
            </a:r>
            <a:endParaRPr sz="1500" b="0">
              <a:solidFill>
                <a:srgbClr val="BED6F0"/>
              </a:solidFill>
              <a:latin typeface="Aptos"/>
            </a:endParaRPr>
          </a:p>
        </p:txBody>
      </p:sp>
      <p:sp>
        <p:nvSpPr>
          <p:cNvPr id="7" name="TextBox 6"/>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endParaRPr sz="850" b="0">
              <a:solidFill>
                <a:srgbClr val="B8CBE0"/>
              </a:solidFill>
              <a:latin typeface="Aptos"/>
            </a:endParaRPr>
          </a:p>
        </p:txBody>
      </p:sp>
      <p:sp>
        <p:nvSpPr>
          <p:cNvPr id="8" name="TextBox 7"/>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B8CBE0"/>
                </a:solidFill>
                <a:latin typeface="Aptos"/>
              </a:rPr>
              <a:t>Slide 3</a:t>
            </a:r>
            <a:endParaRPr sz="850" b="0">
              <a:solidFill>
                <a:srgbClr val="B8CBE0"/>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1 · Background</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What Is Cache Eviction?</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Cache space is fast but limited; the system must decide what stays and what goes.</a:t>
            </a:r>
            <a:endParaRPr sz="1400" b="0">
              <a:solidFill>
                <a:srgbClr val="5B6472"/>
              </a:solidFill>
              <a:latin typeface="Aptos"/>
            </a:endParaRPr>
          </a:p>
        </p:txBody>
      </p:sp>
      <p:sp>
        <p:nvSpPr>
          <p:cNvPr id="7" name="Rounded Rectangle 6"/>
          <p:cNvSpPr/>
          <p:nvPr/>
        </p:nvSpPr>
        <p:spPr>
          <a:xfrm>
            <a:off x="685800" y="1773936"/>
            <a:ext cx="5074920"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66543"/>
            <a:ext cx="4471416" cy="2999232"/>
          </a:xfrm>
          <a:prstGeom prst="rect">
            <a:avLst/>
          </a:prstGeom>
          <a:noFill/>
        </p:spPr>
        <p:txBody>
          <a:bodyPr wrap="square" lIns="0" tIns="0" rIns="0" bIns="0">
            <a:spAutoFit/>
          </a:bodyPr>
          <a:lstStyle/>
          <a:p>
            <a:pPr algn="l">
              <a:lnSpc>
                <a:spcPct val="114000"/>
              </a:lnSpc>
              <a:spcBef>
                <a:spcPts val="0"/>
              </a:spcBef>
              <a:spcAft>
                <a:spcPts val="1700"/>
              </a:spcAft>
            </a:pPr>
            <a:r>
              <a:rPr sz="2200">
                <a:solidFill>
                  <a:srgbClr val="172033"/>
                </a:solidFill>
                <a:latin typeface="Aptos"/>
              </a:rPr>
              <a:t>A cache is a small and fast storage space that keeps data we may need again.</a:t>
            </a:r>
            <a:endParaRPr sz="2200">
              <a:solidFill>
                <a:srgbClr val="172033"/>
              </a:solidFill>
              <a:latin typeface="Aptos"/>
            </a:endParaRPr>
          </a:p>
          <a:p>
            <a:pPr>
              <a:lnSpc>
                <a:spcPct val="114000"/>
              </a:lnSpc>
              <a:spcAft>
                <a:spcPts val="1700"/>
              </a:spcAft>
            </a:pPr>
            <a:r>
              <a:rPr sz="2200">
                <a:solidFill>
                  <a:srgbClr val="172033"/>
                </a:solidFill>
                <a:latin typeface="Aptos"/>
              </a:rPr>
              <a:t>When the cache is full, the system must decide which data to remove.</a:t>
            </a:r>
            <a:endParaRPr sz="2200">
              <a:solidFill>
                <a:srgbClr val="172033"/>
              </a:solidFill>
              <a:latin typeface="Aptos"/>
            </a:endParaRPr>
          </a:p>
          <a:p>
            <a:pPr>
              <a:lnSpc>
                <a:spcPct val="114000"/>
              </a:lnSpc>
              <a:spcAft>
                <a:spcPts val="1700"/>
              </a:spcAft>
            </a:pPr>
            <a:r>
              <a:rPr sz="2200">
                <a:solidFill>
                  <a:srgbClr val="172033"/>
                </a:solidFill>
                <a:latin typeface="Aptos"/>
              </a:rPr>
              <a:t>This process is called cache eviction.</a:t>
            </a:r>
            <a:endParaRPr sz="2200">
              <a:solidFill>
                <a:srgbClr val="172033"/>
              </a:solidFill>
              <a:latin typeface="Aptos"/>
            </a:endParaRPr>
          </a:p>
        </p:txBody>
      </p:sp>
      <p:sp>
        <p:nvSpPr>
          <p:cNvPr id="9" name="Rounded Rectangle 8"/>
          <p:cNvSpPr/>
          <p:nvPr/>
        </p:nvSpPr>
        <p:spPr>
          <a:xfrm>
            <a:off x="5971032" y="1773936"/>
            <a:ext cx="5504688"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6245352" y="2093976"/>
            <a:ext cx="4937760" cy="320040"/>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5B6472"/>
                </a:solidFill>
                <a:latin typeface="Aptos"/>
              </a:rPr>
              <a:t>CACHE: ALL SLOTS OCCUPIED</a:t>
            </a:r>
            <a:endParaRPr sz="1500" b="1">
              <a:solidFill>
                <a:srgbClr val="5B6472"/>
              </a:solidFill>
              <a:latin typeface="Aptos"/>
            </a:endParaRPr>
          </a:p>
        </p:txBody>
      </p:sp>
      <p:sp>
        <p:nvSpPr>
          <p:cNvPr id="11" name="Rounded Rectangle 10"/>
          <p:cNvSpPr/>
          <p:nvPr/>
        </p:nvSpPr>
        <p:spPr>
          <a:xfrm>
            <a:off x="6309360"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2" name="TextBox 11"/>
          <p:cNvSpPr txBox="1"/>
          <p:nvPr/>
        </p:nvSpPr>
        <p:spPr>
          <a:xfrm>
            <a:off x="6419088" y="2980944"/>
            <a:ext cx="676656" cy="731520"/>
          </a:xfrm>
          <a:prstGeom prst="rect">
            <a:avLst/>
          </a:prstGeom>
          <a:noFill/>
        </p:spPr>
        <p:txBody>
          <a:bodyPr wrap="square" lIns="0" tIns="0" rIns="0" bIns="0">
            <a:spAutoFit/>
          </a:bodyPr>
          <a:lstStyle/>
          <a:p>
            <a:pPr algn="ctr">
              <a:lnSpc>
                <a:spcPct val="112000"/>
              </a:lnSpc>
              <a:spcBef>
                <a:spcPts val="0"/>
              </a:spcBef>
              <a:spcAft>
                <a:spcPts val="500"/>
              </a:spcAft>
            </a:pPr>
            <a:r>
              <a:rPr sz="2800" b="1">
                <a:solidFill>
                  <a:srgbClr val="2D6DAF"/>
                </a:solidFill>
                <a:latin typeface="Aptos"/>
              </a:rPr>
              <a:t>A</a:t>
            </a:r>
            <a:endParaRPr sz="2800" b="1">
              <a:solidFill>
                <a:srgbClr val="2D6DAF"/>
              </a:solidFill>
              <a:latin typeface="Aptos"/>
            </a:endParaRPr>
          </a:p>
        </p:txBody>
      </p:sp>
      <p:sp>
        <p:nvSpPr>
          <p:cNvPr id="13" name="Rounded Rectangle 12"/>
          <p:cNvSpPr/>
          <p:nvPr/>
        </p:nvSpPr>
        <p:spPr>
          <a:xfrm>
            <a:off x="7415783"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4" name="TextBox 13"/>
          <p:cNvSpPr txBox="1"/>
          <p:nvPr/>
        </p:nvSpPr>
        <p:spPr>
          <a:xfrm>
            <a:off x="7525511" y="2980944"/>
            <a:ext cx="676656" cy="731520"/>
          </a:xfrm>
          <a:prstGeom prst="rect">
            <a:avLst/>
          </a:prstGeom>
          <a:noFill/>
        </p:spPr>
        <p:txBody>
          <a:bodyPr wrap="square" lIns="0" tIns="0" rIns="0" bIns="0">
            <a:spAutoFit/>
          </a:bodyPr>
          <a:lstStyle/>
          <a:p>
            <a:pPr algn="ctr">
              <a:lnSpc>
                <a:spcPct val="112000"/>
              </a:lnSpc>
              <a:spcBef>
                <a:spcPts val="0"/>
              </a:spcBef>
              <a:spcAft>
                <a:spcPts val="500"/>
              </a:spcAft>
            </a:pPr>
            <a:r>
              <a:rPr sz="2800" b="1">
                <a:solidFill>
                  <a:srgbClr val="2D6DAF"/>
                </a:solidFill>
                <a:latin typeface="Aptos"/>
              </a:rPr>
              <a:t>B</a:t>
            </a:r>
            <a:endParaRPr sz="2800" b="1">
              <a:solidFill>
                <a:srgbClr val="2D6DAF"/>
              </a:solidFill>
              <a:latin typeface="Aptos"/>
            </a:endParaRPr>
          </a:p>
        </p:txBody>
      </p:sp>
      <p:sp>
        <p:nvSpPr>
          <p:cNvPr id="15" name="Rounded Rectangle 14"/>
          <p:cNvSpPr/>
          <p:nvPr/>
        </p:nvSpPr>
        <p:spPr>
          <a:xfrm>
            <a:off x="8522208"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8631936" y="2980944"/>
            <a:ext cx="676656" cy="731520"/>
          </a:xfrm>
          <a:prstGeom prst="rect">
            <a:avLst/>
          </a:prstGeom>
          <a:noFill/>
        </p:spPr>
        <p:txBody>
          <a:bodyPr wrap="square" lIns="0" tIns="0" rIns="0" bIns="0">
            <a:spAutoFit/>
          </a:bodyPr>
          <a:lstStyle/>
          <a:p>
            <a:pPr algn="ctr">
              <a:lnSpc>
                <a:spcPct val="112000"/>
              </a:lnSpc>
              <a:spcBef>
                <a:spcPts val="0"/>
              </a:spcBef>
              <a:spcAft>
                <a:spcPts val="500"/>
              </a:spcAft>
            </a:pPr>
            <a:r>
              <a:rPr sz="2800" b="1">
                <a:solidFill>
                  <a:srgbClr val="2D6DAF"/>
                </a:solidFill>
                <a:latin typeface="Aptos"/>
              </a:rPr>
              <a:t>C</a:t>
            </a:r>
            <a:endParaRPr sz="2800" b="1">
              <a:solidFill>
                <a:srgbClr val="2D6DAF"/>
              </a:solidFill>
              <a:latin typeface="Aptos"/>
            </a:endParaRPr>
          </a:p>
        </p:txBody>
      </p:sp>
      <p:sp>
        <p:nvSpPr>
          <p:cNvPr id="17" name="Rounded Rectangle 16"/>
          <p:cNvSpPr/>
          <p:nvPr/>
        </p:nvSpPr>
        <p:spPr>
          <a:xfrm>
            <a:off x="10351008" y="2834640"/>
            <a:ext cx="850392" cy="91440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8" name="TextBox 17"/>
          <p:cNvSpPr txBox="1"/>
          <p:nvPr/>
        </p:nvSpPr>
        <p:spPr>
          <a:xfrm>
            <a:off x="10460736" y="2980944"/>
            <a:ext cx="630936" cy="731520"/>
          </a:xfrm>
          <a:prstGeom prst="rect">
            <a:avLst/>
          </a:prstGeom>
          <a:noFill/>
        </p:spPr>
        <p:txBody>
          <a:bodyPr wrap="square" lIns="0" tIns="0" rIns="0" bIns="0">
            <a:spAutoFit/>
          </a:bodyPr>
          <a:lstStyle/>
          <a:p>
            <a:pPr algn="ctr">
              <a:lnSpc>
                <a:spcPct val="112000"/>
              </a:lnSpc>
              <a:spcBef>
                <a:spcPts val="0"/>
              </a:spcBef>
              <a:spcAft>
                <a:spcPts val="500"/>
              </a:spcAft>
            </a:pPr>
            <a:r>
              <a:rPr sz="2800" b="1">
                <a:solidFill>
                  <a:srgbClr val="D9852A"/>
                </a:solidFill>
                <a:latin typeface="Aptos"/>
              </a:rPr>
              <a:t>D</a:t>
            </a:r>
            <a:endParaRPr sz="2800" b="1">
              <a:solidFill>
                <a:srgbClr val="D9852A"/>
              </a:solidFill>
              <a:latin typeface="Aptos"/>
            </a:endParaRPr>
          </a:p>
        </p:txBody>
      </p:sp>
      <p:cxnSp>
        <p:nvCxnSpPr>
          <p:cNvPr id="19" name="Connector 18"/>
          <p:cNvCxnSpPr/>
          <p:nvPr/>
        </p:nvCxnSpPr>
        <p:spPr>
          <a:xfrm flipH="1">
            <a:off x="9619488" y="3291840"/>
            <a:ext cx="603504" cy="0"/>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030968" y="3968496"/>
            <a:ext cx="1463040" cy="365760"/>
          </a:xfrm>
          <a:prstGeom prst="rect">
            <a:avLst/>
          </a:prstGeom>
          <a:noFill/>
        </p:spPr>
        <p:txBody>
          <a:bodyPr wrap="square" lIns="0" tIns="0" rIns="0" bIns="0">
            <a:spAutoFit/>
          </a:bodyPr>
          <a:lstStyle/>
          <a:p>
            <a:pPr algn="ctr">
              <a:lnSpc>
                <a:spcPct val="112000"/>
              </a:lnSpc>
              <a:spcBef>
                <a:spcPts val="0"/>
              </a:spcBef>
              <a:spcAft>
                <a:spcPts val="500"/>
              </a:spcAft>
            </a:pPr>
            <a:r>
              <a:rPr sz="1400" b="0">
                <a:solidFill>
                  <a:srgbClr val="D9852A"/>
                </a:solidFill>
                <a:latin typeface="Aptos"/>
              </a:rPr>
              <a:t>New object</a:t>
            </a:r>
            <a:endParaRPr sz="1400" b="0">
              <a:solidFill>
                <a:srgbClr val="D9852A"/>
              </a:solidFill>
              <a:latin typeface="Aptos"/>
            </a:endParaRPr>
          </a:p>
        </p:txBody>
      </p:sp>
      <p:sp>
        <p:nvSpPr>
          <p:cNvPr id="21" name="TextBox 20"/>
          <p:cNvSpPr txBox="1"/>
          <p:nvPr/>
        </p:nvSpPr>
        <p:spPr>
          <a:xfrm>
            <a:off x="6336792" y="4599432"/>
            <a:ext cx="4718304" cy="548640"/>
          </a:xfrm>
          <a:prstGeom prst="rect">
            <a:avLst/>
          </a:prstGeom>
          <a:noFill/>
        </p:spPr>
        <p:txBody>
          <a:bodyPr wrap="square" lIns="0" tIns="0" rIns="0" bIns="0">
            <a:spAutoFit/>
          </a:bodyPr>
          <a:lstStyle/>
          <a:p>
            <a:pPr algn="l">
              <a:lnSpc>
                <a:spcPct val="112000"/>
              </a:lnSpc>
              <a:spcBef>
                <a:spcPts val="0"/>
              </a:spcBef>
              <a:spcAft>
                <a:spcPts val="500"/>
              </a:spcAft>
            </a:pPr>
            <a:r>
              <a:rPr sz="2200" b="1">
                <a:solidFill>
                  <a:srgbClr val="172033"/>
                </a:solidFill>
                <a:latin typeface="Aptos"/>
              </a:rPr>
              <a:t>Which object should leave?</a:t>
            </a:r>
            <a:endParaRPr sz="2200" b="1">
              <a:solidFill>
                <a:srgbClr val="172033"/>
              </a:solidFill>
              <a:latin typeface="Aptos"/>
            </a:endParaRP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13294B"/>
                </a:solidFill>
                <a:latin typeface="Aptos"/>
              </a:rPr>
              <a:t>Key question: what should stay in the cache, and what should go?</a:t>
            </a:r>
            <a:endParaRPr sz="1500" b="1">
              <a:solidFill>
                <a:srgbClr val="13294B"/>
              </a:solidFill>
              <a:latin typeface="Aptos"/>
            </a:endParaRPr>
          </a:p>
        </p:txBody>
      </p:sp>
      <p:sp>
        <p:nvSpPr>
          <p:cNvPr id="24" name="TextBox 23"/>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Yang et al., SOSP 2023, §§1–2.</a:t>
            </a:r>
            <a:endParaRPr sz="920" b="0">
              <a:solidFill>
                <a:srgbClr val="738096"/>
              </a:solidFill>
              <a:latin typeface="Aptos"/>
            </a:endParaRPr>
          </a:p>
        </p:txBody>
      </p:sp>
      <p:sp>
        <p:nvSpPr>
          <p:cNvPr id="25" name="TextBox 24"/>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26" name="TextBox 25"/>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4</a:t>
            </a:r>
            <a:endParaRPr sz="850" b="0">
              <a:solidFill>
                <a:srgbClr val="738096"/>
              </a:solidFill>
              <a:latin typeface="Aptos"/>
            </a:endParaRPr>
          </a:p>
        </p:txBody>
      </p:sp>
      <p:sp>
        <p:nvSpPr>
          <p:cNvPr id="27" name="Rounded Rectangle 6"/>
          <p:cNvSpPr/>
          <p:nvPr/>
        </p:nvSpPr>
        <p:spPr>
          <a:xfrm>
            <a:off x="812800" y="1900936"/>
            <a:ext cx="5074920"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28" name="Rectangle 26"/>
          <p:cNvSpPr/>
          <p:nvPr/>
        </p:nvSpPr>
        <p:spPr>
          <a:xfrm>
            <a:off x="932688" y="2011680"/>
            <a:ext cx="41148" cy="219456"/>
          </a:xfrm>
          <a:prstGeom prst="rect">
            <a:avLst/>
          </a:prstGeom>
          <a:solidFill>
            <a:srgbClr val="238B6D"/>
          </a:solidFill>
          <a:ln>
            <a:noFill/>
          </a:ln>
        </p:spPr>
        <p:txBody>
          <a:bodyPr rtlCol="0" anchor="ctr"/>
          <a:lstStyle/>
          <a:p>
            <a:pPr algn="ctr"/>
          </a:p>
        </p:txBody>
      </p:sp>
      <p:sp>
        <p:nvSpPr>
          <p:cNvPr id="29" name="TextBox 27"/>
          <p:cNvSpPr txBox="1"/>
          <p:nvPr/>
        </p:nvSpPr>
        <p:spPr>
          <a:xfrm>
            <a:off x="1088136" y="1975104"/>
            <a:ext cx="4398264" cy="329184"/>
          </a:xfrm>
          <a:prstGeom prst="rect">
            <a:avLst/>
          </a:prstGeom>
          <a:noFill/>
        </p:spPr>
        <p:txBody>
          <a:bodyPr wrap="square" lIns="0" tIns="0" rIns="0" bIns="0">
            <a:spAutoFit/>
          </a:bodyPr>
          <a:lstStyle/>
          <a:p>
            <a:pPr>
              <a:lnSpc>
                <a:spcPct val="110000"/>
              </a:lnSpc>
              <a:spcAft>
                <a:spcPts val="0"/>
              </a:spcAft>
            </a:pPr>
            <a:r>
              <a:rPr sz="1800" b="1">
                <a:solidFill>
                  <a:srgbClr val="13294B"/>
                </a:solidFill>
                <a:latin typeface="Aptos"/>
              </a:rPr>
              <a:t>Small &amp; fast cache</a:t>
            </a:r>
            <a:endParaRPr sz="1800" b="1">
              <a:solidFill>
                <a:srgbClr val="13294B"/>
              </a:solidFill>
              <a:latin typeface="Aptos"/>
            </a:endParaRPr>
          </a:p>
        </p:txBody>
      </p:sp>
      <p:sp>
        <p:nvSpPr>
          <p:cNvPr id="30" name="TextBox 28"/>
          <p:cNvSpPr txBox="1"/>
          <p:nvPr/>
        </p:nvSpPr>
        <p:spPr>
          <a:xfrm>
            <a:off x="1088136" y="2340864"/>
            <a:ext cx="4398264" cy="832104"/>
          </a:xfrm>
          <a:prstGeom prst="rect">
            <a:avLst/>
          </a:prstGeom>
          <a:noFill/>
        </p:spPr>
        <p:txBody>
          <a:bodyPr wrap="square" lIns="0" tIns="0" rIns="0" bIns="0">
            <a:spAutoFit/>
          </a:bodyPr>
          <a:lstStyle/>
          <a:p>
            <a:pPr>
              <a:lnSpc>
                <a:spcPct val="110000"/>
              </a:lnSpc>
              <a:spcAft>
                <a:spcPts val="0"/>
              </a:spcAft>
            </a:pPr>
            <a:r>
              <a:rPr sz="1800" b="0">
                <a:solidFill>
                  <a:srgbClr val="172033"/>
                </a:solidFill>
                <a:latin typeface="Aptos"/>
              </a:rPr>
              <a:t>A cache is a small and fast storage space that keeps data we may need again.</a:t>
            </a:r>
            <a:endParaRPr sz="1800" b="0">
              <a:solidFill>
                <a:srgbClr val="172033"/>
              </a:solidFill>
              <a:latin typeface="Aptos"/>
            </a:endParaRPr>
          </a:p>
        </p:txBody>
      </p:sp>
      <p:sp>
        <p:nvSpPr>
          <p:cNvPr id="31" name="Rectangle 29"/>
          <p:cNvSpPr/>
          <p:nvPr/>
        </p:nvSpPr>
        <p:spPr>
          <a:xfrm>
            <a:off x="932688" y="3218688"/>
            <a:ext cx="41148" cy="219456"/>
          </a:xfrm>
          <a:prstGeom prst="rect">
            <a:avLst/>
          </a:prstGeom>
          <a:solidFill>
            <a:srgbClr val="238B6D"/>
          </a:solidFill>
          <a:ln>
            <a:noFill/>
          </a:ln>
        </p:spPr>
        <p:txBody>
          <a:bodyPr rtlCol="0" anchor="ctr"/>
          <a:lstStyle/>
          <a:p>
            <a:pPr algn="ctr"/>
          </a:p>
        </p:txBody>
      </p:sp>
      <p:sp>
        <p:nvSpPr>
          <p:cNvPr id="32" name="TextBox 30"/>
          <p:cNvSpPr txBox="1"/>
          <p:nvPr/>
        </p:nvSpPr>
        <p:spPr>
          <a:xfrm>
            <a:off x="1088136" y="3182112"/>
            <a:ext cx="4398264" cy="329184"/>
          </a:xfrm>
          <a:prstGeom prst="rect">
            <a:avLst/>
          </a:prstGeom>
          <a:noFill/>
        </p:spPr>
        <p:txBody>
          <a:bodyPr wrap="square" lIns="0" tIns="0" rIns="0" bIns="0">
            <a:spAutoFit/>
          </a:bodyPr>
          <a:lstStyle/>
          <a:p>
            <a:pPr>
              <a:lnSpc>
                <a:spcPct val="110000"/>
              </a:lnSpc>
              <a:spcAft>
                <a:spcPts val="0"/>
              </a:spcAft>
            </a:pPr>
            <a:r>
              <a:rPr sz="1800" b="1">
                <a:solidFill>
                  <a:srgbClr val="13294B"/>
                </a:solidFill>
                <a:latin typeface="Aptos"/>
              </a:rPr>
              <a:t>Limited space</a:t>
            </a:r>
            <a:endParaRPr sz="1800" b="1">
              <a:solidFill>
                <a:srgbClr val="13294B"/>
              </a:solidFill>
              <a:latin typeface="Aptos"/>
            </a:endParaRPr>
          </a:p>
        </p:txBody>
      </p:sp>
      <p:sp>
        <p:nvSpPr>
          <p:cNvPr id="33" name="TextBox 31"/>
          <p:cNvSpPr txBox="1"/>
          <p:nvPr/>
        </p:nvSpPr>
        <p:spPr>
          <a:xfrm>
            <a:off x="1088136" y="3547872"/>
            <a:ext cx="4398264" cy="832104"/>
          </a:xfrm>
          <a:prstGeom prst="rect">
            <a:avLst/>
          </a:prstGeom>
          <a:noFill/>
        </p:spPr>
        <p:txBody>
          <a:bodyPr wrap="square" lIns="0" tIns="0" rIns="0" bIns="0">
            <a:spAutoFit/>
          </a:bodyPr>
          <a:lstStyle/>
          <a:p>
            <a:pPr>
              <a:lnSpc>
                <a:spcPct val="110000"/>
              </a:lnSpc>
              <a:spcAft>
                <a:spcPts val="0"/>
              </a:spcAft>
            </a:pPr>
            <a:r>
              <a:rPr sz="1800" b="0">
                <a:solidFill>
                  <a:srgbClr val="172033"/>
                </a:solidFill>
                <a:latin typeface="Aptos"/>
              </a:rPr>
              <a:t>When the cache is full, the system must decide which data to remove.</a:t>
            </a:r>
            <a:endParaRPr sz="1800" b="0">
              <a:solidFill>
                <a:srgbClr val="172033"/>
              </a:solidFill>
              <a:latin typeface="Aptos"/>
            </a:endParaRPr>
          </a:p>
        </p:txBody>
      </p:sp>
      <p:sp>
        <p:nvSpPr>
          <p:cNvPr id="34" name="Rectangle 32"/>
          <p:cNvSpPr/>
          <p:nvPr/>
        </p:nvSpPr>
        <p:spPr>
          <a:xfrm>
            <a:off x="932688" y="4425696"/>
            <a:ext cx="41148" cy="219456"/>
          </a:xfrm>
          <a:prstGeom prst="rect">
            <a:avLst/>
          </a:prstGeom>
          <a:solidFill>
            <a:srgbClr val="238B6D"/>
          </a:solidFill>
          <a:ln>
            <a:noFill/>
          </a:ln>
        </p:spPr>
        <p:txBody>
          <a:bodyPr rtlCol="0" anchor="ctr"/>
          <a:lstStyle/>
          <a:p>
            <a:pPr algn="ctr"/>
          </a:p>
        </p:txBody>
      </p:sp>
      <p:sp>
        <p:nvSpPr>
          <p:cNvPr id="35" name="TextBox 33"/>
          <p:cNvSpPr txBox="1"/>
          <p:nvPr/>
        </p:nvSpPr>
        <p:spPr>
          <a:xfrm>
            <a:off x="1088136" y="4389120"/>
            <a:ext cx="4398264" cy="329184"/>
          </a:xfrm>
          <a:prstGeom prst="rect">
            <a:avLst/>
          </a:prstGeom>
          <a:noFill/>
        </p:spPr>
        <p:txBody>
          <a:bodyPr wrap="square" lIns="0" tIns="0" rIns="0" bIns="0">
            <a:spAutoFit/>
          </a:bodyPr>
          <a:lstStyle/>
          <a:p>
            <a:pPr>
              <a:lnSpc>
                <a:spcPct val="110000"/>
              </a:lnSpc>
              <a:spcAft>
                <a:spcPts val="0"/>
              </a:spcAft>
            </a:pPr>
            <a:r>
              <a:rPr sz="1800" b="1">
                <a:solidFill>
                  <a:srgbClr val="13294B"/>
                </a:solidFill>
                <a:latin typeface="Aptos"/>
              </a:rPr>
              <a:t>Cache eviction</a:t>
            </a:r>
            <a:endParaRPr sz="1800" b="1">
              <a:solidFill>
                <a:srgbClr val="13294B"/>
              </a:solidFill>
              <a:latin typeface="Aptos"/>
            </a:endParaRPr>
          </a:p>
        </p:txBody>
      </p:sp>
      <p:sp>
        <p:nvSpPr>
          <p:cNvPr id="36" name="TextBox 34"/>
          <p:cNvSpPr txBox="1"/>
          <p:nvPr/>
        </p:nvSpPr>
        <p:spPr>
          <a:xfrm>
            <a:off x="1088136" y="4754880"/>
            <a:ext cx="4398264" cy="832104"/>
          </a:xfrm>
          <a:prstGeom prst="rect">
            <a:avLst/>
          </a:prstGeom>
          <a:noFill/>
        </p:spPr>
        <p:txBody>
          <a:bodyPr wrap="square" lIns="0" tIns="0" rIns="0" bIns="0">
            <a:spAutoFit/>
          </a:bodyPr>
          <a:lstStyle/>
          <a:p>
            <a:pPr>
              <a:lnSpc>
                <a:spcPct val="110000"/>
              </a:lnSpc>
              <a:spcAft>
                <a:spcPts val="0"/>
              </a:spcAft>
            </a:pPr>
            <a:r>
              <a:rPr sz="1800" b="0">
                <a:solidFill>
                  <a:srgbClr val="172033"/>
                </a:solidFill>
                <a:latin typeface="Aptos"/>
              </a:rPr>
              <a:t>This process is called cache eviction.</a:t>
            </a:r>
            <a:endParaRPr sz="1800" b="0">
              <a:solidFill>
                <a:srgbClr val="172033"/>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1 · Traditional Algorithms</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99110"/>
          </a:xfrm>
          <a:prstGeom prst="rect">
            <a:avLst/>
          </a:prstGeom>
          <a:noFill/>
        </p:spPr>
        <p:txBody>
          <a:bodyPr wrap="square" lIns="0" tIns="0" rIns="0" bIns="0">
            <a:spAutoFit/>
          </a:bodyPr>
          <a:lstStyle/>
          <a:p>
            <a:pPr>
              <a:lnSpc>
                <a:spcPct val="112000"/>
              </a:lnSpc>
              <a:spcAft>
                <a:spcPts val="500"/>
              </a:spcAft>
            </a:pPr>
            <a:r>
              <a:rPr lang="en-US" altLang="zh-CN" sz="2900" b="1" dirty="0">
                <a:sym typeface="+mn-ea"/>
              </a:rPr>
              <a:t>Traditional Algorithms: </a:t>
            </a:r>
            <a:r>
              <a:rPr sz="2900" b="1" dirty="0">
                <a:solidFill>
                  <a:srgbClr val="172033"/>
                </a:solidFill>
                <a:latin typeface="Aptos Display"/>
                <a:sym typeface="+mn-ea"/>
              </a:rPr>
              <a:t>FIFO vs LRU</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Eviction rule · Hit updates · Concurrency cost</a:t>
            </a:r>
            <a:endParaRPr sz="1400" b="0">
              <a:solidFill>
                <a:srgbClr val="5B6472"/>
              </a:solidFill>
              <a:latin typeface="Aptos"/>
            </a:endParaRPr>
          </a:p>
        </p:txBody>
      </p:sp>
      <p:sp>
        <p:nvSpPr>
          <p:cNvPr id="7" name="Rounded Rectangle 6"/>
          <p:cNvSpPr/>
          <p:nvPr/>
        </p:nvSpPr>
        <p:spPr>
          <a:xfrm>
            <a:off x="685800"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60120" y="1993392"/>
            <a:ext cx="4736592" cy="502920"/>
          </a:xfrm>
          <a:prstGeom prst="rect">
            <a:avLst/>
          </a:prstGeom>
          <a:noFill/>
        </p:spPr>
        <p:txBody>
          <a:bodyPr wrap="square" lIns="0" tIns="0" rIns="0" bIns="0">
            <a:spAutoFit/>
          </a:bodyPr>
          <a:lstStyle/>
          <a:p>
            <a:pPr algn="l">
              <a:lnSpc>
                <a:spcPct val="112000"/>
              </a:lnSpc>
              <a:spcBef>
                <a:spcPts val="0"/>
              </a:spcBef>
              <a:spcAft>
                <a:spcPts val="500"/>
              </a:spcAft>
            </a:pPr>
            <a:r>
              <a:rPr sz="3000" b="1">
                <a:solidFill>
                  <a:srgbClr val="2D6DAF"/>
                </a:solidFill>
                <a:latin typeface="Aptos"/>
              </a:rPr>
              <a:t>FIFO</a:t>
            </a:r>
            <a:endParaRPr sz="3000" b="1">
              <a:solidFill>
                <a:srgbClr val="2D6DAF"/>
              </a:solidFill>
              <a:latin typeface="Aptos"/>
            </a:endParaRPr>
          </a:p>
        </p:txBody>
      </p:sp>
      <p:sp>
        <p:nvSpPr>
          <p:cNvPr id="9" name="TextBox 8"/>
          <p:cNvSpPr txBox="1"/>
          <p:nvPr/>
        </p:nvSpPr>
        <p:spPr>
          <a:xfrm>
            <a:off x="960120" y="2587752"/>
            <a:ext cx="4736592" cy="320040"/>
          </a:xfrm>
          <a:prstGeom prst="rect">
            <a:avLst/>
          </a:prstGeom>
          <a:noFill/>
        </p:spPr>
        <p:txBody>
          <a:bodyPr wrap="square" lIns="0" tIns="0" rIns="0" bIns="0">
            <a:spAutoFit/>
          </a:bodyPr>
          <a:lstStyle/>
          <a:p>
            <a:pPr algn="l">
              <a:lnSpc>
                <a:spcPct val="112000"/>
              </a:lnSpc>
              <a:spcBef>
                <a:spcPts val="0"/>
              </a:spcBef>
              <a:spcAft>
                <a:spcPts val="500"/>
              </a:spcAft>
            </a:pPr>
            <a:r>
              <a:rPr sz="1600" b="0">
                <a:solidFill>
                  <a:srgbClr val="5B6472"/>
                </a:solidFill>
                <a:latin typeface="Aptos"/>
              </a:rPr>
              <a:t>First In, First Out</a:t>
            </a:r>
            <a:endParaRPr sz="1600" b="0">
              <a:solidFill>
                <a:srgbClr val="5B6472"/>
              </a:solidFill>
              <a:latin typeface="Aptos"/>
            </a:endParaRPr>
          </a:p>
        </p:txBody>
      </p:sp>
      <p:sp>
        <p:nvSpPr>
          <p:cNvPr id="11" name="Rounded Rectangle 10"/>
          <p:cNvSpPr/>
          <p:nvPr/>
        </p:nvSpPr>
        <p:spPr>
          <a:xfrm>
            <a:off x="6190488"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2" name="TextBox 11"/>
          <p:cNvSpPr txBox="1"/>
          <p:nvPr/>
        </p:nvSpPr>
        <p:spPr>
          <a:xfrm>
            <a:off x="6464807" y="1993392"/>
            <a:ext cx="4736592" cy="502920"/>
          </a:xfrm>
          <a:prstGeom prst="rect">
            <a:avLst/>
          </a:prstGeom>
          <a:noFill/>
        </p:spPr>
        <p:txBody>
          <a:bodyPr wrap="square" lIns="0" tIns="0" rIns="0" bIns="0">
            <a:spAutoFit/>
          </a:bodyPr>
          <a:lstStyle/>
          <a:p>
            <a:pPr algn="l">
              <a:lnSpc>
                <a:spcPct val="112000"/>
              </a:lnSpc>
              <a:spcBef>
                <a:spcPts val="0"/>
              </a:spcBef>
              <a:spcAft>
                <a:spcPts val="500"/>
              </a:spcAft>
            </a:pPr>
            <a:r>
              <a:rPr sz="3000" b="1">
                <a:solidFill>
                  <a:srgbClr val="238B6D"/>
                </a:solidFill>
                <a:latin typeface="Aptos"/>
              </a:rPr>
              <a:t>LRU</a:t>
            </a:r>
            <a:endParaRPr sz="3000" b="1">
              <a:solidFill>
                <a:srgbClr val="238B6D"/>
              </a:solidFill>
              <a:latin typeface="Aptos"/>
            </a:endParaRPr>
          </a:p>
        </p:txBody>
      </p:sp>
      <p:sp>
        <p:nvSpPr>
          <p:cNvPr id="13" name="TextBox 12"/>
          <p:cNvSpPr txBox="1"/>
          <p:nvPr/>
        </p:nvSpPr>
        <p:spPr>
          <a:xfrm>
            <a:off x="6464807" y="2587752"/>
            <a:ext cx="4736592" cy="320040"/>
          </a:xfrm>
          <a:prstGeom prst="rect">
            <a:avLst/>
          </a:prstGeom>
          <a:noFill/>
        </p:spPr>
        <p:txBody>
          <a:bodyPr wrap="square" lIns="0" tIns="0" rIns="0" bIns="0">
            <a:spAutoFit/>
          </a:bodyPr>
          <a:lstStyle/>
          <a:p>
            <a:pPr algn="l">
              <a:lnSpc>
                <a:spcPct val="112000"/>
              </a:lnSpc>
              <a:spcBef>
                <a:spcPts val="0"/>
              </a:spcBef>
              <a:spcAft>
                <a:spcPts val="500"/>
              </a:spcAft>
            </a:pPr>
            <a:r>
              <a:rPr sz="1600" b="0">
                <a:solidFill>
                  <a:srgbClr val="5B6472"/>
                </a:solidFill>
                <a:latin typeface="Aptos"/>
              </a:rPr>
              <a:t>Least Recently Used</a:t>
            </a:r>
            <a:endParaRPr sz="1600" b="0">
              <a:solidFill>
                <a:srgbClr val="5B6472"/>
              </a:solidFill>
              <a:latin typeface="Aptos"/>
            </a:endParaRPr>
          </a:p>
        </p:txBody>
      </p:sp>
      <p:sp>
        <p:nvSpPr>
          <p:cNvPr id="15" name="Rounded Rectangle 14"/>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16" name="TextBox 15"/>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13294B"/>
                </a:solidFill>
                <a:latin typeface="Aptos"/>
              </a:rPr>
              <a:t>Goal: FIFO simplicity + better cache efficiency.</a:t>
            </a:r>
            <a:endParaRPr sz="1500" b="1">
              <a:solidFill>
                <a:srgbClr val="13294B"/>
              </a:solidFill>
              <a:latin typeface="Aptos"/>
            </a:endParaRPr>
          </a:p>
        </p:txBody>
      </p:sp>
      <p:sp>
        <p:nvSpPr>
          <p:cNvPr id="17" name="TextBox 16"/>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Yang et al., SOSP 2023, §2.2.</a:t>
            </a:r>
            <a:endParaRPr sz="920" b="0">
              <a:solidFill>
                <a:srgbClr val="738096"/>
              </a:solidFill>
              <a:latin typeface="Aptos"/>
            </a:endParaRPr>
          </a:p>
        </p:txBody>
      </p:sp>
      <p:sp>
        <p:nvSpPr>
          <p:cNvPr id="18" name="TextBox 17"/>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19" name="TextBox 18"/>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5</a:t>
            </a:r>
            <a:endParaRPr sz="850" b="0">
              <a:solidFill>
                <a:srgbClr val="738096"/>
              </a:solidFill>
              <a:latin typeface="Aptos"/>
            </a:endParaRPr>
          </a:p>
        </p:txBody>
      </p:sp>
      <p:sp>
        <p:nvSpPr>
          <p:cNvPr id="20" name="TextBox 19"/>
          <p:cNvSpPr txBox="1"/>
          <p:nvPr/>
        </p:nvSpPr>
        <p:spPr>
          <a:xfrm>
            <a:off x="960120" y="2962656"/>
            <a:ext cx="4736592" cy="237744"/>
          </a:xfrm>
          <a:prstGeom prst="rect">
            <a:avLst/>
          </a:prstGeom>
          <a:noFill/>
        </p:spPr>
        <p:txBody>
          <a:bodyPr wrap="square" lIns="0" rIns="0" tIns="0" bIns="0">
            <a:spAutoFit/>
          </a:bodyPr>
          <a:lstStyle/>
          <a:p>
            <a:pPr>
              <a:lnSpc>
                <a:spcPct val="100000"/>
              </a:lnSpc>
              <a:spcAft>
                <a:spcPts val="0"/>
              </a:spcAft>
            </a:pPr>
            <a:r>
              <a:rPr sz="1300" b="0">
                <a:solidFill>
                  <a:srgbClr val="5B6472"/>
                </a:solidFill>
                <a:latin typeface="Aptos"/>
              </a:rPr>
              <a:t>Cache hit: A     |     Left = next eviction</a:t>
            </a:r>
          </a:p>
        </p:txBody>
      </p:sp>
      <p:sp>
        <p:nvSpPr>
          <p:cNvPr id="21" name="TextBox 20"/>
          <p:cNvSpPr txBox="1"/>
          <p:nvPr/>
        </p:nvSpPr>
        <p:spPr>
          <a:xfrm>
            <a:off x="960120" y="3456432"/>
            <a:ext cx="1143000" cy="256032"/>
          </a:xfrm>
          <a:prstGeom prst="rect">
            <a:avLst/>
          </a:prstGeom>
          <a:noFill/>
        </p:spPr>
        <p:txBody>
          <a:bodyPr wrap="square" lIns="0" rIns="0" tIns="0" bIns="0">
            <a:spAutoFit/>
          </a:bodyPr>
          <a:lstStyle/>
          <a:p>
            <a:pPr>
              <a:lnSpc>
                <a:spcPct val="100000"/>
              </a:lnSpc>
              <a:spcAft>
                <a:spcPts val="0"/>
              </a:spcAft>
            </a:pPr>
            <a:r>
              <a:rPr sz="1400" b="0">
                <a:solidFill>
                  <a:srgbClr val="5B6472"/>
                </a:solidFill>
                <a:latin typeface="Aptos"/>
              </a:rPr>
              <a:t>Before</a:t>
            </a:r>
          </a:p>
        </p:txBody>
      </p:sp>
      <p:sp>
        <p:nvSpPr>
          <p:cNvPr id="22" name="Rounded Rectangle 21"/>
          <p:cNvSpPr/>
          <p:nvPr/>
        </p:nvSpPr>
        <p:spPr>
          <a:xfrm>
            <a:off x="2350008" y="3346704"/>
            <a:ext cx="777240" cy="438912"/>
          </a:xfrm>
          <a:prstGeom prst="roundRect">
            <a:avLst>
              <a:gd name="adj" fmla="val 13000"/>
            </a:avLst>
          </a:prstGeom>
          <a:solidFill>
            <a:srgbClr val="FFF1DF"/>
          </a:solidFill>
          <a:ln w="12700">
            <a:solidFill>
              <a:srgbClr val="D9852A"/>
            </a:solidFill>
          </a:ln>
        </p:spPr>
        <p:txBody>
          <a:bodyPr rtlCol="0" anchor="ctr"/>
          <a:lstStyle/>
          <a:p>
            <a:pPr algn="ctr"/>
          </a:p>
        </p:txBody>
      </p:sp>
      <p:sp>
        <p:nvSpPr>
          <p:cNvPr id="23" name="TextBox 22"/>
          <p:cNvSpPr txBox="1"/>
          <p:nvPr/>
        </p:nvSpPr>
        <p:spPr>
          <a:xfrm>
            <a:off x="2350008" y="3429000"/>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D9852A"/>
                </a:solidFill>
                <a:latin typeface="Aptos"/>
              </a:rPr>
              <a:t>A</a:t>
            </a:r>
          </a:p>
        </p:txBody>
      </p:sp>
      <p:sp>
        <p:nvSpPr>
          <p:cNvPr id="24" name="Rounded Rectangle 23"/>
          <p:cNvSpPr/>
          <p:nvPr/>
        </p:nvSpPr>
        <p:spPr>
          <a:xfrm>
            <a:off x="3310128" y="3346704"/>
            <a:ext cx="777240" cy="438912"/>
          </a:xfrm>
          <a:prstGeom prst="roundRect">
            <a:avLst>
              <a:gd name="adj" fmla="val 13000"/>
            </a:avLst>
          </a:prstGeom>
          <a:solidFill>
            <a:srgbClr val="FFFFFF"/>
          </a:solidFill>
          <a:ln w="12700">
            <a:solidFill>
              <a:srgbClr val="DCE5EF"/>
            </a:solidFill>
          </a:ln>
        </p:spPr>
        <p:txBody>
          <a:bodyPr rtlCol="0" anchor="ctr"/>
          <a:lstStyle/>
          <a:p>
            <a:pPr algn="ctr"/>
          </a:p>
        </p:txBody>
      </p:sp>
      <p:sp>
        <p:nvSpPr>
          <p:cNvPr id="25" name="TextBox 24"/>
          <p:cNvSpPr txBox="1"/>
          <p:nvPr/>
        </p:nvSpPr>
        <p:spPr>
          <a:xfrm>
            <a:off x="3310128" y="3429000"/>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D6DAF"/>
                </a:solidFill>
                <a:latin typeface="Aptos"/>
              </a:rPr>
              <a:t>B</a:t>
            </a:r>
          </a:p>
        </p:txBody>
      </p:sp>
      <p:sp>
        <p:nvSpPr>
          <p:cNvPr id="26" name="Rounded Rectangle 25"/>
          <p:cNvSpPr/>
          <p:nvPr/>
        </p:nvSpPr>
        <p:spPr>
          <a:xfrm>
            <a:off x="4270248" y="3346704"/>
            <a:ext cx="777240" cy="438912"/>
          </a:xfrm>
          <a:prstGeom prst="roundRect">
            <a:avLst>
              <a:gd name="adj" fmla="val 13000"/>
            </a:avLst>
          </a:prstGeom>
          <a:solidFill>
            <a:srgbClr val="FFFFFF"/>
          </a:solidFill>
          <a:ln w="12700">
            <a:solidFill>
              <a:srgbClr val="DCE5EF"/>
            </a:solidFill>
          </a:ln>
        </p:spPr>
        <p:txBody>
          <a:bodyPr rtlCol="0" anchor="ctr"/>
          <a:lstStyle/>
          <a:p>
            <a:pPr algn="ctr"/>
          </a:p>
        </p:txBody>
      </p:sp>
      <p:sp>
        <p:nvSpPr>
          <p:cNvPr id="27" name="TextBox 26"/>
          <p:cNvSpPr txBox="1"/>
          <p:nvPr/>
        </p:nvSpPr>
        <p:spPr>
          <a:xfrm>
            <a:off x="4270248" y="3429000"/>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D6DAF"/>
                </a:solidFill>
                <a:latin typeface="Aptos"/>
              </a:rPr>
              <a:t>C</a:t>
            </a:r>
          </a:p>
        </p:txBody>
      </p:sp>
      <p:sp>
        <p:nvSpPr>
          <p:cNvPr id="28" name="TextBox 27"/>
          <p:cNvSpPr txBox="1"/>
          <p:nvPr/>
        </p:nvSpPr>
        <p:spPr>
          <a:xfrm>
            <a:off x="960120" y="4032504"/>
            <a:ext cx="1143000" cy="256032"/>
          </a:xfrm>
          <a:prstGeom prst="rect">
            <a:avLst/>
          </a:prstGeom>
          <a:noFill/>
        </p:spPr>
        <p:txBody>
          <a:bodyPr wrap="square" lIns="0" rIns="0" tIns="0" bIns="0">
            <a:spAutoFit/>
          </a:bodyPr>
          <a:lstStyle/>
          <a:p>
            <a:pPr>
              <a:lnSpc>
                <a:spcPct val="100000"/>
              </a:lnSpc>
              <a:spcAft>
                <a:spcPts val="0"/>
              </a:spcAft>
            </a:pPr>
            <a:r>
              <a:rPr sz="1400" b="0">
                <a:solidFill>
                  <a:srgbClr val="5B6472"/>
                </a:solidFill>
                <a:latin typeface="Aptos"/>
              </a:rPr>
              <a:t>After hit A</a:t>
            </a:r>
          </a:p>
        </p:txBody>
      </p:sp>
      <p:sp>
        <p:nvSpPr>
          <p:cNvPr id="29" name="Rounded Rectangle 28"/>
          <p:cNvSpPr/>
          <p:nvPr/>
        </p:nvSpPr>
        <p:spPr>
          <a:xfrm>
            <a:off x="2350008" y="3922776"/>
            <a:ext cx="777240" cy="438912"/>
          </a:xfrm>
          <a:prstGeom prst="roundRect">
            <a:avLst>
              <a:gd name="adj" fmla="val 13000"/>
            </a:avLst>
          </a:prstGeom>
          <a:solidFill>
            <a:srgbClr val="FFF1DF"/>
          </a:solidFill>
          <a:ln w="12700">
            <a:solidFill>
              <a:srgbClr val="D9852A"/>
            </a:solidFill>
          </a:ln>
        </p:spPr>
        <p:txBody>
          <a:bodyPr rtlCol="0" anchor="ctr"/>
          <a:lstStyle/>
          <a:p>
            <a:pPr algn="ctr"/>
          </a:p>
        </p:txBody>
      </p:sp>
      <p:sp>
        <p:nvSpPr>
          <p:cNvPr id="30" name="TextBox 29"/>
          <p:cNvSpPr txBox="1"/>
          <p:nvPr/>
        </p:nvSpPr>
        <p:spPr>
          <a:xfrm>
            <a:off x="2350008" y="4005072"/>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D9852A"/>
                </a:solidFill>
                <a:latin typeface="Aptos"/>
              </a:rPr>
              <a:t>A</a:t>
            </a:r>
          </a:p>
        </p:txBody>
      </p:sp>
      <p:sp>
        <p:nvSpPr>
          <p:cNvPr id="31" name="Rounded Rectangle 30"/>
          <p:cNvSpPr/>
          <p:nvPr/>
        </p:nvSpPr>
        <p:spPr>
          <a:xfrm>
            <a:off x="3310128" y="3922776"/>
            <a:ext cx="777240" cy="438912"/>
          </a:xfrm>
          <a:prstGeom prst="roundRect">
            <a:avLst>
              <a:gd name="adj" fmla="val 13000"/>
            </a:avLst>
          </a:prstGeom>
          <a:solidFill>
            <a:srgbClr val="FFFFFF"/>
          </a:solidFill>
          <a:ln w="12700">
            <a:solidFill>
              <a:srgbClr val="DCE5EF"/>
            </a:solidFill>
          </a:ln>
        </p:spPr>
        <p:txBody>
          <a:bodyPr rtlCol="0" anchor="ctr"/>
          <a:lstStyle/>
          <a:p>
            <a:pPr algn="ctr"/>
          </a:p>
        </p:txBody>
      </p:sp>
      <p:sp>
        <p:nvSpPr>
          <p:cNvPr id="32" name="TextBox 31"/>
          <p:cNvSpPr txBox="1"/>
          <p:nvPr/>
        </p:nvSpPr>
        <p:spPr>
          <a:xfrm>
            <a:off x="3310128" y="4005072"/>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D6DAF"/>
                </a:solidFill>
                <a:latin typeface="Aptos"/>
              </a:rPr>
              <a:t>B</a:t>
            </a:r>
          </a:p>
        </p:txBody>
      </p:sp>
      <p:sp>
        <p:nvSpPr>
          <p:cNvPr id="33" name="Rounded Rectangle 32"/>
          <p:cNvSpPr/>
          <p:nvPr/>
        </p:nvSpPr>
        <p:spPr>
          <a:xfrm>
            <a:off x="4270248" y="3922776"/>
            <a:ext cx="777240" cy="438912"/>
          </a:xfrm>
          <a:prstGeom prst="roundRect">
            <a:avLst>
              <a:gd name="adj" fmla="val 13000"/>
            </a:avLst>
          </a:prstGeom>
          <a:solidFill>
            <a:srgbClr val="FFFFFF"/>
          </a:solidFill>
          <a:ln w="12700">
            <a:solidFill>
              <a:srgbClr val="DCE5EF"/>
            </a:solidFill>
          </a:ln>
        </p:spPr>
        <p:txBody>
          <a:bodyPr rtlCol="0" anchor="ctr"/>
          <a:lstStyle/>
          <a:p>
            <a:pPr algn="ctr"/>
          </a:p>
        </p:txBody>
      </p:sp>
      <p:sp>
        <p:nvSpPr>
          <p:cNvPr id="34" name="TextBox 33"/>
          <p:cNvSpPr txBox="1"/>
          <p:nvPr/>
        </p:nvSpPr>
        <p:spPr>
          <a:xfrm>
            <a:off x="4270248" y="4005072"/>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D6DAF"/>
                </a:solidFill>
                <a:latin typeface="Aptos"/>
              </a:rPr>
              <a:t>C</a:t>
            </a:r>
          </a:p>
        </p:txBody>
      </p:sp>
      <p:sp>
        <p:nvSpPr>
          <p:cNvPr id="35" name="TextBox 34"/>
          <p:cNvSpPr txBox="1"/>
          <p:nvPr/>
        </p:nvSpPr>
        <p:spPr>
          <a:xfrm>
            <a:off x="960120" y="4517136"/>
            <a:ext cx="4736592" cy="283464"/>
          </a:xfrm>
          <a:prstGeom prst="rect">
            <a:avLst/>
          </a:prstGeom>
          <a:noFill/>
        </p:spPr>
        <p:txBody>
          <a:bodyPr wrap="square" lIns="0" rIns="0" tIns="0" bIns="0">
            <a:spAutoFit/>
          </a:bodyPr>
          <a:lstStyle/>
          <a:p>
            <a:pPr>
              <a:lnSpc>
                <a:spcPct val="100000"/>
              </a:lnSpc>
              <a:spcAft>
                <a:spcPts val="0"/>
              </a:spcAft>
            </a:pPr>
            <a:r>
              <a:rPr sz="1800" b="0">
                <a:solidFill>
                  <a:srgbClr val="172033"/>
                </a:solidFill>
                <a:latin typeface="Aptos"/>
              </a:rPr>
              <a:t>• Evict earliest inserted</a:t>
            </a:r>
          </a:p>
        </p:txBody>
      </p:sp>
      <p:sp>
        <p:nvSpPr>
          <p:cNvPr id="36" name="TextBox 35"/>
          <p:cNvSpPr txBox="1"/>
          <p:nvPr/>
        </p:nvSpPr>
        <p:spPr>
          <a:xfrm>
            <a:off x="960120" y="4782312"/>
            <a:ext cx="4736592" cy="283464"/>
          </a:xfrm>
          <a:prstGeom prst="rect">
            <a:avLst/>
          </a:prstGeom>
          <a:noFill/>
        </p:spPr>
        <p:txBody>
          <a:bodyPr wrap="square" lIns="0" rIns="0" tIns="0" bIns="0">
            <a:spAutoFit/>
          </a:bodyPr>
          <a:lstStyle/>
          <a:p>
            <a:pPr>
              <a:lnSpc>
                <a:spcPct val="100000"/>
              </a:lnSpc>
              <a:spcAft>
                <a:spcPts val="0"/>
              </a:spcAft>
            </a:pPr>
            <a:r>
              <a:rPr sz="1800" b="0">
                <a:solidFill>
                  <a:srgbClr val="172033"/>
                </a:solidFill>
                <a:latin typeface="Aptos"/>
              </a:rPr>
              <a:t>• Simple and fast</a:t>
            </a:r>
          </a:p>
        </p:txBody>
      </p:sp>
      <p:sp>
        <p:nvSpPr>
          <p:cNvPr id="37" name="TextBox 36"/>
          <p:cNvSpPr txBox="1"/>
          <p:nvPr/>
        </p:nvSpPr>
        <p:spPr>
          <a:xfrm>
            <a:off x="960120" y="5047488"/>
            <a:ext cx="4736592" cy="283464"/>
          </a:xfrm>
          <a:prstGeom prst="rect">
            <a:avLst/>
          </a:prstGeom>
          <a:noFill/>
        </p:spPr>
        <p:txBody>
          <a:bodyPr wrap="square" lIns="0" rIns="0" tIns="0" bIns="0">
            <a:spAutoFit/>
          </a:bodyPr>
          <a:lstStyle/>
          <a:p>
            <a:pPr>
              <a:lnSpc>
                <a:spcPct val="100000"/>
              </a:lnSpc>
              <a:spcAft>
                <a:spcPts val="0"/>
              </a:spcAft>
            </a:pPr>
            <a:r>
              <a:rPr sz="1800" b="0">
                <a:solidFill>
                  <a:srgbClr val="172033"/>
                </a:solidFill>
                <a:latin typeface="Aptos"/>
              </a:rPr>
              <a:t>• May evict useful data</a:t>
            </a:r>
          </a:p>
        </p:txBody>
      </p:sp>
      <p:sp>
        <p:nvSpPr>
          <p:cNvPr id="38" name="TextBox 37"/>
          <p:cNvSpPr txBox="1"/>
          <p:nvPr/>
        </p:nvSpPr>
        <p:spPr>
          <a:xfrm>
            <a:off x="6464808" y="2962656"/>
            <a:ext cx="4736592" cy="237744"/>
          </a:xfrm>
          <a:prstGeom prst="rect">
            <a:avLst/>
          </a:prstGeom>
          <a:noFill/>
        </p:spPr>
        <p:txBody>
          <a:bodyPr wrap="square" lIns="0" rIns="0" tIns="0" bIns="0">
            <a:spAutoFit/>
          </a:bodyPr>
          <a:lstStyle/>
          <a:p>
            <a:pPr>
              <a:lnSpc>
                <a:spcPct val="100000"/>
              </a:lnSpc>
              <a:spcAft>
                <a:spcPts val="0"/>
              </a:spcAft>
            </a:pPr>
            <a:r>
              <a:rPr sz="1300" b="0">
                <a:solidFill>
                  <a:srgbClr val="5B6472"/>
                </a:solidFill>
                <a:latin typeface="Aptos"/>
              </a:rPr>
              <a:t>Cache hit: A     |     Left = next eviction</a:t>
            </a:r>
          </a:p>
        </p:txBody>
      </p:sp>
      <p:sp>
        <p:nvSpPr>
          <p:cNvPr id="39" name="TextBox 38"/>
          <p:cNvSpPr txBox="1"/>
          <p:nvPr/>
        </p:nvSpPr>
        <p:spPr>
          <a:xfrm>
            <a:off x="6464808" y="3456432"/>
            <a:ext cx="1143000" cy="256032"/>
          </a:xfrm>
          <a:prstGeom prst="rect">
            <a:avLst/>
          </a:prstGeom>
          <a:noFill/>
        </p:spPr>
        <p:txBody>
          <a:bodyPr wrap="square" lIns="0" rIns="0" tIns="0" bIns="0">
            <a:spAutoFit/>
          </a:bodyPr>
          <a:lstStyle/>
          <a:p>
            <a:pPr>
              <a:lnSpc>
                <a:spcPct val="100000"/>
              </a:lnSpc>
              <a:spcAft>
                <a:spcPts val="0"/>
              </a:spcAft>
            </a:pPr>
            <a:r>
              <a:rPr sz="1400" b="0">
                <a:solidFill>
                  <a:srgbClr val="5B6472"/>
                </a:solidFill>
                <a:latin typeface="Aptos"/>
              </a:rPr>
              <a:t>Before</a:t>
            </a:r>
          </a:p>
        </p:txBody>
      </p:sp>
      <p:sp>
        <p:nvSpPr>
          <p:cNvPr id="40" name="Rounded Rectangle 39"/>
          <p:cNvSpPr/>
          <p:nvPr/>
        </p:nvSpPr>
        <p:spPr>
          <a:xfrm>
            <a:off x="7854696" y="3346704"/>
            <a:ext cx="777240" cy="438912"/>
          </a:xfrm>
          <a:prstGeom prst="roundRect">
            <a:avLst>
              <a:gd name="adj" fmla="val 13000"/>
            </a:avLst>
          </a:prstGeom>
          <a:solidFill>
            <a:srgbClr val="E7F6F0"/>
          </a:solidFill>
          <a:ln w="12700">
            <a:solidFill>
              <a:srgbClr val="238B6D"/>
            </a:solidFill>
          </a:ln>
        </p:spPr>
        <p:txBody>
          <a:bodyPr rtlCol="0" anchor="ctr"/>
          <a:lstStyle/>
          <a:p>
            <a:pPr algn="ctr"/>
          </a:p>
        </p:txBody>
      </p:sp>
      <p:sp>
        <p:nvSpPr>
          <p:cNvPr id="41" name="TextBox 40"/>
          <p:cNvSpPr txBox="1"/>
          <p:nvPr/>
        </p:nvSpPr>
        <p:spPr>
          <a:xfrm>
            <a:off x="7854696" y="3429000"/>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38B6D"/>
                </a:solidFill>
                <a:latin typeface="Aptos"/>
              </a:rPr>
              <a:t>A</a:t>
            </a:r>
          </a:p>
        </p:txBody>
      </p:sp>
      <p:sp>
        <p:nvSpPr>
          <p:cNvPr id="42" name="Rounded Rectangle 41"/>
          <p:cNvSpPr/>
          <p:nvPr/>
        </p:nvSpPr>
        <p:spPr>
          <a:xfrm>
            <a:off x="8814816" y="3346704"/>
            <a:ext cx="777240" cy="438912"/>
          </a:xfrm>
          <a:prstGeom prst="roundRect">
            <a:avLst>
              <a:gd name="adj" fmla="val 13000"/>
            </a:avLst>
          </a:prstGeom>
          <a:solidFill>
            <a:srgbClr val="FFFFFF"/>
          </a:solidFill>
          <a:ln w="12700">
            <a:solidFill>
              <a:srgbClr val="DCE5EF"/>
            </a:solidFill>
          </a:ln>
        </p:spPr>
        <p:txBody>
          <a:bodyPr rtlCol="0" anchor="ctr"/>
          <a:lstStyle/>
          <a:p>
            <a:pPr algn="ctr"/>
          </a:p>
        </p:txBody>
      </p:sp>
      <p:sp>
        <p:nvSpPr>
          <p:cNvPr id="43" name="TextBox 42"/>
          <p:cNvSpPr txBox="1"/>
          <p:nvPr/>
        </p:nvSpPr>
        <p:spPr>
          <a:xfrm>
            <a:off x="8814816" y="3429000"/>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38B6D"/>
                </a:solidFill>
                <a:latin typeface="Aptos"/>
              </a:rPr>
              <a:t>B</a:t>
            </a:r>
          </a:p>
        </p:txBody>
      </p:sp>
      <p:sp>
        <p:nvSpPr>
          <p:cNvPr id="44" name="Rounded Rectangle 43"/>
          <p:cNvSpPr/>
          <p:nvPr/>
        </p:nvSpPr>
        <p:spPr>
          <a:xfrm>
            <a:off x="9774936" y="3346704"/>
            <a:ext cx="777240" cy="438912"/>
          </a:xfrm>
          <a:prstGeom prst="roundRect">
            <a:avLst>
              <a:gd name="adj" fmla="val 13000"/>
            </a:avLst>
          </a:prstGeom>
          <a:solidFill>
            <a:srgbClr val="FFFFFF"/>
          </a:solidFill>
          <a:ln w="12700">
            <a:solidFill>
              <a:srgbClr val="DCE5EF"/>
            </a:solidFill>
          </a:ln>
        </p:spPr>
        <p:txBody>
          <a:bodyPr rtlCol="0" anchor="ctr"/>
          <a:lstStyle/>
          <a:p>
            <a:pPr algn="ctr"/>
          </a:p>
        </p:txBody>
      </p:sp>
      <p:sp>
        <p:nvSpPr>
          <p:cNvPr id="45" name="TextBox 44"/>
          <p:cNvSpPr txBox="1"/>
          <p:nvPr/>
        </p:nvSpPr>
        <p:spPr>
          <a:xfrm>
            <a:off x="9774936" y="3429000"/>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38B6D"/>
                </a:solidFill>
                <a:latin typeface="Aptos"/>
              </a:rPr>
              <a:t>C</a:t>
            </a:r>
          </a:p>
        </p:txBody>
      </p:sp>
      <p:sp>
        <p:nvSpPr>
          <p:cNvPr id="46" name="TextBox 45"/>
          <p:cNvSpPr txBox="1"/>
          <p:nvPr/>
        </p:nvSpPr>
        <p:spPr>
          <a:xfrm>
            <a:off x="6464808" y="4032504"/>
            <a:ext cx="1143000" cy="256032"/>
          </a:xfrm>
          <a:prstGeom prst="rect">
            <a:avLst/>
          </a:prstGeom>
          <a:noFill/>
        </p:spPr>
        <p:txBody>
          <a:bodyPr wrap="square" lIns="0" rIns="0" tIns="0" bIns="0">
            <a:spAutoFit/>
          </a:bodyPr>
          <a:lstStyle/>
          <a:p>
            <a:pPr>
              <a:lnSpc>
                <a:spcPct val="100000"/>
              </a:lnSpc>
              <a:spcAft>
                <a:spcPts val="0"/>
              </a:spcAft>
            </a:pPr>
            <a:r>
              <a:rPr sz="1400" b="0">
                <a:solidFill>
                  <a:srgbClr val="5B6472"/>
                </a:solidFill>
                <a:latin typeface="Aptos"/>
              </a:rPr>
              <a:t>After hit A</a:t>
            </a:r>
          </a:p>
        </p:txBody>
      </p:sp>
      <p:sp>
        <p:nvSpPr>
          <p:cNvPr id="47" name="Rounded Rectangle 46"/>
          <p:cNvSpPr/>
          <p:nvPr/>
        </p:nvSpPr>
        <p:spPr>
          <a:xfrm>
            <a:off x="7854696" y="3922776"/>
            <a:ext cx="777240" cy="438912"/>
          </a:xfrm>
          <a:prstGeom prst="roundRect">
            <a:avLst>
              <a:gd name="adj" fmla="val 13000"/>
            </a:avLst>
          </a:prstGeom>
          <a:solidFill>
            <a:srgbClr val="FFFFFF"/>
          </a:solidFill>
          <a:ln w="12700">
            <a:solidFill>
              <a:srgbClr val="DCE5EF"/>
            </a:solidFill>
          </a:ln>
        </p:spPr>
        <p:txBody>
          <a:bodyPr rtlCol="0" anchor="ctr"/>
          <a:lstStyle/>
          <a:p>
            <a:pPr algn="ctr"/>
          </a:p>
        </p:txBody>
      </p:sp>
      <p:sp>
        <p:nvSpPr>
          <p:cNvPr id="48" name="TextBox 47"/>
          <p:cNvSpPr txBox="1"/>
          <p:nvPr/>
        </p:nvSpPr>
        <p:spPr>
          <a:xfrm>
            <a:off x="7854696" y="4005072"/>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38B6D"/>
                </a:solidFill>
                <a:latin typeface="Aptos"/>
              </a:rPr>
              <a:t>B</a:t>
            </a:r>
          </a:p>
        </p:txBody>
      </p:sp>
      <p:sp>
        <p:nvSpPr>
          <p:cNvPr id="49" name="Rounded Rectangle 48"/>
          <p:cNvSpPr/>
          <p:nvPr/>
        </p:nvSpPr>
        <p:spPr>
          <a:xfrm>
            <a:off x="8814816" y="3922776"/>
            <a:ext cx="777240" cy="438912"/>
          </a:xfrm>
          <a:prstGeom prst="roundRect">
            <a:avLst>
              <a:gd name="adj" fmla="val 13000"/>
            </a:avLst>
          </a:prstGeom>
          <a:solidFill>
            <a:srgbClr val="FFFFFF"/>
          </a:solidFill>
          <a:ln w="12700">
            <a:solidFill>
              <a:srgbClr val="DCE5EF"/>
            </a:solidFill>
          </a:ln>
        </p:spPr>
        <p:txBody>
          <a:bodyPr rtlCol="0" anchor="ctr"/>
          <a:lstStyle/>
          <a:p>
            <a:pPr algn="ctr"/>
          </a:p>
        </p:txBody>
      </p:sp>
      <p:sp>
        <p:nvSpPr>
          <p:cNvPr id="50" name="TextBox 49"/>
          <p:cNvSpPr txBox="1"/>
          <p:nvPr/>
        </p:nvSpPr>
        <p:spPr>
          <a:xfrm>
            <a:off x="8814816" y="4005072"/>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38B6D"/>
                </a:solidFill>
                <a:latin typeface="Aptos"/>
              </a:rPr>
              <a:t>C</a:t>
            </a:r>
          </a:p>
        </p:txBody>
      </p:sp>
      <p:sp>
        <p:nvSpPr>
          <p:cNvPr id="51" name="Rounded Rectangle 50"/>
          <p:cNvSpPr/>
          <p:nvPr/>
        </p:nvSpPr>
        <p:spPr>
          <a:xfrm>
            <a:off x="9774936" y="3922776"/>
            <a:ext cx="777240" cy="438912"/>
          </a:xfrm>
          <a:prstGeom prst="roundRect">
            <a:avLst>
              <a:gd name="adj" fmla="val 13000"/>
            </a:avLst>
          </a:prstGeom>
          <a:solidFill>
            <a:srgbClr val="E7F6F0"/>
          </a:solidFill>
          <a:ln w="12700">
            <a:solidFill>
              <a:srgbClr val="238B6D"/>
            </a:solidFill>
          </a:ln>
        </p:spPr>
        <p:txBody>
          <a:bodyPr rtlCol="0" anchor="ctr"/>
          <a:lstStyle/>
          <a:p>
            <a:pPr algn="ctr"/>
          </a:p>
        </p:txBody>
      </p:sp>
      <p:sp>
        <p:nvSpPr>
          <p:cNvPr id="52" name="TextBox 51"/>
          <p:cNvSpPr txBox="1"/>
          <p:nvPr/>
        </p:nvSpPr>
        <p:spPr>
          <a:xfrm>
            <a:off x="9774936" y="4005072"/>
            <a:ext cx="777240" cy="274320"/>
          </a:xfrm>
          <a:prstGeom prst="rect">
            <a:avLst/>
          </a:prstGeom>
          <a:noFill/>
        </p:spPr>
        <p:txBody>
          <a:bodyPr wrap="square" lIns="0" rIns="0" tIns="0" bIns="0">
            <a:spAutoFit/>
          </a:bodyPr>
          <a:lstStyle/>
          <a:p>
            <a:pPr algn="ctr">
              <a:lnSpc>
                <a:spcPct val="100000"/>
              </a:lnSpc>
              <a:spcAft>
                <a:spcPts val="0"/>
              </a:spcAft>
            </a:pPr>
            <a:r>
              <a:rPr sz="2000" b="1">
                <a:solidFill>
                  <a:srgbClr val="238B6D"/>
                </a:solidFill>
                <a:latin typeface="Aptos"/>
              </a:rPr>
              <a:t>A</a:t>
            </a:r>
          </a:p>
        </p:txBody>
      </p:sp>
      <p:sp>
        <p:nvSpPr>
          <p:cNvPr id="53" name="TextBox 52"/>
          <p:cNvSpPr txBox="1"/>
          <p:nvPr/>
        </p:nvSpPr>
        <p:spPr>
          <a:xfrm>
            <a:off x="6464808" y="4517136"/>
            <a:ext cx="4736592" cy="283464"/>
          </a:xfrm>
          <a:prstGeom prst="rect">
            <a:avLst/>
          </a:prstGeom>
          <a:noFill/>
        </p:spPr>
        <p:txBody>
          <a:bodyPr wrap="square" lIns="0" rIns="0" tIns="0" bIns="0">
            <a:spAutoFit/>
          </a:bodyPr>
          <a:lstStyle/>
          <a:p>
            <a:pPr>
              <a:lnSpc>
                <a:spcPct val="100000"/>
              </a:lnSpc>
              <a:spcAft>
                <a:spcPts val="0"/>
              </a:spcAft>
            </a:pPr>
            <a:r>
              <a:rPr sz="1800" b="0">
                <a:solidFill>
                  <a:srgbClr val="172033"/>
                </a:solidFill>
                <a:latin typeface="Aptos"/>
              </a:rPr>
              <a:t>• Evict least recently used</a:t>
            </a:r>
          </a:p>
        </p:txBody>
      </p:sp>
      <p:sp>
        <p:nvSpPr>
          <p:cNvPr id="54" name="TextBox 53"/>
          <p:cNvSpPr txBox="1"/>
          <p:nvPr/>
        </p:nvSpPr>
        <p:spPr>
          <a:xfrm>
            <a:off x="6464808" y="4782312"/>
            <a:ext cx="4736592" cy="283464"/>
          </a:xfrm>
          <a:prstGeom prst="rect">
            <a:avLst/>
          </a:prstGeom>
          <a:noFill/>
        </p:spPr>
        <p:txBody>
          <a:bodyPr wrap="square" lIns="0" rIns="0" tIns="0" bIns="0">
            <a:spAutoFit/>
          </a:bodyPr>
          <a:lstStyle/>
          <a:p>
            <a:pPr>
              <a:lnSpc>
                <a:spcPct val="100000"/>
              </a:lnSpc>
              <a:spcAft>
                <a:spcPts val="0"/>
              </a:spcAft>
            </a:pPr>
            <a:r>
              <a:rPr sz="1800" b="0">
                <a:solidFill>
                  <a:srgbClr val="172033"/>
                </a:solidFill>
                <a:latin typeface="Aptos"/>
              </a:rPr>
              <a:t>• Reorder on cache hits</a:t>
            </a:r>
          </a:p>
        </p:txBody>
      </p:sp>
      <p:sp>
        <p:nvSpPr>
          <p:cNvPr id="55" name="TextBox 54"/>
          <p:cNvSpPr txBox="1"/>
          <p:nvPr/>
        </p:nvSpPr>
        <p:spPr>
          <a:xfrm>
            <a:off x="6464808" y="5047488"/>
            <a:ext cx="4736592" cy="283464"/>
          </a:xfrm>
          <a:prstGeom prst="rect">
            <a:avLst/>
          </a:prstGeom>
          <a:noFill/>
        </p:spPr>
        <p:txBody>
          <a:bodyPr wrap="square" lIns="0" rIns="0" tIns="0" bIns="0">
            <a:spAutoFit/>
          </a:bodyPr>
          <a:lstStyle/>
          <a:p>
            <a:pPr>
              <a:lnSpc>
                <a:spcPct val="100000"/>
              </a:lnSpc>
              <a:spcAft>
                <a:spcPts val="0"/>
              </a:spcAft>
            </a:pPr>
            <a:r>
              <a:rPr sz="1800" b="0">
                <a:solidFill>
                  <a:srgbClr val="172033"/>
                </a:solidFill>
                <a:latin typeface="Aptos"/>
              </a:rPr>
              <a:t>• Overhead with many threads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1 · Research Motivation</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One-Hit Wonders &amp; Quick Demotion</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Shorter access sequences contain a higher fraction of objects with no reuse.</a:t>
            </a:r>
            <a:endParaRPr sz="1400" b="0">
              <a:solidFill>
                <a:srgbClr val="5B6472"/>
              </a:solidFill>
              <a:latin typeface="Aptos"/>
            </a:endParaRPr>
          </a:p>
        </p:txBody>
      </p:sp>
      <p:sp>
        <p:nvSpPr>
          <p:cNvPr id="7" name="Rounded Rectangle 6"/>
          <p:cNvSpPr/>
          <p:nvPr/>
        </p:nvSpPr>
        <p:spPr>
          <a:xfrm>
            <a:off x="685800" y="1773936"/>
            <a:ext cx="3895344"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9" name="Rounded Rectangle 8"/>
          <p:cNvSpPr/>
          <p:nvPr/>
        </p:nvSpPr>
        <p:spPr>
          <a:xfrm>
            <a:off x="4791456" y="1773936"/>
            <a:ext cx="6684264"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5074920" y="2029968"/>
            <a:ext cx="6117336" cy="320040"/>
          </a:xfrm>
          <a:prstGeom prst="rect">
            <a:avLst/>
          </a:prstGeom>
          <a:noFill/>
        </p:spPr>
        <p:txBody>
          <a:bodyPr wrap="square" lIns="0" tIns="0" rIns="0" bIns="0">
            <a:spAutoFit/>
          </a:bodyPr>
          <a:lstStyle/>
          <a:p>
            <a:pPr algn="l">
              <a:lnSpc>
                <a:spcPct val="112000"/>
              </a:lnSpc>
              <a:spcBef>
                <a:spcPts val="0"/>
              </a:spcBef>
              <a:spcAft>
                <a:spcPts val="500"/>
              </a:spcAft>
            </a:pPr>
            <a:r>
              <a:rPr sz="1400" b="1">
                <a:solidFill>
                  <a:srgbClr val="2D6DAF"/>
                </a:solidFill>
                <a:latin typeface="Aptos"/>
              </a:rPr>
              <a:t>A SHORTER SEQUENCE → A HIGHER RATIO</a:t>
            </a:r>
            <a:endParaRPr sz="1400" b="1">
              <a:solidFill>
                <a:srgbClr val="2D6DAF"/>
              </a:solidFill>
              <a:latin typeface="Aptos"/>
            </a:endParaRPr>
          </a:p>
        </p:txBody>
      </p:sp>
      <p:pic>
        <p:nvPicPr>
          <p:cNvPr id="11" name="PRESERVED — Original One-hit Wonders Figure 1" descr="image.png"/>
          <p:cNvPicPr>
            <a:picLocks noChangeAspect="1"/>
          </p:cNvPicPr>
          <p:nvPr/>
        </p:nvPicPr>
        <p:blipFill>
          <a:blip r:embed="rId1"/>
          <a:stretch>
            <a:fillRect/>
          </a:stretch>
        </p:blipFill>
        <p:spPr>
          <a:xfrm>
            <a:off x="5029200" y="2624462"/>
            <a:ext cx="6208776" cy="1956547"/>
          </a:xfrm>
          <a:prstGeom prst="rect">
            <a:avLst/>
          </a:prstGeom>
        </p:spPr>
      </p:pic>
      <p:sp>
        <p:nvSpPr>
          <p:cNvPr id="12" name="TextBox 11"/>
          <p:cNvSpPr txBox="1"/>
          <p:nvPr/>
        </p:nvSpPr>
        <p:spPr>
          <a:xfrm>
            <a:off x="5074920" y="4773168"/>
            <a:ext cx="6117336" cy="438912"/>
          </a:xfrm>
          <a:prstGeom prst="rect">
            <a:avLst/>
          </a:prstGeom>
          <a:noFill/>
        </p:spPr>
        <p:txBody>
          <a:bodyPr wrap="square" lIns="0" tIns="0" rIns="0" bIns="0">
            <a:spAutoFit/>
          </a:bodyPr>
          <a:lstStyle/>
          <a:p>
            <a:pPr algn="l">
              <a:lnSpc>
                <a:spcPct val="112000"/>
              </a:lnSpc>
              <a:spcBef>
                <a:spcPts val="0"/>
              </a:spcBef>
              <a:spcAft>
                <a:spcPts val="500"/>
              </a:spcAft>
            </a:pPr>
            <a:r>
              <a:rPr sz="1100" b="0">
                <a:solidFill>
                  <a:srgbClr val="5B6472"/>
                </a:solidFill>
                <a:latin typeface="Aptos"/>
              </a:rPr>
              <a:t>Original Figure 1 · Source: Yang et al., SOSP 2023</a:t>
            </a:r>
            <a:endParaRPr sz="1100" b="0">
              <a:solidFill>
                <a:srgbClr val="5B6472"/>
              </a:solidFill>
              <a:latin typeface="Aptos"/>
            </a:endParaRP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238B6D"/>
                </a:solidFill>
                <a:latin typeface="Aptos"/>
              </a:rPr>
              <a:t>Can we combine the simplicity of FIFO with better cache efficiency?</a:t>
            </a:r>
            <a:endParaRPr sz="1500" b="1">
              <a:solidFill>
                <a:srgbClr val="238B6D"/>
              </a:solidFill>
              <a:latin typeface="Aptos"/>
            </a:endParaRPr>
          </a:p>
        </p:txBody>
      </p:sp>
      <p:sp>
        <p:nvSpPr>
          <p:cNvPr id="15" name="TextBox 14"/>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original Figure 1 and §3, Yang et al., SOSP 2023.</a:t>
            </a:r>
            <a:endParaRPr sz="920" b="0">
              <a:solidFill>
                <a:srgbClr val="738096"/>
              </a:solidFill>
              <a:latin typeface="Aptos"/>
            </a:endParaRPr>
          </a:p>
        </p:txBody>
      </p:sp>
      <p:sp>
        <p:nvSpPr>
          <p:cNvPr id="16" name="TextBox 15"/>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17" name="TextBox 16"/>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6</a:t>
            </a:r>
            <a:endParaRPr sz="850" b="0">
              <a:solidFill>
                <a:srgbClr val="738096"/>
              </a:solidFill>
              <a:latin typeface="Aptos"/>
            </a:endParaRPr>
          </a:p>
        </p:txBody>
      </p:sp>
      <p:sp>
        <p:nvSpPr>
          <p:cNvPr id="27" name="Rectangle 17"/>
          <p:cNvSpPr/>
          <p:nvPr/>
        </p:nvSpPr>
        <p:spPr>
          <a:xfrm>
            <a:off x="914400" y="1984248"/>
            <a:ext cx="41148" cy="219456"/>
          </a:xfrm>
          <a:prstGeom prst="rect">
            <a:avLst/>
          </a:prstGeom>
          <a:solidFill>
            <a:srgbClr val="238B6D"/>
          </a:solidFill>
          <a:ln>
            <a:noFill/>
          </a:ln>
        </p:spPr>
        <p:txBody>
          <a:bodyPr rtlCol="0" anchor="ctr"/>
          <a:lstStyle/>
          <a:p>
            <a:pPr algn="ctr"/>
          </a:p>
        </p:txBody>
      </p:sp>
      <p:sp>
        <p:nvSpPr>
          <p:cNvPr id="28" name="TextBox 18"/>
          <p:cNvSpPr txBox="1"/>
          <p:nvPr/>
        </p:nvSpPr>
        <p:spPr>
          <a:xfrm>
            <a:off x="1069848" y="1947672"/>
            <a:ext cx="3282696" cy="329184"/>
          </a:xfrm>
          <a:prstGeom prst="rect">
            <a:avLst/>
          </a:prstGeom>
          <a:noFill/>
        </p:spPr>
        <p:txBody>
          <a:bodyPr wrap="square" lIns="0" tIns="0" rIns="0" bIns="0">
            <a:spAutoFit/>
          </a:bodyPr>
          <a:lstStyle/>
          <a:p>
            <a:pPr>
              <a:lnSpc>
                <a:spcPct val="110000"/>
              </a:lnSpc>
              <a:spcAft>
                <a:spcPts val="0"/>
              </a:spcAft>
            </a:pPr>
            <a:r>
              <a:rPr sz="1800" b="1">
                <a:solidFill>
                  <a:srgbClr val="13294B"/>
                </a:solidFill>
                <a:latin typeface="Aptos"/>
              </a:rPr>
              <a:t>One-hit wonders</a:t>
            </a:r>
            <a:endParaRPr sz="1800" b="1">
              <a:solidFill>
                <a:srgbClr val="13294B"/>
              </a:solidFill>
              <a:latin typeface="Aptos"/>
            </a:endParaRPr>
          </a:p>
        </p:txBody>
      </p:sp>
      <p:sp>
        <p:nvSpPr>
          <p:cNvPr id="29" name="TextBox 19"/>
          <p:cNvSpPr txBox="1"/>
          <p:nvPr/>
        </p:nvSpPr>
        <p:spPr>
          <a:xfrm>
            <a:off x="1069848" y="2313432"/>
            <a:ext cx="3282696" cy="832104"/>
          </a:xfrm>
          <a:prstGeom prst="rect">
            <a:avLst/>
          </a:prstGeom>
          <a:noFill/>
        </p:spPr>
        <p:txBody>
          <a:bodyPr wrap="square" lIns="0" tIns="0" rIns="0" bIns="0">
            <a:spAutoFit/>
          </a:bodyPr>
          <a:lstStyle/>
          <a:p>
            <a:pPr>
              <a:lnSpc>
                <a:spcPct val="110000"/>
              </a:lnSpc>
              <a:spcAft>
                <a:spcPts val="0"/>
              </a:spcAft>
            </a:pPr>
            <a:r>
              <a:rPr sz="1670" b="0">
                <a:solidFill>
                  <a:srgbClr val="172033"/>
                </a:solidFill>
                <a:latin typeface="Aptos"/>
              </a:rPr>
              <a:t>Many objects are used only once before they leave the cache: one-hit wonders.</a:t>
            </a:r>
            <a:endParaRPr sz="1670" b="0">
              <a:solidFill>
                <a:srgbClr val="172033"/>
              </a:solidFill>
              <a:latin typeface="Aptos"/>
            </a:endParaRPr>
          </a:p>
        </p:txBody>
      </p:sp>
      <p:sp>
        <p:nvSpPr>
          <p:cNvPr id="30" name="Rectangle 20"/>
          <p:cNvSpPr/>
          <p:nvPr/>
        </p:nvSpPr>
        <p:spPr>
          <a:xfrm>
            <a:off x="914400" y="3364992"/>
            <a:ext cx="41148" cy="219456"/>
          </a:xfrm>
          <a:prstGeom prst="rect">
            <a:avLst/>
          </a:prstGeom>
          <a:solidFill>
            <a:srgbClr val="238B6D"/>
          </a:solidFill>
          <a:ln>
            <a:noFill/>
          </a:ln>
        </p:spPr>
        <p:txBody>
          <a:bodyPr rtlCol="0" anchor="ctr"/>
          <a:lstStyle/>
          <a:p>
            <a:pPr algn="ctr"/>
          </a:p>
        </p:txBody>
      </p:sp>
      <p:sp>
        <p:nvSpPr>
          <p:cNvPr id="31" name="TextBox 21"/>
          <p:cNvSpPr txBox="1"/>
          <p:nvPr/>
        </p:nvSpPr>
        <p:spPr>
          <a:xfrm>
            <a:off x="1069848" y="3328416"/>
            <a:ext cx="3282696" cy="329184"/>
          </a:xfrm>
          <a:prstGeom prst="rect">
            <a:avLst/>
          </a:prstGeom>
          <a:noFill/>
        </p:spPr>
        <p:txBody>
          <a:bodyPr wrap="square" lIns="0" tIns="0" rIns="0" bIns="0">
            <a:spAutoFit/>
          </a:bodyPr>
          <a:lstStyle/>
          <a:p>
            <a:pPr>
              <a:lnSpc>
                <a:spcPct val="110000"/>
              </a:lnSpc>
              <a:spcAft>
                <a:spcPts val="0"/>
              </a:spcAft>
            </a:pPr>
            <a:r>
              <a:rPr sz="1800" b="1">
                <a:solidFill>
                  <a:srgbClr val="13294B"/>
                </a:solidFill>
                <a:latin typeface="Aptos"/>
              </a:rPr>
              <a:t>Wasted cache space</a:t>
            </a:r>
            <a:endParaRPr sz="1800" b="1">
              <a:solidFill>
                <a:srgbClr val="13294B"/>
              </a:solidFill>
              <a:latin typeface="Aptos"/>
            </a:endParaRPr>
          </a:p>
        </p:txBody>
      </p:sp>
      <p:sp>
        <p:nvSpPr>
          <p:cNvPr id="32" name="TextBox 22"/>
          <p:cNvSpPr txBox="1"/>
          <p:nvPr/>
        </p:nvSpPr>
        <p:spPr>
          <a:xfrm>
            <a:off x="1069848" y="3694176"/>
            <a:ext cx="3282696" cy="832104"/>
          </a:xfrm>
          <a:prstGeom prst="rect">
            <a:avLst/>
          </a:prstGeom>
          <a:noFill/>
        </p:spPr>
        <p:txBody>
          <a:bodyPr wrap="square" lIns="0" tIns="0" rIns="0" bIns="0">
            <a:spAutoFit/>
          </a:bodyPr>
          <a:lstStyle/>
          <a:p>
            <a:pPr>
              <a:lnSpc>
                <a:spcPct val="110000"/>
              </a:lnSpc>
              <a:spcAft>
                <a:spcPts val="0"/>
              </a:spcAft>
            </a:pPr>
            <a:r>
              <a:rPr sz="1670" b="0">
                <a:solidFill>
                  <a:srgbClr val="172033"/>
                </a:solidFill>
                <a:latin typeface="Aptos"/>
              </a:rPr>
              <a:t>They take up cache space without being used again.</a:t>
            </a:r>
            <a:endParaRPr sz="1670" b="0">
              <a:solidFill>
                <a:srgbClr val="172033"/>
              </a:solidFill>
              <a:latin typeface="Aptos"/>
            </a:endParaRPr>
          </a:p>
        </p:txBody>
      </p:sp>
      <p:sp>
        <p:nvSpPr>
          <p:cNvPr id="33" name="Rectangle 23"/>
          <p:cNvSpPr/>
          <p:nvPr/>
        </p:nvSpPr>
        <p:spPr>
          <a:xfrm>
            <a:off x="914400" y="4425696"/>
            <a:ext cx="41148" cy="219456"/>
          </a:xfrm>
          <a:prstGeom prst="rect">
            <a:avLst/>
          </a:prstGeom>
          <a:solidFill>
            <a:srgbClr val="238B6D"/>
          </a:solidFill>
          <a:ln>
            <a:noFill/>
          </a:ln>
        </p:spPr>
        <p:txBody>
          <a:bodyPr rtlCol="0" anchor="ctr"/>
          <a:lstStyle/>
          <a:p>
            <a:pPr algn="ctr"/>
          </a:p>
        </p:txBody>
      </p:sp>
      <p:sp>
        <p:nvSpPr>
          <p:cNvPr id="34" name="TextBox 24"/>
          <p:cNvSpPr txBox="1"/>
          <p:nvPr/>
        </p:nvSpPr>
        <p:spPr>
          <a:xfrm>
            <a:off x="1069848" y="4389120"/>
            <a:ext cx="3282696" cy="329184"/>
          </a:xfrm>
          <a:prstGeom prst="rect">
            <a:avLst/>
          </a:prstGeom>
          <a:noFill/>
        </p:spPr>
        <p:txBody>
          <a:bodyPr wrap="square" lIns="0" tIns="0" rIns="0" bIns="0">
            <a:spAutoFit/>
          </a:bodyPr>
          <a:lstStyle/>
          <a:p>
            <a:pPr>
              <a:lnSpc>
                <a:spcPct val="110000"/>
              </a:lnSpc>
              <a:spcAft>
                <a:spcPts val="0"/>
              </a:spcAft>
            </a:pPr>
            <a:r>
              <a:rPr sz="1800" b="1">
                <a:solidFill>
                  <a:srgbClr val="13294B"/>
                </a:solidFill>
                <a:latin typeface="Aptos"/>
              </a:rPr>
              <a:t>Quick demotion</a:t>
            </a:r>
            <a:endParaRPr sz="1800" b="1">
              <a:solidFill>
                <a:srgbClr val="13294B"/>
              </a:solidFill>
              <a:latin typeface="Aptos"/>
            </a:endParaRPr>
          </a:p>
        </p:txBody>
      </p:sp>
      <p:sp>
        <p:nvSpPr>
          <p:cNvPr id="35" name="TextBox 25"/>
          <p:cNvSpPr txBox="1"/>
          <p:nvPr/>
        </p:nvSpPr>
        <p:spPr>
          <a:xfrm>
            <a:off x="1069848" y="4754880"/>
            <a:ext cx="3282696" cy="832104"/>
          </a:xfrm>
          <a:prstGeom prst="rect">
            <a:avLst/>
          </a:prstGeom>
          <a:noFill/>
        </p:spPr>
        <p:txBody>
          <a:bodyPr wrap="square" lIns="0" tIns="0" rIns="0" bIns="0">
            <a:spAutoFit/>
          </a:bodyPr>
          <a:lstStyle/>
          <a:p>
            <a:pPr>
              <a:lnSpc>
                <a:spcPct val="110000"/>
              </a:lnSpc>
              <a:spcAft>
                <a:spcPts val="0"/>
              </a:spcAft>
            </a:pPr>
            <a:r>
              <a:rPr sz="1670" b="0">
                <a:solidFill>
                  <a:srgbClr val="172033"/>
                </a:solidFill>
                <a:latin typeface="Aptos"/>
              </a:rPr>
              <a:t>Quick demotion removes less useful objects early.</a:t>
            </a:r>
            <a:endParaRPr sz="1670" b="0">
              <a:solidFill>
                <a:srgbClr val="172033"/>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
        <p:cNvGrpSpPr/>
        <p:nvPr/>
      </p:nvGrpSpPr>
      <p:grpSpPr/>
      <p:sp>
        <p:nvSpPr>
          <p:cNvPr id="14" name="PART 2 · MEMBER 2"/>
          <p:cNvSpPr>
            <a:spLocks noGrp="1"/>
          </p:cNvSpPr>
          <p:nvPr/>
        </p:nvSpPr>
        <p:spPr>
          <a:xfrm>
            <a:off x="742950" y="762000"/>
            <a:ext cx="9048750" cy="333375"/>
          </a:xfrm>
          <a:prstGeom prst="rect">
            <a:avLst/>
          </a:prstGeom>
          <a:noFill/>
          <a:ln w="0">
            <a:noFill/>
          </a:ln>
        </p:spPr>
        <p:txBody>
          <a:bodyPr wrap="square" lIns="0" tIns="0" rIns="0" bIns="0" anchor="t">
            <a:noAutofit/>
          </a:bodyPr>
          <a:lstStyle>
            <a:defPPr algn="l">
              <a:defRPr sz="1650" b="1">
                <a:solidFill>
                  <a:srgbClr val="F5B841"/>
                </a:solidFill>
                <a:latin typeface="Aptos"/>
                <a:ea typeface="Aptos"/>
                <a:cs typeface="Aptos"/>
              </a:defRPr>
            </a:defPPr>
            <a:lvl1pPr algn="l">
              <a:defRPr sz="1650" b="1">
                <a:solidFill>
                  <a:srgbClr val="F5B841"/>
                </a:solidFill>
                <a:latin typeface="Aptos"/>
                <a:ea typeface="Aptos"/>
                <a:cs typeface="Aptos"/>
              </a:defRPr>
            </a:lvl1pPr>
            <a:lvl2pPr algn="l">
              <a:defRPr sz="1650" b="1">
                <a:solidFill>
                  <a:srgbClr val="F5B841"/>
                </a:solidFill>
                <a:latin typeface="Aptos"/>
                <a:ea typeface="Aptos"/>
                <a:cs typeface="Aptos"/>
              </a:defRPr>
            </a:lvl2pPr>
            <a:lvl3pPr algn="l">
              <a:defRPr sz="1650" b="1">
                <a:solidFill>
                  <a:srgbClr val="F5B841"/>
                </a:solidFill>
                <a:latin typeface="Aptos"/>
                <a:ea typeface="Aptos"/>
                <a:cs typeface="Aptos"/>
              </a:defRPr>
            </a:lvl3pPr>
            <a:lvl4pPr algn="l">
              <a:defRPr sz="1650" b="1">
                <a:solidFill>
                  <a:srgbClr val="F5B841"/>
                </a:solidFill>
                <a:latin typeface="Aptos"/>
                <a:ea typeface="Aptos"/>
                <a:cs typeface="Aptos"/>
              </a:defRPr>
            </a:lvl4pPr>
            <a:lvl5pPr algn="l">
              <a:defRPr sz="1650" b="1">
                <a:solidFill>
                  <a:srgbClr val="F5B841"/>
                </a:solidFill>
                <a:latin typeface="Aptos"/>
                <a:ea typeface="Aptos"/>
                <a:cs typeface="Aptos"/>
              </a:defRPr>
            </a:lvl5pPr>
            <a:lvl6pPr algn="l">
              <a:defRPr sz="1650" b="1">
                <a:solidFill>
                  <a:srgbClr val="F5B841"/>
                </a:solidFill>
                <a:latin typeface="Aptos"/>
                <a:ea typeface="Aptos"/>
                <a:cs typeface="Aptos"/>
              </a:defRPr>
            </a:lvl6pPr>
            <a:lvl7pPr algn="l">
              <a:defRPr sz="1650" b="1">
                <a:solidFill>
                  <a:srgbClr val="F5B841"/>
                </a:solidFill>
                <a:latin typeface="Aptos"/>
                <a:ea typeface="Aptos"/>
                <a:cs typeface="Aptos"/>
              </a:defRPr>
            </a:lvl7pPr>
            <a:lvl8pPr algn="l">
              <a:defRPr sz="1650" b="1">
                <a:solidFill>
                  <a:srgbClr val="F5B841"/>
                </a:solidFill>
                <a:latin typeface="Aptos"/>
                <a:ea typeface="Aptos"/>
                <a:cs typeface="Aptos"/>
              </a:defRPr>
            </a:lvl8pPr>
            <a:lvl9pPr algn="l">
              <a:defRPr sz="1650" b="1">
                <a:solidFill>
                  <a:srgbClr val="F5B841"/>
                </a:solidFill>
                <a:latin typeface="Aptos"/>
                <a:ea typeface="Aptos"/>
                <a:cs typeface="Aptos"/>
              </a:defRPr>
            </a:lvl9pPr>
          </a:lstStyle>
          <a:p>
            <a:pPr algn="l">
              <a:defRPr sz="1650" b="1">
                <a:solidFill>
                  <a:srgbClr val="F5B841"/>
                </a:solidFill>
                <a:latin typeface="Aptos"/>
                <a:ea typeface="Aptos"/>
                <a:cs typeface="Aptos"/>
              </a:defRPr>
            </a:pPr>
            <a:r>
              <a:rPr sz="1650" b="1">
                <a:solidFill>
                  <a:srgbClr val="F5B841"/>
                </a:solidFill>
                <a:latin typeface="Aptos"/>
                <a:ea typeface="Aptos"/>
                <a:cs typeface="Aptos"/>
              </a:rPr>
              <a:t>PART 2 · MEMBER 2</a:t>
            </a:r>
            <a:endParaRPr sz="1650" b="1">
              <a:solidFill>
                <a:srgbClr val="F5B841"/>
              </a:solidFill>
              <a:latin typeface="Aptos"/>
              <a:ea typeface="Aptos"/>
              <a:cs typeface="Aptos"/>
            </a:endParaRPr>
          </a:p>
        </p:txBody>
      </p:sp>
      <p:sp>
        <p:nvSpPr>
          <p:cNvPr id="2" name="How S3-FIFO Works"/>
          <p:cNvSpPr>
            <a:spLocks noGrp="1"/>
          </p:cNvSpPr>
          <p:nvPr/>
        </p:nvSpPr>
        <p:spPr>
          <a:xfrm>
            <a:off x="723900" y="1381125"/>
            <a:ext cx="10858500" cy="742950"/>
          </a:xfrm>
          <a:prstGeom prst="rect">
            <a:avLst/>
          </a:prstGeom>
          <a:noFill/>
          <a:ln w="0">
            <a:noFill/>
          </a:ln>
        </p:spPr>
        <p:txBody>
          <a:bodyPr wrap="square" lIns="0" tIns="0" rIns="0" bIns="0" anchor="t">
            <a:noAutofit/>
          </a:bodyPr>
          <a:lstStyle>
            <a:defPPr algn="l">
              <a:defRPr sz="4425" b="1">
                <a:solidFill>
                  <a:srgbClr val="FFFFFF"/>
                </a:solidFill>
                <a:latin typeface="Aptos Display"/>
                <a:ea typeface="Aptos Display"/>
                <a:cs typeface="Aptos Display"/>
              </a:defRPr>
            </a:defPPr>
            <a:lvl1pPr algn="l">
              <a:defRPr sz="4425" b="1">
                <a:solidFill>
                  <a:srgbClr val="FFFFFF"/>
                </a:solidFill>
                <a:latin typeface="Aptos Display"/>
                <a:ea typeface="Aptos Display"/>
                <a:cs typeface="Aptos Display"/>
              </a:defRPr>
            </a:lvl1pPr>
            <a:lvl2pPr algn="l">
              <a:defRPr sz="4425" b="1">
                <a:solidFill>
                  <a:srgbClr val="FFFFFF"/>
                </a:solidFill>
                <a:latin typeface="Aptos Display"/>
                <a:ea typeface="Aptos Display"/>
                <a:cs typeface="Aptos Display"/>
              </a:defRPr>
            </a:lvl2pPr>
            <a:lvl3pPr algn="l">
              <a:defRPr sz="4425" b="1">
                <a:solidFill>
                  <a:srgbClr val="FFFFFF"/>
                </a:solidFill>
                <a:latin typeface="Aptos Display"/>
                <a:ea typeface="Aptos Display"/>
                <a:cs typeface="Aptos Display"/>
              </a:defRPr>
            </a:lvl3pPr>
            <a:lvl4pPr algn="l">
              <a:defRPr sz="4425" b="1">
                <a:solidFill>
                  <a:srgbClr val="FFFFFF"/>
                </a:solidFill>
                <a:latin typeface="Aptos Display"/>
                <a:ea typeface="Aptos Display"/>
                <a:cs typeface="Aptos Display"/>
              </a:defRPr>
            </a:lvl4pPr>
            <a:lvl5pPr algn="l">
              <a:defRPr sz="4425" b="1">
                <a:solidFill>
                  <a:srgbClr val="FFFFFF"/>
                </a:solidFill>
                <a:latin typeface="Aptos Display"/>
                <a:ea typeface="Aptos Display"/>
                <a:cs typeface="Aptos Display"/>
              </a:defRPr>
            </a:lvl5pPr>
            <a:lvl6pPr algn="l">
              <a:defRPr sz="4425" b="1">
                <a:solidFill>
                  <a:srgbClr val="FFFFFF"/>
                </a:solidFill>
                <a:latin typeface="Aptos Display"/>
                <a:ea typeface="Aptos Display"/>
                <a:cs typeface="Aptos Display"/>
              </a:defRPr>
            </a:lvl6pPr>
            <a:lvl7pPr algn="l">
              <a:defRPr sz="4425" b="1">
                <a:solidFill>
                  <a:srgbClr val="FFFFFF"/>
                </a:solidFill>
                <a:latin typeface="Aptos Display"/>
                <a:ea typeface="Aptos Display"/>
                <a:cs typeface="Aptos Display"/>
              </a:defRPr>
            </a:lvl7pPr>
            <a:lvl8pPr algn="l">
              <a:defRPr sz="4425" b="1">
                <a:solidFill>
                  <a:srgbClr val="FFFFFF"/>
                </a:solidFill>
                <a:latin typeface="Aptos Display"/>
                <a:ea typeface="Aptos Display"/>
                <a:cs typeface="Aptos Display"/>
              </a:defRPr>
            </a:lvl8pPr>
            <a:lvl9pPr algn="l">
              <a:defRPr sz="4425" b="1">
                <a:solidFill>
                  <a:srgbClr val="FFFFFF"/>
                </a:solidFill>
                <a:latin typeface="Aptos Display"/>
                <a:ea typeface="Aptos Display"/>
                <a:cs typeface="Aptos Display"/>
              </a:defRPr>
            </a:lvl9pPr>
          </a:lstStyle>
          <a:p>
            <a:pPr algn="l">
              <a:defRPr sz="4425" b="1">
                <a:solidFill>
                  <a:srgbClr val="FFFFFF"/>
                </a:solidFill>
                <a:latin typeface="Aptos Display"/>
                <a:ea typeface="Aptos Display"/>
                <a:cs typeface="Aptos Display"/>
              </a:defRPr>
            </a:pPr>
            <a:r>
              <a:rPr sz="4425" b="1">
                <a:solidFill>
                  <a:srgbClr val="FFFFFF"/>
                </a:solidFill>
                <a:latin typeface="Aptos Display"/>
                <a:ea typeface="Aptos Display"/>
                <a:cs typeface="Aptos Display"/>
              </a:rPr>
              <a:t>How S3-FIFO Works</a:t>
            </a:r>
            <a:endParaRPr sz="4425" b="1">
              <a:solidFill>
                <a:srgbClr val="FFFFFF"/>
              </a:solidFill>
              <a:latin typeface="Aptos Display"/>
              <a:ea typeface="Aptos Display"/>
              <a:cs typeface="Aptos Display"/>
            </a:endParaRPr>
          </a:p>
        </p:txBody>
      </p:sp>
      <p:sp>
        <p:nvSpPr>
          <p:cNvPr id="3" name="Thank you. Now, I will explain how S3-FIFO works."/>
          <p:cNvSpPr>
            <a:spLocks noGrp="1"/>
          </p:cNvSpPr>
          <p:nvPr/>
        </p:nvSpPr>
        <p:spPr>
          <a:xfrm>
            <a:off x="762000" y="2381250"/>
            <a:ext cx="10620375" cy="523875"/>
          </a:xfrm>
          <a:prstGeom prst="rect">
            <a:avLst/>
          </a:prstGeom>
          <a:noFill/>
          <a:ln w="0">
            <a:noFill/>
          </a:ln>
        </p:spPr>
        <p:txBody>
          <a:bodyPr wrap="square" lIns="0" tIns="0" rIns="0" bIns="0" anchor="t">
            <a:noAutofit/>
          </a:bodyPr>
          <a:lstStyle>
            <a:defPPr algn="l">
              <a:defRPr sz="2325" b="0">
                <a:solidFill>
                  <a:srgbClr val="BED6F0"/>
                </a:solidFill>
                <a:latin typeface="Aptos"/>
                <a:ea typeface="Aptos"/>
                <a:cs typeface="Aptos"/>
              </a:defRPr>
            </a:defPPr>
            <a:lvl1pPr algn="l">
              <a:defRPr sz="2325" b="0">
                <a:solidFill>
                  <a:srgbClr val="BED6F0"/>
                </a:solidFill>
                <a:latin typeface="Aptos"/>
                <a:ea typeface="Aptos"/>
                <a:cs typeface="Aptos"/>
              </a:defRPr>
            </a:lvl1pPr>
            <a:lvl2pPr algn="l">
              <a:defRPr sz="2325" b="0">
                <a:solidFill>
                  <a:srgbClr val="BED6F0"/>
                </a:solidFill>
                <a:latin typeface="Aptos"/>
                <a:ea typeface="Aptos"/>
                <a:cs typeface="Aptos"/>
              </a:defRPr>
            </a:lvl2pPr>
            <a:lvl3pPr algn="l">
              <a:defRPr sz="2325" b="0">
                <a:solidFill>
                  <a:srgbClr val="BED6F0"/>
                </a:solidFill>
                <a:latin typeface="Aptos"/>
                <a:ea typeface="Aptos"/>
                <a:cs typeface="Aptos"/>
              </a:defRPr>
            </a:lvl3pPr>
            <a:lvl4pPr algn="l">
              <a:defRPr sz="2325" b="0">
                <a:solidFill>
                  <a:srgbClr val="BED6F0"/>
                </a:solidFill>
                <a:latin typeface="Aptos"/>
                <a:ea typeface="Aptos"/>
                <a:cs typeface="Aptos"/>
              </a:defRPr>
            </a:lvl4pPr>
            <a:lvl5pPr algn="l">
              <a:defRPr sz="2325" b="0">
                <a:solidFill>
                  <a:srgbClr val="BED6F0"/>
                </a:solidFill>
                <a:latin typeface="Aptos"/>
                <a:ea typeface="Aptos"/>
                <a:cs typeface="Aptos"/>
              </a:defRPr>
            </a:lvl5pPr>
            <a:lvl6pPr algn="l">
              <a:defRPr sz="2325" b="0">
                <a:solidFill>
                  <a:srgbClr val="BED6F0"/>
                </a:solidFill>
                <a:latin typeface="Aptos"/>
                <a:ea typeface="Aptos"/>
                <a:cs typeface="Aptos"/>
              </a:defRPr>
            </a:lvl6pPr>
            <a:lvl7pPr algn="l">
              <a:defRPr sz="2325" b="0">
                <a:solidFill>
                  <a:srgbClr val="BED6F0"/>
                </a:solidFill>
                <a:latin typeface="Aptos"/>
                <a:ea typeface="Aptos"/>
                <a:cs typeface="Aptos"/>
              </a:defRPr>
            </a:lvl7pPr>
            <a:lvl8pPr algn="l">
              <a:defRPr sz="2325" b="0">
                <a:solidFill>
                  <a:srgbClr val="BED6F0"/>
                </a:solidFill>
                <a:latin typeface="Aptos"/>
                <a:ea typeface="Aptos"/>
                <a:cs typeface="Aptos"/>
              </a:defRPr>
            </a:lvl8pPr>
            <a:lvl9pPr algn="l">
              <a:defRPr sz="2325" b="0">
                <a:solidFill>
                  <a:srgbClr val="BED6F0"/>
                </a:solidFill>
                <a:latin typeface="Aptos"/>
                <a:ea typeface="Aptos"/>
                <a:cs typeface="Aptos"/>
              </a:defRPr>
            </a:lvl9pPr>
          </a:lstStyle>
          <a:p>
            <a:pPr algn="l">
              <a:defRPr sz="2325" b="0">
                <a:solidFill>
                  <a:srgbClr val="BED6F0"/>
                </a:solidFill>
                <a:latin typeface="Aptos"/>
                <a:ea typeface="Aptos"/>
                <a:cs typeface="Aptos"/>
              </a:defRPr>
            </a:pPr>
            <a:r>
              <a:rPr sz="2325" b="0">
                <a:solidFill>
                  <a:srgbClr val="BED6F0"/>
                </a:solidFill>
                <a:latin typeface="Aptos"/>
                <a:ea typeface="Aptos"/>
                <a:cs typeface="Aptos"/>
              </a:rPr>
              <a:t>Thank you. Now, I will explain how S3-FIFO works.</a:t>
            </a:r>
            <a:endParaRPr sz="2325" b="0">
              <a:solidFill>
                <a:srgbClr val="BED6F0"/>
              </a:solidFill>
              <a:latin typeface="Aptos"/>
              <a:ea typeface="Aptos"/>
              <a:cs typeface="Aptos"/>
            </a:endParaRPr>
          </a:p>
        </p:txBody>
      </p:sp>
      <p:sp>
        <p:nvSpPr>
          <p:cNvPr id="4" name="The main idea is simple: three FIFO queues."/>
          <p:cNvSpPr>
            <a:spLocks noGrp="1"/>
          </p:cNvSpPr>
          <p:nvPr/>
        </p:nvSpPr>
        <p:spPr>
          <a:xfrm>
            <a:off x="762000" y="3190875"/>
            <a:ext cx="10572750" cy="523875"/>
          </a:xfrm>
          <a:prstGeom prst="rect">
            <a:avLst/>
          </a:prstGeom>
          <a:noFill/>
          <a:ln w="0">
            <a:noFill/>
          </a:ln>
        </p:spPr>
        <p:txBody>
          <a:bodyPr wrap="square" lIns="0" tIns="0" rIns="0" bIns="0" anchor="t">
            <a:noAutofit/>
          </a:bodyPr>
          <a:lstStyle>
            <a:defPPr algn="l">
              <a:defRPr sz="2700" b="1">
                <a:solidFill>
                  <a:srgbClr val="FFFFFF"/>
                </a:solidFill>
                <a:latin typeface="Aptos"/>
                <a:ea typeface="Aptos"/>
                <a:cs typeface="Aptos"/>
              </a:defRPr>
            </a:defPPr>
            <a:lvl1pPr algn="l">
              <a:defRPr sz="2700" b="1">
                <a:solidFill>
                  <a:srgbClr val="FFFFFF"/>
                </a:solidFill>
                <a:latin typeface="Aptos"/>
                <a:ea typeface="Aptos"/>
                <a:cs typeface="Aptos"/>
              </a:defRPr>
            </a:lvl1pPr>
            <a:lvl2pPr algn="l">
              <a:defRPr sz="2700" b="1">
                <a:solidFill>
                  <a:srgbClr val="FFFFFF"/>
                </a:solidFill>
                <a:latin typeface="Aptos"/>
                <a:ea typeface="Aptos"/>
                <a:cs typeface="Aptos"/>
              </a:defRPr>
            </a:lvl2pPr>
            <a:lvl3pPr algn="l">
              <a:defRPr sz="2700" b="1">
                <a:solidFill>
                  <a:srgbClr val="FFFFFF"/>
                </a:solidFill>
                <a:latin typeface="Aptos"/>
                <a:ea typeface="Aptos"/>
                <a:cs typeface="Aptos"/>
              </a:defRPr>
            </a:lvl3pPr>
            <a:lvl4pPr algn="l">
              <a:defRPr sz="2700" b="1">
                <a:solidFill>
                  <a:srgbClr val="FFFFFF"/>
                </a:solidFill>
                <a:latin typeface="Aptos"/>
                <a:ea typeface="Aptos"/>
                <a:cs typeface="Aptos"/>
              </a:defRPr>
            </a:lvl4pPr>
            <a:lvl5pPr algn="l">
              <a:defRPr sz="2700" b="1">
                <a:solidFill>
                  <a:srgbClr val="FFFFFF"/>
                </a:solidFill>
                <a:latin typeface="Aptos"/>
                <a:ea typeface="Aptos"/>
                <a:cs typeface="Aptos"/>
              </a:defRPr>
            </a:lvl5pPr>
            <a:lvl6pPr algn="l">
              <a:defRPr sz="2700" b="1">
                <a:solidFill>
                  <a:srgbClr val="FFFFFF"/>
                </a:solidFill>
                <a:latin typeface="Aptos"/>
                <a:ea typeface="Aptos"/>
                <a:cs typeface="Aptos"/>
              </a:defRPr>
            </a:lvl6pPr>
            <a:lvl7pPr algn="l">
              <a:defRPr sz="2700" b="1">
                <a:solidFill>
                  <a:srgbClr val="FFFFFF"/>
                </a:solidFill>
                <a:latin typeface="Aptos"/>
                <a:ea typeface="Aptos"/>
                <a:cs typeface="Aptos"/>
              </a:defRPr>
            </a:lvl7pPr>
            <a:lvl8pPr algn="l">
              <a:defRPr sz="2700" b="1">
                <a:solidFill>
                  <a:srgbClr val="FFFFFF"/>
                </a:solidFill>
                <a:latin typeface="Aptos"/>
                <a:ea typeface="Aptos"/>
                <a:cs typeface="Aptos"/>
              </a:defRPr>
            </a:lvl8pPr>
            <a:lvl9pPr algn="l">
              <a:defRPr sz="2700" b="1">
                <a:solidFill>
                  <a:srgbClr val="FFFFFF"/>
                </a:solidFill>
                <a:latin typeface="Aptos"/>
                <a:ea typeface="Aptos"/>
                <a:cs typeface="Aptos"/>
              </a:defRPr>
            </a:lvl9pPr>
          </a:lstStyle>
          <a:p>
            <a:pPr algn="l">
              <a:defRPr sz="2700" b="1">
                <a:solidFill>
                  <a:srgbClr val="FFFFFF"/>
                </a:solidFill>
                <a:latin typeface="Aptos"/>
                <a:ea typeface="Aptos"/>
                <a:cs typeface="Aptos"/>
              </a:defRPr>
            </a:pPr>
            <a:r>
              <a:rPr sz="2700" b="1">
                <a:solidFill>
                  <a:srgbClr val="FFFFFF"/>
                </a:solidFill>
                <a:latin typeface="Aptos"/>
                <a:ea typeface="Aptos"/>
                <a:cs typeface="Aptos"/>
              </a:rPr>
              <a:t>The main idea is simple: three FIFO queues.</a:t>
            </a:r>
            <a:endParaRPr sz="2700" b="1">
              <a:solidFill>
                <a:srgbClr val="FFFFFF"/>
              </a:solidFill>
              <a:latin typeface="Aptos"/>
              <a:ea typeface="Aptos"/>
              <a:cs typeface="Aptos"/>
            </a:endParaRPr>
          </a:p>
        </p:txBody>
      </p:sp>
      <p:sp>
        <p:nvSpPr>
          <p:cNvPr id="5" name="template-element-1"/>
          <p:cNvSpPr>
            <a:spLocks noGrp="1"/>
          </p:cNvSpPr>
          <p:nvPr/>
        </p:nvSpPr>
        <p:spPr>
          <a:xfrm>
            <a:off x="819150" y="4019550"/>
            <a:ext cx="10515600" cy="19050"/>
          </a:xfrm>
          <a:prstGeom prst="rect">
            <a:avLst/>
          </a:prstGeom>
          <a:solidFill>
            <a:srgbClr val="F5B841"/>
          </a:solidFill>
          <a:ln w="0">
            <a:noFill/>
          </a:ln>
        </p:spPr>
      </p:sp>
      <p:sp>
        <p:nvSpPr>
          <p:cNvPr id="6" name="S"/>
          <p:cNvSpPr>
            <a:spLocks noGrp="1"/>
          </p:cNvSpPr>
          <p:nvPr/>
        </p:nvSpPr>
        <p:spPr>
          <a:xfrm>
            <a:off x="800100" y="4457700"/>
            <a:ext cx="809625" cy="762000"/>
          </a:xfrm>
          <a:prstGeom prst="rect">
            <a:avLst/>
          </a:prstGeom>
          <a:noFill/>
          <a:ln w="0">
            <a:noFill/>
          </a:ln>
        </p:spPr>
        <p:txBody>
          <a:bodyPr wrap="square" lIns="0" tIns="0" rIns="0" bIns="0" anchor="t">
            <a:noAutofit/>
          </a:bodyPr>
          <a:lstStyle>
            <a:defPPr algn="l">
              <a:defRPr sz="4800" b="1">
                <a:solidFill>
                  <a:srgbClr val="DE8626"/>
                </a:solidFill>
                <a:latin typeface="Aptos"/>
                <a:ea typeface="Aptos"/>
                <a:cs typeface="Aptos"/>
              </a:defRPr>
            </a:defPPr>
            <a:lvl1pPr algn="l">
              <a:defRPr sz="4800" b="1">
                <a:solidFill>
                  <a:srgbClr val="DE8626"/>
                </a:solidFill>
                <a:latin typeface="Aptos"/>
                <a:ea typeface="Aptos"/>
                <a:cs typeface="Aptos"/>
              </a:defRPr>
            </a:lvl1pPr>
            <a:lvl2pPr algn="l">
              <a:defRPr sz="4800" b="1">
                <a:solidFill>
                  <a:srgbClr val="DE8626"/>
                </a:solidFill>
                <a:latin typeface="Aptos"/>
                <a:ea typeface="Aptos"/>
                <a:cs typeface="Aptos"/>
              </a:defRPr>
            </a:lvl2pPr>
            <a:lvl3pPr algn="l">
              <a:defRPr sz="4800" b="1">
                <a:solidFill>
                  <a:srgbClr val="DE8626"/>
                </a:solidFill>
                <a:latin typeface="Aptos"/>
                <a:ea typeface="Aptos"/>
                <a:cs typeface="Aptos"/>
              </a:defRPr>
            </a:lvl3pPr>
            <a:lvl4pPr algn="l">
              <a:defRPr sz="4800" b="1">
                <a:solidFill>
                  <a:srgbClr val="DE8626"/>
                </a:solidFill>
                <a:latin typeface="Aptos"/>
                <a:ea typeface="Aptos"/>
                <a:cs typeface="Aptos"/>
              </a:defRPr>
            </a:lvl4pPr>
            <a:lvl5pPr algn="l">
              <a:defRPr sz="4800" b="1">
                <a:solidFill>
                  <a:srgbClr val="DE8626"/>
                </a:solidFill>
                <a:latin typeface="Aptos"/>
                <a:ea typeface="Aptos"/>
                <a:cs typeface="Aptos"/>
              </a:defRPr>
            </a:lvl5pPr>
            <a:lvl6pPr algn="l">
              <a:defRPr sz="4800" b="1">
                <a:solidFill>
                  <a:srgbClr val="DE8626"/>
                </a:solidFill>
                <a:latin typeface="Aptos"/>
                <a:ea typeface="Aptos"/>
                <a:cs typeface="Aptos"/>
              </a:defRPr>
            </a:lvl6pPr>
            <a:lvl7pPr algn="l">
              <a:defRPr sz="4800" b="1">
                <a:solidFill>
                  <a:srgbClr val="DE8626"/>
                </a:solidFill>
                <a:latin typeface="Aptos"/>
                <a:ea typeface="Aptos"/>
                <a:cs typeface="Aptos"/>
              </a:defRPr>
            </a:lvl7pPr>
            <a:lvl8pPr algn="l">
              <a:defRPr sz="4800" b="1">
                <a:solidFill>
                  <a:srgbClr val="DE8626"/>
                </a:solidFill>
                <a:latin typeface="Aptos"/>
                <a:ea typeface="Aptos"/>
                <a:cs typeface="Aptos"/>
              </a:defRPr>
            </a:lvl8pPr>
            <a:lvl9pPr algn="l">
              <a:defRPr sz="4800" b="1">
                <a:solidFill>
                  <a:srgbClr val="DE8626"/>
                </a:solidFill>
                <a:latin typeface="Aptos"/>
                <a:ea typeface="Aptos"/>
                <a:cs typeface="Aptos"/>
              </a:defRPr>
            </a:lvl9pPr>
          </a:lstStyle>
          <a:p>
            <a:pPr algn="l">
              <a:defRPr sz="4800" b="1">
                <a:solidFill>
                  <a:srgbClr val="DE8626"/>
                </a:solidFill>
                <a:latin typeface="Aptos"/>
                <a:ea typeface="Aptos"/>
                <a:cs typeface="Aptos"/>
              </a:defRPr>
            </a:pPr>
            <a:r>
              <a:rPr sz="4800" b="1">
                <a:solidFill>
                  <a:srgbClr val="DE8626"/>
                </a:solidFill>
                <a:latin typeface="Aptos"/>
                <a:ea typeface="Aptos"/>
                <a:cs typeface="Aptos"/>
              </a:rPr>
              <a:t>S</a:t>
            </a:r>
            <a:endParaRPr sz="4800" b="1">
              <a:solidFill>
                <a:srgbClr val="DE8626"/>
              </a:solidFill>
              <a:latin typeface="Aptos"/>
              <a:ea typeface="Aptos"/>
              <a:cs typeface="Aptos"/>
            </a:endParaRPr>
          </a:p>
        </p:txBody>
      </p:sp>
      <p:sp>
        <p:nvSpPr>
          <p:cNvPr id="7" name="Small Queue"/>
          <p:cNvSpPr>
            <a:spLocks noGrp="1"/>
          </p:cNvSpPr>
          <p:nvPr/>
        </p:nvSpPr>
        <p:spPr>
          <a:xfrm>
            <a:off x="1562100" y="4600575"/>
            <a:ext cx="2667000" cy="619125"/>
          </a:xfrm>
          <a:prstGeom prst="rect">
            <a:avLst/>
          </a:prstGeom>
          <a:noFill/>
          <a:ln w="0">
            <a:noFill/>
          </a:ln>
        </p:spPr>
        <p:txBody>
          <a:bodyPr wrap="square" lIns="0" tIns="0" rIns="0" bIns="0" anchor="t">
            <a:noAutofit/>
          </a:bodyPr>
          <a:lstStyle>
            <a:defPPr algn="l">
              <a:defRPr sz="2325" b="1">
                <a:solidFill>
                  <a:srgbClr val="FFFFFF"/>
                </a:solidFill>
                <a:latin typeface="Aptos"/>
                <a:ea typeface="Aptos"/>
                <a:cs typeface="Aptos"/>
              </a:defRPr>
            </a:defPPr>
            <a:lvl1pPr algn="l">
              <a:defRPr sz="2325" b="1">
                <a:solidFill>
                  <a:srgbClr val="FFFFFF"/>
                </a:solidFill>
                <a:latin typeface="Aptos"/>
                <a:ea typeface="Aptos"/>
                <a:cs typeface="Aptos"/>
              </a:defRPr>
            </a:lvl1pPr>
            <a:lvl2pPr algn="l">
              <a:defRPr sz="2325" b="1">
                <a:solidFill>
                  <a:srgbClr val="FFFFFF"/>
                </a:solidFill>
                <a:latin typeface="Aptos"/>
                <a:ea typeface="Aptos"/>
                <a:cs typeface="Aptos"/>
              </a:defRPr>
            </a:lvl2pPr>
            <a:lvl3pPr algn="l">
              <a:defRPr sz="2325" b="1">
                <a:solidFill>
                  <a:srgbClr val="FFFFFF"/>
                </a:solidFill>
                <a:latin typeface="Aptos"/>
                <a:ea typeface="Aptos"/>
                <a:cs typeface="Aptos"/>
              </a:defRPr>
            </a:lvl3pPr>
            <a:lvl4pPr algn="l">
              <a:defRPr sz="2325" b="1">
                <a:solidFill>
                  <a:srgbClr val="FFFFFF"/>
                </a:solidFill>
                <a:latin typeface="Aptos"/>
                <a:ea typeface="Aptos"/>
                <a:cs typeface="Aptos"/>
              </a:defRPr>
            </a:lvl4pPr>
            <a:lvl5pPr algn="l">
              <a:defRPr sz="2325" b="1">
                <a:solidFill>
                  <a:srgbClr val="FFFFFF"/>
                </a:solidFill>
                <a:latin typeface="Aptos"/>
                <a:ea typeface="Aptos"/>
                <a:cs typeface="Aptos"/>
              </a:defRPr>
            </a:lvl5pPr>
            <a:lvl6pPr algn="l">
              <a:defRPr sz="2325" b="1">
                <a:solidFill>
                  <a:srgbClr val="FFFFFF"/>
                </a:solidFill>
                <a:latin typeface="Aptos"/>
                <a:ea typeface="Aptos"/>
                <a:cs typeface="Aptos"/>
              </a:defRPr>
            </a:lvl6pPr>
            <a:lvl7pPr algn="l">
              <a:defRPr sz="2325" b="1">
                <a:solidFill>
                  <a:srgbClr val="FFFFFF"/>
                </a:solidFill>
                <a:latin typeface="Aptos"/>
                <a:ea typeface="Aptos"/>
                <a:cs typeface="Aptos"/>
              </a:defRPr>
            </a:lvl7pPr>
            <a:lvl8pPr algn="l">
              <a:defRPr sz="2325" b="1">
                <a:solidFill>
                  <a:srgbClr val="FFFFFF"/>
                </a:solidFill>
                <a:latin typeface="Aptos"/>
                <a:ea typeface="Aptos"/>
                <a:cs typeface="Aptos"/>
              </a:defRPr>
            </a:lvl8pPr>
            <a:lvl9pPr algn="l">
              <a:defRPr sz="2325" b="1">
                <a:solidFill>
                  <a:srgbClr val="FFFFFF"/>
                </a:solidFill>
                <a:latin typeface="Aptos"/>
                <a:ea typeface="Aptos"/>
                <a:cs typeface="Aptos"/>
              </a:defRPr>
            </a:lvl9pPr>
          </a:lstStyle>
          <a:p>
            <a:pPr algn="l">
              <a:defRPr sz="2325" b="1">
                <a:solidFill>
                  <a:srgbClr val="FFFFFF"/>
                </a:solidFill>
                <a:latin typeface="Aptos"/>
                <a:ea typeface="Aptos"/>
                <a:cs typeface="Aptos"/>
              </a:defRPr>
            </a:pPr>
            <a:r>
              <a:rPr sz="2325" b="1">
                <a:solidFill>
                  <a:srgbClr val="FFFFFF"/>
                </a:solidFill>
                <a:latin typeface="Aptos"/>
                <a:ea typeface="Aptos"/>
                <a:cs typeface="Aptos"/>
              </a:rPr>
              <a:t>Small Queue</a:t>
            </a:r>
            <a:endParaRPr sz="2325" b="1">
              <a:solidFill>
                <a:srgbClr val="FFFFFF"/>
              </a:solidFill>
              <a:latin typeface="Aptos"/>
              <a:ea typeface="Aptos"/>
              <a:cs typeface="Aptos"/>
            </a:endParaRPr>
          </a:p>
        </p:txBody>
      </p:sp>
      <p:sp>
        <p:nvSpPr>
          <p:cNvPr id="8" name="M"/>
          <p:cNvSpPr>
            <a:spLocks noGrp="1"/>
          </p:cNvSpPr>
          <p:nvPr/>
        </p:nvSpPr>
        <p:spPr>
          <a:xfrm>
            <a:off x="4467225" y="4457700"/>
            <a:ext cx="809625" cy="762000"/>
          </a:xfrm>
          <a:prstGeom prst="rect">
            <a:avLst/>
          </a:prstGeom>
          <a:noFill/>
          <a:ln w="0">
            <a:noFill/>
          </a:ln>
        </p:spPr>
        <p:txBody>
          <a:bodyPr wrap="square" lIns="0" tIns="0" rIns="0" bIns="0" anchor="t">
            <a:noAutofit/>
          </a:bodyPr>
          <a:lstStyle>
            <a:defPPr algn="l">
              <a:defRPr sz="4800" b="1">
                <a:solidFill>
                  <a:srgbClr val="79B6F3"/>
                </a:solidFill>
                <a:latin typeface="Aptos"/>
                <a:ea typeface="Aptos"/>
                <a:cs typeface="Aptos"/>
              </a:defRPr>
            </a:defPPr>
            <a:lvl1pPr algn="l">
              <a:defRPr sz="4800" b="1">
                <a:solidFill>
                  <a:srgbClr val="79B6F3"/>
                </a:solidFill>
                <a:latin typeface="Aptos"/>
                <a:ea typeface="Aptos"/>
                <a:cs typeface="Aptos"/>
              </a:defRPr>
            </a:lvl1pPr>
            <a:lvl2pPr algn="l">
              <a:defRPr sz="4800" b="1">
                <a:solidFill>
                  <a:srgbClr val="79B6F3"/>
                </a:solidFill>
                <a:latin typeface="Aptos"/>
                <a:ea typeface="Aptos"/>
                <a:cs typeface="Aptos"/>
              </a:defRPr>
            </a:lvl2pPr>
            <a:lvl3pPr algn="l">
              <a:defRPr sz="4800" b="1">
                <a:solidFill>
                  <a:srgbClr val="79B6F3"/>
                </a:solidFill>
                <a:latin typeface="Aptos"/>
                <a:ea typeface="Aptos"/>
                <a:cs typeface="Aptos"/>
              </a:defRPr>
            </a:lvl3pPr>
            <a:lvl4pPr algn="l">
              <a:defRPr sz="4800" b="1">
                <a:solidFill>
                  <a:srgbClr val="79B6F3"/>
                </a:solidFill>
                <a:latin typeface="Aptos"/>
                <a:ea typeface="Aptos"/>
                <a:cs typeface="Aptos"/>
              </a:defRPr>
            </a:lvl4pPr>
            <a:lvl5pPr algn="l">
              <a:defRPr sz="4800" b="1">
                <a:solidFill>
                  <a:srgbClr val="79B6F3"/>
                </a:solidFill>
                <a:latin typeface="Aptos"/>
                <a:ea typeface="Aptos"/>
                <a:cs typeface="Aptos"/>
              </a:defRPr>
            </a:lvl5pPr>
            <a:lvl6pPr algn="l">
              <a:defRPr sz="4800" b="1">
                <a:solidFill>
                  <a:srgbClr val="79B6F3"/>
                </a:solidFill>
                <a:latin typeface="Aptos"/>
                <a:ea typeface="Aptos"/>
                <a:cs typeface="Aptos"/>
              </a:defRPr>
            </a:lvl6pPr>
            <a:lvl7pPr algn="l">
              <a:defRPr sz="4800" b="1">
                <a:solidFill>
                  <a:srgbClr val="79B6F3"/>
                </a:solidFill>
                <a:latin typeface="Aptos"/>
                <a:ea typeface="Aptos"/>
                <a:cs typeface="Aptos"/>
              </a:defRPr>
            </a:lvl7pPr>
            <a:lvl8pPr algn="l">
              <a:defRPr sz="4800" b="1">
                <a:solidFill>
                  <a:srgbClr val="79B6F3"/>
                </a:solidFill>
                <a:latin typeface="Aptos"/>
                <a:ea typeface="Aptos"/>
                <a:cs typeface="Aptos"/>
              </a:defRPr>
            </a:lvl8pPr>
            <a:lvl9pPr algn="l">
              <a:defRPr sz="4800" b="1">
                <a:solidFill>
                  <a:srgbClr val="79B6F3"/>
                </a:solidFill>
                <a:latin typeface="Aptos"/>
                <a:ea typeface="Aptos"/>
                <a:cs typeface="Aptos"/>
              </a:defRPr>
            </a:lvl9pPr>
          </a:lstStyle>
          <a:p>
            <a:pPr algn="l">
              <a:defRPr sz="4800" b="1">
                <a:solidFill>
                  <a:srgbClr val="79B6F3"/>
                </a:solidFill>
                <a:latin typeface="Aptos"/>
                <a:ea typeface="Aptos"/>
                <a:cs typeface="Aptos"/>
              </a:defRPr>
            </a:pPr>
            <a:r>
              <a:rPr sz="4800" b="1">
                <a:solidFill>
                  <a:srgbClr val="79B6F3"/>
                </a:solidFill>
                <a:latin typeface="Aptos"/>
                <a:ea typeface="Aptos"/>
                <a:cs typeface="Aptos"/>
              </a:rPr>
              <a:t>M</a:t>
            </a:r>
            <a:endParaRPr sz="4800" b="1">
              <a:solidFill>
                <a:srgbClr val="79B6F3"/>
              </a:solidFill>
              <a:latin typeface="Aptos"/>
              <a:ea typeface="Aptos"/>
              <a:cs typeface="Aptos"/>
            </a:endParaRPr>
          </a:p>
        </p:txBody>
      </p:sp>
      <p:sp>
        <p:nvSpPr>
          <p:cNvPr id="9" name="Main Queue"/>
          <p:cNvSpPr>
            <a:spLocks noGrp="1"/>
          </p:cNvSpPr>
          <p:nvPr/>
        </p:nvSpPr>
        <p:spPr>
          <a:xfrm>
            <a:off x="5229225" y="4600575"/>
            <a:ext cx="2667000" cy="619125"/>
          </a:xfrm>
          <a:prstGeom prst="rect">
            <a:avLst/>
          </a:prstGeom>
          <a:noFill/>
          <a:ln w="0">
            <a:noFill/>
          </a:ln>
        </p:spPr>
        <p:txBody>
          <a:bodyPr wrap="square" lIns="0" tIns="0" rIns="0" bIns="0" anchor="t">
            <a:noAutofit/>
          </a:bodyPr>
          <a:lstStyle>
            <a:defPPr algn="l">
              <a:defRPr sz="2325" b="1">
                <a:solidFill>
                  <a:srgbClr val="FFFFFF"/>
                </a:solidFill>
                <a:latin typeface="Aptos"/>
                <a:ea typeface="Aptos"/>
                <a:cs typeface="Aptos"/>
              </a:defRPr>
            </a:defPPr>
            <a:lvl1pPr algn="l">
              <a:defRPr sz="2325" b="1">
                <a:solidFill>
                  <a:srgbClr val="FFFFFF"/>
                </a:solidFill>
                <a:latin typeface="Aptos"/>
                <a:ea typeface="Aptos"/>
                <a:cs typeface="Aptos"/>
              </a:defRPr>
            </a:lvl1pPr>
            <a:lvl2pPr algn="l">
              <a:defRPr sz="2325" b="1">
                <a:solidFill>
                  <a:srgbClr val="FFFFFF"/>
                </a:solidFill>
                <a:latin typeface="Aptos"/>
                <a:ea typeface="Aptos"/>
                <a:cs typeface="Aptos"/>
              </a:defRPr>
            </a:lvl2pPr>
            <a:lvl3pPr algn="l">
              <a:defRPr sz="2325" b="1">
                <a:solidFill>
                  <a:srgbClr val="FFFFFF"/>
                </a:solidFill>
                <a:latin typeface="Aptos"/>
                <a:ea typeface="Aptos"/>
                <a:cs typeface="Aptos"/>
              </a:defRPr>
            </a:lvl3pPr>
            <a:lvl4pPr algn="l">
              <a:defRPr sz="2325" b="1">
                <a:solidFill>
                  <a:srgbClr val="FFFFFF"/>
                </a:solidFill>
                <a:latin typeface="Aptos"/>
                <a:ea typeface="Aptos"/>
                <a:cs typeface="Aptos"/>
              </a:defRPr>
            </a:lvl4pPr>
            <a:lvl5pPr algn="l">
              <a:defRPr sz="2325" b="1">
                <a:solidFill>
                  <a:srgbClr val="FFFFFF"/>
                </a:solidFill>
                <a:latin typeface="Aptos"/>
                <a:ea typeface="Aptos"/>
                <a:cs typeface="Aptos"/>
              </a:defRPr>
            </a:lvl5pPr>
            <a:lvl6pPr algn="l">
              <a:defRPr sz="2325" b="1">
                <a:solidFill>
                  <a:srgbClr val="FFFFFF"/>
                </a:solidFill>
                <a:latin typeface="Aptos"/>
                <a:ea typeface="Aptos"/>
                <a:cs typeface="Aptos"/>
              </a:defRPr>
            </a:lvl6pPr>
            <a:lvl7pPr algn="l">
              <a:defRPr sz="2325" b="1">
                <a:solidFill>
                  <a:srgbClr val="FFFFFF"/>
                </a:solidFill>
                <a:latin typeface="Aptos"/>
                <a:ea typeface="Aptos"/>
                <a:cs typeface="Aptos"/>
              </a:defRPr>
            </a:lvl7pPr>
            <a:lvl8pPr algn="l">
              <a:defRPr sz="2325" b="1">
                <a:solidFill>
                  <a:srgbClr val="FFFFFF"/>
                </a:solidFill>
                <a:latin typeface="Aptos"/>
                <a:ea typeface="Aptos"/>
                <a:cs typeface="Aptos"/>
              </a:defRPr>
            </a:lvl8pPr>
            <a:lvl9pPr algn="l">
              <a:defRPr sz="2325" b="1">
                <a:solidFill>
                  <a:srgbClr val="FFFFFF"/>
                </a:solidFill>
                <a:latin typeface="Aptos"/>
                <a:ea typeface="Aptos"/>
                <a:cs typeface="Aptos"/>
              </a:defRPr>
            </a:lvl9pPr>
          </a:lstStyle>
          <a:p>
            <a:pPr algn="l">
              <a:defRPr sz="2325" b="1">
                <a:solidFill>
                  <a:srgbClr val="FFFFFF"/>
                </a:solidFill>
                <a:latin typeface="Aptos"/>
                <a:ea typeface="Aptos"/>
                <a:cs typeface="Aptos"/>
              </a:defRPr>
            </a:pPr>
            <a:r>
              <a:rPr sz="2325" b="1">
                <a:solidFill>
                  <a:srgbClr val="FFFFFF"/>
                </a:solidFill>
                <a:latin typeface="Aptos"/>
                <a:ea typeface="Aptos"/>
                <a:cs typeface="Aptos"/>
              </a:rPr>
              <a:t>Main Queue</a:t>
            </a:r>
            <a:endParaRPr sz="2325" b="1">
              <a:solidFill>
                <a:srgbClr val="FFFFFF"/>
              </a:solidFill>
              <a:latin typeface="Aptos"/>
              <a:ea typeface="Aptos"/>
              <a:cs typeface="Aptos"/>
            </a:endParaRPr>
          </a:p>
        </p:txBody>
      </p:sp>
      <p:sp>
        <p:nvSpPr>
          <p:cNvPr id="10" name="G"/>
          <p:cNvSpPr>
            <a:spLocks noGrp="1"/>
          </p:cNvSpPr>
          <p:nvPr/>
        </p:nvSpPr>
        <p:spPr>
          <a:xfrm>
            <a:off x="8134350" y="4457700"/>
            <a:ext cx="809625" cy="762000"/>
          </a:xfrm>
          <a:prstGeom prst="rect">
            <a:avLst/>
          </a:prstGeom>
          <a:noFill/>
          <a:ln w="0">
            <a:noFill/>
          </a:ln>
        </p:spPr>
        <p:txBody>
          <a:bodyPr wrap="square" lIns="0" tIns="0" rIns="0" bIns="0" anchor="t">
            <a:noAutofit/>
          </a:bodyPr>
          <a:lstStyle>
            <a:defPPr algn="l">
              <a:defRPr sz="4800" b="1">
                <a:solidFill>
                  <a:srgbClr val="BED6F0"/>
                </a:solidFill>
                <a:latin typeface="Aptos"/>
                <a:ea typeface="Aptos"/>
                <a:cs typeface="Aptos"/>
              </a:defRPr>
            </a:defPPr>
            <a:lvl1pPr algn="l">
              <a:defRPr sz="4800" b="1">
                <a:solidFill>
                  <a:srgbClr val="BED6F0"/>
                </a:solidFill>
                <a:latin typeface="Aptos"/>
                <a:ea typeface="Aptos"/>
                <a:cs typeface="Aptos"/>
              </a:defRPr>
            </a:lvl1pPr>
            <a:lvl2pPr algn="l">
              <a:defRPr sz="4800" b="1">
                <a:solidFill>
                  <a:srgbClr val="BED6F0"/>
                </a:solidFill>
                <a:latin typeface="Aptos"/>
                <a:ea typeface="Aptos"/>
                <a:cs typeface="Aptos"/>
              </a:defRPr>
            </a:lvl2pPr>
            <a:lvl3pPr algn="l">
              <a:defRPr sz="4800" b="1">
                <a:solidFill>
                  <a:srgbClr val="BED6F0"/>
                </a:solidFill>
                <a:latin typeface="Aptos"/>
                <a:ea typeface="Aptos"/>
                <a:cs typeface="Aptos"/>
              </a:defRPr>
            </a:lvl3pPr>
            <a:lvl4pPr algn="l">
              <a:defRPr sz="4800" b="1">
                <a:solidFill>
                  <a:srgbClr val="BED6F0"/>
                </a:solidFill>
                <a:latin typeface="Aptos"/>
                <a:ea typeface="Aptos"/>
                <a:cs typeface="Aptos"/>
              </a:defRPr>
            </a:lvl4pPr>
            <a:lvl5pPr algn="l">
              <a:defRPr sz="4800" b="1">
                <a:solidFill>
                  <a:srgbClr val="BED6F0"/>
                </a:solidFill>
                <a:latin typeface="Aptos"/>
                <a:ea typeface="Aptos"/>
                <a:cs typeface="Aptos"/>
              </a:defRPr>
            </a:lvl5pPr>
            <a:lvl6pPr algn="l">
              <a:defRPr sz="4800" b="1">
                <a:solidFill>
                  <a:srgbClr val="BED6F0"/>
                </a:solidFill>
                <a:latin typeface="Aptos"/>
                <a:ea typeface="Aptos"/>
                <a:cs typeface="Aptos"/>
              </a:defRPr>
            </a:lvl6pPr>
            <a:lvl7pPr algn="l">
              <a:defRPr sz="4800" b="1">
                <a:solidFill>
                  <a:srgbClr val="BED6F0"/>
                </a:solidFill>
                <a:latin typeface="Aptos"/>
                <a:ea typeface="Aptos"/>
                <a:cs typeface="Aptos"/>
              </a:defRPr>
            </a:lvl7pPr>
            <a:lvl8pPr algn="l">
              <a:defRPr sz="4800" b="1">
                <a:solidFill>
                  <a:srgbClr val="BED6F0"/>
                </a:solidFill>
                <a:latin typeface="Aptos"/>
                <a:ea typeface="Aptos"/>
                <a:cs typeface="Aptos"/>
              </a:defRPr>
            </a:lvl8pPr>
            <a:lvl9pPr algn="l">
              <a:defRPr sz="4800" b="1">
                <a:solidFill>
                  <a:srgbClr val="BED6F0"/>
                </a:solidFill>
                <a:latin typeface="Aptos"/>
                <a:ea typeface="Aptos"/>
                <a:cs typeface="Aptos"/>
              </a:defRPr>
            </a:lvl9pPr>
          </a:lstStyle>
          <a:p>
            <a:pPr algn="l">
              <a:defRPr sz="4800" b="1">
                <a:solidFill>
                  <a:srgbClr val="BED6F0"/>
                </a:solidFill>
                <a:latin typeface="Aptos"/>
                <a:ea typeface="Aptos"/>
                <a:cs typeface="Aptos"/>
              </a:defRPr>
            </a:pPr>
            <a:r>
              <a:rPr sz="4800" b="1">
                <a:solidFill>
                  <a:srgbClr val="BED6F0"/>
                </a:solidFill>
                <a:latin typeface="Aptos"/>
                <a:ea typeface="Aptos"/>
                <a:cs typeface="Aptos"/>
              </a:rPr>
              <a:t>G</a:t>
            </a:r>
            <a:endParaRPr sz="4800" b="1">
              <a:solidFill>
                <a:srgbClr val="BED6F0"/>
              </a:solidFill>
              <a:latin typeface="Aptos"/>
              <a:ea typeface="Aptos"/>
              <a:cs typeface="Aptos"/>
            </a:endParaRPr>
          </a:p>
        </p:txBody>
      </p:sp>
      <p:sp>
        <p:nvSpPr>
          <p:cNvPr id="11" name="Ghost Queue"/>
          <p:cNvSpPr>
            <a:spLocks noGrp="1"/>
          </p:cNvSpPr>
          <p:nvPr/>
        </p:nvSpPr>
        <p:spPr>
          <a:xfrm>
            <a:off x="8896350" y="4600575"/>
            <a:ext cx="2667000" cy="619125"/>
          </a:xfrm>
          <a:prstGeom prst="rect">
            <a:avLst/>
          </a:prstGeom>
          <a:noFill/>
          <a:ln w="0">
            <a:noFill/>
          </a:ln>
        </p:spPr>
        <p:txBody>
          <a:bodyPr wrap="square" lIns="0" tIns="0" rIns="0" bIns="0" anchor="t">
            <a:noAutofit/>
          </a:bodyPr>
          <a:lstStyle>
            <a:defPPr algn="l">
              <a:defRPr sz="2325" b="1">
                <a:solidFill>
                  <a:srgbClr val="FFFFFF"/>
                </a:solidFill>
                <a:latin typeface="Aptos"/>
                <a:ea typeface="Aptos"/>
                <a:cs typeface="Aptos"/>
              </a:defRPr>
            </a:defPPr>
            <a:lvl1pPr algn="l">
              <a:defRPr sz="2325" b="1">
                <a:solidFill>
                  <a:srgbClr val="FFFFFF"/>
                </a:solidFill>
                <a:latin typeface="Aptos"/>
                <a:ea typeface="Aptos"/>
                <a:cs typeface="Aptos"/>
              </a:defRPr>
            </a:lvl1pPr>
            <a:lvl2pPr algn="l">
              <a:defRPr sz="2325" b="1">
                <a:solidFill>
                  <a:srgbClr val="FFFFFF"/>
                </a:solidFill>
                <a:latin typeface="Aptos"/>
                <a:ea typeface="Aptos"/>
                <a:cs typeface="Aptos"/>
              </a:defRPr>
            </a:lvl2pPr>
            <a:lvl3pPr algn="l">
              <a:defRPr sz="2325" b="1">
                <a:solidFill>
                  <a:srgbClr val="FFFFFF"/>
                </a:solidFill>
                <a:latin typeface="Aptos"/>
                <a:ea typeface="Aptos"/>
                <a:cs typeface="Aptos"/>
              </a:defRPr>
            </a:lvl3pPr>
            <a:lvl4pPr algn="l">
              <a:defRPr sz="2325" b="1">
                <a:solidFill>
                  <a:srgbClr val="FFFFFF"/>
                </a:solidFill>
                <a:latin typeface="Aptos"/>
                <a:ea typeface="Aptos"/>
                <a:cs typeface="Aptos"/>
              </a:defRPr>
            </a:lvl4pPr>
            <a:lvl5pPr algn="l">
              <a:defRPr sz="2325" b="1">
                <a:solidFill>
                  <a:srgbClr val="FFFFFF"/>
                </a:solidFill>
                <a:latin typeface="Aptos"/>
                <a:ea typeface="Aptos"/>
                <a:cs typeface="Aptos"/>
              </a:defRPr>
            </a:lvl5pPr>
            <a:lvl6pPr algn="l">
              <a:defRPr sz="2325" b="1">
                <a:solidFill>
                  <a:srgbClr val="FFFFFF"/>
                </a:solidFill>
                <a:latin typeface="Aptos"/>
                <a:ea typeface="Aptos"/>
                <a:cs typeface="Aptos"/>
              </a:defRPr>
            </a:lvl6pPr>
            <a:lvl7pPr algn="l">
              <a:defRPr sz="2325" b="1">
                <a:solidFill>
                  <a:srgbClr val="FFFFFF"/>
                </a:solidFill>
                <a:latin typeface="Aptos"/>
                <a:ea typeface="Aptos"/>
                <a:cs typeface="Aptos"/>
              </a:defRPr>
            </a:lvl7pPr>
            <a:lvl8pPr algn="l">
              <a:defRPr sz="2325" b="1">
                <a:solidFill>
                  <a:srgbClr val="FFFFFF"/>
                </a:solidFill>
                <a:latin typeface="Aptos"/>
                <a:ea typeface="Aptos"/>
                <a:cs typeface="Aptos"/>
              </a:defRPr>
            </a:lvl8pPr>
            <a:lvl9pPr algn="l">
              <a:defRPr sz="2325" b="1">
                <a:solidFill>
                  <a:srgbClr val="FFFFFF"/>
                </a:solidFill>
                <a:latin typeface="Aptos"/>
                <a:ea typeface="Aptos"/>
                <a:cs typeface="Aptos"/>
              </a:defRPr>
            </a:lvl9pPr>
          </a:lstStyle>
          <a:p>
            <a:pPr algn="l">
              <a:defRPr sz="2325" b="1">
                <a:solidFill>
                  <a:srgbClr val="FFFFFF"/>
                </a:solidFill>
                <a:latin typeface="Aptos"/>
                <a:ea typeface="Aptos"/>
                <a:cs typeface="Aptos"/>
              </a:defRPr>
            </a:pPr>
            <a:r>
              <a:rPr sz="2325" b="1">
                <a:solidFill>
                  <a:srgbClr val="FFFFFF"/>
                </a:solidFill>
                <a:latin typeface="Aptos"/>
                <a:ea typeface="Aptos"/>
                <a:cs typeface="Aptos"/>
              </a:rPr>
              <a:t>Ghost Queue</a:t>
            </a:r>
            <a:endParaRPr sz="2325" b="1">
              <a:solidFill>
                <a:srgbClr val="FFFFFF"/>
              </a:solidFill>
              <a:latin typeface="Aptos"/>
              <a:ea typeface="Aptos"/>
              <a:cs typeface="Aptos"/>
            </a:endParaRPr>
          </a:p>
        </p:txBody>
      </p:sp>
      <p:sp>
        <p:nvSpPr>
          <p:cNvPr id="12"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B8CBE0"/>
                </a:solidFill>
                <a:latin typeface="Aptos"/>
                <a:ea typeface="Aptos"/>
                <a:cs typeface="Aptos"/>
              </a:defRPr>
            </a:defPPr>
            <a:lvl1pPr algn="l">
              <a:defRPr sz="900" b="0">
                <a:solidFill>
                  <a:srgbClr val="B8CBE0"/>
                </a:solidFill>
                <a:latin typeface="Aptos"/>
                <a:ea typeface="Aptos"/>
                <a:cs typeface="Aptos"/>
              </a:defRPr>
            </a:lvl1pPr>
            <a:lvl2pPr algn="l">
              <a:defRPr sz="900" b="0">
                <a:solidFill>
                  <a:srgbClr val="B8CBE0"/>
                </a:solidFill>
                <a:latin typeface="Aptos"/>
                <a:ea typeface="Aptos"/>
                <a:cs typeface="Aptos"/>
              </a:defRPr>
            </a:lvl2pPr>
            <a:lvl3pPr algn="l">
              <a:defRPr sz="900" b="0">
                <a:solidFill>
                  <a:srgbClr val="B8CBE0"/>
                </a:solidFill>
                <a:latin typeface="Aptos"/>
                <a:ea typeface="Aptos"/>
                <a:cs typeface="Aptos"/>
              </a:defRPr>
            </a:lvl3pPr>
            <a:lvl4pPr algn="l">
              <a:defRPr sz="900" b="0">
                <a:solidFill>
                  <a:srgbClr val="B8CBE0"/>
                </a:solidFill>
                <a:latin typeface="Aptos"/>
                <a:ea typeface="Aptos"/>
                <a:cs typeface="Aptos"/>
              </a:defRPr>
            </a:lvl4pPr>
            <a:lvl5pPr algn="l">
              <a:defRPr sz="900" b="0">
                <a:solidFill>
                  <a:srgbClr val="B8CBE0"/>
                </a:solidFill>
                <a:latin typeface="Aptos"/>
                <a:ea typeface="Aptos"/>
                <a:cs typeface="Aptos"/>
              </a:defRPr>
            </a:lvl5pPr>
            <a:lvl6pPr algn="l">
              <a:defRPr sz="900" b="0">
                <a:solidFill>
                  <a:srgbClr val="B8CBE0"/>
                </a:solidFill>
                <a:latin typeface="Aptos"/>
                <a:ea typeface="Aptos"/>
                <a:cs typeface="Aptos"/>
              </a:defRPr>
            </a:lvl6pPr>
            <a:lvl7pPr algn="l">
              <a:defRPr sz="900" b="0">
                <a:solidFill>
                  <a:srgbClr val="B8CBE0"/>
                </a:solidFill>
                <a:latin typeface="Aptos"/>
                <a:ea typeface="Aptos"/>
                <a:cs typeface="Aptos"/>
              </a:defRPr>
            </a:lvl7pPr>
            <a:lvl8pPr algn="l">
              <a:defRPr sz="900" b="0">
                <a:solidFill>
                  <a:srgbClr val="B8CBE0"/>
                </a:solidFill>
                <a:latin typeface="Aptos"/>
                <a:ea typeface="Aptos"/>
                <a:cs typeface="Aptos"/>
              </a:defRPr>
            </a:lvl8pPr>
            <a:lvl9pPr algn="l">
              <a:defRPr sz="900" b="0">
                <a:solidFill>
                  <a:srgbClr val="B8CBE0"/>
                </a:solidFill>
                <a:latin typeface="Aptos"/>
                <a:ea typeface="Aptos"/>
                <a:cs typeface="Aptos"/>
              </a:defRPr>
            </a:lvl9pPr>
          </a:lstStyle>
          <a:p>
            <a:pPr algn="l">
              <a:defRPr sz="900" b="0">
                <a:solidFill>
                  <a:srgbClr val="B8CBE0"/>
                </a:solidFill>
                <a:latin typeface="Aptos"/>
                <a:ea typeface="Aptos"/>
                <a:cs typeface="Aptos"/>
              </a:defRPr>
            </a:pPr>
            <a:r>
              <a:rPr sz="900" b="0">
                <a:solidFill>
                  <a:srgbClr val="B8CBE0"/>
                </a:solidFill>
                <a:latin typeface="Aptos"/>
                <a:ea typeface="Aptos"/>
                <a:cs typeface="Aptos"/>
              </a:rPr>
              <a:t>Yang et al., SOSP 2023 · Operating Systems · Theoretical Presentation</a:t>
            </a:r>
            <a:endParaRPr sz="900" b="0">
              <a:solidFill>
                <a:srgbClr val="B8CBE0"/>
              </a:solidFill>
              <a:latin typeface="Aptos"/>
              <a:ea typeface="Aptos"/>
              <a:cs typeface="Aptos"/>
            </a:endParaRPr>
          </a:p>
        </p:txBody>
      </p:sp>
      <p:sp>
        <p:nvSpPr>
          <p:cNvPr id="13" name="Part 2   01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B8CBE0"/>
                </a:solidFill>
                <a:latin typeface="Aptos"/>
                <a:ea typeface="Aptos"/>
                <a:cs typeface="Aptos"/>
              </a:defRPr>
            </a:defPPr>
            <a:lvl1pPr algn="r">
              <a:defRPr sz="900" b="0">
                <a:solidFill>
                  <a:srgbClr val="B8CBE0"/>
                </a:solidFill>
                <a:latin typeface="Aptos"/>
                <a:ea typeface="Aptos"/>
                <a:cs typeface="Aptos"/>
              </a:defRPr>
            </a:lvl1pPr>
            <a:lvl2pPr algn="r">
              <a:defRPr sz="900" b="0">
                <a:solidFill>
                  <a:srgbClr val="B8CBE0"/>
                </a:solidFill>
                <a:latin typeface="Aptos"/>
                <a:ea typeface="Aptos"/>
                <a:cs typeface="Aptos"/>
              </a:defRPr>
            </a:lvl2pPr>
            <a:lvl3pPr algn="r">
              <a:defRPr sz="900" b="0">
                <a:solidFill>
                  <a:srgbClr val="B8CBE0"/>
                </a:solidFill>
                <a:latin typeface="Aptos"/>
                <a:ea typeface="Aptos"/>
                <a:cs typeface="Aptos"/>
              </a:defRPr>
            </a:lvl3pPr>
            <a:lvl4pPr algn="r">
              <a:defRPr sz="900" b="0">
                <a:solidFill>
                  <a:srgbClr val="B8CBE0"/>
                </a:solidFill>
                <a:latin typeface="Aptos"/>
                <a:ea typeface="Aptos"/>
                <a:cs typeface="Aptos"/>
              </a:defRPr>
            </a:lvl4pPr>
            <a:lvl5pPr algn="r">
              <a:defRPr sz="900" b="0">
                <a:solidFill>
                  <a:srgbClr val="B8CBE0"/>
                </a:solidFill>
                <a:latin typeface="Aptos"/>
                <a:ea typeface="Aptos"/>
                <a:cs typeface="Aptos"/>
              </a:defRPr>
            </a:lvl5pPr>
            <a:lvl6pPr algn="r">
              <a:defRPr sz="900" b="0">
                <a:solidFill>
                  <a:srgbClr val="B8CBE0"/>
                </a:solidFill>
                <a:latin typeface="Aptos"/>
                <a:ea typeface="Aptos"/>
                <a:cs typeface="Aptos"/>
              </a:defRPr>
            </a:lvl6pPr>
            <a:lvl7pPr algn="r">
              <a:defRPr sz="900" b="0">
                <a:solidFill>
                  <a:srgbClr val="B8CBE0"/>
                </a:solidFill>
                <a:latin typeface="Aptos"/>
                <a:ea typeface="Aptos"/>
                <a:cs typeface="Aptos"/>
              </a:defRPr>
            </a:lvl7pPr>
            <a:lvl8pPr algn="r">
              <a:defRPr sz="900" b="0">
                <a:solidFill>
                  <a:srgbClr val="B8CBE0"/>
                </a:solidFill>
                <a:latin typeface="Aptos"/>
                <a:ea typeface="Aptos"/>
                <a:cs typeface="Aptos"/>
              </a:defRPr>
            </a:lvl8pPr>
            <a:lvl9pPr algn="r">
              <a:defRPr sz="900" b="0">
                <a:solidFill>
                  <a:srgbClr val="B8CBE0"/>
                </a:solidFill>
                <a:latin typeface="Aptos"/>
                <a:ea typeface="Aptos"/>
                <a:cs typeface="Aptos"/>
              </a:defRPr>
            </a:lvl9pPr>
          </a:lstStyle>
          <a:p>
            <a:pPr algn="r">
              <a:defRPr sz="900" b="0">
                <a:solidFill>
                  <a:srgbClr val="B8CBE0"/>
                </a:solidFill>
                <a:latin typeface="Aptos"/>
                <a:ea typeface="Aptos"/>
                <a:cs typeface="Aptos"/>
              </a:defRPr>
            </a:pPr>
            <a:r>
              <a:rPr sz="900" b="0">
                <a:solidFill>
                  <a:srgbClr val="B8CBE0"/>
                </a:solidFill>
                <a:latin typeface="Aptos"/>
                <a:ea typeface="Aptos"/>
                <a:cs typeface="Aptos"/>
              </a:rPr>
              <a:t>Part 2   01 / 12</a:t>
            </a:r>
            <a:endParaRPr sz="900" b="0">
              <a:solidFill>
                <a:srgbClr val="B8CBE0"/>
              </a:solidFill>
              <a:latin typeface="Aptos"/>
              <a:ea typeface="Aptos"/>
              <a:cs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grpSp>
        <p:nvGrpSpPr>
          <p:cNvPr id="10000" name="Original slide 8 diagram"/>
          <p:cNvGrpSpPr/>
          <p:nvPr/>
        </p:nvGrpSpPr>
        <p:grpSpPr>
          <a:xfrm>
            <a:off x="590550" y="2009775"/>
            <a:ext cx="7000875" cy="3800475"/>
            <a:chOff x="685800" y="1771650"/>
            <a:chExt cx="6705600" cy="3638550"/>
          </a:xfrm>
        </p:grpSpPr>
        <p:sp>
          <p:nvSpPr>
            <p:cNvPr id="10001" name="Rounded Rectangle 6"/>
            <p:cNvSpPr/>
            <p:nvPr/>
          </p:nvSpPr>
          <p:spPr>
            <a:xfrm>
              <a:off x="685800" y="1773936"/>
              <a:ext cx="6702552" cy="3639312"/>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10002" name="Picture 7" descr="image.png"/>
            <p:cNvPicPr>
              <a:picLocks noChangeAspect="1"/>
            </p:cNvPicPr>
            <p:nvPr/>
          </p:nvPicPr>
          <p:blipFill>
            <a:blip r:embed="rId1"/>
            <a:stretch>
              <a:fillRect/>
            </a:stretch>
          </p:blipFill>
          <p:spPr>
            <a:xfrm>
              <a:off x="939738" y="1938528"/>
              <a:ext cx="6194675" cy="2999232"/>
            </a:xfrm>
            <a:prstGeom prst="rect">
              <a:avLst/>
            </a:prstGeom>
          </p:spPr>
        </p:pic>
        <p:sp>
          <p:nvSpPr>
            <p:cNvPr id="10003" name="TextBox 8"/>
            <p:cNvSpPr txBox="1"/>
            <p:nvPr/>
          </p:nvSpPr>
          <p:spPr>
            <a:xfrm>
              <a:off x="960120" y="5093208"/>
              <a:ext cx="6126480" cy="182880"/>
            </a:xfrm>
            <a:prstGeom prst="rect">
              <a:avLst/>
            </a:prstGeom>
            <a:noFill/>
          </p:spPr>
          <p:txBody>
            <a:bodyPr wrap="square" lIns="0" tIns="0" rIns="0" bIns="0">
              <a:spAutoFit/>
            </a:bodyPr>
            <a:lstStyle/>
            <a:p>
              <a:pPr algn="l">
                <a:lnSpc>
                  <a:spcPct val="112000"/>
                </a:lnSpc>
                <a:spcBef>
                  <a:spcPts val="0"/>
                </a:spcBef>
                <a:spcAft>
                  <a:spcPts val="500"/>
                </a:spcAft>
              </a:pPr>
              <a:r>
                <a:rPr sz="1050" b="0">
                  <a:solidFill>
                    <a:srgbClr val="5B6472"/>
                  </a:solidFill>
                  <a:latin typeface="Aptos"/>
                </a:rPr>
                <a:t>Original Figure 5 · Source: Yang et al., SOSP 2023</a:t>
              </a:r>
              <a:endParaRPr sz="1050" b="0">
                <a:solidFill>
                  <a:srgbClr val="5B6472"/>
                </a:solidFill>
                <a:latin typeface="Aptos"/>
              </a:endParaRPr>
            </a:p>
          </p:txBody>
        </p:sp>
      </p:grpSp>
      <p:sp>
        <p:nvSpPr>
          <p:cNvPr id="15" name="template-element-2"/>
          <p:cNvSpPr>
            <a:spLocks noGrp="1"/>
          </p:cNvSpPr>
          <p:nvPr/>
        </p:nvSpPr>
        <p:spPr>
          <a:xfrm>
            <a:off x="0" y="0"/>
            <a:ext cx="12192000" cy="409575"/>
          </a:xfrm>
          <a:prstGeom prst="rect">
            <a:avLst/>
          </a:prstGeom>
          <a:solidFill>
            <a:srgbClr val="13294B"/>
          </a:solidFill>
          <a:ln w="0">
            <a:noFill/>
          </a:ln>
        </p:spPr>
      </p:sp>
      <p:sp>
        <p:nvSpPr>
          <p:cNvPr id="2" name="Part 2 · Design Overview"/>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Design Overview</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Three FIFO Queues, One Cache"/>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Three FIFO Queues, One Cache</a:t>
            </a:r>
            <a:endParaRPr sz="3300" b="1">
              <a:solidFill>
                <a:srgbClr val="192337"/>
              </a:solidFill>
              <a:latin typeface="Aptos Display"/>
              <a:ea typeface="Aptos Display"/>
              <a:cs typeface="Aptos Display"/>
            </a:endParaRPr>
          </a:p>
        </p:txBody>
      </p:sp>
      <p:sp>
        <p:nvSpPr>
          <p:cNvPr id="5" name="S3-FIFO uses Small, Main and Ghost queues together."/>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S3-FIFO uses Small, Main and Ghost queues together.</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02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02 / 12</a:t>
            </a:r>
            <a:endParaRPr sz="900" b="0">
              <a:solidFill>
                <a:srgbClr val="71849E"/>
              </a:solidFill>
              <a:latin typeface="Aptos"/>
              <a:ea typeface="Aptos"/>
              <a:cs typeface="Aptos"/>
            </a:endParaRPr>
          </a:p>
        </p:txBody>
      </p:sp>
      <p:sp>
        <p:nvSpPr>
          <p:cNvPr id="8" name="Small Queue"/>
          <p:cNvSpPr>
            <a:spLocks noGrp="1"/>
          </p:cNvSpPr>
          <p:nvPr/>
        </p:nvSpPr>
        <p:spPr>
          <a:xfrm>
            <a:off x="8020050" y="2238375"/>
            <a:ext cx="3524250" cy="476250"/>
          </a:xfrm>
          <a:prstGeom prst="rect">
            <a:avLst/>
          </a:prstGeom>
          <a:noFill/>
          <a:ln w="0">
            <a:noFill/>
          </a:ln>
        </p:spPr>
        <p:txBody>
          <a:bodyPr wrap="square" lIns="0" tIns="0" rIns="0" bIns="0" anchor="t">
            <a:noAutofit/>
          </a:bodyPr>
          <a:lstStyle>
            <a:defPPr algn="l">
              <a:defRPr sz="2400" b="1">
                <a:solidFill>
                  <a:srgbClr val="DE8626"/>
                </a:solidFill>
                <a:latin typeface="Aptos"/>
                <a:ea typeface="Aptos"/>
                <a:cs typeface="Aptos"/>
              </a:defRPr>
            </a:defPPr>
            <a:lvl1pPr algn="l">
              <a:defRPr sz="2400" b="1">
                <a:solidFill>
                  <a:srgbClr val="DE8626"/>
                </a:solidFill>
                <a:latin typeface="Aptos"/>
                <a:ea typeface="Aptos"/>
                <a:cs typeface="Aptos"/>
              </a:defRPr>
            </a:lvl1pPr>
            <a:lvl2pPr algn="l">
              <a:defRPr sz="2400" b="1">
                <a:solidFill>
                  <a:srgbClr val="DE8626"/>
                </a:solidFill>
                <a:latin typeface="Aptos"/>
                <a:ea typeface="Aptos"/>
                <a:cs typeface="Aptos"/>
              </a:defRPr>
            </a:lvl2pPr>
            <a:lvl3pPr algn="l">
              <a:defRPr sz="2400" b="1">
                <a:solidFill>
                  <a:srgbClr val="DE8626"/>
                </a:solidFill>
                <a:latin typeface="Aptos"/>
                <a:ea typeface="Aptos"/>
                <a:cs typeface="Aptos"/>
              </a:defRPr>
            </a:lvl3pPr>
            <a:lvl4pPr algn="l">
              <a:defRPr sz="2400" b="1">
                <a:solidFill>
                  <a:srgbClr val="DE8626"/>
                </a:solidFill>
                <a:latin typeface="Aptos"/>
                <a:ea typeface="Aptos"/>
                <a:cs typeface="Aptos"/>
              </a:defRPr>
            </a:lvl4pPr>
            <a:lvl5pPr algn="l">
              <a:defRPr sz="2400" b="1">
                <a:solidFill>
                  <a:srgbClr val="DE8626"/>
                </a:solidFill>
                <a:latin typeface="Aptos"/>
                <a:ea typeface="Aptos"/>
                <a:cs typeface="Aptos"/>
              </a:defRPr>
            </a:lvl5pPr>
            <a:lvl6pPr algn="l">
              <a:defRPr sz="2400" b="1">
                <a:solidFill>
                  <a:srgbClr val="DE8626"/>
                </a:solidFill>
                <a:latin typeface="Aptos"/>
                <a:ea typeface="Aptos"/>
                <a:cs typeface="Aptos"/>
              </a:defRPr>
            </a:lvl6pPr>
            <a:lvl7pPr algn="l">
              <a:defRPr sz="2400" b="1">
                <a:solidFill>
                  <a:srgbClr val="DE8626"/>
                </a:solidFill>
                <a:latin typeface="Aptos"/>
                <a:ea typeface="Aptos"/>
                <a:cs typeface="Aptos"/>
              </a:defRPr>
            </a:lvl7pPr>
            <a:lvl8pPr algn="l">
              <a:defRPr sz="2400" b="1">
                <a:solidFill>
                  <a:srgbClr val="DE8626"/>
                </a:solidFill>
                <a:latin typeface="Aptos"/>
                <a:ea typeface="Aptos"/>
                <a:cs typeface="Aptos"/>
              </a:defRPr>
            </a:lvl8pPr>
            <a:lvl9pPr algn="l">
              <a:defRPr sz="2400" b="1">
                <a:solidFill>
                  <a:srgbClr val="DE8626"/>
                </a:solidFill>
                <a:latin typeface="Aptos"/>
                <a:ea typeface="Aptos"/>
                <a:cs typeface="Aptos"/>
              </a:defRPr>
            </a:lvl9pPr>
          </a:lstStyle>
          <a:p>
            <a:pPr algn="l">
              <a:defRPr sz="2400" b="1">
                <a:solidFill>
                  <a:srgbClr val="DE8626"/>
                </a:solidFill>
                <a:latin typeface="Aptos"/>
                <a:ea typeface="Aptos"/>
                <a:cs typeface="Aptos"/>
              </a:defRPr>
            </a:pPr>
            <a:r>
              <a:rPr sz="2400" b="1">
                <a:solidFill>
                  <a:srgbClr val="DE8626"/>
                </a:solidFill>
                <a:latin typeface="Aptos"/>
                <a:ea typeface="Aptos"/>
                <a:cs typeface="Aptos"/>
              </a:rPr>
              <a:t>Small Queue</a:t>
            </a:r>
            <a:endParaRPr sz="2400" b="1">
              <a:solidFill>
                <a:srgbClr val="DE8626"/>
              </a:solidFill>
              <a:latin typeface="Aptos"/>
              <a:ea typeface="Aptos"/>
              <a:cs typeface="Aptos"/>
            </a:endParaRPr>
          </a:p>
        </p:txBody>
      </p:sp>
      <p:sp>
        <p:nvSpPr>
          <p:cNvPr id="9" name="Filters new objects."/>
          <p:cNvSpPr>
            <a:spLocks noGrp="1"/>
          </p:cNvSpPr>
          <p:nvPr/>
        </p:nvSpPr>
        <p:spPr>
          <a:xfrm>
            <a:off x="8020050" y="2800350"/>
            <a:ext cx="3524250" cy="590550"/>
          </a:xfrm>
          <a:prstGeom prst="rect">
            <a:avLst/>
          </a:prstGeom>
          <a:noFill/>
          <a:ln w="0">
            <a:noFill/>
          </a:ln>
        </p:spPr>
        <p:txBody>
          <a:bodyPr wrap="square" lIns="0" tIns="0" rIns="0" bIns="0" anchor="t">
            <a:noAutofit/>
          </a:bodyPr>
          <a:lstStyle>
            <a:defPPr algn="l">
              <a:defRPr sz="2250" b="0">
                <a:solidFill>
                  <a:srgbClr val="192337"/>
                </a:solidFill>
                <a:latin typeface="Aptos"/>
                <a:ea typeface="Aptos"/>
                <a:cs typeface="Aptos"/>
              </a:defRPr>
            </a:defPPr>
            <a:lvl1pPr algn="l">
              <a:defRPr sz="2250" b="0">
                <a:solidFill>
                  <a:srgbClr val="192337"/>
                </a:solidFill>
                <a:latin typeface="Aptos"/>
                <a:ea typeface="Aptos"/>
                <a:cs typeface="Aptos"/>
              </a:defRPr>
            </a:lvl1pPr>
            <a:lvl2pPr algn="l">
              <a:defRPr sz="2250" b="0">
                <a:solidFill>
                  <a:srgbClr val="192337"/>
                </a:solidFill>
                <a:latin typeface="Aptos"/>
                <a:ea typeface="Aptos"/>
                <a:cs typeface="Aptos"/>
              </a:defRPr>
            </a:lvl2pPr>
            <a:lvl3pPr algn="l">
              <a:defRPr sz="2250" b="0">
                <a:solidFill>
                  <a:srgbClr val="192337"/>
                </a:solidFill>
                <a:latin typeface="Aptos"/>
                <a:ea typeface="Aptos"/>
                <a:cs typeface="Aptos"/>
              </a:defRPr>
            </a:lvl3pPr>
            <a:lvl4pPr algn="l">
              <a:defRPr sz="2250" b="0">
                <a:solidFill>
                  <a:srgbClr val="192337"/>
                </a:solidFill>
                <a:latin typeface="Aptos"/>
                <a:ea typeface="Aptos"/>
                <a:cs typeface="Aptos"/>
              </a:defRPr>
            </a:lvl4pPr>
            <a:lvl5pPr algn="l">
              <a:defRPr sz="2250" b="0">
                <a:solidFill>
                  <a:srgbClr val="192337"/>
                </a:solidFill>
                <a:latin typeface="Aptos"/>
                <a:ea typeface="Aptos"/>
                <a:cs typeface="Aptos"/>
              </a:defRPr>
            </a:lvl5pPr>
            <a:lvl6pPr algn="l">
              <a:defRPr sz="2250" b="0">
                <a:solidFill>
                  <a:srgbClr val="192337"/>
                </a:solidFill>
                <a:latin typeface="Aptos"/>
                <a:ea typeface="Aptos"/>
                <a:cs typeface="Aptos"/>
              </a:defRPr>
            </a:lvl6pPr>
            <a:lvl7pPr algn="l">
              <a:defRPr sz="2250" b="0">
                <a:solidFill>
                  <a:srgbClr val="192337"/>
                </a:solidFill>
                <a:latin typeface="Aptos"/>
                <a:ea typeface="Aptos"/>
                <a:cs typeface="Aptos"/>
              </a:defRPr>
            </a:lvl7pPr>
            <a:lvl8pPr algn="l">
              <a:defRPr sz="2250" b="0">
                <a:solidFill>
                  <a:srgbClr val="192337"/>
                </a:solidFill>
                <a:latin typeface="Aptos"/>
                <a:ea typeface="Aptos"/>
                <a:cs typeface="Aptos"/>
              </a:defRPr>
            </a:lvl8pPr>
            <a:lvl9pPr algn="l">
              <a:defRPr sz="2250" b="0">
                <a:solidFill>
                  <a:srgbClr val="192337"/>
                </a:solidFill>
                <a:latin typeface="Aptos"/>
                <a:ea typeface="Aptos"/>
                <a:cs typeface="Aptos"/>
              </a:defRPr>
            </a:lvl9pPr>
          </a:lstStyle>
          <a:p>
            <a:pPr algn="l">
              <a:defRPr sz="2250" b="0">
                <a:solidFill>
                  <a:srgbClr val="192337"/>
                </a:solidFill>
                <a:latin typeface="Aptos"/>
                <a:ea typeface="Aptos"/>
                <a:cs typeface="Aptos"/>
              </a:defRPr>
            </a:pPr>
            <a:r>
              <a:rPr sz="2250" b="0">
                <a:solidFill>
                  <a:srgbClr val="192337"/>
                </a:solidFill>
                <a:latin typeface="Aptos"/>
                <a:ea typeface="Aptos"/>
                <a:cs typeface="Aptos"/>
              </a:rPr>
              <a:t>Filters new objects.</a:t>
            </a:r>
            <a:endParaRPr sz="2250" b="0">
              <a:solidFill>
                <a:srgbClr val="192337"/>
              </a:solidFill>
              <a:latin typeface="Aptos"/>
              <a:ea typeface="Aptos"/>
              <a:cs typeface="Aptos"/>
            </a:endParaRPr>
          </a:p>
        </p:txBody>
      </p:sp>
      <p:sp>
        <p:nvSpPr>
          <p:cNvPr id="10" name="Main Queue"/>
          <p:cNvSpPr>
            <a:spLocks noGrp="1"/>
          </p:cNvSpPr>
          <p:nvPr/>
        </p:nvSpPr>
        <p:spPr>
          <a:xfrm>
            <a:off x="8020050" y="3495675"/>
            <a:ext cx="3524250" cy="476250"/>
          </a:xfrm>
          <a:prstGeom prst="rect">
            <a:avLst/>
          </a:prstGeom>
          <a:noFill/>
          <a:ln w="0">
            <a:noFill/>
          </a:ln>
        </p:spPr>
        <p:txBody>
          <a:bodyPr wrap="square" lIns="0" tIns="0" rIns="0" bIns="0" anchor="t">
            <a:noAutofit/>
          </a:bodyPr>
          <a:lstStyle>
            <a:defPPr algn="l">
              <a:defRPr sz="2400" b="1">
                <a:solidFill>
                  <a:srgbClr val="2E6FB5"/>
                </a:solidFill>
                <a:latin typeface="Aptos"/>
                <a:ea typeface="Aptos"/>
                <a:cs typeface="Aptos"/>
              </a:defRPr>
            </a:defPPr>
            <a:lvl1pPr algn="l">
              <a:defRPr sz="2400" b="1">
                <a:solidFill>
                  <a:srgbClr val="2E6FB5"/>
                </a:solidFill>
                <a:latin typeface="Aptos"/>
                <a:ea typeface="Aptos"/>
                <a:cs typeface="Aptos"/>
              </a:defRPr>
            </a:lvl1pPr>
            <a:lvl2pPr algn="l">
              <a:defRPr sz="2400" b="1">
                <a:solidFill>
                  <a:srgbClr val="2E6FB5"/>
                </a:solidFill>
                <a:latin typeface="Aptos"/>
                <a:ea typeface="Aptos"/>
                <a:cs typeface="Aptos"/>
              </a:defRPr>
            </a:lvl2pPr>
            <a:lvl3pPr algn="l">
              <a:defRPr sz="2400" b="1">
                <a:solidFill>
                  <a:srgbClr val="2E6FB5"/>
                </a:solidFill>
                <a:latin typeface="Aptos"/>
                <a:ea typeface="Aptos"/>
                <a:cs typeface="Aptos"/>
              </a:defRPr>
            </a:lvl3pPr>
            <a:lvl4pPr algn="l">
              <a:defRPr sz="2400" b="1">
                <a:solidFill>
                  <a:srgbClr val="2E6FB5"/>
                </a:solidFill>
                <a:latin typeface="Aptos"/>
                <a:ea typeface="Aptos"/>
                <a:cs typeface="Aptos"/>
              </a:defRPr>
            </a:lvl4pPr>
            <a:lvl5pPr algn="l">
              <a:defRPr sz="2400" b="1">
                <a:solidFill>
                  <a:srgbClr val="2E6FB5"/>
                </a:solidFill>
                <a:latin typeface="Aptos"/>
                <a:ea typeface="Aptos"/>
                <a:cs typeface="Aptos"/>
              </a:defRPr>
            </a:lvl5pPr>
            <a:lvl6pPr algn="l">
              <a:defRPr sz="2400" b="1">
                <a:solidFill>
                  <a:srgbClr val="2E6FB5"/>
                </a:solidFill>
                <a:latin typeface="Aptos"/>
                <a:ea typeface="Aptos"/>
                <a:cs typeface="Aptos"/>
              </a:defRPr>
            </a:lvl6pPr>
            <a:lvl7pPr algn="l">
              <a:defRPr sz="2400" b="1">
                <a:solidFill>
                  <a:srgbClr val="2E6FB5"/>
                </a:solidFill>
                <a:latin typeface="Aptos"/>
                <a:ea typeface="Aptos"/>
                <a:cs typeface="Aptos"/>
              </a:defRPr>
            </a:lvl7pPr>
            <a:lvl8pPr algn="l">
              <a:defRPr sz="2400" b="1">
                <a:solidFill>
                  <a:srgbClr val="2E6FB5"/>
                </a:solidFill>
                <a:latin typeface="Aptos"/>
                <a:ea typeface="Aptos"/>
                <a:cs typeface="Aptos"/>
              </a:defRPr>
            </a:lvl8pPr>
            <a:lvl9pPr algn="l">
              <a:defRPr sz="2400" b="1">
                <a:solidFill>
                  <a:srgbClr val="2E6FB5"/>
                </a:solidFill>
                <a:latin typeface="Aptos"/>
                <a:ea typeface="Aptos"/>
                <a:cs typeface="Aptos"/>
              </a:defRPr>
            </a:lvl9pPr>
          </a:lstStyle>
          <a:p>
            <a:pPr algn="l">
              <a:defRPr sz="2400" b="1">
                <a:solidFill>
                  <a:srgbClr val="2E6FB5"/>
                </a:solidFill>
                <a:latin typeface="Aptos"/>
                <a:ea typeface="Aptos"/>
                <a:cs typeface="Aptos"/>
              </a:defRPr>
            </a:pPr>
            <a:r>
              <a:rPr sz="2400" b="1">
                <a:solidFill>
                  <a:srgbClr val="2E6FB5"/>
                </a:solidFill>
                <a:latin typeface="Aptos"/>
                <a:ea typeface="Aptos"/>
                <a:cs typeface="Aptos"/>
              </a:rPr>
              <a:t>Main Queue</a:t>
            </a:r>
            <a:endParaRPr sz="2400" b="1">
              <a:solidFill>
                <a:srgbClr val="2E6FB5"/>
              </a:solidFill>
              <a:latin typeface="Aptos"/>
              <a:ea typeface="Aptos"/>
              <a:cs typeface="Aptos"/>
            </a:endParaRPr>
          </a:p>
        </p:txBody>
      </p:sp>
      <p:sp>
        <p:nvSpPr>
          <p:cNvPr id="11" name="Protects useful objects."/>
          <p:cNvSpPr>
            <a:spLocks noGrp="1"/>
          </p:cNvSpPr>
          <p:nvPr/>
        </p:nvSpPr>
        <p:spPr>
          <a:xfrm>
            <a:off x="8020050" y="4057650"/>
            <a:ext cx="3524250" cy="619125"/>
          </a:xfrm>
          <a:prstGeom prst="rect">
            <a:avLst/>
          </a:prstGeom>
          <a:noFill/>
          <a:ln w="0">
            <a:noFill/>
          </a:ln>
        </p:spPr>
        <p:txBody>
          <a:bodyPr wrap="square" lIns="0" tIns="0" rIns="0" bIns="0" anchor="t">
            <a:noAutofit/>
          </a:bodyPr>
          <a:lstStyle>
            <a:defPPr algn="l">
              <a:defRPr sz="2250" b="0">
                <a:solidFill>
                  <a:srgbClr val="192337"/>
                </a:solidFill>
                <a:latin typeface="Aptos"/>
                <a:ea typeface="Aptos"/>
                <a:cs typeface="Aptos"/>
              </a:defRPr>
            </a:defPPr>
            <a:lvl1pPr algn="l">
              <a:defRPr sz="2250" b="0">
                <a:solidFill>
                  <a:srgbClr val="192337"/>
                </a:solidFill>
                <a:latin typeface="Aptos"/>
                <a:ea typeface="Aptos"/>
                <a:cs typeface="Aptos"/>
              </a:defRPr>
            </a:lvl1pPr>
            <a:lvl2pPr algn="l">
              <a:defRPr sz="2250" b="0">
                <a:solidFill>
                  <a:srgbClr val="192337"/>
                </a:solidFill>
                <a:latin typeface="Aptos"/>
                <a:ea typeface="Aptos"/>
                <a:cs typeface="Aptos"/>
              </a:defRPr>
            </a:lvl2pPr>
            <a:lvl3pPr algn="l">
              <a:defRPr sz="2250" b="0">
                <a:solidFill>
                  <a:srgbClr val="192337"/>
                </a:solidFill>
                <a:latin typeface="Aptos"/>
                <a:ea typeface="Aptos"/>
                <a:cs typeface="Aptos"/>
              </a:defRPr>
            </a:lvl3pPr>
            <a:lvl4pPr algn="l">
              <a:defRPr sz="2250" b="0">
                <a:solidFill>
                  <a:srgbClr val="192337"/>
                </a:solidFill>
                <a:latin typeface="Aptos"/>
                <a:ea typeface="Aptos"/>
                <a:cs typeface="Aptos"/>
              </a:defRPr>
            </a:lvl4pPr>
            <a:lvl5pPr algn="l">
              <a:defRPr sz="2250" b="0">
                <a:solidFill>
                  <a:srgbClr val="192337"/>
                </a:solidFill>
                <a:latin typeface="Aptos"/>
                <a:ea typeface="Aptos"/>
                <a:cs typeface="Aptos"/>
              </a:defRPr>
            </a:lvl5pPr>
            <a:lvl6pPr algn="l">
              <a:defRPr sz="2250" b="0">
                <a:solidFill>
                  <a:srgbClr val="192337"/>
                </a:solidFill>
                <a:latin typeface="Aptos"/>
                <a:ea typeface="Aptos"/>
                <a:cs typeface="Aptos"/>
              </a:defRPr>
            </a:lvl6pPr>
            <a:lvl7pPr algn="l">
              <a:defRPr sz="2250" b="0">
                <a:solidFill>
                  <a:srgbClr val="192337"/>
                </a:solidFill>
                <a:latin typeface="Aptos"/>
                <a:ea typeface="Aptos"/>
                <a:cs typeface="Aptos"/>
              </a:defRPr>
            </a:lvl7pPr>
            <a:lvl8pPr algn="l">
              <a:defRPr sz="2250" b="0">
                <a:solidFill>
                  <a:srgbClr val="192337"/>
                </a:solidFill>
                <a:latin typeface="Aptos"/>
                <a:ea typeface="Aptos"/>
                <a:cs typeface="Aptos"/>
              </a:defRPr>
            </a:lvl8pPr>
            <a:lvl9pPr algn="l">
              <a:defRPr sz="2250" b="0">
                <a:solidFill>
                  <a:srgbClr val="192337"/>
                </a:solidFill>
                <a:latin typeface="Aptos"/>
                <a:ea typeface="Aptos"/>
                <a:cs typeface="Aptos"/>
              </a:defRPr>
            </a:lvl9pPr>
          </a:lstStyle>
          <a:p>
            <a:pPr algn="l">
              <a:defRPr sz="2250" b="0">
                <a:solidFill>
                  <a:srgbClr val="192337"/>
                </a:solidFill>
                <a:latin typeface="Aptos"/>
                <a:ea typeface="Aptos"/>
                <a:cs typeface="Aptos"/>
              </a:defRPr>
            </a:pPr>
            <a:r>
              <a:rPr sz="2250" b="0">
                <a:solidFill>
                  <a:srgbClr val="192337"/>
                </a:solidFill>
                <a:latin typeface="Aptos"/>
                <a:ea typeface="Aptos"/>
                <a:cs typeface="Aptos"/>
              </a:rPr>
              <a:t>Protects useful objects.</a:t>
            </a:r>
            <a:endParaRPr sz="2250" b="0">
              <a:solidFill>
                <a:srgbClr val="192337"/>
              </a:solidFill>
              <a:latin typeface="Aptos"/>
              <a:ea typeface="Aptos"/>
              <a:cs typeface="Aptos"/>
            </a:endParaRPr>
          </a:p>
        </p:txBody>
      </p:sp>
      <p:sp>
        <p:nvSpPr>
          <p:cNvPr id="12" name="Ghost Queue"/>
          <p:cNvSpPr>
            <a:spLocks noGrp="1"/>
          </p:cNvSpPr>
          <p:nvPr/>
        </p:nvSpPr>
        <p:spPr>
          <a:xfrm>
            <a:off x="8020050" y="4752975"/>
            <a:ext cx="3524250" cy="476250"/>
          </a:xfrm>
          <a:prstGeom prst="rect">
            <a:avLst/>
          </a:prstGeom>
          <a:noFill/>
          <a:ln w="0">
            <a:noFill/>
          </a:ln>
        </p:spPr>
        <p:txBody>
          <a:bodyPr wrap="square" lIns="0" tIns="0" rIns="0" bIns="0" anchor="t">
            <a:noAutofit/>
          </a:bodyPr>
          <a:lstStyle>
            <a:defPPr algn="l">
              <a:defRPr sz="2400" b="1">
                <a:solidFill>
                  <a:srgbClr val="7D8998"/>
                </a:solidFill>
                <a:latin typeface="Aptos"/>
                <a:ea typeface="Aptos"/>
                <a:cs typeface="Aptos"/>
              </a:defRPr>
            </a:defPPr>
            <a:lvl1pPr algn="l">
              <a:defRPr sz="2400" b="1">
                <a:solidFill>
                  <a:srgbClr val="7D8998"/>
                </a:solidFill>
                <a:latin typeface="Aptos"/>
                <a:ea typeface="Aptos"/>
                <a:cs typeface="Aptos"/>
              </a:defRPr>
            </a:lvl1pPr>
            <a:lvl2pPr algn="l">
              <a:defRPr sz="2400" b="1">
                <a:solidFill>
                  <a:srgbClr val="7D8998"/>
                </a:solidFill>
                <a:latin typeface="Aptos"/>
                <a:ea typeface="Aptos"/>
                <a:cs typeface="Aptos"/>
              </a:defRPr>
            </a:lvl2pPr>
            <a:lvl3pPr algn="l">
              <a:defRPr sz="2400" b="1">
                <a:solidFill>
                  <a:srgbClr val="7D8998"/>
                </a:solidFill>
                <a:latin typeface="Aptos"/>
                <a:ea typeface="Aptos"/>
                <a:cs typeface="Aptos"/>
              </a:defRPr>
            </a:lvl3pPr>
            <a:lvl4pPr algn="l">
              <a:defRPr sz="2400" b="1">
                <a:solidFill>
                  <a:srgbClr val="7D8998"/>
                </a:solidFill>
                <a:latin typeface="Aptos"/>
                <a:ea typeface="Aptos"/>
                <a:cs typeface="Aptos"/>
              </a:defRPr>
            </a:lvl4pPr>
            <a:lvl5pPr algn="l">
              <a:defRPr sz="2400" b="1">
                <a:solidFill>
                  <a:srgbClr val="7D8998"/>
                </a:solidFill>
                <a:latin typeface="Aptos"/>
                <a:ea typeface="Aptos"/>
                <a:cs typeface="Aptos"/>
              </a:defRPr>
            </a:lvl5pPr>
            <a:lvl6pPr algn="l">
              <a:defRPr sz="2400" b="1">
                <a:solidFill>
                  <a:srgbClr val="7D8998"/>
                </a:solidFill>
                <a:latin typeface="Aptos"/>
                <a:ea typeface="Aptos"/>
                <a:cs typeface="Aptos"/>
              </a:defRPr>
            </a:lvl6pPr>
            <a:lvl7pPr algn="l">
              <a:defRPr sz="2400" b="1">
                <a:solidFill>
                  <a:srgbClr val="7D8998"/>
                </a:solidFill>
                <a:latin typeface="Aptos"/>
                <a:ea typeface="Aptos"/>
                <a:cs typeface="Aptos"/>
              </a:defRPr>
            </a:lvl7pPr>
            <a:lvl8pPr algn="l">
              <a:defRPr sz="2400" b="1">
                <a:solidFill>
                  <a:srgbClr val="7D8998"/>
                </a:solidFill>
                <a:latin typeface="Aptos"/>
                <a:ea typeface="Aptos"/>
                <a:cs typeface="Aptos"/>
              </a:defRPr>
            </a:lvl8pPr>
            <a:lvl9pPr algn="l">
              <a:defRPr sz="2400" b="1">
                <a:solidFill>
                  <a:srgbClr val="7D8998"/>
                </a:solidFill>
                <a:latin typeface="Aptos"/>
                <a:ea typeface="Aptos"/>
                <a:cs typeface="Aptos"/>
              </a:defRPr>
            </a:lvl9pPr>
          </a:lstStyle>
          <a:p>
            <a:pPr algn="l">
              <a:defRPr sz="2400" b="1">
                <a:solidFill>
                  <a:srgbClr val="7D8998"/>
                </a:solidFill>
                <a:latin typeface="Aptos"/>
                <a:ea typeface="Aptos"/>
                <a:cs typeface="Aptos"/>
              </a:defRPr>
            </a:pPr>
            <a:r>
              <a:rPr sz="2400" b="1">
                <a:solidFill>
                  <a:srgbClr val="7D8998"/>
                </a:solidFill>
                <a:latin typeface="Aptos"/>
                <a:ea typeface="Aptos"/>
                <a:cs typeface="Aptos"/>
              </a:rPr>
              <a:t>Ghost Queue</a:t>
            </a:r>
            <a:endParaRPr sz="2400" b="1">
              <a:solidFill>
                <a:srgbClr val="7D8998"/>
              </a:solidFill>
              <a:latin typeface="Aptos"/>
              <a:ea typeface="Aptos"/>
              <a:cs typeface="Aptos"/>
            </a:endParaRPr>
          </a:p>
        </p:txBody>
      </p:sp>
      <p:sp>
        <p:nvSpPr>
          <p:cNvPr id="13" name="Remembers removed IDs."/>
          <p:cNvSpPr>
            <a:spLocks noGrp="1"/>
          </p:cNvSpPr>
          <p:nvPr/>
        </p:nvSpPr>
        <p:spPr>
          <a:xfrm>
            <a:off x="8020050" y="5314950"/>
            <a:ext cx="3524250" cy="666750"/>
          </a:xfrm>
          <a:prstGeom prst="rect">
            <a:avLst/>
          </a:prstGeom>
          <a:noFill/>
          <a:ln w="0">
            <a:noFill/>
          </a:ln>
        </p:spPr>
        <p:txBody>
          <a:bodyPr wrap="square" lIns="0" tIns="0" rIns="0" bIns="0" anchor="t">
            <a:noAutofit/>
          </a:bodyPr>
          <a:lstStyle>
            <a:defPPr algn="l">
              <a:defRPr sz="2175" b="0">
                <a:solidFill>
                  <a:srgbClr val="192337"/>
                </a:solidFill>
                <a:latin typeface="Aptos"/>
                <a:ea typeface="Aptos"/>
                <a:cs typeface="Aptos"/>
              </a:defRPr>
            </a:defPPr>
            <a:lvl1pPr algn="l">
              <a:defRPr sz="2175" b="0">
                <a:solidFill>
                  <a:srgbClr val="192337"/>
                </a:solidFill>
                <a:latin typeface="Aptos"/>
                <a:ea typeface="Aptos"/>
                <a:cs typeface="Aptos"/>
              </a:defRPr>
            </a:lvl1pPr>
            <a:lvl2pPr algn="l">
              <a:defRPr sz="2175" b="0">
                <a:solidFill>
                  <a:srgbClr val="192337"/>
                </a:solidFill>
                <a:latin typeface="Aptos"/>
                <a:ea typeface="Aptos"/>
                <a:cs typeface="Aptos"/>
              </a:defRPr>
            </a:lvl2pPr>
            <a:lvl3pPr algn="l">
              <a:defRPr sz="2175" b="0">
                <a:solidFill>
                  <a:srgbClr val="192337"/>
                </a:solidFill>
                <a:latin typeface="Aptos"/>
                <a:ea typeface="Aptos"/>
                <a:cs typeface="Aptos"/>
              </a:defRPr>
            </a:lvl3pPr>
            <a:lvl4pPr algn="l">
              <a:defRPr sz="2175" b="0">
                <a:solidFill>
                  <a:srgbClr val="192337"/>
                </a:solidFill>
                <a:latin typeface="Aptos"/>
                <a:ea typeface="Aptos"/>
                <a:cs typeface="Aptos"/>
              </a:defRPr>
            </a:lvl4pPr>
            <a:lvl5pPr algn="l">
              <a:defRPr sz="2175" b="0">
                <a:solidFill>
                  <a:srgbClr val="192337"/>
                </a:solidFill>
                <a:latin typeface="Aptos"/>
                <a:ea typeface="Aptos"/>
                <a:cs typeface="Aptos"/>
              </a:defRPr>
            </a:lvl5pPr>
            <a:lvl6pPr algn="l">
              <a:defRPr sz="2175" b="0">
                <a:solidFill>
                  <a:srgbClr val="192337"/>
                </a:solidFill>
                <a:latin typeface="Aptos"/>
                <a:ea typeface="Aptos"/>
                <a:cs typeface="Aptos"/>
              </a:defRPr>
            </a:lvl6pPr>
            <a:lvl7pPr algn="l">
              <a:defRPr sz="2175" b="0">
                <a:solidFill>
                  <a:srgbClr val="192337"/>
                </a:solidFill>
                <a:latin typeface="Aptos"/>
                <a:ea typeface="Aptos"/>
                <a:cs typeface="Aptos"/>
              </a:defRPr>
            </a:lvl7pPr>
            <a:lvl8pPr algn="l">
              <a:defRPr sz="2175" b="0">
                <a:solidFill>
                  <a:srgbClr val="192337"/>
                </a:solidFill>
                <a:latin typeface="Aptos"/>
                <a:ea typeface="Aptos"/>
                <a:cs typeface="Aptos"/>
              </a:defRPr>
            </a:lvl8pPr>
            <a:lvl9pPr algn="l">
              <a:defRPr sz="2175" b="0">
                <a:solidFill>
                  <a:srgbClr val="192337"/>
                </a:solidFill>
                <a:latin typeface="Aptos"/>
                <a:ea typeface="Aptos"/>
                <a:cs typeface="Aptos"/>
              </a:defRPr>
            </a:lvl9pPr>
          </a:lstStyle>
          <a:p>
            <a:pPr algn="l">
              <a:defRPr sz="2175" b="0">
                <a:solidFill>
                  <a:srgbClr val="192337"/>
                </a:solidFill>
                <a:latin typeface="Aptos"/>
                <a:ea typeface="Aptos"/>
                <a:cs typeface="Aptos"/>
              </a:defRPr>
            </a:pPr>
            <a:r>
              <a:rPr sz="2175" b="0">
                <a:solidFill>
                  <a:srgbClr val="192337"/>
                </a:solidFill>
                <a:latin typeface="Aptos"/>
                <a:ea typeface="Aptos"/>
                <a:cs typeface="Aptos"/>
              </a:rPr>
              <a:t>Remembers removed IDs.</a:t>
            </a:r>
            <a:endParaRPr sz="2175" b="0">
              <a:solidFill>
                <a:srgbClr val="192337"/>
              </a:solidFill>
              <a:latin typeface="Aptos"/>
              <a:ea typeface="Aptos"/>
              <a:cs typeface="Aptos"/>
            </a:endParaRPr>
          </a:p>
        </p:txBody>
      </p:sp>
      <p:sp>
        <p:nvSpPr>
          <p:cNvPr id="14" name="Source: Original Figure 5 and Section 4.1 · Yang et al., SOSP 2023"/>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Original Figure 5 and Section 4.1 · Yang et al., SOSP 2023</a:t>
            </a:r>
            <a:endParaRPr sz="975" b="0">
              <a:solidFill>
                <a:srgbClr val="71849E"/>
              </a:solidFill>
              <a:latin typeface="Aptos"/>
              <a:ea typeface="Aptos"/>
              <a:cs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grpSp>
        <p:nvGrpSpPr>
          <p:cNvPr id="10100" name="Original slide 9 diagram"/>
          <p:cNvGrpSpPr/>
          <p:nvPr/>
        </p:nvGrpSpPr>
        <p:grpSpPr>
          <a:xfrm>
            <a:off x="742950" y="2133600"/>
            <a:ext cx="10744200" cy="504825"/>
            <a:chOff x="733425" y="1809750"/>
            <a:chExt cx="10744200" cy="504825"/>
          </a:xfrm>
        </p:grpSpPr>
        <p:sp>
          <p:nvSpPr>
            <p:cNvPr id="10101" name="Rectangle 6"/>
            <p:cNvSpPr/>
            <p:nvPr/>
          </p:nvSpPr>
          <p:spPr>
            <a:xfrm>
              <a:off x="731520" y="1810512"/>
              <a:ext cx="1078992" cy="502920"/>
            </a:xfrm>
            <a:prstGeom prst="rect">
              <a:avLst/>
            </a:prstGeom>
            <a:solidFill>
              <a:srgbClr val="D9852A"/>
            </a:solidFill>
            <a:ln>
              <a:noFill/>
            </a:ln>
          </p:spPr>
          <p:txBody>
            <a:bodyPr rtlCol="0" anchor="ctr"/>
            <a:lstStyle/>
            <a:p>
              <a:pPr algn="ctr"/>
            </a:p>
          </p:txBody>
        </p:sp>
        <p:sp>
          <p:nvSpPr>
            <p:cNvPr id="10102" name="Rectangle 7"/>
            <p:cNvSpPr/>
            <p:nvPr/>
          </p:nvSpPr>
          <p:spPr>
            <a:xfrm>
              <a:off x="1828800" y="1810512"/>
              <a:ext cx="9646920" cy="502920"/>
            </a:xfrm>
            <a:prstGeom prst="rect">
              <a:avLst/>
            </a:prstGeom>
            <a:solidFill>
              <a:srgbClr val="2D6DAF"/>
            </a:solidFill>
            <a:ln>
              <a:noFill/>
            </a:ln>
          </p:spPr>
          <p:txBody>
            <a:bodyPr rtlCol="0" anchor="ctr"/>
            <a:lstStyle/>
            <a:p>
              <a:pPr algn="ctr"/>
            </a:p>
          </p:txBody>
        </p:sp>
        <p:sp>
          <p:nvSpPr>
            <p:cNvPr id="10103" name="TextBox 8"/>
            <p:cNvSpPr txBox="1"/>
            <p:nvPr/>
          </p:nvSpPr>
          <p:spPr>
            <a:xfrm>
              <a:off x="731520" y="1920240"/>
              <a:ext cx="1078992" cy="274320"/>
            </a:xfrm>
            <a:prstGeom prst="rect">
              <a:avLst/>
            </a:prstGeom>
            <a:noFill/>
          </p:spPr>
          <p:txBody>
            <a:bodyPr wrap="square" lIns="0" tIns="0" rIns="0" bIns="0">
              <a:spAutoFit/>
            </a:bodyPr>
            <a:lstStyle/>
            <a:p>
              <a:pPr algn="ctr">
                <a:lnSpc>
                  <a:spcPct val="112000"/>
                </a:lnSpc>
                <a:spcBef>
                  <a:spcPts val="0"/>
                </a:spcBef>
                <a:spcAft>
                  <a:spcPts val="500"/>
                </a:spcAft>
              </a:pPr>
              <a:r>
                <a:rPr sz="1500" b="1">
                  <a:solidFill>
                    <a:srgbClr val="FFFFFF"/>
                  </a:solidFill>
                  <a:latin typeface="Aptos"/>
                </a:rPr>
                <a:t>S · 10%</a:t>
              </a:r>
              <a:endParaRPr sz="1500" b="1">
                <a:solidFill>
                  <a:srgbClr val="FFFFFF"/>
                </a:solidFill>
                <a:latin typeface="Aptos"/>
              </a:endParaRPr>
            </a:p>
          </p:txBody>
        </p:sp>
        <p:sp>
          <p:nvSpPr>
            <p:cNvPr id="10104" name="TextBox 9"/>
            <p:cNvSpPr txBox="1"/>
            <p:nvPr/>
          </p:nvSpPr>
          <p:spPr>
            <a:xfrm>
              <a:off x="2048256" y="1920240"/>
              <a:ext cx="9144000" cy="274320"/>
            </a:xfrm>
            <a:prstGeom prst="rect">
              <a:avLst/>
            </a:prstGeom>
            <a:noFill/>
          </p:spPr>
          <p:txBody>
            <a:bodyPr wrap="square" lIns="0" tIns="0" rIns="0" bIns="0">
              <a:spAutoFit/>
            </a:bodyPr>
            <a:lstStyle/>
            <a:p>
              <a:pPr algn="l">
                <a:lnSpc>
                  <a:spcPct val="112000"/>
                </a:lnSpc>
                <a:spcBef>
                  <a:spcPts val="0"/>
                </a:spcBef>
                <a:spcAft>
                  <a:spcPts val="500"/>
                </a:spcAft>
              </a:pPr>
              <a:r>
                <a:rPr sz="1600" b="1">
                  <a:solidFill>
                    <a:srgbClr val="FFFFFF"/>
                  </a:solidFill>
                  <a:latin typeface="Aptos"/>
                </a:rPr>
                <a:t>M · 90% of cache space</a:t>
              </a:r>
              <a:endParaRPr sz="1600" b="1">
                <a:solidFill>
                  <a:srgbClr val="FFFFFF"/>
                </a:solidFill>
                <a:latin typeface="Aptos"/>
              </a:endParaRPr>
            </a:p>
          </p:txBody>
        </p:sp>
      </p:grpSp>
      <p:sp>
        <p:nvSpPr>
          <p:cNvPr id="15" name="template-element-3"/>
          <p:cNvSpPr>
            <a:spLocks noGrp="1"/>
          </p:cNvSpPr>
          <p:nvPr/>
        </p:nvSpPr>
        <p:spPr>
          <a:xfrm>
            <a:off x="0" y="0"/>
            <a:ext cx="12192000" cy="409575"/>
          </a:xfrm>
          <a:prstGeom prst="rect">
            <a:avLst/>
          </a:prstGeom>
          <a:solidFill>
            <a:srgbClr val="13294B"/>
          </a:solidFill>
          <a:ln w="0">
            <a:noFill/>
          </a:ln>
        </p:spPr>
      </p:sp>
      <p:sp>
        <p:nvSpPr>
          <p:cNvPr id="2" name="Part 2 · Queue Roles"/>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Queue Roles</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The Small Queue (S)"/>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The Small Queue (S)</a:t>
            </a:r>
            <a:endParaRPr sz="3300" b="1">
              <a:solidFill>
                <a:srgbClr val="192337"/>
              </a:solidFill>
              <a:latin typeface="Aptos Display"/>
              <a:ea typeface="Aptos Display"/>
              <a:cs typeface="Aptos Display"/>
            </a:endParaRPr>
          </a:p>
        </p:txBody>
      </p:sp>
      <p:sp>
        <p:nvSpPr>
          <p:cNvPr id="5" name="First, the Small Queue uses about 10% of the cache space."/>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First, the Small Queue uses about 10% of the cache space.</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03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03 / 12</a:t>
            </a:r>
            <a:endParaRPr sz="900" b="0">
              <a:solidFill>
                <a:srgbClr val="71849E"/>
              </a:solidFill>
              <a:latin typeface="Aptos"/>
              <a:ea typeface="Aptos"/>
              <a:cs typeface="Aptos"/>
            </a:endParaRPr>
          </a:p>
        </p:txBody>
      </p:sp>
      <p:sp>
        <p:nvSpPr>
          <p:cNvPr id="8" name="10%"/>
          <p:cNvSpPr>
            <a:spLocks noGrp="1"/>
          </p:cNvSpPr>
          <p:nvPr/>
        </p:nvSpPr>
        <p:spPr>
          <a:xfrm>
            <a:off x="762000" y="3143250"/>
            <a:ext cx="3476625" cy="1352550"/>
          </a:xfrm>
          <a:prstGeom prst="rect">
            <a:avLst/>
          </a:prstGeom>
          <a:noFill/>
          <a:ln w="0">
            <a:noFill/>
          </a:ln>
        </p:spPr>
        <p:txBody>
          <a:bodyPr wrap="square" lIns="0" tIns="0" rIns="0" bIns="0" anchor="t">
            <a:noAutofit/>
          </a:bodyPr>
          <a:lstStyle>
            <a:defPPr algn="l">
              <a:defRPr sz="8250" b="1">
                <a:solidFill>
                  <a:srgbClr val="DE8626"/>
                </a:solidFill>
                <a:latin typeface="Aptos"/>
                <a:ea typeface="Aptos"/>
                <a:cs typeface="Aptos"/>
              </a:defRPr>
            </a:defPPr>
            <a:lvl1pPr algn="l">
              <a:defRPr sz="8250" b="1">
                <a:solidFill>
                  <a:srgbClr val="DE8626"/>
                </a:solidFill>
                <a:latin typeface="Aptos"/>
                <a:ea typeface="Aptos"/>
                <a:cs typeface="Aptos"/>
              </a:defRPr>
            </a:lvl1pPr>
            <a:lvl2pPr algn="l">
              <a:defRPr sz="8250" b="1">
                <a:solidFill>
                  <a:srgbClr val="DE8626"/>
                </a:solidFill>
                <a:latin typeface="Aptos"/>
                <a:ea typeface="Aptos"/>
                <a:cs typeface="Aptos"/>
              </a:defRPr>
            </a:lvl2pPr>
            <a:lvl3pPr algn="l">
              <a:defRPr sz="8250" b="1">
                <a:solidFill>
                  <a:srgbClr val="DE8626"/>
                </a:solidFill>
                <a:latin typeface="Aptos"/>
                <a:ea typeface="Aptos"/>
                <a:cs typeface="Aptos"/>
              </a:defRPr>
            </a:lvl3pPr>
            <a:lvl4pPr algn="l">
              <a:defRPr sz="8250" b="1">
                <a:solidFill>
                  <a:srgbClr val="DE8626"/>
                </a:solidFill>
                <a:latin typeface="Aptos"/>
                <a:ea typeface="Aptos"/>
                <a:cs typeface="Aptos"/>
              </a:defRPr>
            </a:lvl4pPr>
            <a:lvl5pPr algn="l">
              <a:defRPr sz="8250" b="1">
                <a:solidFill>
                  <a:srgbClr val="DE8626"/>
                </a:solidFill>
                <a:latin typeface="Aptos"/>
                <a:ea typeface="Aptos"/>
                <a:cs typeface="Aptos"/>
              </a:defRPr>
            </a:lvl5pPr>
            <a:lvl6pPr algn="l">
              <a:defRPr sz="8250" b="1">
                <a:solidFill>
                  <a:srgbClr val="DE8626"/>
                </a:solidFill>
                <a:latin typeface="Aptos"/>
                <a:ea typeface="Aptos"/>
                <a:cs typeface="Aptos"/>
              </a:defRPr>
            </a:lvl6pPr>
            <a:lvl7pPr algn="l">
              <a:defRPr sz="8250" b="1">
                <a:solidFill>
                  <a:srgbClr val="DE8626"/>
                </a:solidFill>
                <a:latin typeface="Aptos"/>
                <a:ea typeface="Aptos"/>
                <a:cs typeface="Aptos"/>
              </a:defRPr>
            </a:lvl7pPr>
            <a:lvl8pPr algn="l">
              <a:defRPr sz="8250" b="1">
                <a:solidFill>
                  <a:srgbClr val="DE8626"/>
                </a:solidFill>
                <a:latin typeface="Aptos"/>
                <a:ea typeface="Aptos"/>
                <a:cs typeface="Aptos"/>
              </a:defRPr>
            </a:lvl8pPr>
            <a:lvl9pPr algn="l">
              <a:defRPr sz="8250" b="1">
                <a:solidFill>
                  <a:srgbClr val="DE8626"/>
                </a:solidFill>
                <a:latin typeface="Aptos"/>
                <a:ea typeface="Aptos"/>
                <a:cs typeface="Aptos"/>
              </a:defRPr>
            </a:lvl9pPr>
          </a:lstStyle>
          <a:p>
            <a:pPr algn="l">
              <a:defRPr sz="8250" b="1">
                <a:solidFill>
                  <a:srgbClr val="DE8626"/>
                </a:solidFill>
                <a:latin typeface="Aptos"/>
                <a:ea typeface="Aptos"/>
                <a:cs typeface="Aptos"/>
              </a:defRPr>
            </a:pPr>
            <a:r>
              <a:rPr sz="8250" b="1">
                <a:solidFill>
                  <a:srgbClr val="DE8626"/>
                </a:solidFill>
                <a:latin typeface="Aptos"/>
                <a:ea typeface="Aptos"/>
                <a:cs typeface="Aptos"/>
              </a:rPr>
              <a:t>10%</a:t>
            </a:r>
            <a:endParaRPr sz="8250" b="1">
              <a:solidFill>
                <a:srgbClr val="DE8626"/>
              </a:solidFill>
              <a:latin typeface="Aptos"/>
              <a:ea typeface="Aptos"/>
              <a:cs typeface="Aptos"/>
            </a:endParaRPr>
          </a:p>
        </p:txBody>
      </p:sp>
      <p:sp>
        <p:nvSpPr>
          <p:cNvPr id="9" name="of cache space"/>
          <p:cNvSpPr>
            <a:spLocks noGrp="1"/>
          </p:cNvSpPr>
          <p:nvPr/>
        </p:nvSpPr>
        <p:spPr>
          <a:xfrm>
            <a:off x="828675" y="4591050"/>
            <a:ext cx="3333750" cy="514350"/>
          </a:xfrm>
          <a:prstGeom prst="rect">
            <a:avLst/>
          </a:prstGeom>
          <a:noFill/>
          <a:ln w="0">
            <a:noFill/>
          </a:ln>
        </p:spPr>
        <p:txBody>
          <a:bodyPr wrap="square" lIns="0" tIns="0" rIns="0" bIns="0" anchor="t">
            <a:noAutofit/>
          </a:bodyPr>
          <a:lstStyle>
            <a:defPPr algn="l">
              <a:defRPr sz="2250" b="0">
                <a:solidFill>
                  <a:srgbClr val="596778"/>
                </a:solidFill>
                <a:latin typeface="Aptos"/>
                <a:ea typeface="Aptos"/>
                <a:cs typeface="Aptos"/>
              </a:defRPr>
            </a:defPPr>
            <a:lvl1pPr algn="l">
              <a:defRPr sz="2250" b="0">
                <a:solidFill>
                  <a:srgbClr val="596778"/>
                </a:solidFill>
                <a:latin typeface="Aptos"/>
                <a:ea typeface="Aptos"/>
                <a:cs typeface="Aptos"/>
              </a:defRPr>
            </a:lvl1pPr>
            <a:lvl2pPr algn="l">
              <a:defRPr sz="2250" b="0">
                <a:solidFill>
                  <a:srgbClr val="596778"/>
                </a:solidFill>
                <a:latin typeface="Aptos"/>
                <a:ea typeface="Aptos"/>
                <a:cs typeface="Aptos"/>
              </a:defRPr>
            </a:lvl2pPr>
            <a:lvl3pPr algn="l">
              <a:defRPr sz="2250" b="0">
                <a:solidFill>
                  <a:srgbClr val="596778"/>
                </a:solidFill>
                <a:latin typeface="Aptos"/>
                <a:ea typeface="Aptos"/>
                <a:cs typeface="Aptos"/>
              </a:defRPr>
            </a:lvl3pPr>
            <a:lvl4pPr algn="l">
              <a:defRPr sz="2250" b="0">
                <a:solidFill>
                  <a:srgbClr val="596778"/>
                </a:solidFill>
                <a:latin typeface="Aptos"/>
                <a:ea typeface="Aptos"/>
                <a:cs typeface="Aptos"/>
              </a:defRPr>
            </a:lvl4pPr>
            <a:lvl5pPr algn="l">
              <a:defRPr sz="2250" b="0">
                <a:solidFill>
                  <a:srgbClr val="596778"/>
                </a:solidFill>
                <a:latin typeface="Aptos"/>
                <a:ea typeface="Aptos"/>
                <a:cs typeface="Aptos"/>
              </a:defRPr>
            </a:lvl5pPr>
            <a:lvl6pPr algn="l">
              <a:defRPr sz="2250" b="0">
                <a:solidFill>
                  <a:srgbClr val="596778"/>
                </a:solidFill>
                <a:latin typeface="Aptos"/>
                <a:ea typeface="Aptos"/>
                <a:cs typeface="Aptos"/>
              </a:defRPr>
            </a:lvl6pPr>
            <a:lvl7pPr algn="l">
              <a:defRPr sz="2250" b="0">
                <a:solidFill>
                  <a:srgbClr val="596778"/>
                </a:solidFill>
                <a:latin typeface="Aptos"/>
                <a:ea typeface="Aptos"/>
                <a:cs typeface="Aptos"/>
              </a:defRPr>
            </a:lvl7pPr>
            <a:lvl8pPr algn="l">
              <a:defRPr sz="2250" b="0">
                <a:solidFill>
                  <a:srgbClr val="596778"/>
                </a:solidFill>
                <a:latin typeface="Aptos"/>
                <a:ea typeface="Aptos"/>
                <a:cs typeface="Aptos"/>
              </a:defRPr>
            </a:lvl8pPr>
            <a:lvl9pPr algn="l">
              <a:defRPr sz="2250" b="0">
                <a:solidFill>
                  <a:srgbClr val="596778"/>
                </a:solidFill>
                <a:latin typeface="Aptos"/>
                <a:ea typeface="Aptos"/>
                <a:cs typeface="Aptos"/>
              </a:defRPr>
            </a:lvl9pPr>
          </a:lstStyle>
          <a:p>
            <a:pPr algn="l">
              <a:defRPr sz="2250" b="0">
                <a:solidFill>
                  <a:srgbClr val="596778"/>
                </a:solidFill>
                <a:latin typeface="Aptos"/>
                <a:ea typeface="Aptos"/>
                <a:cs typeface="Aptos"/>
              </a:defRPr>
            </a:pPr>
            <a:r>
              <a:rPr sz="2250" b="0">
                <a:solidFill>
                  <a:srgbClr val="596778"/>
                </a:solidFill>
                <a:latin typeface="Aptos"/>
                <a:ea typeface="Aptos"/>
                <a:cs typeface="Aptos"/>
              </a:rPr>
              <a:t>of cache space</a:t>
            </a:r>
            <a:endParaRPr sz="2250" b="0">
              <a:solidFill>
                <a:srgbClr val="596778"/>
              </a:solidFill>
              <a:latin typeface="Aptos"/>
              <a:ea typeface="Aptos"/>
              <a:cs typeface="Aptos"/>
            </a:endParaRPr>
          </a:p>
        </p:txBody>
      </p:sp>
      <p:sp>
        <p:nvSpPr>
          <p:cNvPr id="10" name="New objects usually enter here."/>
          <p:cNvSpPr>
            <a:spLocks noGrp="1"/>
          </p:cNvSpPr>
          <p:nvPr/>
        </p:nvSpPr>
        <p:spPr>
          <a:xfrm>
            <a:off x="4810125" y="3181350"/>
            <a:ext cx="6619875" cy="809625"/>
          </a:xfrm>
          <a:prstGeom prst="rect">
            <a:avLst/>
          </a:prstGeom>
          <a:noFill/>
          <a:ln w="0">
            <a:noFill/>
          </a:ln>
        </p:spPr>
        <p:txBody>
          <a:bodyPr wrap="square" lIns="0" tIns="0" rIns="0" bIns="0" anchor="t">
            <a:noAutofit/>
          </a:bodyPr>
          <a:lstStyle>
            <a:defPPr algn="l">
              <a:defRPr sz="2775" b="1">
                <a:solidFill>
                  <a:srgbClr val="192337"/>
                </a:solidFill>
                <a:latin typeface="Aptos"/>
                <a:ea typeface="Aptos"/>
                <a:cs typeface="Aptos"/>
              </a:defRPr>
            </a:defPPr>
            <a:lvl1pPr algn="l">
              <a:defRPr sz="2775" b="1">
                <a:solidFill>
                  <a:srgbClr val="192337"/>
                </a:solidFill>
                <a:latin typeface="Aptos"/>
                <a:ea typeface="Aptos"/>
                <a:cs typeface="Aptos"/>
              </a:defRPr>
            </a:lvl1pPr>
            <a:lvl2pPr algn="l">
              <a:defRPr sz="2775" b="1">
                <a:solidFill>
                  <a:srgbClr val="192337"/>
                </a:solidFill>
                <a:latin typeface="Aptos"/>
                <a:ea typeface="Aptos"/>
                <a:cs typeface="Aptos"/>
              </a:defRPr>
            </a:lvl2pPr>
            <a:lvl3pPr algn="l">
              <a:defRPr sz="2775" b="1">
                <a:solidFill>
                  <a:srgbClr val="192337"/>
                </a:solidFill>
                <a:latin typeface="Aptos"/>
                <a:ea typeface="Aptos"/>
                <a:cs typeface="Aptos"/>
              </a:defRPr>
            </a:lvl3pPr>
            <a:lvl4pPr algn="l">
              <a:defRPr sz="2775" b="1">
                <a:solidFill>
                  <a:srgbClr val="192337"/>
                </a:solidFill>
                <a:latin typeface="Aptos"/>
                <a:ea typeface="Aptos"/>
                <a:cs typeface="Aptos"/>
              </a:defRPr>
            </a:lvl4pPr>
            <a:lvl5pPr algn="l">
              <a:defRPr sz="2775" b="1">
                <a:solidFill>
                  <a:srgbClr val="192337"/>
                </a:solidFill>
                <a:latin typeface="Aptos"/>
                <a:ea typeface="Aptos"/>
                <a:cs typeface="Aptos"/>
              </a:defRPr>
            </a:lvl5pPr>
            <a:lvl6pPr algn="l">
              <a:defRPr sz="2775" b="1">
                <a:solidFill>
                  <a:srgbClr val="192337"/>
                </a:solidFill>
                <a:latin typeface="Aptos"/>
                <a:ea typeface="Aptos"/>
                <a:cs typeface="Aptos"/>
              </a:defRPr>
            </a:lvl6pPr>
            <a:lvl7pPr algn="l">
              <a:defRPr sz="2775" b="1">
                <a:solidFill>
                  <a:srgbClr val="192337"/>
                </a:solidFill>
                <a:latin typeface="Aptos"/>
                <a:ea typeface="Aptos"/>
                <a:cs typeface="Aptos"/>
              </a:defRPr>
            </a:lvl7pPr>
            <a:lvl8pPr algn="l">
              <a:defRPr sz="2775" b="1">
                <a:solidFill>
                  <a:srgbClr val="192337"/>
                </a:solidFill>
                <a:latin typeface="Aptos"/>
                <a:ea typeface="Aptos"/>
                <a:cs typeface="Aptos"/>
              </a:defRPr>
            </a:lvl8pPr>
            <a:lvl9pPr algn="l">
              <a:defRPr sz="2775" b="1">
                <a:solidFill>
                  <a:srgbClr val="192337"/>
                </a:solidFill>
                <a:latin typeface="Aptos"/>
                <a:ea typeface="Aptos"/>
                <a:cs typeface="Aptos"/>
              </a:defRPr>
            </a:lvl9pPr>
          </a:lstStyle>
          <a:p>
            <a:pPr algn="l">
              <a:defRPr sz="2775" b="1">
                <a:solidFill>
                  <a:srgbClr val="192337"/>
                </a:solidFill>
                <a:latin typeface="Aptos"/>
                <a:ea typeface="Aptos"/>
                <a:cs typeface="Aptos"/>
              </a:defRPr>
            </a:pPr>
            <a:r>
              <a:rPr sz="2775" b="1">
                <a:solidFill>
                  <a:srgbClr val="192337"/>
                </a:solidFill>
                <a:latin typeface="Aptos"/>
                <a:ea typeface="Aptos"/>
                <a:cs typeface="Aptos"/>
              </a:rPr>
              <a:t>New objects usually enter here.</a:t>
            </a:r>
            <a:endParaRPr sz="2775" b="1">
              <a:solidFill>
                <a:srgbClr val="192337"/>
              </a:solidFill>
              <a:latin typeface="Aptos"/>
              <a:ea typeface="Aptos"/>
              <a:cs typeface="Aptos"/>
            </a:endParaRPr>
          </a:p>
        </p:txBody>
      </p:sp>
      <p:sp>
        <p:nvSpPr>
          <p:cNvPr id="11" name="It helps remove objects&#10;that are not used again."/>
          <p:cNvSpPr>
            <a:spLocks noGrp="1"/>
          </p:cNvSpPr>
          <p:nvPr/>
        </p:nvSpPr>
        <p:spPr>
          <a:xfrm>
            <a:off x="4810125" y="4210050"/>
            <a:ext cx="6619875" cy="1047750"/>
          </a:xfrm>
          <a:prstGeom prst="rect">
            <a:avLst/>
          </a:prstGeom>
          <a:noFill/>
          <a:ln w="0">
            <a:noFill/>
          </a:ln>
        </p:spPr>
        <p:txBody>
          <a:bodyPr wrap="square" lIns="0" tIns="0" rIns="0" bIns="0" anchor="t">
            <a:noAutofit/>
          </a:bodyPr>
          <a:lstStyle>
            <a:defPPr algn="l">
              <a:defRPr sz="2550" b="0">
                <a:solidFill>
                  <a:srgbClr val="192337"/>
                </a:solidFill>
                <a:latin typeface="Aptos"/>
                <a:ea typeface="Aptos"/>
                <a:cs typeface="Aptos"/>
              </a:defRPr>
            </a:defPPr>
            <a:lvl1pPr algn="l">
              <a:defRPr sz="2550" b="0">
                <a:solidFill>
                  <a:srgbClr val="192337"/>
                </a:solidFill>
                <a:latin typeface="Aptos"/>
                <a:ea typeface="Aptos"/>
                <a:cs typeface="Aptos"/>
              </a:defRPr>
            </a:lvl1pPr>
            <a:lvl2pPr algn="l">
              <a:defRPr sz="2550" b="0">
                <a:solidFill>
                  <a:srgbClr val="192337"/>
                </a:solidFill>
                <a:latin typeface="Aptos"/>
                <a:ea typeface="Aptos"/>
                <a:cs typeface="Aptos"/>
              </a:defRPr>
            </a:lvl2pPr>
            <a:lvl3pPr algn="l">
              <a:defRPr sz="2550" b="0">
                <a:solidFill>
                  <a:srgbClr val="192337"/>
                </a:solidFill>
                <a:latin typeface="Aptos"/>
                <a:ea typeface="Aptos"/>
                <a:cs typeface="Aptos"/>
              </a:defRPr>
            </a:lvl3pPr>
            <a:lvl4pPr algn="l">
              <a:defRPr sz="2550" b="0">
                <a:solidFill>
                  <a:srgbClr val="192337"/>
                </a:solidFill>
                <a:latin typeface="Aptos"/>
                <a:ea typeface="Aptos"/>
                <a:cs typeface="Aptos"/>
              </a:defRPr>
            </a:lvl4pPr>
            <a:lvl5pPr algn="l">
              <a:defRPr sz="2550" b="0">
                <a:solidFill>
                  <a:srgbClr val="192337"/>
                </a:solidFill>
                <a:latin typeface="Aptos"/>
                <a:ea typeface="Aptos"/>
                <a:cs typeface="Aptos"/>
              </a:defRPr>
            </a:lvl5pPr>
            <a:lvl6pPr algn="l">
              <a:defRPr sz="2550" b="0">
                <a:solidFill>
                  <a:srgbClr val="192337"/>
                </a:solidFill>
                <a:latin typeface="Aptos"/>
                <a:ea typeface="Aptos"/>
                <a:cs typeface="Aptos"/>
              </a:defRPr>
            </a:lvl6pPr>
            <a:lvl7pPr algn="l">
              <a:defRPr sz="2550" b="0">
                <a:solidFill>
                  <a:srgbClr val="192337"/>
                </a:solidFill>
                <a:latin typeface="Aptos"/>
                <a:ea typeface="Aptos"/>
                <a:cs typeface="Aptos"/>
              </a:defRPr>
            </a:lvl7pPr>
            <a:lvl8pPr algn="l">
              <a:defRPr sz="2550" b="0">
                <a:solidFill>
                  <a:srgbClr val="192337"/>
                </a:solidFill>
                <a:latin typeface="Aptos"/>
                <a:ea typeface="Aptos"/>
                <a:cs typeface="Aptos"/>
              </a:defRPr>
            </a:lvl8pPr>
            <a:lvl9pPr algn="l">
              <a:defRPr sz="2550" b="0">
                <a:solidFill>
                  <a:srgbClr val="192337"/>
                </a:solidFill>
                <a:latin typeface="Aptos"/>
                <a:ea typeface="Aptos"/>
                <a:cs typeface="Aptos"/>
              </a:defRPr>
            </a:lvl9pPr>
          </a:lstStyle>
          <a:p>
            <a:pPr algn="l">
              <a:defRPr sz="2550" b="0">
                <a:solidFill>
                  <a:srgbClr val="192337"/>
                </a:solidFill>
                <a:latin typeface="Aptos"/>
                <a:ea typeface="Aptos"/>
                <a:cs typeface="Aptos"/>
              </a:defRPr>
            </a:pPr>
            <a:r>
              <a:rPr sz="2550" b="0">
                <a:solidFill>
                  <a:srgbClr val="192337"/>
                </a:solidFill>
                <a:latin typeface="Aptos"/>
                <a:ea typeface="Aptos"/>
                <a:cs typeface="Aptos"/>
              </a:rPr>
              <a:t>It helps remove objects</a:t>
            </a:r>
            <a:endParaRPr sz="2550" b="0">
              <a:solidFill>
                <a:srgbClr val="192337"/>
              </a:solidFill>
              <a:latin typeface="Aptos"/>
              <a:ea typeface="Aptos"/>
              <a:cs typeface="Aptos"/>
            </a:endParaRPr>
          </a:p>
          <a:p>
            <a:pPr algn="l">
              <a:defRPr sz="2550" b="0">
                <a:solidFill>
                  <a:srgbClr val="192337"/>
                </a:solidFill>
                <a:latin typeface="Aptos"/>
                <a:ea typeface="Aptos"/>
                <a:cs typeface="Aptos"/>
              </a:defRPr>
            </a:pPr>
            <a:r>
              <a:rPr sz="2550" b="0">
                <a:solidFill>
                  <a:srgbClr val="192337"/>
                </a:solidFill>
                <a:latin typeface="Aptos"/>
                <a:ea typeface="Aptos"/>
                <a:cs typeface="Aptos"/>
              </a:rPr>
              <a:t>that are not used again.</a:t>
            </a:r>
            <a:endParaRPr sz="2550" b="0">
              <a:solidFill>
                <a:srgbClr val="192337"/>
              </a:solidFill>
              <a:latin typeface="Aptos"/>
              <a:ea typeface="Aptos"/>
              <a:cs typeface="Aptos"/>
            </a:endParaRPr>
          </a:p>
        </p:txBody>
      </p:sp>
      <p:sp>
        <p:nvSpPr>
          <p:cNvPr id="12" name="template-element-4"/>
          <p:cNvSpPr>
            <a:spLocks noGrp="1"/>
          </p:cNvSpPr>
          <p:nvPr/>
        </p:nvSpPr>
        <p:spPr>
          <a:xfrm>
            <a:off x="723900" y="5657850"/>
            <a:ext cx="10763250" cy="523875"/>
          </a:xfrm>
          <a:prstGeom prst="rect">
            <a:avLst/>
          </a:prstGeom>
          <a:solidFill>
            <a:srgbClr val="EAF3FE"/>
          </a:solidFill>
          <a:ln w="0">
            <a:noFill/>
          </a:ln>
        </p:spPr>
      </p:sp>
      <p:sp>
        <p:nvSpPr>
          <p:cNvPr id="13" name="Small filters new objects."/>
          <p:cNvSpPr>
            <a:spLocks noGrp="1"/>
          </p:cNvSpPr>
          <p:nvPr/>
        </p:nvSpPr>
        <p:spPr>
          <a:xfrm>
            <a:off x="952500" y="5781675"/>
            <a:ext cx="10334625" cy="409575"/>
          </a:xfrm>
          <a:prstGeom prst="rect">
            <a:avLst/>
          </a:prstGeom>
          <a:noFill/>
          <a:ln w="0">
            <a:noFill/>
          </a:ln>
        </p:spPr>
        <p:txBody>
          <a:bodyPr wrap="square" lIns="0" tIns="0" rIns="0" bIns="0" anchor="t">
            <a:noAutofit/>
          </a:bodyPr>
          <a:lstStyle>
            <a:defPPr algn="l">
              <a:defRPr sz="1875" b="1">
                <a:solidFill>
                  <a:srgbClr val="DE8626"/>
                </a:solidFill>
                <a:latin typeface="Aptos"/>
                <a:ea typeface="Aptos"/>
                <a:cs typeface="Aptos"/>
              </a:defRPr>
            </a:defPPr>
            <a:lvl1pPr algn="l">
              <a:defRPr sz="1875" b="1">
                <a:solidFill>
                  <a:srgbClr val="DE8626"/>
                </a:solidFill>
                <a:latin typeface="Aptos"/>
                <a:ea typeface="Aptos"/>
                <a:cs typeface="Aptos"/>
              </a:defRPr>
            </a:lvl1pPr>
            <a:lvl2pPr algn="l">
              <a:defRPr sz="1875" b="1">
                <a:solidFill>
                  <a:srgbClr val="DE8626"/>
                </a:solidFill>
                <a:latin typeface="Aptos"/>
                <a:ea typeface="Aptos"/>
                <a:cs typeface="Aptos"/>
              </a:defRPr>
            </a:lvl2pPr>
            <a:lvl3pPr algn="l">
              <a:defRPr sz="1875" b="1">
                <a:solidFill>
                  <a:srgbClr val="DE8626"/>
                </a:solidFill>
                <a:latin typeface="Aptos"/>
                <a:ea typeface="Aptos"/>
                <a:cs typeface="Aptos"/>
              </a:defRPr>
            </a:lvl3pPr>
            <a:lvl4pPr algn="l">
              <a:defRPr sz="1875" b="1">
                <a:solidFill>
                  <a:srgbClr val="DE8626"/>
                </a:solidFill>
                <a:latin typeface="Aptos"/>
                <a:ea typeface="Aptos"/>
                <a:cs typeface="Aptos"/>
              </a:defRPr>
            </a:lvl4pPr>
            <a:lvl5pPr algn="l">
              <a:defRPr sz="1875" b="1">
                <a:solidFill>
                  <a:srgbClr val="DE8626"/>
                </a:solidFill>
                <a:latin typeface="Aptos"/>
                <a:ea typeface="Aptos"/>
                <a:cs typeface="Aptos"/>
              </a:defRPr>
            </a:lvl5pPr>
            <a:lvl6pPr algn="l">
              <a:defRPr sz="1875" b="1">
                <a:solidFill>
                  <a:srgbClr val="DE8626"/>
                </a:solidFill>
                <a:latin typeface="Aptos"/>
                <a:ea typeface="Aptos"/>
                <a:cs typeface="Aptos"/>
              </a:defRPr>
            </a:lvl6pPr>
            <a:lvl7pPr algn="l">
              <a:defRPr sz="1875" b="1">
                <a:solidFill>
                  <a:srgbClr val="DE8626"/>
                </a:solidFill>
                <a:latin typeface="Aptos"/>
                <a:ea typeface="Aptos"/>
                <a:cs typeface="Aptos"/>
              </a:defRPr>
            </a:lvl7pPr>
            <a:lvl8pPr algn="l">
              <a:defRPr sz="1875" b="1">
                <a:solidFill>
                  <a:srgbClr val="DE8626"/>
                </a:solidFill>
                <a:latin typeface="Aptos"/>
                <a:ea typeface="Aptos"/>
                <a:cs typeface="Aptos"/>
              </a:defRPr>
            </a:lvl8pPr>
            <a:lvl9pPr algn="l">
              <a:defRPr sz="1875" b="1">
                <a:solidFill>
                  <a:srgbClr val="DE8626"/>
                </a:solidFill>
                <a:latin typeface="Aptos"/>
                <a:ea typeface="Aptos"/>
                <a:cs typeface="Aptos"/>
              </a:defRPr>
            </a:lvl9pPr>
          </a:lstStyle>
          <a:p>
            <a:pPr algn="l">
              <a:defRPr sz="1875" b="1">
                <a:solidFill>
                  <a:srgbClr val="DE8626"/>
                </a:solidFill>
                <a:latin typeface="Aptos"/>
                <a:ea typeface="Aptos"/>
                <a:cs typeface="Aptos"/>
              </a:defRPr>
            </a:pPr>
            <a:r>
              <a:rPr sz="1875" b="1">
                <a:solidFill>
                  <a:srgbClr val="DE8626"/>
                </a:solidFill>
                <a:latin typeface="Aptos"/>
                <a:ea typeface="Aptos"/>
                <a:cs typeface="Aptos"/>
              </a:rPr>
              <a:t>Small filters new objects.</a:t>
            </a:r>
            <a:endParaRPr sz="1875" b="1">
              <a:solidFill>
                <a:srgbClr val="DE8626"/>
              </a:solidFill>
              <a:latin typeface="Aptos"/>
              <a:ea typeface="Aptos"/>
              <a:cs typeface="Aptos"/>
            </a:endParaRPr>
          </a:p>
        </p:txBody>
      </p:sp>
      <p:sp>
        <p:nvSpPr>
          <p:cNvPr id="14" name="Source: Section 4.1 · Yang et al., SOSP 2023"/>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Section 4.1 · Yang et al., SOSP 2023</a:t>
            </a:r>
            <a:endParaRPr sz="975" b="0">
              <a:solidFill>
                <a:srgbClr val="71849E"/>
              </a:solidFill>
              <a:latin typeface="Aptos"/>
              <a:ea typeface="Aptos"/>
              <a:cs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15" name="template-element-5"/>
          <p:cNvSpPr>
            <a:spLocks noGrp="1"/>
          </p:cNvSpPr>
          <p:nvPr/>
        </p:nvSpPr>
        <p:spPr>
          <a:xfrm>
            <a:off x="0" y="0"/>
            <a:ext cx="12192000" cy="409575"/>
          </a:xfrm>
          <a:prstGeom prst="rect">
            <a:avLst/>
          </a:prstGeom>
          <a:solidFill>
            <a:srgbClr val="13294B"/>
          </a:solidFill>
          <a:ln w="0">
            <a:noFill/>
          </a:ln>
        </p:spPr>
      </p:sp>
      <p:sp>
        <p:nvSpPr>
          <p:cNvPr id="2" name="Part 2 · Queue Roles"/>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Queue Roles</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The Main Queue (M)"/>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The Main Queue (M)</a:t>
            </a:r>
            <a:endParaRPr sz="3300" b="1">
              <a:solidFill>
                <a:srgbClr val="192337"/>
              </a:solidFill>
              <a:latin typeface="Aptos Display"/>
              <a:ea typeface="Aptos Display"/>
              <a:cs typeface="Aptos Display"/>
            </a:endParaRPr>
          </a:p>
        </p:txBody>
      </p:sp>
      <p:sp>
        <p:nvSpPr>
          <p:cNvPr id="5" name="Second, the Main Queue uses the remaining 90%."/>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Second, the Main Queue uses the remaining 90%.</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04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04 / 12</a:t>
            </a:r>
            <a:endParaRPr sz="900" b="0">
              <a:solidFill>
                <a:srgbClr val="71849E"/>
              </a:solidFill>
              <a:latin typeface="Aptos"/>
              <a:ea typeface="Aptos"/>
              <a:cs typeface="Aptos"/>
            </a:endParaRPr>
          </a:p>
        </p:txBody>
      </p:sp>
      <p:sp>
        <p:nvSpPr>
          <p:cNvPr id="8" name="90%"/>
          <p:cNvSpPr>
            <a:spLocks noGrp="1"/>
          </p:cNvSpPr>
          <p:nvPr/>
        </p:nvSpPr>
        <p:spPr>
          <a:xfrm>
            <a:off x="762000" y="2333625"/>
            <a:ext cx="3619500" cy="1428750"/>
          </a:xfrm>
          <a:prstGeom prst="rect">
            <a:avLst/>
          </a:prstGeom>
          <a:noFill/>
          <a:ln w="0">
            <a:noFill/>
          </a:ln>
        </p:spPr>
        <p:txBody>
          <a:bodyPr wrap="square" lIns="0" tIns="0" rIns="0" bIns="0" anchor="t">
            <a:noAutofit/>
          </a:bodyPr>
          <a:lstStyle>
            <a:defPPr algn="l">
              <a:defRPr sz="8400" b="1">
                <a:solidFill>
                  <a:srgbClr val="2E6FB5"/>
                </a:solidFill>
                <a:latin typeface="Aptos"/>
                <a:ea typeface="Aptos"/>
                <a:cs typeface="Aptos"/>
              </a:defRPr>
            </a:defPPr>
            <a:lvl1pPr algn="l">
              <a:defRPr sz="8400" b="1">
                <a:solidFill>
                  <a:srgbClr val="2E6FB5"/>
                </a:solidFill>
                <a:latin typeface="Aptos"/>
                <a:ea typeface="Aptos"/>
                <a:cs typeface="Aptos"/>
              </a:defRPr>
            </a:lvl1pPr>
            <a:lvl2pPr algn="l">
              <a:defRPr sz="8400" b="1">
                <a:solidFill>
                  <a:srgbClr val="2E6FB5"/>
                </a:solidFill>
                <a:latin typeface="Aptos"/>
                <a:ea typeface="Aptos"/>
                <a:cs typeface="Aptos"/>
              </a:defRPr>
            </a:lvl2pPr>
            <a:lvl3pPr algn="l">
              <a:defRPr sz="8400" b="1">
                <a:solidFill>
                  <a:srgbClr val="2E6FB5"/>
                </a:solidFill>
                <a:latin typeface="Aptos"/>
                <a:ea typeface="Aptos"/>
                <a:cs typeface="Aptos"/>
              </a:defRPr>
            </a:lvl3pPr>
            <a:lvl4pPr algn="l">
              <a:defRPr sz="8400" b="1">
                <a:solidFill>
                  <a:srgbClr val="2E6FB5"/>
                </a:solidFill>
                <a:latin typeface="Aptos"/>
                <a:ea typeface="Aptos"/>
                <a:cs typeface="Aptos"/>
              </a:defRPr>
            </a:lvl4pPr>
            <a:lvl5pPr algn="l">
              <a:defRPr sz="8400" b="1">
                <a:solidFill>
                  <a:srgbClr val="2E6FB5"/>
                </a:solidFill>
                <a:latin typeface="Aptos"/>
                <a:ea typeface="Aptos"/>
                <a:cs typeface="Aptos"/>
              </a:defRPr>
            </a:lvl5pPr>
            <a:lvl6pPr algn="l">
              <a:defRPr sz="8400" b="1">
                <a:solidFill>
                  <a:srgbClr val="2E6FB5"/>
                </a:solidFill>
                <a:latin typeface="Aptos"/>
                <a:ea typeface="Aptos"/>
                <a:cs typeface="Aptos"/>
              </a:defRPr>
            </a:lvl6pPr>
            <a:lvl7pPr algn="l">
              <a:defRPr sz="8400" b="1">
                <a:solidFill>
                  <a:srgbClr val="2E6FB5"/>
                </a:solidFill>
                <a:latin typeface="Aptos"/>
                <a:ea typeface="Aptos"/>
                <a:cs typeface="Aptos"/>
              </a:defRPr>
            </a:lvl7pPr>
            <a:lvl8pPr algn="l">
              <a:defRPr sz="8400" b="1">
                <a:solidFill>
                  <a:srgbClr val="2E6FB5"/>
                </a:solidFill>
                <a:latin typeface="Aptos"/>
                <a:ea typeface="Aptos"/>
                <a:cs typeface="Aptos"/>
              </a:defRPr>
            </a:lvl8pPr>
            <a:lvl9pPr algn="l">
              <a:defRPr sz="8400" b="1">
                <a:solidFill>
                  <a:srgbClr val="2E6FB5"/>
                </a:solidFill>
                <a:latin typeface="Aptos"/>
                <a:ea typeface="Aptos"/>
                <a:cs typeface="Aptos"/>
              </a:defRPr>
            </a:lvl9pPr>
          </a:lstStyle>
          <a:p>
            <a:pPr algn="l">
              <a:defRPr sz="8400" b="1">
                <a:solidFill>
                  <a:srgbClr val="2E6FB5"/>
                </a:solidFill>
                <a:latin typeface="Aptos"/>
                <a:ea typeface="Aptos"/>
                <a:cs typeface="Aptos"/>
              </a:defRPr>
            </a:pPr>
            <a:r>
              <a:rPr sz="8400" b="1">
                <a:solidFill>
                  <a:srgbClr val="2E6FB5"/>
                </a:solidFill>
                <a:latin typeface="Aptos"/>
                <a:ea typeface="Aptos"/>
                <a:cs typeface="Aptos"/>
              </a:rPr>
              <a:t>90%</a:t>
            </a:r>
            <a:endParaRPr sz="8400" b="1">
              <a:solidFill>
                <a:srgbClr val="2E6FB5"/>
              </a:solidFill>
              <a:latin typeface="Aptos"/>
              <a:ea typeface="Aptos"/>
              <a:cs typeface="Aptos"/>
            </a:endParaRPr>
          </a:p>
        </p:txBody>
      </p:sp>
      <p:sp>
        <p:nvSpPr>
          <p:cNvPr id="9" name="of cache space"/>
          <p:cNvSpPr>
            <a:spLocks noGrp="1"/>
          </p:cNvSpPr>
          <p:nvPr/>
        </p:nvSpPr>
        <p:spPr>
          <a:xfrm>
            <a:off x="828675" y="3857625"/>
            <a:ext cx="3238500" cy="571500"/>
          </a:xfrm>
          <a:prstGeom prst="rect">
            <a:avLst/>
          </a:prstGeom>
          <a:noFill/>
          <a:ln w="0">
            <a:noFill/>
          </a:ln>
        </p:spPr>
        <p:txBody>
          <a:bodyPr wrap="square" lIns="0" tIns="0" rIns="0" bIns="0" anchor="t">
            <a:noAutofit/>
          </a:bodyPr>
          <a:lstStyle>
            <a:defPPr algn="l">
              <a:defRPr sz="2250" b="0">
                <a:solidFill>
                  <a:srgbClr val="596778"/>
                </a:solidFill>
                <a:latin typeface="Aptos"/>
                <a:ea typeface="Aptos"/>
                <a:cs typeface="Aptos"/>
              </a:defRPr>
            </a:defPPr>
            <a:lvl1pPr algn="l">
              <a:defRPr sz="2250" b="0">
                <a:solidFill>
                  <a:srgbClr val="596778"/>
                </a:solidFill>
                <a:latin typeface="Aptos"/>
                <a:ea typeface="Aptos"/>
                <a:cs typeface="Aptos"/>
              </a:defRPr>
            </a:lvl1pPr>
            <a:lvl2pPr algn="l">
              <a:defRPr sz="2250" b="0">
                <a:solidFill>
                  <a:srgbClr val="596778"/>
                </a:solidFill>
                <a:latin typeface="Aptos"/>
                <a:ea typeface="Aptos"/>
                <a:cs typeface="Aptos"/>
              </a:defRPr>
            </a:lvl2pPr>
            <a:lvl3pPr algn="l">
              <a:defRPr sz="2250" b="0">
                <a:solidFill>
                  <a:srgbClr val="596778"/>
                </a:solidFill>
                <a:latin typeface="Aptos"/>
                <a:ea typeface="Aptos"/>
                <a:cs typeface="Aptos"/>
              </a:defRPr>
            </a:lvl3pPr>
            <a:lvl4pPr algn="l">
              <a:defRPr sz="2250" b="0">
                <a:solidFill>
                  <a:srgbClr val="596778"/>
                </a:solidFill>
                <a:latin typeface="Aptos"/>
                <a:ea typeface="Aptos"/>
                <a:cs typeface="Aptos"/>
              </a:defRPr>
            </a:lvl4pPr>
            <a:lvl5pPr algn="l">
              <a:defRPr sz="2250" b="0">
                <a:solidFill>
                  <a:srgbClr val="596778"/>
                </a:solidFill>
                <a:latin typeface="Aptos"/>
                <a:ea typeface="Aptos"/>
                <a:cs typeface="Aptos"/>
              </a:defRPr>
            </a:lvl5pPr>
            <a:lvl6pPr algn="l">
              <a:defRPr sz="2250" b="0">
                <a:solidFill>
                  <a:srgbClr val="596778"/>
                </a:solidFill>
                <a:latin typeface="Aptos"/>
                <a:ea typeface="Aptos"/>
                <a:cs typeface="Aptos"/>
              </a:defRPr>
            </a:lvl6pPr>
            <a:lvl7pPr algn="l">
              <a:defRPr sz="2250" b="0">
                <a:solidFill>
                  <a:srgbClr val="596778"/>
                </a:solidFill>
                <a:latin typeface="Aptos"/>
                <a:ea typeface="Aptos"/>
                <a:cs typeface="Aptos"/>
              </a:defRPr>
            </a:lvl7pPr>
            <a:lvl8pPr algn="l">
              <a:defRPr sz="2250" b="0">
                <a:solidFill>
                  <a:srgbClr val="596778"/>
                </a:solidFill>
                <a:latin typeface="Aptos"/>
                <a:ea typeface="Aptos"/>
                <a:cs typeface="Aptos"/>
              </a:defRPr>
            </a:lvl8pPr>
            <a:lvl9pPr algn="l">
              <a:defRPr sz="2250" b="0">
                <a:solidFill>
                  <a:srgbClr val="596778"/>
                </a:solidFill>
                <a:latin typeface="Aptos"/>
                <a:ea typeface="Aptos"/>
                <a:cs typeface="Aptos"/>
              </a:defRPr>
            </a:lvl9pPr>
          </a:lstStyle>
          <a:p>
            <a:pPr algn="l">
              <a:defRPr sz="2250" b="0">
                <a:solidFill>
                  <a:srgbClr val="596778"/>
                </a:solidFill>
                <a:latin typeface="Aptos"/>
                <a:ea typeface="Aptos"/>
                <a:cs typeface="Aptos"/>
              </a:defRPr>
            </a:pPr>
            <a:r>
              <a:rPr sz="2250" b="0">
                <a:solidFill>
                  <a:srgbClr val="596778"/>
                </a:solidFill>
                <a:latin typeface="Aptos"/>
                <a:ea typeface="Aptos"/>
                <a:cs typeface="Aptos"/>
              </a:rPr>
              <a:t>of cache space</a:t>
            </a:r>
            <a:endParaRPr sz="2250" b="0">
              <a:solidFill>
                <a:srgbClr val="596778"/>
              </a:solidFill>
              <a:latin typeface="Aptos"/>
              <a:ea typeface="Aptos"/>
              <a:cs typeface="Aptos"/>
            </a:endParaRPr>
          </a:p>
        </p:txBody>
      </p:sp>
      <p:sp>
        <p:nvSpPr>
          <p:cNvPr id="10" name="It stores objects that are&#10;accessed more frequently."/>
          <p:cNvSpPr>
            <a:spLocks noGrp="1"/>
          </p:cNvSpPr>
          <p:nvPr/>
        </p:nvSpPr>
        <p:spPr>
          <a:xfrm>
            <a:off x="4686300" y="2505075"/>
            <a:ext cx="6667500" cy="1238250"/>
          </a:xfrm>
          <a:prstGeom prst="rect">
            <a:avLst/>
          </a:prstGeom>
          <a:noFill/>
          <a:ln w="0">
            <a:noFill/>
          </a:ln>
        </p:spPr>
        <p:txBody>
          <a:bodyPr wrap="square" lIns="0" tIns="0" rIns="0" bIns="0" anchor="t">
            <a:noAutofit/>
          </a:bodyPr>
          <a:lstStyle>
            <a:defPPr algn="l">
              <a:defRPr sz="2850" b="1">
                <a:solidFill>
                  <a:srgbClr val="192337"/>
                </a:solidFill>
                <a:latin typeface="Aptos"/>
                <a:ea typeface="Aptos"/>
                <a:cs typeface="Aptos"/>
              </a:defRPr>
            </a:defPPr>
            <a:lvl1pPr algn="l">
              <a:defRPr sz="2850" b="1">
                <a:solidFill>
                  <a:srgbClr val="192337"/>
                </a:solidFill>
                <a:latin typeface="Aptos"/>
                <a:ea typeface="Aptos"/>
                <a:cs typeface="Aptos"/>
              </a:defRPr>
            </a:lvl1pPr>
            <a:lvl2pPr algn="l">
              <a:defRPr sz="2850" b="1">
                <a:solidFill>
                  <a:srgbClr val="192337"/>
                </a:solidFill>
                <a:latin typeface="Aptos"/>
                <a:ea typeface="Aptos"/>
                <a:cs typeface="Aptos"/>
              </a:defRPr>
            </a:lvl2pPr>
            <a:lvl3pPr algn="l">
              <a:defRPr sz="2850" b="1">
                <a:solidFill>
                  <a:srgbClr val="192337"/>
                </a:solidFill>
                <a:latin typeface="Aptos"/>
                <a:ea typeface="Aptos"/>
                <a:cs typeface="Aptos"/>
              </a:defRPr>
            </a:lvl3pPr>
            <a:lvl4pPr algn="l">
              <a:defRPr sz="2850" b="1">
                <a:solidFill>
                  <a:srgbClr val="192337"/>
                </a:solidFill>
                <a:latin typeface="Aptos"/>
                <a:ea typeface="Aptos"/>
                <a:cs typeface="Aptos"/>
              </a:defRPr>
            </a:lvl4pPr>
            <a:lvl5pPr algn="l">
              <a:defRPr sz="2850" b="1">
                <a:solidFill>
                  <a:srgbClr val="192337"/>
                </a:solidFill>
                <a:latin typeface="Aptos"/>
                <a:ea typeface="Aptos"/>
                <a:cs typeface="Aptos"/>
              </a:defRPr>
            </a:lvl5pPr>
            <a:lvl6pPr algn="l">
              <a:defRPr sz="2850" b="1">
                <a:solidFill>
                  <a:srgbClr val="192337"/>
                </a:solidFill>
                <a:latin typeface="Aptos"/>
                <a:ea typeface="Aptos"/>
                <a:cs typeface="Aptos"/>
              </a:defRPr>
            </a:lvl6pPr>
            <a:lvl7pPr algn="l">
              <a:defRPr sz="2850" b="1">
                <a:solidFill>
                  <a:srgbClr val="192337"/>
                </a:solidFill>
                <a:latin typeface="Aptos"/>
                <a:ea typeface="Aptos"/>
                <a:cs typeface="Aptos"/>
              </a:defRPr>
            </a:lvl7pPr>
            <a:lvl8pPr algn="l">
              <a:defRPr sz="2850" b="1">
                <a:solidFill>
                  <a:srgbClr val="192337"/>
                </a:solidFill>
                <a:latin typeface="Aptos"/>
                <a:ea typeface="Aptos"/>
                <a:cs typeface="Aptos"/>
              </a:defRPr>
            </a:lvl8pPr>
            <a:lvl9pPr algn="l">
              <a:defRPr sz="2850" b="1">
                <a:solidFill>
                  <a:srgbClr val="192337"/>
                </a:solidFill>
                <a:latin typeface="Aptos"/>
                <a:ea typeface="Aptos"/>
                <a:cs typeface="Aptos"/>
              </a:defRPr>
            </a:lvl9pPr>
          </a:lstStyle>
          <a:p>
            <a:pPr algn="l">
              <a:defRPr sz="2850" b="1">
                <a:solidFill>
                  <a:srgbClr val="192337"/>
                </a:solidFill>
                <a:latin typeface="Aptos"/>
                <a:ea typeface="Aptos"/>
                <a:cs typeface="Aptos"/>
              </a:defRPr>
            </a:pPr>
            <a:r>
              <a:rPr sz="2850" b="1">
                <a:solidFill>
                  <a:srgbClr val="192337"/>
                </a:solidFill>
                <a:latin typeface="Aptos"/>
                <a:ea typeface="Aptos"/>
                <a:cs typeface="Aptos"/>
              </a:rPr>
              <a:t>It stores objects that are</a:t>
            </a:r>
            <a:endParaRPr sz="2850" b="1">
              <a:solidFill>
                <a:srgbClr val="192337"/>
              </a:solidFill>
              <a:latin typeface="Aptos"/>
              <a:ea typeface="Aptos"/>
              <a:cs typeface="Aptos"/>
            </a:endParaRPr>
          </a:p>
          <a:p>
            <a:pPr algn="l">
              <a:defRPr sz="2850" b="1">
                <a:solidFill>
                  <a:srgbClr val="192337"/>
                </a:solidFill>
                <a:latin typeface="Aptos"/>
                <a:ea typeface="Aptos"/>
                <a:cs typeface="Aptos"/>
              </a:defRPr>
            </a:pPr>
            <a:r>
              <a:rPr sz="2850" b="1">
                <a:solidFill>
                  <a:srgbClr val="192337"/>
                </a:solidFill>
                <a:latin typeface="Aptos"/>
                <a:ea typeface="Aptos"/>
                <a:cs typeface="Aptos"/>
              </a:rPr>
              <a:t>accessed more frequently.</a:t>
            </a:r>
            <a:endParaRPr sz="2850" b="1">
              <a:solidFill>
                <a:srgbClr val="192337"/>
              </a:solidFill>
              <a:latin typeface="Aptos"/>
              <a:ea typeface="Aptos"/>
              <a:cs typeface="Aptos"/>
            </a:endParaRPr>
          </a:p>
        </p:txBody>
      </p:sp>
      <p:sp>
        <p:nvSpPr>
          <p:cNvPr id="11" name="Objects can reach Main after&#10;showing reuse in Small or Ghost."/>
          <p:cNvSpPr>
            <a:spLocks noGrp="1"/>
          </p:cNvSpPr>
          <p:nvPr/>
        </p:nvSpPr>
        <p:spPr>
          <a:xfrm>
            <a:off x="4686300" y="4095750"/>
            <a:ext cx="6667500" cy="1047750"/>
          </a:xfrm>
          <a:prstGeom prst="rect">
            <a:avLst/>
          </a:prstGeom>
          <a:noFill/>
          <a:ln w="0">
            <a:noFill/>
          </a:ln>
        </p:spPr>
        <p:txBody>
          <a:bodyPr wrap="square" lIns="0" tIns="0" rIns="0" bIns="0" anchor="t">
            <a:noAutofit/>
          </a:bodyPr>
          <a:lstStyle>
            <a:defPPr algn="l">
              <a:defRPr sz="2325" b="0">
                <a:solidFill>
                  <a:srgbClr val="596778"/>
                </a:solidFill>
                <a:latin typeface="Aptos"/>
                <a:ea typeface="Aptos"/>
                <a:cs typeface="Aptos"/>
              </a:defRPr>
            </a:defPPr>
            <a:lvl1pPr algn="l">
              <a:defRPr sz="2325" b="0">
                <a:solidFill>
                  <a:srgbClr val="596778"/>
                </a:solidFill>
                <a:latin typeface="Aptos"/>
                <a:ea typeface="Aptos"/>
                <a:cs typeface="Aptos"/>
              </a:defRPr>
            </a:lvl1pPr>
            <a:lvl2pPr algn="l">
              <a:defRPr sz="2325" b="0">
                <a:solidFill>
                  <a:srgbClr val="596778"/>
                </a:solidFill>
                <a:latin typeface="Aptos"/>
                <a:ea typeface="Aptos"/>
                <a:cs typeface="Aptos"/>
              </a:defRPr>
            </a:lvl2pPr>
            <a:lvl3pPr algn="l">
              <a:defRPr sz="2325" b="0">
                <a:solidFill>
                  <a:srgbClr val="596778"/>
                </a:solidFill>
                <a:latin typeface="Aptos"/>
                <a:ea typeface="Aptos"/>
                <a:cs typeface="Aptos"/>
              </a:defRPr>
            </a:lvl3pPr>
            <a:lvl4pPr algn="l">
              <a:defRPr sz="2325" b="0">
                <a:solidFill>
                  <a:srgbClr val="596778"/>
                </a:solidFill>
                <a:latin typeface="Aptos"/>
                <a:ea typeface="Aptos"/>
                <a:cs typeface="Aptos"/>
              </a:defRPr>
            </a:lvl4pPr>
            <a:lvl5pPr algn="l">
              <a:defRPr sz="2325" b="0">
                <a:solidFill>
                  <a:srgbClr val="596778"/>
                </a:solidFill>
                <a:latin typeface="Aptos"/>
                <a:ea typeface="Aptos"/>
                <a:cs typeface="Aptos"/>
              </a:defRPr>
            </a:lvl5pPr>
            <a:lvl6pPr algn="l">
              <a:defRPr sz="2325" b="0">
                <a:solidFill>
                  <a:srgbClr val="596778"/>
                </a:solidFill>
                <a:latin typeface="Aptos"/>
                <a:ea typeface="Aptos"/>
                <a:cs typeface="Aptos"/>
              </a:defRPr>
            </a:lvl6pPr>
            <a:lvl7pPr algn="l">
              <a:defRPr sz="2325" b="0">
                <a:solidFill>
                  <a:srgbClr val="596778"/>
                </a:solidFill>
                <a:latin typeface="Aptos"/>
                <a:ea typeface="Aptos"/>
                <a:cs typeface="Aptos"/>
              </a:defRPr>
            </a:lvl7pPr>
            <a:lvl8pPr algn="l">
              <a:defRPr sz="2325" b="0">
                <a:solidFill>
                  <a:srgbClr val="596778"/>
                </a:solidFill>
                <a:latin typeface="Aptos"/>
                <a:ea typeface="Aptos"/>
                <a:cs typeface="Aptos"/>
              </a:defRPr>
            </a:lvl8pPr>
            <a:lvl9pPr algn="l">
              <a:defRPr sz="2325" b="0">
                <a:solidFill>
                  <a:srgbClr val="596778"/>
                </a:solidFill>
                <a:latin typeface="Aptos"/>
                <a:ea typeface="Aptos"/>
                <a:cs typeface="Aptos"/>
              </a:defRPr>
            </a:lvl9pPr>
          </a:lstStyle>
          <a:p>
            <a:pPr algn="l">
              <a:defRPr sz="2325" b="0">
                <a:solidFill>
                  <a:srgbClr val="596778"/>
                </a:solidFill>
                <a:latin typeface="Aptos"/>
                <a:ea typeface="Aptos"/>
                <a:cs typeface="Aptos"/>
              </a:defRPr>
            </a:pPr>
            <a:r>
              <a:rPr sz="2325" b="0">
                <a:solidFill>
                  <a:srgbClr val="596778"/>
                </a:solidFill>
                <a:latin typeface="Aptos"/>
                <a:ea typeface="Aptos"/>
                <a:cs typeface="Aptos"/>
              </a:rPr>
              <a:t>Objects can reach Main after</a:t>
            </a:r>
            <a:endParaRPr sz="2325" b="0">
              <a:solidFill>
                <a:srgbClr val="596778"/>
              </a:solidFill>
              <a:latin typeface="Aptos"/>
              <a:ea typeface="Aptos"/>
              <a:cs typeface="Aptos"/>
            </a:endParaRPr>
          </a:p>
          <a:p>
            <a:pPr algn="l">
              <a:defRPr sz="2325" b="0">
                <a:solidFill>
                  <a:srgbClr val="596778"/>
                </a:solidFill>
                <a:latin typeface="Aptos"/>
                <a:ea typeface="Aptos"/>
                <a:cs typeface="Aptos"/>
              </a:defRPr>
            </a:pPr>
            <a:r>
              <a:rPr sz="2325" b="0">
                <a:solidFill>
                  <a:srgbClr val="596778"/>
                </a:solidFill>
                <a:latin typeface="Aptos"/>
                <a:ea typeface="Aptos"/>
                <a:cs typeface="Aptos"/>
              </a:rPr>
              <a:t>showing reuse in Small or Ghost.</a:t>
            </a:r>
            <a:endParaRPr sz="2325" b="0">
              <a:solidFill>
                <a:srgbClr val="596778"/>
              </a:solidFill>
              <a:latin typeface="Aptos"/>
              <a:ea typeface="Aptos"/>
              <a:cs typeface="Aptos"/>
            </a:endParaRPr>
          </a:p>
        </p:txBody>
      </p:sp>
      <p:sp>
        <p:nvSpPr>
          <p:cNvPr id="12" name="template-element-6"/>
          <p:cNvSpPr>
            <a:spLocks noGrp="1"/>
          </p:cNvSpPr>
          <p:nvPr/>
        </p:nvSpPr>
        <p:spPr>
          <a:xfrm>
            <a:off x="723900" y="5657850"/>
            <a:ext cx="10763250" cy="523875"/>
          </a:xfrm>
          <a:prstGeom prst="rect">
            <a:avLst/>
          </a:prstGeom>
          <a:solidFill>
            <a:srgbClr val="EAF3FE"/>
          </a:solidFill>
          <a:ln w="0">
            <a:noFill/>
          </a:ln>
        </p:spPr>
      </p:sp>
      <p:sp>
        <p:nvSpPr>
          <p:cNvPr id="13" name="Main protects useful objects."/>
          <p:cNvSpPr>
            <a:spLocks noGrp="1"/>
          </p:cNvSpPr>
          <p:nvPr/>
        </p:nvSpPr>
        <p:spPr>
          <a:xfrm>
            <a:off x="952500" y="5781675"/>
            <a:ext cx="10334625" cy="409575"/>
          </a:xfrm>
          <a:prstGeom prst="rect">
            <a:avLst/>
          </a:prstGeom>
          <a:noFill/>
          <a:ln w="0">
            <a:noFill/>
          </a:ln>
        </p:spPr>
        <p:txBody>
          <a:bodyPr wrap="square" lIns="0" tIns="0" rIns="0" bIns="0" anchor="t">
            <a:noAutofit/>
          </a:bodyPr>
          <a:lstStyle>
            <a:defPPr algn="l">
              <a:defRPr sz="1875" b="1">
                <a:solidFill>
                  <a:srgbClr val="2E6FB5"/>
                </a:solidFill>
                <a:latin typeface="Aptos"/>
                <a:ea typeface="Aptos"/>
                <a:cs typeface="Aptos"/>
              </a:defRPr>
            </a:defPPr>
            <a:lvl1pPr algn="l">
              <a:defRPr sz="1875" b="1">
                <a:solidFill>
                  <a:srgbClr val="2E6FB5"/>
                </a:solidFill>
                <a:latin typeface="Aptos"/>
                <a:ea typeface="Aptos"/>
                <a:cs typeface="Aptos"/>
              </a:defRPr>
            </a:lvl1pPr>
            <a:lvl2pPr algn="l">
              <a:defRPr sz="1875" b="1">
                <a:solidFill>
                  <a:srgbClr val="2E6FB5"/>
                </a:solidFill>
                <a:latin typeface="Aptos"/>
                <a:ea typeface="Aptos"/>
                <a:cs typeface="Aptos"/>
              </a:defRPr>
            </a:lvl2pPr>
            <a:lvl3pPr algn="l">
              <a:defRPr sz="1875" b="1">
                <a:solidFill>
                  <a:srgbClr val="2E6FB5"/>
                </a:solidFill>
                <a:latin typeface="Aptos"/>
                <a:ea typeface="Aptos"/>
                <a:cs typeface="Aptos"/>
              </a:defRPr>
            </a:lvl3pPr>
            <a:lvl4pPr algn="l">
              <a:defRPr sz="1875" b="1">
                <a:solidFill>
                  <a:srgbClr val="2E6FB5"/>
                </a:solidFill>
                <a:latin typeface="Aptos"/>
                <a:ea typeface="Aptos"/>
                <a:cs typeface="Aptos"/>
              </a:defRPr>
            </a:lvl4pPr>
            <a:lvl5pPr algn="l">
              <a:defRPr sz="1875" b="1">
                <a:solidFill>
                  <a:srgbClr val="2E6FB5"/>
                </a:solidFill>
                <a:latin typeface="Aptos"/>
                <a:ea typeface="Aptos"/>
                <a:cs typeface="Aptos"/>
              </a:defRPr>
            </a:lvl5pPr>
            <a:lvl6pPr algn="l">
              <a:defRPr sz="1875" b="1">
                <a:solidFill>
                  <a:srgbClr val="2E6FB5"/>
                </a:solidFill>
                <a:latin typeface="Aptos"/>
                <a:ea typeface="Aptos"/>
                <a:cs typeface="Aptos"/>
              </a:defRPr>
            </a:lvl6pPr>
            <a:lvl7pPr algn="l">
              <a:defRPr sz="1875" b="1">
                <a:solidFill>
                  <a:srgbClr val="2E6FB5"/>
                </a:solidFill>
                <a:latin typeface="Aptos"/>
                <a:ea typeface="Aptos"/>
                <a:cs typeface="Aptos"/>
              </a:defRPr>
            </a:lvl7pPr>
            <a:lvl8pPr algn="l">
              <a:defRPr sz="1875" b="1">
                <a:solidFill>
                  <a:srgbClr val="2E6FB5"/>
                </a:solidFill>
                <a:latin typeface="Aptos"/>
                <a:ea typeface="Aptos"/>
                <a:cs typeface="Aptos"/>
              </a:defRPr>
            </a:lvl8pPr>
            <a:lvl9pPr algn="l">
              <a:defRPr sz="1875" b="1">
                <a:solidFill>
                  <a:srgbClr val="2E6FB5"/>
                </a:solidFill>
                <a:latin typeface="Aptos"/>
                <a:ea typeface="Aptos"/>
                <a:cs typeface="Aptos"/>
              </a:defRPr>
            </a:lvl9pPr>
          </a:lstStyle>
          <a:p>
            <a:pPr algn="l">
              <a:defRPr sz="1875" b="1">
                <a:solidFill>
                  <a:srgbClr val="2E6FB5"/>
                </a:solidFill>
                <a:latin typeface="Aptos"/>
                <a:ea typeface="Aptos"/>
                <a:cs typeface="Aptos"/>
              </a:defRPr>
            </a:pPr>
            <a:r>
              <a:rPr sz="1875" b="1">
                <a:solidFill>
                  <a:srgbClr val="2E6FB5"/>
                </a:solidFill>
                <a:latin typeface="Aptos"/>
                <a:ea typeface="Aptos"/>
                <a:cs typeface="Aptos"/>
              </a:rPr>
              <a:t>Main protects useful objects.</a:t>
            </a:r>
            <a:endParaRPr sz="1875" b="1">
              <a:solidFill>
                <a:srgbClr val="2E6FB5"/>
              </a:solidFill>
              <a:latin typeface="Aptos"/>
              <a:ea typeface="Aptos"/>
              <a:cs typeface="Aptos"/>
            </a:endParaRPr>
          </a:p>
        </p:txBody>
      </p:sp>
      <p:sp>
        <p:nvSpPr>
          <p:cNvPr id="14" name="Source: Section 4.1 · Yang et al., SOSP 2023"/>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Section 4.1 · Yang et al., SOSP 2023</a:t>
            </a:r>
            <a:endParaRPr sz="975" b="0">
              <a:solidFill>
                <a:srgbClr val="71849E"/>
              </a:solidFill>
              <a:latin typeface="Aptos"/>
              <a:ea typeface="Aptos"/>
              <a:cs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grpSp>
        <p:nvGrpSpPr>
          <p:cNvPr id="10200" name="Original slide 10 diagram"/>
          <p:cNvGrpSpPr/>
          <p:nvPr/>
        </p:nvGrpSpPr>
        <p:grpSpPr>
          <a:xfrm>
            <a:off x="6619875" y="2276475"/>
            <a:ext cx="4857750" cy="2514600"/>
            <a:chOff x="5943600" y="2124075"/>
            <a:chExt cx="5162550" cy="2676525"/>
          </a:xfrm>
        </p:grpSpPr>
        <p:sp>
          <p:nvSpPr>
            <p:cNvPr id="10201" name="TextBox 9"/>
            <p:cNvSpPr txBox="1"/>
            <p:nvPr/>
          </p:nvSpPr>
          <p:spPr>
            <a:xfrm>
              <a:off x="5943600" y="2121408"/>
              <a:ext cx="5166360" cy="365760"/>
            </a:xfrm>
            <a:prstGeom prst="rect">
              <a:avLst/>
            </a:prstGeom>
            <a:noFill/>
          </p:spPr>
          <p:txBody>
            <a:bodyPr wrap="square" lIns="0" tIns="0" rIns="0" bIns="0">
              <a:spAutoFit/>
            </a:bodyPr>
            <a:lstStyle/>
            <a:p>
              <a:pPr algn="l">
                <a:lnSpc>
                  <a:spcPct val="112000"/>
                </a:lnSpc>
                <a:spcBef>
                  <a:spcPts val="0"/>
                </a:spcBef>
                <a:spcAft>
                  <a:spcPts val="500"/>
                </a:spcAft>
              </a:pPr>
              <a:r>
                <a:rPr sz="1600" b="1">
                  <a:solidFill>
                    <a:srgbClr val="788594"/>
                  </a:solidFill>
                  <a:latin typeface="Aptos"/>
                </a:rPr>
                <a:t>RECENTLY REMOVED OBJECT IDs</a:t>
              </a:r>
              <a:endParaRPr sz="1600" b="1">
                <a:solidFill>
                  <a:srgbClr val="788594"/>
                </a:solidFill>
                <a:latin typeface="Aptos"/>
              </a:endParaRPr>
            </a:p>
          </p:txBody>
        </p:sp>
        <p:sp>
          <p:nvSpPr>
            <p:cNvPr id="10202" name="Rounded Rectangle 10"/>
            <p:cNvSpPr/>
            <p:nvPr/>
          </p:nvSpPr>
          <p:spPr>
            <a:xfrm>
              <a:off x="612648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0203" name="TextBox 11"/>
            <p:cNvSpPr txBox="1"/>
            <p:nvPr/>
          </p:nvSpPr>
          <p:spPr>
            <a:xfrm>
              <a:off x="6236208" y="3118104"/>
              <a:ext cx="969264" cy="640080"/>
            </a:xfrm>
            <a:prstGeom prst="rect">
              <a:avLst/>
            </a:prstGeom>
            <a:noFill/>
          </p:spPr>
          <p:txBody>
            <a:bodyPr wrap="square" lIns="0" tIns="0" rIns="0" bIns="0">
              <a:spAutoFit/>
            </a:bodyPr>
            <a:lstStyle/>
            <a:p>
              <a:pPr algn="ctr">
                <a:lnSpc>
                  <a:spcPct val="112000"/>
                </a:lnSpc>
                <a:spcBef>
                  <a:spcPts val="0"/>
                </a:spcBef>
                <a:spcAft>
                  <a:spcPts val="500"/>
                </a:spcAft>
              </a:pPr>
              <a:r>
                <a:rPr sz="2700" b="1">
                  <a:solidFill>
                    <a:srgbClr val="788594"/>
                  </a:solidFill>
                  <a:latin typeface="Aptos"/>
                </a:rPr>
                <a:t>A</a:t>
              </a:r>
              <a:endParaRPr sz="2700" b="1">
                <a:solidFill>
                  <a:srgbClr val="788594"/>
                </a:solidFill>
                <a:latin typeface="Aptos"/>
              </a:endParaRPr>
            </a:p>
          </p:txBody>
        </p:sp>
        <p:sp>
          <p:nvSpPr>
            <p:cNvPr id="10204" name="Rounded Rectangle 12"/>
            <p:cNvSpPr/>
            <p:nvPr/>
          </p:nvSpPr>
          <p:spPr>
            <a:xfrm>
              <a:off x="768096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0205" name="TextBox 13"/>
            <p:cNvSpPr txBox="1"/>
            <p:nvPr/>
          </p:nvSpPr>
          <p:spPr>
            <a:xfrm>
              <a:off x="7790688" y="3118104"/>
              <a:ext cx="969264" cy="640080"/>
            </a:xfrm>
            <a:prstGeom prst="rect">
              <a:avLst/>
            </a:prstGeom>
            <a:noFill/>
          </p:spPr>
          <p:txBody>
            <a:bodyPr wrap="square" lIns="0" tIns="0" rIns="0" bIns="0">
              <a:spAutoFit/>
            </a:bodyPr>
            <a:lstStyle/>
            <a:p>
              <a:pPr algn="ctr">
                <a:lnSpc>
                  <a:spcPct val="112000"/>
                </a:lnSpc>
                <a:spcBef>
                  <a:spcPts val="0"/>
                </a:spcBef>
                <a:spcAft>
                  <a:spcPts val="500"/>
                </a:spcAft>
              </a:pPr>
              <a:r>
                <a:rPr sz="2700" b="1">
                  <a:solidFill>
                    <a:srgbClr val="788594"/>
                  </a:solidFill>
                  <a:latin typeface="Aptos"/>
                </a:rPr>
                <a:t>B</a:t>
              </a:r>
              <a:endParaRPr sz="2700" b="1">
                <a:solidFill>
                  <a:srgbClr val="788594"/>
                </a:solidFill>
                <a:latin typeface="Aptos"/>
              </a:endParaRPr>
            </a:p>
          </p:txBody>
        </p:sp>
        <p:sp>
          <p:nvSpPr>
            <p:cNvPr id="10206" name="Rounded Rectangle 14"/>
            <p:cNvSpPr/>
            <p:nvPr/>
          </p:nvSpPr>
          <p:spPr>
            <a:xfrm>
              <a:off x="923544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0207" name="TextBox 15"/>
            <p:cNvSpPr txBox="1"/>
            <p:nvPr/>
          </p:nvSpPr>
          <p:spPr>
            <a:xfrm>
              <a:off x="9345167" y="3118104"/>
              <a:ext cx="969264" cy="640080"/>
            </a:xfrm>
            <a:prstGeom prst="rect">
              <a:avLst/>
            </a:prstGeom>
            <a:noFill/>
          </p:spPr>
          <p:txBody>
            <a:bodyPr wrap="square" lIns="0" tIns="0" rIns="0" bIns="0">
              <a:spAutoFit/>
            </a:bodyPr>
            <a:lstStyle/>
            <a:p>
              <a:pPr algn="ctr">
                <a:lnSpc>
                  <a:spcPct val="112000"/>
                </a:lnSpc>
                <a:spcBef>
                  <a:spcPts val="0"/>
                </a:spcBef>
                <a:spcAft>
                  <a:spcPts val="500"/>
                </a:spcAft>
              </a:pPr>
              <a:r>
                <a:rPr sz="2700" b="1">
                  <a:solidFill>
                    <a:srgbClr val="788594"/>
                  </a:solidFill>
                  <a:latin typeface="Aptos"/>
                </a:rPr>
                <a:t>C</a:t>
              </a:r>
              <a:endParaRPr sz="2700" b="1">
                <a:solidFill>
                  <a:srgbClr val="788594"/>
                </a:solidFill>
                <a:latin typeface="Aptos"/>
              </a:endParaRPr>
            </a:p>
          </p:txBody>
        </p:sp>
        <p:sp>
          <p:nvSpPr>
            <p:cNvPr id="10208" name="TextBox 16"/>
            <p:cNvSpPr txBox="1"/>
            <p:nvPr/>
          </p:nvSpPr>
          <p:spPr>
            <a:xfrm>
              <a:off x="5989320" y="4251960"/>
              <a:ext cx="5093208" cy="548640"/>
            </a:xfrm>
            <a:prstGeom prst="rect">
              <a:avLst/>
            </a:prstGeom>
            <a:noFill/>
          </p:spPr>
          <p:txBody>
            <a:bodyPr wrap="square" lIns="0" tIns="0" rIns="0" bIns="0">
              <a:spAutoFit/>
            </a:bodyPr>
            <a:lstStyle/>
            <a:p>
              <a:pPr algn="ctr">
                <a:lnSpc>
                  <a:spcPct val="112000"/>
                </a:lnSpc>
                <a:spcBef>
                  <a:spcPts val="0"/>
                </a:spcBef>
                <a:spcAft>
                  <a:spcPts val="500"/>
                </a:spcAft>
              </a:pPr>
              <a:r>
                <a:rPr sz="2300" b="1">
                  <a:solidFill>
                    <a:srgbClr val="172033"/>
                  </a:solidFill>
                  <a:latin typeface="Aptos"/>
                </a:rPr>
                <a:t>IDs only · No cached payload</a:t>
              </a:r>
              <a:endParaRPr sz="2300" b="1">
                <a:solidFill>
                  <a:srgbClr val="172033"/>
                </a:solidFill>
                <a:latin typeface="Aptos"/>
              </a:endParaRPr>
            </a:p>
          </p:txBody>
        </p:sp>
      </p:grpSp>
      <p:sp>
        <p:nvSpPr>
          <p:cNvPr id="13" name="template-element-7"/>
          <p:cNvSpPr>
            <a:spLocks noGrp="1"/>
          </p:cNvSpPr>
          <p:nvPr/>
        </p:nvSpPr>
        <p:spPr>
          <a:xfrm>
            <a:off x="0" y="0"/>
            <a:ext cx="12192000" cy="409575"/>
          </a:xfrm>
          <a:prstGeom prst="rect">
            <a:avLst/>
          </a:prstGeom>
          <a:solidFill>
            <a:srgbClr val="13294B"/>
          </a:solidFill>
          <a:ln w="0">
            <a:noFill/>
          </a:ln>
        </p:spPr>
      </p:sp>
      <p:sp>
        <p:nvSpPr>
          <p:cNvPr id="2" name="Part 2 · Ghost History"/>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Ghost History</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The Ghost Queue (G)"/>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The Ghost Queue (G)</a:t>
            </a:r>
            <a:endParaRPr sz="3300" b="1">
              <a:solidFill>
                <a:srgbClr val="192337"/>
              </a:solidFill>
              <a:latin typeface="Aptos Display"/>
              <a:ea typeface="Aptos Display"/>
              <a:cs typeface="Aptos Display"/>
            </a:endParaRPr>
          </a:p>
        </p:txBody>
      </p:sp>
      <p:sp>
        <p:nvSpPr>
          <p:cNvPr id="5" name="Third, Ghost stores IDs, without the actual data."/>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Third, Ghost stores IDs, without the actual data.</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05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05 / 12</a:t>
            </a:r>
            <a:endParaRPr sz="900" b="0">
              <a:solidFill>
                <a:srgbClr val="71849E"/>
              </a:solidFill>
              <a:latin typeface="Aptos"/>
              <a:ea typeface="Aptos"/>
              <a:cs typeface="Aptos"/>
            </a:endParaRPr>
          </a:p>
        </p:txBody>
      </p:sp>
      <p:sp>
        <p:nvSpPr>
          <p:cNvPr id="8" name="It remembers IDs of objects&#10;recently removed from Small."/>
          <p:cNvSpPr>
            <a:spLocks noGrp="1"/>
          </p:cNvSpPr>
          <p:nvPr/>
        </p:nvSpPr>
        <p:spPr>
          <a:xfrm>
            <a:off x="762000" y="2238375"/>
            <a:ext cx="5429250" cy="1104900"/>
          </a:xfrm>
          <a:prstGeom prst="rect">
            <a:avLst/>
          </a:prstGeom>
          <a:noFill/>
          <a:ln w="0">
            <a:noFill/>
          </a:ln>
        </p:spPr>
        <p:txBody>
          <a:bodyPr wrap="square" lIns="0" tIns="0" rIns="0" bIns="0" anchor="t">
            <a:noAutofit/>
          </a:bodyPr>
          <a:lstStyle>
            <a:defPPr algn="l">
              <a:defRPr sz="2475" b="1">
                <a:solidFill>
                  <a:srgbClr val="192337"/>
                </a:solidFill>
                <a:latin typeface="Aptos"/>
                <a:ea typeface="Aptos"/>
                <a:cs typeface="Aptos"/>
              </a:defRPr>
            </a:defPPr>
            <a:lvl1pPr algn="l">
              <a:defRPr sz="2475" b="1">
                <a:solidFill>
                  <a:srgbClr val="192337"/>
                </a:solidFill>
                <a:latin typeface="Aptos"/>
                <a:ea typeface="Aptos"/>
                <a:cs typeface="Aptos"/>
              </a:defRPr>
            </a:lvl1pPr>
            <a:lvl2pPr algn="l">
              <a:defRPr sz="2475" b="1">
                <a:solidFill>
                  <a:srgbClr val="192337"/>
                </a:solidFill>
                <a:latin typeface="Aptos"/>
                <a:ea typeface="Aptos"/>
                <a:cs typeface="Aptos"/>
              </a:defRPr>
            </a:lvl2pPr>
            <a:lvl3pPr algn="l">
              <a:defRPr sz="2475" b="1">
                <a:solidFill>
                  <a:srgbClr val="192337"/>
                </a:solidFill>
                <a:latin typeface="Aptos"/>
                <a:ea typeface="Aptos"/>
                <a:cs typeface="Aptos"/>
              </a:defRPr>
            </a:lvl3pPr>
            <a:lvl4pPr algn="l">
              <a:defRPr sz="2475" b="1">
                <a:solidFill>
                  <a:srgbClr val="192337"/>
                </a:solidFill>
                <a:latin typeface="Aptos"/>
                <a:ea typeface="Aptos"/>
                <a:cs typeface="Aptos"/>
              </a:defRPr>
            </a:lvl4pPr>
            <a:lvl5pPr algn="l">
              <a:defRPr sz="2475" b="1">
                <a:solidFill>
                  <a:srgbClr val="192337"/>
                </a:solidFill>
                <a:latin typeface="Aptos"/>
                <a:ea typeface="Aptos"/>
                <a:cs typeface="Aptos"/>
              </a:defRPr>
            </a:lvl5pPr>
            <a:lvl6pPr algn="l">
              <a:defRPr sz="2475" b="1">
                <a:solidFill>
                  <a:srgbClr val="192337"/>
                </a:solidFill>
                <a:latin typeface="Aptos"/>
                <a:ea typeface="Aptos"/>
                <a:cs typeface="Aptos"/>
              </a:defRPr>
            </a:lvl6pPr>
            <a:lvl7pPr algn="l">
              <a:defRPr sz="2475" b="1">
                <a:solidFill>
                  <a:srgbClr val="192337"/>
                </a:solidFill>
                <a:latin typeface="Aptos"/>
                <a:ea typeface="Aptos"/>
                <a:cs typeface="Aptos"/>
              </a:defRPr>
            </a:lvl7pPr>
            <a:lvl8pPr algn="l">
              <a:defRPr sz="2475" b="1">
                <a:solidFill>
                  <a:srgbClr val="192337"/>
                </a:solidFill>
                <a:latin typeface="Aptos"/>
                <a:ea typeface="Aptos"/>
                <a:cs typeface="Aptos"/>
              </a:defRPr>
            </a:lvl8pPr>
            <a:lvl9pPr algn="l">
              <a:defRPr sz="2475" b="1">
                <a:solidFill>
                  <a:srgbClr val="192337"/>
                </a:solidFill>
                <a:latin typeface="Aptos"/>
                <a:ea typeface="Aptos"/>
                <a:cs typeface="Aptos"/>
              </a:defRPr>
            </a:lvl9pPr>
          </a:lstStyle>
          <a:p>
            <a:pPr algn="l">
              <a:defRPr sz="2475" b="1">
                <a:solidFill>
                  <a:srgbClr val="192337"/>
                </a:solidFill>
                <a:latin typeface="Aptos"/>
                <a:ea typeface="Aptos"/>
                <a:cs typeface="Aptos"/>
              </a:defRPr>
            </a:pPr>
            <a:r>
              <a:rPr sz="2475" b="1">
                <a:solidFill>
                  <a:srgbClr val="192337"/>
                </a:solidFill>
                <a:latin typeface="Aptos"/>
                <a:ea typeface="Aptos"/>
                <a:cs typeface="Aptos"/>
              </a:rPr>
              <a:t>It remembers IDs of objects</a:t>
            </a:r>
            <a:endParaRPr sz="2475" b="1">
              <a:solidFill>
                <a:srgbClr val="192337"/>
              </a:solidFill>
              <a:latin typeface="Aptos"/>
              <a:ea typeface="Aptos"/>
              <a:cs typeface="Aptos"/>
            </a:endParaRPr>
          </a:p>
          <a:p>
            <a:pPr algn="l">
              <a:defRPr sz="2475" b="1">
                <a:solidFill>
                  <a:srgbClr val="192337"/>
                </a:solidFill>
                <a:latin typeface="Aptos"/>
                <a:ea typeface="Aptos"/>
                <a:cs typeface="Aptos"/>
              </a:defRPr>
            </a:pPr>
            <a:r>
              <a:rPr sz="2475" b="1">
                <a:solidFill>
                  <a:srgbClr val="192337"/>
                </a:solidFill>
                <a:latin typeface="Aptos"/>
                <a:ea typeface="Aptos"/>
                <a:cs typeface="Aptos"/>
              </a:rPr>
              <a:t>recently removed from Small.</a:t>
            </a:r>
            <a:endParaRPr sz="2475" b="1">
              <a:solidFill>
                <a:srgbClr val="192337"/>
              </a:solidFill>
              <a:latin typeface="Aptos"/>
              <a:ea typeface="Aptos"/>
              <a:cs typeface="Aptos"/>
            </a:endParaRPr>
          </a:p>
        </p:txBody>
      </p:sp>
      <p:sp>
        <p:nvSpPr>
          <p:cNvPr id="9" name="It helps recognize objects&#10;that may be useful again."/>
          <p:cNvSpPr>
            <a:spLocks noGrp="1"/>
          </p:cNvSpPr>
          <p:nvPr/>
        </p:nvSpPr>
        <p:spPr>
          <a:xfrm>
            <a:off x="762000" y="3743325"/>
            <a:ext cx="5429250" cy="1066800"/>
          </a:xfrm>
          <a:prstGeom prst="rect">
            <a:avLst/>
          </a:prstGeom>
          <a:noFill/>
          <a:ln w="0">
            <a:noFill/>
          </a:ln>
        </p:spPr>
        <p:txBody>
          <a:bodyPr wrap="square" lIns="0" tIns="0" rIns="0" bIns="0" anchor="t">
            <a:noAutofit/>
          </a:bodyPr>
          <a:lstStyle>
            <a:defPPr algn="l">
              <a:defRPr sz="2400" b="0">
                <a:solidFill>
                  <a:srgbClr val="192337"/>
                </a:solidFill>
                <a:latin typeface="Aptos"/>
                <a:ea typeface="Aptos"/>
                <a:cs typeface="Aptos"/>
              </a:defRPr>
            </a:defPPr>
            <a:lvl1pPr algn="l">
              <a:defRPr sz="2400" b="0">
                <a:solidFill>
                  <a:srgbClr val="192337"/>
                </a:solidFill>
                <a:latin typeface="Aptos"/>
                <a:ea typeface="Aptos"/>
                <a:cs typeface="Aptos"/>
              </a:defRPr>
            </a:lvl1pPr>
            <a:lvl2pPr algn="l">
              <a:defRPr sz="2400" b="0">
                <a:solidFill>
                  <a:srgbClr val="192337"/>
                </a:solidFill>
                <a:latin typeface="Aptos"/>
                <a:ea typeface="Aptos"/>
                <a:cs typeface="Aptos"/>
              </a:defRPr>
            </a:lvl2pPr>
            <a:lvl3pPr algn="l">
              <a:defRPr sz="2400" b="0">
                <a:solidFill>
                  <a:srgbClr val="192337"/>
                </a:solidFill>
                <a:latin typeface="Aptos"/>
                <a:ea typeface="Aptos"/>
                <a:cs typeface="Aptos"/>
              </a:defRPr>
            </a:lvl3pPr>
            <a:lvl4pPr algn="l">
              <a:defRPr sz="2400" b="0">
                <a:solidFill>
                  <a:srgbClr val="192337"/>
                </a:solidFill>
                <a:latin typeface="Aptos"/>
                <a:ea typeface="Aptos"/>
                <a:cs typeface="Aptos"/>
              </a:defRPr>
            </a:lvl4pPr>
            <a:lvl5pPr algn="l">
              <a:defRPr sz="2400" b="0">
                <a:solidFill>
                  <a:srgbClr val="192337"/>
                </a:solidFill>
                <a:latin typeface="Aptos"/>
                <a:ea typeface="Aptos"/>
                <a:cs typeface="Aptos"/>
              </a:defRPr>
            </a:lvl5pPr>
            <a:lvl6pPr algn="l">
              <a:defRPr sz="2400" b="0">
                <a:solidFill>
                  <a:srgbClr val="192337"/>
                </a:solidFill>
                <a:latin typeface="Aptos"/>
                <a:ea typeface="Aptos"/>
                <a:cs typeface="Aptos"/>
              </a:defRPr>
            </a:lvl6pPr>
            <a:lvl7pPr algn="l">
              <a:defRPr sz="2400" b="0">
                <a:solidFill>
                  <a:srgbClr val="192337"/>
                </a:solidFill>
                <a:latin typeface="Aptos"/>
                <a:ea typeface="Aptos"/>
                <a:cs typeface="Aptos"/>
              </a:defRPr>
            </a:lvl7pPr>
            <a:lvl8pPr algn="l">
              <a:defRPr sz="2400" b="0">
                <a:solidFill>
                  <a:srgbClr val="192337"/>
                </a:solidFill>
                <a:latin typeface="Aptos"/>
                <a:ea typeface="Aptos"/>
                <a:cs typeface="Aptos"/>
              </a:defRPr>
            </a:lvl8pPr>
            <a:lvl9pPr algn="l">
              <a:defRPr sz="2400" b="0">
                <a:solidFill>
                  <a:srgbClr val="192337"/>
                </a:solidFill>
                <a:latin typeface="Aptos"/>
                <a:ea typeface="Aptos"/>
                <a:cs typeface="Aptos"/>
              </a:defRPr>
            </a:lvl9pPr>
          </a:lstStyle>
          <a:p>
            <a:pPr algn="l">
              <a:defRPr sz="2400" b="0">
                <a:solidFill>
                  <a:srgbClr val="192337"/>
                </a:solidFill>
                <a:latin typeface="Aptos"/>
                <a:ea typeface="Aptos"/>
                <a:cs typeface="Aptos"/>
              </a:defRPr>
            </a:pPr>
            <a:r>
              <a:rPr sz="2400" b="0">
                <a:solidFill>
                  <a:srgbClr val="192337"/>
                </a:solidFill>
                <a:latin typeface="Aptos"/>
                <a:ea typeface="Aptos"/>
                <a:cs typeface="Aptos"/>
              </a:rPr>
              <a:t>It helps recognize objects</a:t>
            </a:r>
            <a:endParaRPr sz="2400" b="0">
              <a:solidFill>
                <a:srgbClr val="192337"/>
              </a:solidFill>
              <a:latin typeface="Aptos"/>
              <a:ea typeface="Aptos"/>
              <a:cs typeface="Aptos"/>
            </a:endParaRPr>
          </a:p>
          <a:p>
            <a:pPr algn="l">
              <a:defRPr sz="2400" b="0">
                <a:solidFill>
                  <a:srgbClr val="192337"/>
                </a:solidFill>
                <a:latin typeface="Aptos"/>
                <a:ea typeface="Aptos"/>
                <a:cs typeface="Aptos"/>
              </a:defRPr>
            </a:pPr>
            <a:r>
              <a:rPr sz="2400" b="0">
                <a:solidFill>
                  <a:srgbClr val="192337"/>
                </a:solidFill>
                <a:latin typeface="Aptos"/>
                <a:ea typeface="Aptos"/>
                <a:cs typeface="Aptos"/>
              </a:rPr>
              <a:t>that may be useful again.</a:t>
            </a:r>
            <a:endParaRPr sz="2400" b="0">
              <a:solidFill>
                <a:srgbClr val="192337"/>
              </a:solidFill>
              <a:latin typeface="Aptos"/>
              <a:ea typeface="Aptos"/>
              <a:cs typeface="Aptos"/>
            </a:endParaRPr>
          </a:p>
        </p:txBody>
      </p:sp>
      <p:sp>
        <p:nvSpPr>
          <p:cNvPr id="10" name="template-element-8"/>
          <p:cNvSpPr>
            <a:spLocks noGrp="1"/>
          </p:cNvSpPr>
          <p:nvPr/>
        </p:nvSpPr>
        <p:spPr>
          <a:xfrm>
            <a:off x="723900" y="5657850"/>
            <a:ext cx="10763250" cy="523875"/>
          </a:xfrm>
          <a:prstGeom prst="rect">
            <a:avLst/>
          </a:prstGeom>
          <a:solidFill>
            <a:srgbClr val="EAF3FE"/>
          </a:solidFill>
          <a:ln w="0">
            <a:noFill/>
          </a:ln>
        </p:spPr>
      </p:sp>
      <p:sp>
        <p:nvSpPr>
          <p:cNvPr id="11" name="Ghost holds as many IDs as Main holds objects. Oldest IDs leave when f"/>
          <p:cNvSpPr>
            <a:spLocks noGrp="1"/>
          </p:cNvSpPr>
          <p:nvPr/>
        </p:nvSpPr>
        <p:spPr>
          <a:xfrm>
            <a:off x="952500" y="5781675"/>
            <a:ext cx="10334625" cy="409575"/>
          </a:xfrm>
          <a:prstGeom prst="rect">
            <a:avLst/>
          </a:prstGeom>
          <a:noFill/>
          <a:ln w="0">
            <a:noFill/>
          </a:ln>
        </p:spPr>
        <p:txBody>
          <a:bodyPr wrap="square" lIns="0" tIns="0" rIns="0" bIns="0" anchor="t">
            <a:noAutofit/>
          </a:bodyPr>
          <a:lstStyle>
            <a:defPPr algn="l">
              <a:defRPr sz="1875" b="1">
                <a:solidFill>
                  <a:srgbClr val="13294B"/>
                </a:solidFill>
                <a:latin typeface="Aptos"/>
                <a:ea typeface="Aptos"/>
                <a:cs typeface="Aptos"/>
              </a:defRPr>
            </a:defPPr>
            <a:lvl1pPr algn="l">
              <a:defRPr sz="1875" b="1">
                <a:solidFill>
                  <a:srgbClr val="13294B"/>
                </a:solidFill>
                <a:latin typeface="Aptos"/>
                <a:ea typeface="Aptos"/>
                <a:cs typeface="Aptos"/>
              </a:defRPr>
            </a:lvl1pPr>
            <a:lvl2pPr algn="l">
              <a:defRPr sz="1875" b="1">
                <a:solidFill>
                  <a:srgbClr val="13294B"/>
                </a:solidFill>
                <a:latin typeface="Aptos"/>
                <a:ea typeface="Aptos"/>
                <a:cs typeface="Aptos"/>
              </a:defRPr>
            </a:lvl2pPr>
            <a:lvl3pPr algn="l">
              <a:defRPr sz="1875" b="1">
                <a:solidFill>
                  <a:srgbClr val="13294B"/>
                </a:solidFill>
                <a:latin typeface="Aptos"/>
                <a:ea typeface="Aptos"/>
                <a:cs typeface="Aptos"/>
              </a:defRPr>
            </a:lvl3pPr>
            <a:lvl4pPr algn="l">
              <a:defRPr sz="1875" b="1">
                <a:solidFill>
                  <a:srgbClr val="13294B"/>
                </a:solidFill>
                <a:latin typeface="Aptos"/>
                <a:ea typeface="Aptos"/>
                <a:cs typeface="Aptos"/>
              </a:defRPr>
            </a:lvl4pPr>
            <a:lvl5pPr algn="l">
              <a:defRPr sz="1875" b="1">
                <a:solidFill>
                  <a:srgbClr val="13294B"/>
                </a:solidFill>
                <a:latin typeface="Aptos"/>
                <a:ea typeface="Aptos"/>
                <a:cs typeface="Aptos"/>
              </a:defRPr>
            </a:lvl5pPr>
            <a:lvl6pPr algn="l">
              <a:defRPr sz="1875" b="1">
                <a:solidFill>
                  <a:srgbClr val="13294B"/>
                </a:solidFill>
                <a:latin typeface="Aptos"/>
                <a:ea typeface="Aptos"/>
                <a:cs typeface="Aptos"/>
              </a:defRPr>
            </a:lvl6pPr>
            <a:lvl7pPr algn="l">
              <a:defRPr sz="1875" b="1">
                <a:solidFill>
                  <a:srgbClr val="13294B"/>
                </a:solidFill>
                <a:latin typeface="Aptos"/>
                <a:ea typeface="Aptos"/>
                <a:cs typeface="Aptos"/>
              </a:defRPr>
            </a:lvl7pPr>
            <a:lvl8pPr algn="l">
              <a:defRPr sz="1875" b="1">
                <a:solidFill>
                  <a:srgbClr val="13294B"/>
                </a:solidFill>
                <a:latin typeface="Aptos"/>
                <a:ea typeface="Aptos"/>
                <a:cs typeface="Aptos"/>
              </a:defRPr>
            </a:lvl8pPr>
            <a:lvl9pPr algn="l">
              <a:defRPr sz="1875" b="1">
                <a:solidFill>
                  <a:srgbClr val="13294B"/>
                </a:solidFill>
                <a:latin typeface="Aptos"/>
                <a:ea typeface="Aptos"/>
                <a:cs typeface="Aptos"/>
              </a:defRPr>
            </a:lvl9pPr>
          </a:lstStyle>
          <a:p>
            <a:pPr algn="l">
              <a:defRPr sz="1875" b="1">
                <a:solidFill>
                  <a:srgbClr val="13294B"/>
                </a:solidFill>
                <a:latin typeface="Aptos"/>
                <a:ea typeface="Aptos"/>
                <a:cs typeface="Aptos"/>
              </a:defRPr>
            </a:pPr>
            <a:r>
              <a:rPr sz="1875" b="1">
                <a:solidFill>
                  <a:srgbClr val="13294B"/>
                </a:solidFill>
                <a:latin typeface="Aptos"/>
                <a:ea typeface="Aptos"/>
                <a:cs typeface="Aptos"/>
              </a:rPr>
              <a:t>Ghost holds as many IDs as Main holds objects. Oldest IDs leave when full.</a:t>
            </a:r>
            <a:endParaRPr sz="1875" b="1">
              <a:solidFill>
                <a:srgbClr val="13294B"/>
              </a:solidFill>
              <a:latin typeface="Aptos"/>
              <a:ea typeface="Aptos"/>
              <a:cs typeface="Aptos"/>
            </a:endParaRPr>
          </a:p>
        </p:txBody>
      </p:sp>
      <p:sp>
        <p:nvSpPr>
          <p:cNvPr id="12" name="Source: Section 4.1 · Yang et al., SOSP 2023"/>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Section 4.1 · Yang et al., SOSP 2023</a:t>
            </a:r>
            <a:endParaRPr sz="975" b="0">
              <a:solidFill>
                <a:srgbClr val="71849E"/>
              </a:solidFill>
              <a:latin typeface="Aptos"/>
              <a:ea typeface="Aptos"/>
              <a:cs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grpSp>
        <p:nvGrpSpPr>
          <p:cNvPr id="10300" name="Original slide 11 diagram"/>
          <p:cNvGrpSpPr/>
          <p:nvPr/>
        </p:nvGrpSpPr>
        <p:grpSpPr>
          <a:xfrm>
            <a:off x="762000" y="2371725"/>
            <a:ext cx="10572750" cy="876300"/>
            <a:chOff x="1009650" y="2238375"/>
            <a:chExt cx="9458325" cy="781050"/>
          </a:xfrm>
        </p:grpSpPr>
        <p:sp>
          <p:nvSpPr>
            <p:cNvPr id="10301" name="Rounded Rectangle 7"/>
            <p:cNvSpPr/>
            <p:nvPr/>
          </p:nvSpPr>
          <p:spPr>
            <a:xfrm>
              <a:off x="1005840" y="2240280"/>
              <a:ext cx="2788920" cy="777240"/>
            </a:xfrm>
            <a:prstGeom prst="roundRect">
              <a:avLst>
                <a:gd name="adj" fmla="val 12000"/>
              </a:avLst>
            </a:prstGeom>
            <a:solidFill>
              <a:srgbClr val="FFFFFF"/>
            </a:solidFill>
            <a:ln w="9525">
              <a:solidFill>
                <a:srgbClr val="13294B"/>
              </a:solidFill>
            </a:ln>
          </p:spPr>
          <p:txBody>
            <a:bodyPr rtlCol="0" anchor="ctr"/>
            <a:lstStyle/>
            <a:p>
              <a:pPr algn="ctr"/>
            </a:p>
          </p:txBody>
        </p:sp>
        <p:sp>
          <p:nvSpPr>
            <p:cNvPr id="10302" name="TextBox 8"/>
            <p:cNvSpPr txBox="1"/>
            <p:nvPr/>
          </p:nvSpPr>
          <p:spPr>
            <a:xfrm>
              <a:off x="1115568" y="2386584"/>
              <a:ext cx="2569463" cy="594359"/>
            </a:xfrm>
            <a:prstGeom prst="rect">
              <a:avLst/>
            </a:prstGeom>
            <a:noFill/>
          </p:spPr>
          <p:txBody>
            <a:bodyPr wrap="square" lIns="0" tIns="0" rIns="0" bIns="0">
              <a:spAutoFit/>
            </a:bodyPr>
            <a:lstStyle/>
            <a:p>
              <a:pPr algn="ctr">
                <a:lnSpc>
                  <a:spcPct val="112000"/>
                </a:lnSpc>
                <a:spcBef>
                  <a:spcPts val="0"/>
                </a:spcBef>
                <a:spcAft>
                  <a:spcPts val="500"/>
                </a:spcAft>
              </a:pPr>
              <a:r>
                <a:rPr sz="2200" b="1">
                  <a:solidFill>
                    <a:srgbClr val="13294B"/>
                  </a:solidFill>
                  <a:latin typeface="Aptos"/>
                </a:rPr>
                <a:t>Object in S or M</a:t>
              </a:r>
              <a:endParaRPr sz="2200" b="1">
                <a:solidFill>
                  <a:srgbClr val="13294B"/>
                </a:solidFill>
                <a:latin typeface="Aptos"/>
              </a:endParaRPr>
            </a:p>
          </p:txBody>
        </p:sp>
        <p:cxnSp>
          <p:nvCxnSpPr>
            <p:cNvPr id="10303" name="Connector 9"/>
            <p:cNvCxnSpPr/>
            <p:nvPr/>
          </p:nvCxnSpPr>
          <p:spPr>
            <a:xfrm>
              <a:off x="3794760" y="2633472"/>
              <a:ext cx="548640" cy="0"/>
            </a:xfrm>
            <a:prstGeom prst="line">
              <a:avLst/>
            </a:prstGeom>
            <a:ln w="22860">
              <a:solidFill>
                <a:srgbClr val="238B6D"/>
              </a:solidFill>
              <a:tailEnd type="triangle"/>
            </a:ln>
          </p:spPr>
          <p:style>
            <a:lnRef idx="2">
              <a:schemeClr val="accent1"/>
            </a:lnRef>
            <a:fillRef idx="0">
              <a:schemeClr val="accent1"/>
            </a:fillRef>
            <a:effectRef idx="1">
              <a:schemeClr val="accent1"/>
            </a:effectRef>
            <a:fontRef idx="minor">
              <a:schemeClr val="tx1"/>
            </a:fontRef>
          </p:style>
        </p:cxnSp>
        <p:sp>
          <p:nvSpPr>
            <p:cNvPr id="10304" name="Rounded Rectangle 10"/>
            <p:cNvSpPr/>
            <p:nvPr/>
          </p:nvSpPr>
          <p:spPr>
            <a:xfrm>
              <a:off x="4343400" y="2240280"/>
              <a:ext cx="6126480" cy="777240"/>
            </a:xfrm>
            <a:prstGeom prst="roundRect">
              <a:avLst>
                <a:gd name="adj" fmla="val 12000"/>
              </a:avLst>
            </a:prstGeom>
            <a:solidFill>
              <a:srgbClr val="FFFFFF"/>
            </a:solidFill>
            <a:ln w="9525">
              <a:solidFill>
                <a:srgbClr val="238B6D"/>
              </a:solidFill>
            </a:ln>
          </p:spPr>
          <p:txBody>
            <a:bodyPr rtlCol="0" anchor="ctr"/>
            <a:lstStyle/>
            <a:p>
              <a:pPr algn="ctr"/>
            </a:p>
          </p:txBody>
        </p:sp>
        <p:sp>
          <p:nvSpPr>
            <p:cNvPr id="10305" name="TextBox 11"/>
            <p:cNvSpPr txBox="1"/>
            <p:nvPr/>
          </p:nvSpPr>
          <p:spPr>
            <a:xfrm>
              <a:off x="4453128" y="2386584"/>
              <a:ext cx="5907024" cy="594359"/>
            </a:xfrm>
            <a:prstGeom prst="rect">
              <a:avLst/>
            </a:prstGeom>
            <a:noFill/>
          </p:spPr>
          <p:txBody>
            <a:bodyPr wrap="square" lIns="0" tIns="0" rIns="0" bIns="0">
              <a:spAutoFit/>
            </a:bodyPr>
            <a:lstStyle/>
            <a:p>
              <a:pPr algn="ctr">
                <a:lnSpc>
                  <a:spcPct val="112000"/>
                </a:lnSpc>
                <a:spcBef>
                  <a:spcPts val="0"/>
                </a:spcBef>
                <a:spcAft>
                  <a:spcPts val="500"/>
                </a:spcAft>
              </a:pPr>
              <a:r>
                <a:rPr sz="2600" b="1">
                  <a:solidFill>
                    <a:srgbClr val="238B6D"/>
                  </a:solidFill>
                  <a:latin typeface="Aptos"/>
                </a:rPr>
                <a:t>freq = min(freq + 1, 3)</a:t>
              </a:r>
              <a:endParaRPr sz="2600" b="1">
                <a:solidFill>
                  <a:srgbClr val="238B6D"/>
                </a:solidFill>
                <a:latin typeface="Aptos"/>
              </a:endParaRPr>
            </a:p>
          </p:txBody>
        </p:sp>
      </p:grpSp>
      <p:sp>
        <p:nvSpPr>
          <p:cNvPr id="13" name="template-element-9"/>
          <p:cNvSpPr>
            <a:spLocks noGrp="1"/>
          </p:cNvSpPr>
          <p:nvPr/>
        </p:nvSpPr>
        <p:spPr>
          <a:xfrm>
            <a:off x="0" y="0"/>
            <a:ext cx="12192000" cy="409575"/>
          </a:xfrm>
          <a:prstGeom prst="rect">
            <a:avLst/>
          </a:prstGeom>
          <a:solidFill>
            <a:srgbClr val="13294B"/>
          </a:solidFill>
          <a:ln w="0">
            <a:noFill/>
          </a:ln>
        </p:spPr>
      </p:sp>
      <p:sp>
        <p:nvSpPr>
          <p:cNvPr id="2" name="Part 2 · Handling Requests"/>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Handling Requests</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Cache Hit: Update the Counter"/>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Cache Hit: Update the Counter</a:t>
            </a:r>
            <a:endParaRPr sz="3300" b="1">
              <a:solidFill>
                <a:srgbClr val="192337"/>
              </a:solidFill>
              <a:latin typeface="Aptos Display"/>
              <a:ea typeface="Aptos Display"/>
              <a:cs typeface="Aptos Display"/>
            </a:endParaRPr>
          </a:p>
        </p:txBody>
      </p:sp>
      <p:sp>
        <p:nvSpPr>
          <p:cNvPr id="5" name="If an object is already in Small or Main, it is a cache hit."/>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If an object is already in Small or Main, it is a cache hit.</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06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06 / 12</a:t>
            </a:r>
            <a:endParaRPr sz="900" b="0">
              <a:solidFill>
                <a:srgbClr val="71849E"/>
              </a:solidFill>
              <a:latin typeface="Aptos"/>
              <a:ea typeface="Aptos"/>
              <a:cs typeface="Aptos"/>
            </a:endParaRPr>
          </a:p>
        </p:txBody>
      </p:sp>
      <p:sp>
        <p:nvSpPr>
          <p:cNvPr id="8" name="Its access counter increases, up to a maximum of three."/>
          <p:cNvSpPr>
            <a:spLocks noGrp="1"/>
          </p:cNvSpPr>
          <p:nvPr/>
        </p:nvSpPr>
        <p:spPr>
          <a:xfrm>
            <a:off x="762000" y="3752850"/>
            <a:ext cx="10572750" cy="666750"/>
          </a:xfrm>
          <a:prstGeom prst="rect">
            <a:avLst/>
          </a:prstGeom>
          <a:noFill/>
          <a:ln w="0">
            <a:noFill/>
          </a:ln>
        </p:spPr>
        <p:txBody>
          <a:bodyPr wrap="square" lIns="0" tIns="0" rIns="0" bIns="0" anchor="t">
            <a:noAutofit/>
          </a:bodyPr>
          <a:lstStyle>
            <a:defPPr algn="l">
              <a:defRPr sz="2400" b="0">
                <a:solidFill>
                  <a:srgbClr val="192337"/>
                </a:solidFill>
                <a:latin typeface="Aptos"/>
                <a:ea typeface="Aptos"/>
                <a:cs typeface="Aptos"/>
              </a:defRPr>
            </a:defPPr>
            <a:lvl1pPr algn="l">
              <a:defRPr sz="2400" b="0">
                <a:solidFill>
                  <a:srgbClr val="192337"/>
                </a:solidFill>
                <a:latin typeface="Aptos"/>
                <a:ea typeface="Aptos"/>
                <a:cs typeface="Aptos"/>
              </a:defRPr>
            </a:lvl1pPr>
            <a:lvl2pPr algn="l">
              <a:defRPr sz="2400" b="0">
                <a:solidFill>
                  <a:srgbClr val="192337"/>
                </a:solidFill>
                <a:latin typeface="Aptos"/>
                <a:ea typeface="Aptos"/>
                <a:cs typeface="Aptos"/>
              </a:defRPr>
            </a:lvl2pPr>
            <a:lvl3pPr algn="l">
              <a:defRPr sz="2400" b="0">
                <a:solidFill>
                  <a:srgbClr val="192337"/>
                </a:solidFill>
                <a:latin typeface="Aptos"/>
                <a:ea typeface="Aptos"/>
                <a:cs typeface="Aptos"/>
              </a:defRPr>
            </a:lvl3pPr>
            <a:lvl4pPr algn="l">
              <a:defRPr sz="2400" b="0">
                <a:solidFill>
                  <a:srgbClr val="192337"/>
                </a:solidFill>
                <a:latin typeface="Aptos"/>
                <a:ea typeface="Aptos"/>
                <a:cs typeface="Aptos"/>
              </a:defRPr>
            </a:lvl4pPr>
            <a:lvl5pPr algn="l">
              <a:defRPr sz="2400" b="0">
                <a:solidFill>
                  <a:srgbClr val="192337"/>
                </a:solidFill>
                <a:latin typeface="Aptos"/>
                <a:ea typeface="Aptos"/>
                <a:cs typeface="Aptos"/>
              </a:defRPr>
            </a:lvl5pPr>
            <a:lvl6pPr algn="l">
              <a:defRPr sz="2400" b="0">
                <a:solidFill>
                  <a:srgbClr val="192337"/>
                </a:solidFill>
                <a:latin typeface="Aptos"/>
                <a:ea typeface="Aptos"/>
                <a:cs typeface="Aptos"/>
              </a:defRPr>
            </a:lvl6pPr>
            <a:lvl7pPr algn="l">
              <a:defRPr sz="2400" b="0">
                <a:solidFill>
                  <a:srgbClr val="192337"/>
                </a:solidFill>
                <a:latin typeface="Aptos"/>
                <a:ea typeface="Aptos"/>
                <a:cs typeface="Aptos"/>
              </a:defRPr>
            </a:lvl7pPr>
            <a:lvl8pPr algn="l">
              <a:defRPr sz="2400" b="0">
                <a:solidFill>
                  <a:srgbClr val="192337"/>
                </a:solidFill>
                <a:latin typeface="Aptos"/>
                <a:ea typeface="Aptos"/>
                <a:cs typeface="Aptos"/>
              </a:defRPr>
            </a:lvl8pPr>
            <a:lvl9pPr algn="l">
              <a:defRPr sz="2400" b="0">
                <a:solidFill>
                  <a:srgbClr val="192337"/>
                </a:solidFill>
                <a:latin typeface="Aptos"/>
                <a:ea typeface="Aptos"/>
                <a:cs typeface="Aptos"/>
              </a:defRPr>
            </a:lvl9pPr>
          </a:lstStyle>
          <a:p>
            <a:pPr algn="l">
              <a:defRPr sz="2400" b="0">
                <a:solidFill>
                  <a:srgbClr val="192337"/>
                </a:solidFill>
                <a:latin typeface="Aptos"/>
                <a:ea typeface="Aptos"/>
                <a:cs typeface="Aptos"/>
              </a:defRPr>
            </a:pPr>
            <a:r>
              <a:rPr sz="2400" b="0">
                <a:solidFill>
                  <a:srgbClr val="192337"/>
                </a:solidFill>
                <a:latin typeface="Aptos"/>
                <a:ea typeface="Aptos"/>
                <a:cs typeface="Aptos"/>
              </a:rPr>
              <a:t>Its access counter increases, up to a maximum of three.</a:t>
            </a:r>
            <a:endParaRPr sz="2400" b="0">
              <a:solidFill>
                <a:srgbClr val="192337"/>
              </a:solidFill>
              <a:latin typeface="Aptos"/>
              <a:ea typeface="Aptos"/>
              <a:cs typeface="Aptos"/>
            </a:endParaRPr>
          </a:p>
        </p:txBody>
      </p:sp>
      <p:sp>
        <p:nvSpPr>
          <p:cNvPr id="9" name="Unlike LRU, S3-FIFO does not move objects after every hit."/>
          <p:cNvSpPr>
            <a:spLocks noGrp="1"/>
          </p:cNvSpPr>
          <p:nvPr/>
        </p:nvSpPr>
        <p:spPr>
          <a:xfrm>
            <a:off x="762000" y="4610100"/>
            <a:ext cx="10572750" cy="666750"/>
          </a:xfrm>
          <a:prstGeom prst="rect">
            <a:avLst/>
          </a:prstGeom>
          <a:noFill/>
          <a:ln w="0">
            <a:noFill/>
          </a:ln>
        </p:spPr>
        <p:txBody>
          <a:bodyPr wrap="square" lIns="0" tIns="0" rIns="0" bIns="0" anchor="t">
            <a:noAutofit/>
          </a:bodyPr>
          <a:lstStyle>
            <a:defPPr algn="l">
              <a:defRPr sz="2400" b="0">
                <a:solidFill>
                  <a:srgbClr val="192337"/>
                </a:solidFill>
                <a:latin typeface="Aptos"/>
                <a:ea typeface="Aptos"/>
                <a:cs typeface="Aptos"/>
              </a:defRPr>
            </a:defPPr>
            <a:lvl1pPr algn="l">
              <a:defRPr sz="2400" b="0">
                <a:solidFill>
                  <a:srgbClr val="192337"/>
                </a:solidFill>
                <a:latin typeface="Aptos"/>
                <a:ea typeface="Aptos"/>
                <a:cs typeface="Aptos"/>
              </a:defRPr>
            </a:lvl1pPr>
            <a:lvl2pPr algn="l">
              <a:defRPr sz="2400" b="0">
                <a:solidFill>
                  <a:srgbClr val="192337"/>
                </a:solidFill>
                <a:latin typeface="Aptos"/>
                <a:ea typeface="Aptos"/>
                <a:cs typeface="Aptos"/>
              </a:defRPr>
            </a:lvl2pPr>
            <a:lvl3pPr algn="l">
              <a:defRPr sz="2400" b="0">
                <a:solidFill>
                  <a:srgbClr val="192337"/>
                </a:solidFill>
                <a:latin typeface="Aptos"/>
                <a:ea typeface="Aptos"/>
                <a:cs typeface="Aptos"/>
              </a:defRPr>
            </a:lvl3pPr>
            <a:lvl4pPr algn="l">
              <a:defRPr sz="2400" b="0">
                <a:solidFill>
                  <a:srgbClr val="192337"/>
                </a:solidFill>
                <a:latin typeface="Aptos"/>
                <a:ea typeface="Aptos"/>
                <a:cs typeface="Aptos"/>
              </a:defRPr>
            </a:lvl4pPr>
            <a:lvl5pPr algn="l">
              <a:defRPr sz="2400" b="0">
                <a:solidFill>
                  <a:srgbClr val="192337"/>
                </a:solidFill>
                <a:latin typeface="Aptos"/>
                <a:ea typeface="Aptos"/>
                <a:cs typeface="Aptos"/>
              </a:defRPr>
            </a:lvl5pPr>
            <a:lvl6pPr algn="l">
              <a:defRPr sz="2400" b="0">
                <a:solidFill>
                  <a:srgbClr val="192337"/>
                </a:solidFill>
                <a:latin typeface="Aptos"/>
                <a:ea typeface="Aptos"/>
                <a:cs typeface="Aptos"/>
              </a:defRPr>
            </a:lvl6pPr>
            <a:lvl7pPr algn="l">
              <a:defRPr sz="2400" b="0">
                <a:solidFill>
                  <a:srgbClr val="192337"/>
                </a:solidFill>
                <a:latin typeface="Aptos"/>
                <a:ea typeface="Aptos"/>
                <a:cs typeface="Aptos"/>
              </a:defRPr>
            </a:lvl7pPr>
            <a:lvl8pPr algn="l">
              <a:defRPr sz="2400" b="0">
                <a:solidFill>
                  <a:srgbClr val="192337"/>
                </a:solidFill>
                <a:latin typeface="Aptos"/>
                <a:ea typeface="Aptos"/>
                <a:cs typeface="Aptos"/>
              </a:defRPr>
            </a:lvl8pPr>
            <a:lvl9pPr algn="l">
              <a:defRPr sz="2400" b="0">
                <a:solidFill>
                  <a:srgbClr val="192337"/>
                </a:solidFill>
                <a:latin typeface="Aptos"/>
                <a:ea typeface="Aptos"/>
                <a:cs typeface="Aptos"/>
              </a:defRPr>
            </a:lvl9pPr>
          </a:lstStyle>
          <a:p>
            <a:pPr algn="l">
              <a:defRPr sz="2400" b="0">
                <a:solidFill>
                  <a:srgbClr val="192337"/>
                </a:solidFill>
                <a:latin typeface="Aptos"/>
                <a:ea typeface="Aptos"/>
                <a:cs typeface="Aptos"/>
              </a:defRPr>
            </a:pPr>
            <a:r>
              <a:rPr sz="2400" b="0">
                <a:solidFill>
                  <a:srgbClr val="192337"/>
                </a:solidFill>
                <a:latin typeface="Aptos"/>
                <a:ea typeface="Aptos"/>
                <a:cs typeface="Aptos"/>
              </a:rPr>
              <a:t>Unlike LRU, S3-FIFO does not move objects after every hit.</a:t>
            </a:r>
            <a:endParaRPr sz="2400" b="0">
              <a:solidFill>
                <a:srgbClr val="192337"/>
              </a:solidFill>
              <a:latin typeface="Aptos"/>
              <a:ea typeface="Aptos"/>
              <a:cs typeface="Aptos"/>
            </a:endParaRPr>
          </a:p>
        </p:txBody>
      </p:sp>
      <p:sp>
        <p:nvSpPr>
          <p:cNvPr id="10" name="template-element-10"/>
          <p:cNvSpPr>
            <a:spLocks noGrp="1"/>
          </p:cNvSpPr>
          <p:nvPr/>
        </p:nvSpPr>
        <p:spPr>
          <a:xfrm>
            <a:off x="723900" y="5657850"/>
            <a:ext cx="10763250" cy="523875"/>
          </a:xfrm>
          <a:prstGeom prst="rect">
            <a:avLst/>
          </a:prstGeom>
          <a:solidFill>
            <a:srgbClr val="EAF3FE"/>
          </a:solidFill>
          <a:ln w="0">
            <a:noFill/>
          </a:ln>
        </p:spPr>
      </p:sp>
      <p:sp>
        <p:nvSpPr>
          <p:cNvPr id="11" name="Only two bits per object are needed for the counter: 0, 1, 2, 3."/>
          <p:cNvSpPr>
            <a:spLocks noGrp="1"/>
          </p:cNvSpPr>
          <p:nvPr/>
        </p:nvSpPr>
        <p:spPr>
          <a:xfrm>
            <a:off x="952500" y="5781675"/>
            <a:ext cx="10334625" cy="409575"/>
          </a:xfrm>
          <a:prstGeom prst="rect">
            <a:avLst/>
          </a:prstGeom>
          <a:noFill/>
          <a:ln w="0">
            <a:noFill/>
          </a:ln>
        </p:spPr>
        <p:txBody>
          <a:bodyPr wrap="square" lIns="0" tIns="0" rIns="0" bIns="0" anchor="t">
            <a:noAutofit/>
          </a:bodyPr>
          <a:lstStyle>
            <a:defPPr algn="l">
              <a:defRPr sz="1875" b="1">
                <a:solidFill>
                  <a:srgbClr val="0F9278"/>
                </a:solidFill>
                <a:latin typeface="Aptos"/>
                <a:ea typeface="Aptos"/>
                <a:cs typeface="Aptos"/>
              </a:defRPr>
            </a:defPPr>
            <a:lvl1pPr algn="l">
              <a:defRPr sz="1875" b="1">
                <a:solidFill>
                  <a:srgbClr val="0F9278"/>
                </a:solidFill>
                <a:latin typeface="Aptos"/>
                <a:ea typeface="Aptos"/>
                <a:cs typeface="Aptos"/>
              </a:defRPr>
            </a:lvl1pPr>
            <a:lvl2pPr algn="l">
              <a:defRPr sz="1875" b="1">
                <a:solidFill>
                  <a:srgbClr val="0F9278"/>
                </a:solidFill>
                <a:latin typeface="Aptos"/>
                <a:ea typeface="Aptos"/>
                <a:cs typeface="Aptos"/>
              </a:defRPr>
            </a:lvl2pPr>
            <a:lvl3pPr algn="l">
              <a:defRPr sz="1875" b="1">
                <a:solidFill>
                  <a:srgbClr val="0F9278"/>
                </a:solidFill>
                <a:latin typeface="Aptos"/>
                <a:ea typeface="Aptos"/>
                <a:cs typeface="Aptos"/>
              </a:defRPr>
            </a:lvl3pPr>
            <a:lvl4pPr algn="l">
              <a:defRPr sz="1875" b="1">
                <a:solidFill>
                  <a:srgbClr val="0F9278"/>
                </a:solidFill>
                <a:latin typeface="Aptos"/>
                <a:ea typeface="Aptos"/>
                <a:cs typeface="Aptos"/>
              </a:defRPr>
            </a:lvl4pPr>
            <a:lvl5pPr algn="l">
              <a:defRPr sz="1875" b="1">
                <a:solidFill>
                  <a:srgbClr val="0F9278"/>
                </a:solidFill>
                <a:latin typeface="Aptos"/>
                <a:ea typeface="Aptos"/>
                <a:cs typeface="Aptos"/>
              </a:defRPr>
            </a:lvl5pPr>
            <a:lvl6pPr algn="l">
              <a:defRPr sz="1875" b="1">
                <a:solidFill>
                  <a:srgbClr val="0F9278"/>
                </a:solidFill>
                <a:latin typeface="Aptos"/>
                <a:ea typeface="Aptos"/>
                <a:cs typeface="Aptos"/>
              </a:defRPr>
            </a:lvl6pPr>
            <a:lvl7pPr algn="l">
              <a:defRPr sz="1875" b="1">
                <a:solidFill>
                  <a:srgbClr val="0F9278"/>
                </a:solidFill>
                <a:latin typeface="Aptos"/>
                <a:ea typeface="Aptos"/>
                <a:cs typeface="Aptos"/>
              </a:defRPr>
            </a:lvl7pPr>
            <a:lvl8pPr algn="l">
              <a:defRPr sz="1875" b="1">
                <a:solidFill>
                  <a:srgbClr val="0F9278"/>
                </a:solidFill>
                <a:latin typeface="Aptos"/>
                <a:ea typeface="Aptos"/>
                <a:cs typeface="Aptos"/>
              </a:defRPr>
            </a:lvl8pPr>
            <a:lvl9pPr algn="l">
              <a:defRPr sz="1875" b="1">
                <a:solidFill>
                  <a:srgbClr val="0F9278"/>
                </a:solidFill>
                <a:latin typeface="Aptos"/>
                <a:ea typeface="Aptos"/>
                <a:cs typeface="Aptos"/>
              </a:defRPr>
            </a:lvl9pPr>
          </a:lstStyle>
          <a:p>
            <a:pPr algn="l">
              <a:defRPr sz="1875" b="1">
                <a:solidFill>
                  <a:srgbClr val="0F9278"/>
                </a:solidFill>
                <a:latin typeface="Aptos"/>
                <a:ea typeface="Aptos"/>
                <a:cs typeface="Aptos"/>
              </a:defRPr>
            </a:pPr>
            <a:r>
              <a:rPr sz="1875" b="1">
                <a:solidFill>
                  <a:srgbClr val="0F9278"/>
                </a:solidFill>
                <a:latin typeface="Aptos"/>
                <a:ea typeface="Aptos"/>
                <a:cs typeface="Aptos"/>
              </a:rPr>
              <a:t>Only two bits per object are needed for the counter: 0, 1, 2, 3.</a:t>
            </a:r>
            <a:endParaRPr sz="1875" b="1">
              <a:solidFill>
                <a:srgbClr val="0F9278"/>
              </a:solidFill>
              <a:latin typeface="Aptos"/>
              <a:ea typeface="Aptos"/>
              <a:cs typeface="Aptos"/>
            </a:endParaRPr>
          </a:p>
        </p:txBody>
      </p:sp>
      <p:sp>
        <p:nvSpPr>
          <p:cNvPr id="12" name="Source: Section 4.1 and Algorithm 1, lines 1–3 · Yang et al., SOSP 202"/>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Section 4.1 and Algorithm 1, lines 1–3 · Yang et al., SOSP 2023</a:t>
            </a:r>
            <a:endParaRPr sz="975" b="0">
              <a:solidFill>
                <a:srgbClr val="71849E"/>
              </a:solidFill>
              <a:latin typeface="Aptos"/>
              <a:ea typeface="Aptos"/>
              <a:cs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grpSp>
        <p:nvGrpSpPr>
          <p:cNvPr id="10400" name="Original slide 12 diagram"/>
          <p:cNvGrpSpPr/>
          <p:nvPr/>
        </p:nvGrpSpPr>
        <p:grpSpPr>
          <a:xfrm>
            <a:off x="742950" y="2076450"/>
            <a:ext cx="10668000" cy="2476500"/>
            <a:chOff x="990600" y="2743200"/>
            <a:chExt cx="9848850" cy="2286000"/>
          </a:xfrm>
        </p:grpSpPr>
        <p:sp>
          <p:nvSpPr>
            <p:cNvPr id="10401" name="Rounded Rectangle 7"/>
            <p:cNvSpPr/>
            <p:nvPr/>
          </p:nvSpPr>
          <p:spPr>
            <a:xfrm>
              <a:off x="987552" y="2743200"/>
              <a:ext cx="2240280" cy="777240"/>
            </a:xfrm>
            <a:prstGeom prst="roundRect">
              <a:avLst>
                <a:gd name="adj" fmla="val 12000"/>
              </a:avLst>
            </a:prstGeom>
            <a:solidFill>
              <a:srgbClr val="FFFFFF"/>
            </a:solidFill>
            <a:ln w="9525">
              <a:solidFill>
                <a:srgbClr val="13294B"/>
              </a:solidFill>
            </a:ln>
          </p:spPr>
          <p:txBody>
            <a:bodyPr rtlCol="0" anchor="ctr"/>
            <a:lstStyle/>
            <a:p>
              <a:pPr algn="ctr"/>
            </a:p>
          </p:txBody>
        </p:sp>
        <p:sp>
          <p:nvSpPr>
            <p:cNvPr id="10402" name="TextBox 8"/>
            <p:cNvSpPr txBox="1"/>
            <p:nvPr/>
          </p:nvSpPr>
          <p:spPr>
            <a:xfrm>
              <a:off x="1097280" y="2889504"/>
              <a:ext cx="2020824" cy="594359"/>
            </a:xfrm>
            <a:prstGeom prst="rect">
              <a:avLst/>
            </a:prstGeom>
            <a:noFill/>
          </p:spPr>
          <p:txBody>
            <a:bodyPr wrap="square" lIns="0" tIns="0" rIns="0" bIns="0">
              <a:spAutoFit/>
            </a:bodyPr>
            <a:lstStyle/>
            <a:p>
              <a:pPr algn="ctr">
                <a:lnSpc>
                  <a:spcPct val="112000"/>
                </a:lnSpc>
                <a:spcBef>
                  <a:spcPts val="0"/>
                </a:spcBef>
                <a:spcAft>
                  <a:spcPts val="500"/>
                </a:spcAft>
              </a:pPr>
              <a:r>
                <a:rPr sz="2300" b="1">
                  <a:solidFill>
                    <a:srgbClr val="13294B"/>
                  </a:solidFill>
                  <a:latin typeface="Aptos"/>
                </a:rPr>
                <a:t>Cache miss</a:t>
              </a:r>
              <a:endParaRPr sz="2300" b="1">
                <a:solidFill>
                  <a:srgbClr val="13294B"/>
                </a:solidFill>
                <a:latin typeface="Aptos"/>
              </a:endParaRPr>
            </a:p>
          </p:txBody>
        </p:sp>
        <p:cxnSp>
          <p:nvCxnSpPr>
            <p:cNvPr id="10403" name="Connector 9"/>
            <p:cNvCxnSpPr/>
            <p:nvPr/>
          </p:nvCxnSpPr>
          <p:spPr>
            <a:xfrm>
              <a:off x="3227832" y="3127248"/>
              <a:ext cx="566928"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0404" name="Rounded Rectangle 10"/>
            <p:cNvSpPr/>
            <p:nvPr/>
          </p:nvSpPr>
          <p:spPr>
            <a:xfrm>
              <a:off x="3794760" y="2743200"/>
              <a:ext cx="2743200" cy="77724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0405" name="TextBox 11"/>
            <p:cNvSpPr txBox="1"/>
            <p:nvPr/>
          </p:nvSpPr>
          <p:spPr>
            <a:xfrm>
              <a:off x="3904488" y="2889504"/>
              <a:ext cx="2523744" cy="594359"/>
            </a:xfrm>
            <a:prstGeom prst="rect">
              <a:avLst/>
            </a:prstGeom>
            <a:noFill/>
          </p:spPr>
          <p:txBody>
            <a:bodyPr wrap="square" lIns="0" tIns="0" rIns="0" bIns="0">
              <a:spAutoFit/>
            </a:bodyPr>
            <a:lstStyle/>
            <a:p>
              <a:pPr algn="ctr">
                <a:lnSpc>
                  <a:spcPct val="112000"/>
                </a:lnSpc>
                <a:spcBef>
                  <a:spcPts val="0"/>
                </a:spcBef>
                <a:spcAft>
                  <a:spcPts val="500"/>
                </a:spcAft>
              </a:pPr>
              <a:r>
                <a:rPr sz="2100" b="1">
                  <a:solidFill>
                    <a:srgbClr val="788594"/>
                  </a:solidFill>
                  <a:latin typeface="Aptos"/>
                </a:rPr>
                <a:t>ID recorded in G?</a:t>
              </a:r>
              <a:endParaRPr sz="2100" b="1">
                <a:solidFill>
                  <a:srgbClr val="788594"/>
                </a:solidFill>
                <a:latin typeface="Aptos"/>
              </a:endParaRPr>
            </a:p>
          </p:txBody>
        </p:sp>
        <p:cxnSp>
          <p:nvCxnSpPr>
            <p:cNvPr id="10406" name="Connector 12"/>
            <p:cNvCxnSpPr/>
            <p:nvPr/>
          </p:nvCxnSpPr>
          <p:spPr>
            <a:xfrm>
              <a:off x="6537960" y="3127248"/>
              <a:ext cx="1124712"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0407" name="TextBox 13"/>
            <p:cNvSpPr txBox="1"/>
            <p:nvPr/>
          </p:nvSpPr>
          <p:spPr>
            <a:xfrm>
              <a:off x="6876288" y="2743200"/>
              <a:ext cx="685800" cy="274320"/>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2D6DAF"/>
                  </a:solidFill>
                  <a:latin typeface="Aptos"/>
                </a:rPr>
                <a:t>Yes</a:t>
              </a:r>
              <a:endParaRPr sz="1400" b="0">
                <a:solidFill>
                  <a:srgbClr val="2D6DAF"/>
                </a:solidFill>
                <a:latin typeface="Aptos"/>
              </a:endParaRPr>
            </a:p>
          </p:txBody>
        </p:sp>
        <p:sp>
          <p:nvSpPr>
            <p:cNvPr id="10408" name="Rounded Rectangle 14"/>
            <p:cNvSpPr/>
            <p:nvPr/>
          </p:nvSpPr>
          <p:spPr>
            <a:xfrm>
              <a:off x="7662672" y="2743200"/>
              <a:ext cx="3182112" cy="77724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0409" name="TextBox 15"/>
            <p:cNvSpPr txBox="1"/>
            <p:nvPr/>
          </p:nvSpPr>
          <p:spPr>
            <a:xfrm>
              <a:off x="7772400" y="2889504"/>
              <a:ext cx="2962656" cy="594359"/>
            </a:xfrm>
            <a:prstGeom prst="rect">
              <a:avLst/>
            </a:prstGeom>
            <a:noFill/>
          </p:spPr>
          <p:txBody>
            <a:bodyPr wrap="square" lIns="0" tIns="0" rIns="0" bIns="0">
              <a:spAutoFit/>
            </a:bodyPr>
            <a:lstStyle/>
            <a:p>
              <a:pPr algn="ctr">
                <a:lnSpc>
                  <a:spcPct val="112000"/>
                </a:lnSpc>
                <a:spcBef>
                  <a:spcPts val="0"/>
                </a:spcBef>
                <a:spcAft>
                  <a:spcPts val="500"/>
                </a:spcAft>
              </a:pPr>
              <a:r>
                <a:rPr sz="2200" b="1">
                  <a:solidFill>
                    <a:srgbClr val="2D6DAF"/>
                  </a:solidFill>
                  <a:latin typeface="Aptos"/>
                </a:rPr>
                <a:t>Insert into Main</a:t>
              </a:r>
              <a:endParaRPr sz="2200" b="1">
                <a:solidFill>
                  <a:srgbClr val="2D6DAF"/>
                </a:solidFill>
                <a:latin typeface="Aptos"/>
              </a:endParaRPr>
            </a:p>
          </p:txBody>
        </p:sp>
        <p:cxnSp>
          <p:nvCxnSpPr>
            <p:cNvPr id="10410" name="Connector 16"/>
            <p:cNvCxnSpPr/>
            <p:nvPr/>
          </p:nvCxnSpPr>
          <p:spPr>
            <a:xfrm>
              <a:off x="5166360" y="3520440"/>
              <a:ext cx="0" cy="731520"/>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10411" name="TextBox 17"/>
            <p:cNvSpPr txBox="1"/>
            <p:nvPr/>
          </p:nvSpPr>
          <p:spPr>
            <a:xfrm>
              <a:off x="5330952" y="3712463"/>
              <a:ext cx="640080" cy="274320"/>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D9852A"/>
                  </a:solidFill>
                  <a:latin typeface="Aptos"/>
                </a:rPr>
                <a:t>No</a:t>
              </a:r>
              <a:endParaRPr sz="1400" b="0">
                <a:solidFill>
                  <a:srgbClr val="D9852A"/>
                </a:solidFill>
                <a:latin typeface="Aptos"/>
              </a:endParaRPr>
            </a:p>
          </p:txBody>
        </p:sp>
        <p:sp>
          <p:nvSpPr>
            <p:cNvPr id="10412" name="Rounded Rectangle 18"/>
            <p:cNvSpPr/>
            <p:nvPr/>
          </p:nvSpPr>
          <p:spPr>
            <a:xfrm>
              <a:off x="3694176" y="4251960"/>
              <a:ext cx="2944368" cy="77724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0413" name="TextBox 19"/>
            <p:cNvSpPr txBox="1"/>
            <p:nvPr/>
          </p:nvSpPr>
          <p:spPr>
            <a:xfrm>
              <a:off x="3803904" y="4398264"/>
              <a:ext cx="2724912" cy="594359"/>
            </a:xfrm>
            <a:prstGeom prst="rect">
              <a:avLst/>
            </a:prstGeom>
            <a:noFill/>
          </p:spPr>
          <p:txBody>
            <a:bodyPr wrap="square" lIns="0" tIns="0" rIns="0" bIns="0">
              <a:spAutoFit/>
            </a:bodyPr>
            <a:lstStyle/>
            <a:p>
              <a:pPr algn="ctr">
                <a:lnSpc>
                  <a:spcPct val="112000"/>
                </a:lnSpc>
                <a:spcBef>
                  <a:spcPts val="0"/>
                </a:spcBef>
                <a:spcAft>
                  <a:spcPts val="500"/>
                </a:spcAft>
              </a:pPr>
              <a:r>
                <a:rPr sz="2200" b="1">
                  <a:solidFill>
                    <a:srgbClr val="D9852A"/>
                  </a:solidFill>
                  <a:latin typeface="Aptos"/>
                </a:rPr>
                <a:t>Insert into Small</a:t>
              </a:r>
              <a:endParaRPr sz="2200" b="1">
                <a:solidFill>
                  <a:srgbClr val="D9852A"/>
                </a:solidFill>
                <a:latin typeface="Aptos"/>
              </a:endParaRPr>
            </a:p>
          </p:txBody>
        </p:sp>
        <p:sp>
          <p:nvSpPr>
            <p:cNvPr id="10414" name="TextBox 20"/>
            <p:cNvSpPr txBox="1"/>
            <p:nvPr/>
          </p:nvSpPr>
          <p:spPr>
            <a:xfrm>
              <a:off x="7726679" y="4389120"/>
              <a:ext cx="3035808" cy="457200"/>
            </a:xfrm>
            <a:prstGeom prst="rect">
              <a:avLst/>
            </a:prstGeom>
            <a:noFill/>
          </p:spPr>
          <p:txBody>
            <a:bodyPr wrap="square" lIns="0" tIns="0" rIns="0" bIns="0">
              <a:spAutoFit/>
            </a:bodyPr>
            <a:lstStyle/>
            <a:p>
              <a:pPr algn="l">
                <a:lnSpc>
                  <a:spcPct val="112000"/>
                </a:lnSpc>
                <a:spcBef>
                  <a:spcPts val="0"/>
                </a:spcBef>
                <a:spcAft>
                  <a:spcPts val="500"/>
                </a:spcAft>
              </a:pPr>
              <a:r>
                <a:rPr sz="1800" b="0">
                  <a:solidFill>
                    <a:srgbClr val="5B6472"/>
                  </a:solidFill>
                  <a:latin typeface="Aptos"/>
                </a:rPr>
                <a:t>Initial counter: freq = 0</a:t>
              </a:r>
              <a:endParaRPr sz="1800" b="0">
                <a:solidFill>
                  <a:srgbClr val="5B6472"/>
                </a:solidFill>
                <a:latin typeface="Aptos"/>
              </a:endParaRPr>
            </a:p>
          </p:txBody>
        </p:sp>
      </p:grpSp>
      <p:sp>
        <p:nvSpPr>
          <p:cNvPr id="11" name="template-element-11"/>
          <p:cNvSpPr>
            <a:spLocks noGrp="1"/>
          </p:cNvSpPr>
          <p:nvPr/>
        </p:nvSpPr>
        <p:spPr>
          <a:xfrm>
            <a:off x="0" y="0"/>
            <a:ext cx="12192000" cy="409575"/>
          </a:xfrm>
          <a:prstGeom prst="rect">
            <a:avLst/>
          </a:prstGeom>
          <a:solidFill>
            <a:srgbClr val="13294B"/>
          </a:solidFill>
          <a:ln w="0">
            <a:noFill/>
          </a:ln>
        </p:spPr>
      </p:sp>
      <p:sp>
        <p:nvSpPr>
          <p:cNvPr id="2" name="Part 2 · Handling Requests"/>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Handling Requests</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Cache Miss: Use Ghost History"/>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Cache Miss: Use Ghost History</a:t>
            </a:r>
            <a:endParaRPr sz="3300" b="1">
              <a:solidFill>
                <a:srgbClr val="192337"/>
              </a:solidFill>
              <a:latin typeface="Aptos Display"/>
              <a:ea typeface="Aptos Display"/>
              <a:cs typeface="Aptos Display"/>
            </a:endParaRPr>
          </a:p>
        </p:txBody>
      </p:sp>
      <p:sp>
        <p:nvSpPr>
          <p:cNvPr id="5" name="If an object is not in Small or Main, it is a cache miss."/>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If an object is not in Small or Main, it is a cache miss.</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07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07 / 12</a:t>
            </a:r>
            <a:endParaRPr sz="900" b="0">
              <a:solidFill>
                <a:srgbClr val="71849E"/>
              </a:solidFill>
              <a:latin typeface="Aptos"/>
              <a:ea typeface="Aptos"/>
              <a:cs typeface="Aptos"/>
            </a:endParaRPr>
          </a:p>
        </p:txBody>
      </p:sp>
      <p:sp>
        <p:nvSpPr>
          <p:cNvPr id="8" name="If its ID is in Ghost, it enters Main directly."/>
          <p:cNvSpPr>
            <a:spLocks noGrp="1"/>
          </p:cNvSpPr>
          <p:nvPr/>
        </p:nvSpPr>
        <p:spPr>
          <a:xfrm>
            <a:off x="762000" y="4895850"/>
            <a:ext cx="10668000" cy="495300"/>
          </a:xfrm>
          <a:prstGeom prst="rect">
            <a:avLst/>
          </a:prstGeom>
          <a:noFill/>
          <a:ln w="0">
            <a:noFill/>
          </a:ln>
        </p:spPr>
        <p:txBody>
          <a:bodyPr wrap="square" lIns="0" tIns="0" rIns="0" bIns="0" anchor="t">
            <a:noAutofit/>
          </a:bodyPr>
          <a:lstStyle>
            <a:defPPr algn="l">
              <a:defRPr sz="2400" b="1">
                <a:solidFill>
                  <a:srgbClr val="192337"/>
                </a:solidFill>
                <a:latin typeface="Aptos"/>
                <a:ea typeface="Aptos"/>
                <a:cs typeface="Aptos"/>
              </a:defRPr>
            </a:defPPr>
            <a:lvl1pPr algn="l">
              <a:defRPr sz="2400" b="1">
                <a:solidFill>
                  <a:srgbClr val="192337"/>
                </a:solidFill>
                <a:latin typeface="Aptos"/>
                <a:ea typeface="Aptos"/>
                <a:cs typeface="Aptos"/>
              </a:defRPr>
            </a:lvl1pPr>
            <a:lvl2pPr algn="l">
              <a:defRPr sz="2400" b="1">
                <a:solidFill>
                  <a:srgbClr val="192337"/>
                </a:solidFill>
                <a:latin typeface="Aptos"/>
                <a:ea typeface="Aptos"/>
                <a:cs typeface="Aptos"/>
              </a:defRPr>
            </a:lvl2pPr>
            <a:lvl3pPr algn="l">
              <a:defRPr sz="2400" b="1">
                <a:solidFill>
                  <a:srgbClr val="192337"/>
                </a:solidFill>
                <a:latin typeface="Aptos"/>
                <a:ea typeface="Aptos"/>
                <a:cs typeface="Aptos"/>
              </a:defRPr>
            </a:lvl3pPr>
            <a:lvl4pPr algn="l">
              <a:defRPr sz="2400" b="1">
                <a:solidFill>
                  <a:srgbClr val="192337"/>
                </a:solidFill>
                <a:latin typeface="Aptos"/>
                <a:ea typeface="Aptos"/>
                <a:cs typeface="Aptos"/>
              </a:defRPr>
            </a:lvl4pPr>
            <a:lvl5pPr algn="l">
              <a:defRPr sz="2400" b="1">
                <a:solidFill>
                  <a:srgbClr val="192337"/>
                </a:solidFill>
                <a:latin typeface="Aptos"/>
                <a:ea typeface="Aptos"/>
                <a:cs typeface="Aptos"/>
              </a:defRPr>
            </a:lvl5pPr>
            <a:lvl6pPr algn="l">
              <a:defRPr sz="2400" b="1">
                <a:solidFill>
                  <a:srgbClr val="192337"/>
                </a:solidFill>
                <a:latin typeface="Aptos"/>
                <a:ea typeface="Aptos"/>
                <a:cs typeface="Aptos"/>
              </a:defRPr>
            </a:lvl6pPr>
            <a:lvl7pPr algn="l">
              <a:defRPr sz="2400" b="1">
                <a:solidFill>
                  <a:srgbClr val="192337"/>
                </a:solidFill>
                <a:latin typeface="Aptos"/>
                <a:ea typeface="Aptos"/>
                <a:cs typeface="Aptos"/>
              </a:defRPr>
            </a:lvl7pPr>
            <a:lvl8pPr algn="l">
              <a:defRPr sz="2400" b="1">
                <a:solidFill>
                  <a:srgbClr val="192337"/>
                </a:solidFill>
                <a:latin typeface="Aptos"/>
                <a:ea typeface="Aptos"/>
                <a:cs typeface="Aptos"/>
              </a:defRPr>
            </a:lvl8pPr>
            <a:lvl9pPr algn="l">
              <a:defRPr sz="2400" b="1">
                <a:solidFill>
                  <a:srgbClr val="192337"/>
                </a:solidFill>
                <a:latin typeface="Aptos"/>
                <a:ea typeface="Aptos"/>
                <a:cs typeface="Aptos"/>
              </a:defRPr>
            </a:lvl9pPr>
          </a:lstStyle>
          <a:p>
            <a:pPr algn="l">
              <a:defRPr sz="2400" b="1">
                <a:solidFill>
                  <a:srgbClr val="192337"/>
                </a:solidFill>
                <a:latin typeface="Aptos"/>
                <a:ea typeface="Aptos"/>
                <a:cs typeface="Aptos"/>
              </a:defRPr>
            </a:pPr>
            <a:r>
              <a:rPr sz="2400" b="1">
                <a:solidFill>
                  <a:srgbClr val="192337"/>
                </a:solidFill>
                <a:latin typeface="Aptos"/>
                <a:ea typeface="Aptos"/>
                <a:cs typeface="Aptos"/>
              </a:rPr>
              <a:t>If its ID is in Ghost, it enters Main directly.</a:t>
            </a:r>
            <a:endParaRPr sz="2400" b="1">
              <a:solidFill>
                <a:srgbClr val="192337"/>
              </a:solidFill>
              <a:latin typeface="Aptos"/>
              <a:ea typeface="Aptos"/>
              <a:cs typeface="Aptos"/>
            </a:endParaRPr>
          </a:p>
        </p:txBody>
      </p:sp>
      <p:sp>
        <p:nvSpPr>
          <p:cNvPr id="9" name="Otherwise, it enters Small."/>
          <p:cNvSpPr>
            <a:spLocks noGrp="1"/>
          </p:cNvSpPr>
          <p:nvPr/>
        </p:nvSpPr>
        <p:spPr>
          <a:xfrm>
            <a:off x="762000" y="5505450"/>
            <a:ext cx="10668000" cy="495300"/>
          </a:xfrm>
          <a:prstGeom prst="rect">
            <a:avLst/>
          </a:prstGeom>
          <a:noFill/>
          <a:ln w="0">
            <a:noFill/>
          </a:ln>
        </p:spPr>
        <p:txBody>
          <a:bodyPr wrap="square" lIns="0" tIns="0" rIns="0" bIns="0" anchor="t">
            <a:noAutofit/>
          </a:bodyPr>
          <a:lstStyle>
            <a:defPPr algn="l">
              <a:defRPr sz="2400" b="0">
                <a:solidFill>
                  <a:srgbClr val="192337"/>
                </a:solidFill>
                <a:latin typeface="Aptos"/>
                <a:ea typeface="Aptos"/>
                <a:cs typeface="Aptos"/>
              </a:defRPr>
            </a:defPPr>
            <a:lvl1pPr algn="l">
              <a:defRPr sz="2400" b="0">
                <a:solidFill>
                  <a:srgbClr val="192337"/>
                </a:solidFill>
                <a:latin typeface="Aptos"/>
                <a:ea typeface="Aptos"/>
                <a:cs typeface="Aptos"/>
              </a:defRPr>
            </a:lvl1pPr>
            <a:lvl2pPr algn="l">
              <a:defRPr sz="2400" b="0">
                <a:solidFill>
                  <a:srgbClr val="192337"/>
                </a:solidFill>
                <a:latin typeface="Aptos"/>
                <a:ea typeface="Aptos"/>
                <a:cs typeface="Aptos"/>
              </a:defRPr>
            </a:lvl2pPr>
            <a:lvl3pPr algn="l">
              <a:defRPr sz="2400" b="0">
                <a:solidFill>
                  <a:srgbClr val="192337"/>
                </a:solidFill>
                <a:latin typeface="Aptos"/>
                <a:ea typeface="Aptos"/>
                <a:cs typeface="Aptos"/>
              </a:defRPr>
            </a:lvl3pPr>
            <a:lvl4pPr algn="l">
              <a:defRPr sz="2400" b="0">
                <a:solidFill>
                  <a:srgbClr val="192337"/>
                </a:solidFill>
                <a:latin typeface="Aptos"/>
                <a:ea typeface="Aptos"/>
                <a:cs typeface="Aptos"/>
              </a:defRPr>
            </a:lvl4pPr>
            <a:lvl5pPr algn="l">
              <a:defRPr sz="2400" b="0">
                <a:solidFill>
                  <a:srgbClr val="192337"/>
                </a:solidFill>
                <a:latin typeface="Aptos"/>
                <a:ea typeface="Aptos"/>
                <a:cs typeface="Aptos"/>
              </a:defRPr>
            </a:lvl5pPr>
            <a:lvl6pPr algn="l">
              <a:defRPr sz="2400" b="0">
                <a:solidFill>
                  <a:srgbClr val="192337"/>
                </a:solidFill>
                <a:latin typeface="Aptos"/>
                <a:ea typeface="Aptos"/>
                <a:cs typeface="Aptos"/>
              </a:defRPr>
            </a:lvl6pPr>
            <a:lvl7pPr algn="l">
              <a:defRPr sz="2400" b="0">
                <a:solidFill>
                  <a:srgbClr val="192337"/>
                </a:solidFill>
                <a:latin typeface="Aptos"/>
                <a:ea typeface="Aptos"/>
                <a:cs typeface="Aptos"/>
              </a:defRPr>
            </a:lvl7pPr>
            <a:lvl8pPr algn="l">
              <a:defRPr sz="2400" b="0">
                <a:solidFill>
                  <a:srgbClr val="192337"/>
                </a:solidFill>
                <a:latin typeface="Aptos"/>
                <a:ea typeface="Aptos"/>
                <a:cs typeface="Aptos"/>
              </a:defRPr>
            </a:lvl8pPr>
            <a:lvl9pPr algn="l">
              <a:defRPr sz="2400" b="0">
                <a:solidFill>
                  <a:srgbClr val="192337"/>
                </a:solidFill>
                <a:latin typeface="Aptos"/>
                <a:ea typeface="Aptos"/>
                <a:cs typeface="Aptos"/>
              </a:defRPr>
            </a:lvl9pPr>
          </a:lstStyle>
          <a:p>
            <a:pPr algn="l">
              <a:defRPr sz="2400" b="0">
                <a:solidFill>
                  <a:srgbClr val="192337"/>
                </a:solidFill>
                <a:latin typeface="Aptos"/>
                <a:ea typeface="Aptos"/>
                <a:cs typeface="Aptos"/>
              </a:defRPr>
            </a:pPr>
            <a:r>
              <a:rPr sz="2400" b="0">
                <a:solidFill>
                  <a:srgbClr val="192337"/>
                </a:solidFill>
                <a:latin typeface="Aptos"/>
                <a:ea typeface="Aptos"/>
                <a:cs typeface="Aptos"/>
              </a:rPr>
              <a:t>Otherwise, it enters Small.</a:t>
            </a:r>
            <a:endParaRPr sz="2400" b="0">
              <a:solidFill>
                <a:srgbClr val="192337"/>
              </a:solidFill>
              <a:latin typeface="Aptos"/>
              <a:ea typeface="Aptos"/>
              <a:cs typeface="Aptos"/>
            </a:endParaRPr>
          </a:p>
        </p:txBody>
      </p:sp>
      <p:sp>
        <p:nvSpPr>
          <p:cNvPr id="10" name="Source: Algorithm 1, lines 4–13 · Yang et al., SOSP 2023"/>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Algorithm 1, lines 4–13 · Yang et al., SOSP 2023</a:t>
            </a:r>
            <a:endParaRPr sz="975" b="0">
              <a:solidFill>
                <a:srgbClr val="71849E"/>
              </a:solidFill>
              <a:latin typeface="Aptos"/>
              <a:ea typeface="Aptos"/>
              <a:cs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16" name="template-element-12"/>
          <p:cNvSpPr>
            <a:spLocks noGrp="1"/>
          </p:cNvSpPr>
          <p:nvPr/>
        </p:nvSpPr>
        <p:spPr>
          <a:xfrm>
            <a:off x="0" y="0"/>
            <a:ext cx="12192000" cy="409575"/>
          </a:xfrm>
          <a:prstGeom prst="rect">
            <a:avLst/>
          </a:prstGeom>
          <a:solidFill>
            <a:srgbClr val="13294B"/>
          </a:solidFill>
          <a:ln w="0">
            <a:noFill/>
          </a:ln>
        </p:spPr>
      </p:sp>
      <p:sp>
        <p:nvSpPr>
          <p:cNvPr id="2" name="Part 2 · Eviction"/>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Eviction</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Cache Eviction: Which Queue?"/>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Cache Eviction: Which Queue?</a:t>
            </a:r>
            <a:endParaRPr sz="3300" b="1">
              <a:solidFill>
                <a:srgbClr val="192337"/>
              </a:solidFill>
              <a:latin typeface="Aptos Display"/>
              <a:ea typeface="Aptos Display"/>
              <a:cs typeface="Aptos Display"/>
            </a:endParaRPr>
          </a:p>
        </p:txBody>
      </p:sp>
      <p:sp>
        <p:nvSpPr>
          <p:cNvPr id="5" name="Next, let's look at cache eviction."/>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Next, let's look at cache eviction.</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08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08 / 12</a:t>
            </a:r>
            <a:endParaRPr sz="900" b="0">
              <a:solidFill>
                <a:srgbClr val="71849E"/>
              </a:solidFill>
              <a:latin typeface="Aptos"/>
              <a:ea typeface="Aptos"/>
              <a:cs typeface="Aptos"/>
            </a:endParaRPr>
          </a:p>
        </p:txBody>
      </p:sp>
      <p:sp>
        <p:nvSpPr>
          <p:cNvPr id="8" name="When the cache is full, S3-FIFO chooses which queue&#10;to evict from base"/>
          <p:cNvSpPr>
            <a:spLocks noGrp="1"/>
          </p:cNvSpPr>
          <p:nvPr/>
        </p:nvSpPr>
        <p:spPr>
          <a:xfrm>
            <a:off x="762000" y="2190750"/>
            <a:ext cx="10668000" cy="1143000"/>
          </a:xfrm>
          <a:prstGeom prst="rect">
            <a:avLst/>
          </a:prstGeom>
          <a:noFill/>
          <a:ln w="0">
            <a:noFill/>
          </a:ln>
        </p:spPr>
        <p:txBody>
          <a:bodyPr wrap="square" lIns="0" tIns="0" rIns="0" bIns="0" anchor="t">
            <a:noAutofit/>
          </a:bodyPr>
          <a:lstStyle>
            <a:defPPr algn="l">
              <a:defRPr sz="2625" b="1">
                <a:solidFill>
                  <a:srgbClr val="192337"/>
                </a:solidFill>
                <a:latin typeface="Aptos"/>
                <a:ea typeface="Aptos"/>
                <a:cs typeface="Aptos"/>
              </a:defRPr>
            </a:defPPr>
            <a:lvl1pPr algn="l">
              <a:defRPr sz="2625" b="1">
                <a:solidFill>
                  <a:srgbClr val="192337"/>
                </a:solidFill>
                <a:latin typeface="Aptos"/>
                <a:ea typeface="Aptos"/>
                <a:cs typeface="Aptos"/>
              </a:defRPr>
            </a:lvl1pPr>
            <a:lvl2pPr algn="l">
              <a:defRPr sz="2625" b="1">
                <a:solidFill>
                  <a:srgbClr val="192337"/>
                </a:solidFill>
                <a:latin typeface="Aptos"/>
                <a:ea typeface="Aptos"/>
                <a:cs typeface="Aptos"/>
              </a:defRPr>
            </a:lvl2pPr>
            <a:lvl3pPr algn="l">
              <a:defRPr sz="2625" b="1">
                <a:solidFill>
                  <a:srgbClr val="192337"/>
                </a:solidFill>
                <a:latin typeface="Aptos"/>
                <a:ea typeface="Aptos"/>
                <a:cs typeface="Aptos"/>
              </a:defRPr>
            </a:lvl3pPr>
            <a:lvl4pPr algn="l">
              <a:defRPr sz="2625" b="1">
                <a:solidFill>
                  <a:srgbClr val="192337"/>
                </a:solidFill>
                <a:latin typeface="Aptos"/>
                <a:ea typeface="Aptos"/>
                <a:cs typeface="Aptos"/>
              </a:defRPr>
            </a:lvl4pPr>
            <a:lvl5pPr algn="l">
              <a:defRPr sz="2625" b="1">
                <a:solidFill>
                  <a:srgbClr val="192337"/>
                </a:solidFill>
                <a:latin typeface="Aptos"/>
                <a:ea typeface="Aptos"/>
                <a:cs typeface="Aptos"/>
              </a:defRPr>
            </a:lvl5pPr>
            <a:lvl6pPr algn="l">
              <a:defRPr sz="2625" b="1">
                <a:solidFill>
                  <a:srgbClr val="192337"/>
                </a:solidFill>
                <a:latin typeface="Aptos"/>
                <a:ea typeface="Aptos"/>
                <a:cs typeface="Aptos"/>
              </a:defRPr>
            </a:lvl6pPr>
            <a:lvl7pPr algn="l">
              <a:defRPr sz="2625" b="1">
                <a:solidFill>
                  <a:srgbClr val="192337"/>
                </a:solidFill>
                <a:latin typeface="Aptos"/>
                <a:ea typeface="Aptos"/>
                <a:cs typeface="Aptos"/>
              </a:defRPr>
            </a:lvl7pPr>
            <a:lvl8pPr algn="l">
              <a:defRPr sz="2625" b="1">
                <a:solidFill>
                  <a:srgbClr val="192337"/>
                </a:solidFill>
                <a:latin typeface="Aptos"/>
                <a:ea typeface="Aptos"/>
                <a:cs typeface="Aptos"/>
              </a:defRPr>
            </a:lvl8pPr>
            <a:lvl9pPr algn="l">
              <a:defRPr sz="2625" b="1">
                <a:solidFill>
                  <a:srgbClr val="192337"/>
                </a:solidFill>
                <a:latin typeface="Aptos"/>
                <a:ea typeface="Aptos"/>
                <a:cs typeface="Aptos"/>
              </a:defRPr>
            </a:lvl9pPr>
          </a:lstStyle>
          <a:p>
            <a:pPr algn="l">
              <a:defRPr sz="2625" b="1">
                <a:solidFill>
                  <a:srgbClr val="192337"/>
                </a:solidFill>
                <a:latin typeface="Aptos"/>
                <a:ea typeface="Aptos"/>
                <a:cs typeface="Aptos"/>
              </a:defRPr>
            </a:pPr>
            <a:r>
              <a:rPr sz="2625" b="1">
                <a:solidFill>
                  <a:srgbClr val="192337"/>
                </a:solidFill>
                <a:latin typeface="Aptos"/>
                <a:ea typeface="Aptos"/>
                <a:cs typeface="Aptos"/>
              </a:rPr>
              <a:t>When the cache is full, S3-FIFO chooses which queue</a:t>
            </a:r>
            <a:endParaRPr sz="2625" b="1">
              <a:solidFill>
                <a:srgbClr val="192337"/>
              </a:solidFill>
              <a:latin typeface="Aptos"/>
              <a:ea typeface="Aptos"/>
              <a:cs typeface="Aptos"/>
            </a:endParaRPr>
          </a:p>
          <a:p>
            <a:pPr algn="l">
              <a:defRPr sz="2625" b="1">
                <a:solidFill>
                  <a:srgbClr val="192337"/>
                </a:solidFill>
                <a:latin typeface="Aptos"/>
                <a:ea typeface="Aptos"/>
                <a:cs typeface="Aptos"/>
              </a:defRPr>
            </a:pPr>
            <a:r>
              <a:rPr sz="2625" b="1">
                <a:solidFill>
                  <a:srgbClr val="192337"/>
                </a:solidFill>
                <a:latin typeface="Aptos"/>
                <a:ea typeface="Aptos"/>
                <a:cs typeface="Aptos"/>
              </a:rPr>
              <a:t>to evict from based on the Small Queue's size.</a:t>
            </a:r>
            <a:endParaRPr sz="2625" b="1">
              <a:solidFill>
                <a:srgbClr val="192337"/>
              </a:solidFill>
              <a:latin typeface="Aptos"/>
              <a:ea typeface="Aptos"/>
              <a:cs typeface="Aptos"/>
            </a:endParaRPr>
          </a:p>
        </p:txBody>
      </p:sp>
      <p:sp>
        <p:nvSpPr>
          <p:cNvPr id="9" name="Small at or above 10%"/>
          <p:cNvSpPr>
            <a:spLocks noGrp="1"/>
          </p:cNvSpPr>
          <p:nvPr/>
        </p:nvSpPr>
        <p:spPr>
          <a:xfrm>
            <a:off x="762000" y="3943350"/>
            <a:ext cx="5143500" cy="552450"/>
          </a:xfrm>
          <a:prstGeom prst="rect">
            <a:avLst/>
          </a:prstGeom>
          <a:noFill/>
          <a:ln w="0">
            <a:noFill/>
          </a:ln>
        </p:spPr>
        <p:txBody>
          <a:bodyPr wrap="square" lIns="0" tIns="0" rIns="0" bIns="0" anchor="t">
            <a:noAutofit/>
          </a:bodyPr>
          <a:lstStyle>
            <a:defPPr algn="l">
              <a:defRPr sz="2325" b="1">
                <a:solidFill>
                  <a:srgbClr val="DE8626"/>
                </a:solidFill>
                <a:latin typeface="Aptos"/>
                <a:ea typeface="Aptos"/>
                <a:cs typeface="Aptos"/>
              </a:defRPr>
            </a:defPPr>
            <a:lvl1pPr algn="l">
              <a:defRPr sz="2325" b="1">
                <a:solidFill>
                  <a:srgbClr val="DE8626"/>
                </a:solidFill>
                <a:latin typeface="Aptos"/>
                <a:ea typeface="Aptos"/>
                <a:cs typeface="Aptos"/>
              </a:defRPr>
            </a:lvl1pPr>
            <a:lvl2pPr algn="l">
              <a:defRPr sz="2325" b="1">
                <a:solidFill>
                  <a:srgbClr val="DE8626"/>
                </a:solidFill>
                <a:latin typeface="Aptos"/>
                <a:ea typeface="Aptos"/>
                <a:cs typeface="Aptos"/>
              </a:defRPr>
            </a:lvl2pPr>
            <a:lvl3pPr algn="l">
              <a:defRPr sz="2325" b="1">
                <a:solidFill>
                  <a:srgbClr val="DE8626"/>
                </a:solidFill>
                <a:latin typeface="Aptos"/>
                <a:ea typeface="Aptos"/>
                <a:cs typeface="Aptos"/>
              </a:defRPr>
            </a:lvl3pPr>
            <a:lvl4pPr algn="l">
              <a:defRPr sz="2325" b="1">
                <a:solidFill>
                  <a:srgbClr val="DE8626"/>
                </a:solidFill>
                <a:latin typeface="Aptos"/>
                <a:ea typeface="Aptos"/>
                <a:cs typeface="Aptos"/>
              </a:defRPr>
            </a:lvl4pPr>
            <a:lvl5pPr algn="l">
              <a:defRPr sz="2325" b="1">
                <a:solidFill>
                  <a:srgbClr val="DE8626"/>
                </a:solidFill>
                <a:latin typeface="Aptos"/>
                <a:ea typeface="Aptos"/>
                <a:cs typeface="Aptos"/>
              </a:defRPr>
            </a:lvl5pPr>
            <a:lvl6pPr algn="l">
              <a:defRPr sz="2325" b="1">
                <a:solidFill>
                  <a:srgbClr val="DE8626"/>
                </a:solidFill>
                <a:latin typeface="Aptos"/>
                <a:ea typeface="Aptos"/>
                <a:cs typeface="Aptos"/>
              </a:defRPr>
            </a:lvl6pPr>
            <a:lvl7pPr algn="l">
              <a:defRPr sz="2325" b="1">
                <a:solidFill>
                  <a:srgbClr val="DE8626"/>
                </a:solidFill>
                <a:latin typeface="Aptos"/>
                <a:ea typeface="Aptos"/>
                <a:cs typeface="Aptos"/>
              </a:defRPr>
            </a:lvl7pPr>
            <a:lvl8pPr algn="l">
              <a:defRPr sz="2325" b="1">
                <a:solidFill>
                  <a:srgbClr val="DE8626"/>
                </a:solidFill>
                <a:latin typeface="Aptos"/>
                <a:ea typeface="Aptos"/>
                <a:cs typeface="Aptos"/>
              </a:defRPr>
            </a:lvl8pPr>
            <a:lvl9pPr algn="l">
              <a:defRPr sz="2325" b="1">
                <a:solidFill>
                  <a:srgbClr val="DE8626"/>
                </a:solidFill>
                <a:latin typeface="Aptos"/>
                <a:ea typeface="Aptos"/>
                <a:cs typeface="Aptos"/>
              </a:defRPr>
            </a:lvl9pPr>
          </a:lstStyle>
          <a:p>
            <a:pPr algn="l">
              <a:defRPr sz="2325" b="1">
                <a:solidFill>
                  <a:srgbClr val="DE8626"/>
                </a:solidFill>
                <a:latin typeface="Aptos"/>
                <a:ea typeface="Aptos"/>
                <a:cs typeface="Aptos"/>
              </a:defRPr>
            </a:pPr>
            <a:r>
              <a:rPr sz="2325" b="1">
                <a:solidFill>
                  <a:srgbClr val="DE8626"/>
                </a:solidFill>
                <a:latin typeface="Aptos"/>
                <a:ea typeface="Aptos"/>
                <a:cs typeface="Aptos"/>
              </a:rPr>
              <a:t>Small at or above 10%</a:t>
            </a:r>
            <a:endParaRPr sz="2325" b="1">
              <a:solidFill>
                <a:srgbClr val="DE8626"/>
              </a:solidFill>
              <a:latin typeface="Aptos"/>
              <a:ea typeface="Aptos"/>
              <a:cs typeface="Aptos"/>
            </a:endParaRPr>
          </a:p>
        </p:txBody>
      </p:sp>
      <p:sp>
        <p:nvSpPr>
          <p:cNvPr id="10" name="Evict from Small"/>
          <p:cNvSpPr>
            <a:spLocks noGrp="1"/>
          </p:cNvSpPr>
          <p:nvPr/>
        </p:nvSpPr>
        <p:spPr>
          <a:xfrm>
            <a:off x="762000" y="4619625"/>
            <a:ext cx="5143500" cy="619125"/>
          </a:xfrm>
          <a:prstGeom prst="rect">
            <a:avLst/>
          </a:prstGeom>
          <a:noFill/>
          <a:ln w="0">
            <a:noFill/>
          </a:ln>
        </p:spPr>
        <p:txBody>
          <a:bodyPr wrap="square" lIns="0" tIns="0" rIns="0" bIns="0" anchor="t">
            <a:noAutofit/>
          </a:bodyPr>
          <a:lstStyle>
            <a:defPPr algn="l">
              <a:defRPr sz="2850" b="1">
                <a:solidFill>
                  <a:srgbClr val="192337"/>
                </a:solidFill>
                <a:latin typeface="Aptos"/>
                <a:ea typeface="Aptos"/>
                <a:cs typeface="Aptos"/>
              </a:defRPr>
            </a:defPPr>
            <a:lvl1pPr algn="l">
              <a:defRPr sz="2850" b="1">
                <a:solidFill>
                  <a:srgbClr val="192337"/>
                </a:solidFill>
                <a:latin typeface="Aptos"/>
                <a:ea typeface="Aptos"/>
                <a:cs typeface="Aptos"/>
              </a:defRPr>
            </a:lvl1pPr>
            <a:lvl2pPr algn="l">
              <a:defRPr sz="2850" b="1">
                <a:solidFill>
                  <a:srgbClr val="192337"/>
                </a:solidFill>
                <a:latin typeface="Aptos"/>
                <a:ea typeface="Aptos"/>
                <a:cs typeface="Aptos"/>
              </a:defRPr>
            </a:lvl2pPr>
            <a:lvl3pPr algn="l">
              <a:defRPr sz="2850" b="1">
                <a:solidFill>
                  <a:srgbClr val="192337"/>
                </a:solidFill>
                <a:latin typeface="Aptos"/>
                <a:ea typeface="Aptos"/>
                <a:cs typeface="Aptos"/>
              </a:defRPr>
            </a:lvl3pPr>
            <a:lvl4pPr algn="l">
              <a:defRPr sz="2850" b="1">
                <a:solidFill>
                  <a:srgbClr val="192337"/>
                </a:solidFill>
                <a:latin typeface="Aptos"/>
                <a:ea typeface="Aptos"/>
                <a:cs typeface="Aptos"/>
              </a:defRPr>
            </a:lvl4pPr>
            <a:lvl5pPr algn="l">
              <a:defRPr sz="2850" b="1">
                <a:solidFill>
                  <a:srgbClr val="192337"/>
                </a:solidFill>
                <a:latin typeface="Aptos"/>
                <a:ea typeface="Aptos"/>
                <a:cs typeface="Aptos"/>
              </a:defRPr>
            </a:lvl5pPr>
            <a:lvl6pPr algn="l">
              <a:defRPr sz="2850" b="1">
                <a:solidFill>
                  <a:srgbClr val="192337"/>
                </a:solidFill>
                <a:latin typeface="Aptos"/>
                <a:ea typeface="Aptos"/>
                <a:cs typeface="Aptos"/>
              </a:defRPr>
            </a:lvl6pPr>
            <a:lvl7pPr algn="l">
              <a:defRPr sz="2850" b="1">
                <a:solidFill>
                  <a:srgbClr val="192337"/>
                </a:solidFill>
                <a:latin typeface="Aptos"/>
                <a:ea typeface="Aptos"/>
                <a:cs typeface="Aptos"/>
              </a:defRPr>
            </a:lvl7pPr>
            <a:lvl8pPr algn="l">
              <a:defRPr sz="2850" b="1">
                <a:solidFill>
                  <a:srgbClr val="192337"/>
                </a:solidFill>
                <a:latin typeface="Aptos"/>
                <a:ea typeface="Aptos"/>
                <a:cs typeface="Aptos"/>
              </a:defRPr>
            </a:lvl8pPr>
            <a:lvl9pPr algn="l">
              <a:defRPr sz="2850" b="1">
                <a:solidFill>
                  <a:srgbClr val="192337"/>
                </a:solidFill>
                <a:latin typeface="Aptos"/>
                <a:ea typeface="Aptos"/>
                <a:cs typeface="Aptos"/>
              </a:defRPr>
            </a:lvl9pPr>
          </a:lstStyle>
          <a:p>
            <a:pPr algn="l">
              <a:defRPr sz="2850" b="1">
                <a:solidFill>
                  <a:srgbClr val="192337"/>
                </a:solidFill>
                <a:latin typeface="Aptos"/>
                <a:ea typeface="Aptos"/>
                <a:cs typeface="Aptos"/>
              </a:defRPr>
            </a:pPr>
            <a:r>
              <a:rPr sz="2850" b="1">
                <a:solidFill>
                  <a:srgbClr val="192337"/>
                </a:solidFill>
                <a:latin typeface="Aptos"/>
                <a:ea typeface="Aptos"/>
                <a:cs typeface="Aptos"/>
              </a:rPr>
              <a:t>Evict from Small</a:t>
            </a:r>
            <a:endParaRPr sz="2850" b="1">
              <a:solidFill>
                <a:srgbClr val="192337"/>
              </a:solidFill>
              <a:latin typeface="Aptos"/>
              <a:ea typeface="Aptos"/>
              <a:cs typeface="Aptos"/>
            </a:endParaRPr>
          </a:p>
        </p:txBody>
      </p:sp>
      <p:sp>
        <p:nvSpPr>
          <p:cNvPr id="11" name="Small below 10%"/>
          <p:cNvSpPr>
            <a:spLocks noGrp="1"/>
          </p:cNvSpPr>
          <p:nvPr/>
        </p:nvSpPr>
        <p:spPr>
          <a:xfrm>
            <a:off x="6572250" y="3943350"/>
            <a:ext cx="4810125" cy="552450"/>
          </a:xfrm>
          <a:prstGeom prst="rect">
            <a:avLst/>
          </a:prstGeom>
          <a:noFill/>
          <a:ln w="0">
            <a:noFill/>
          </a:ln>
        </p:spPr>
        <p:txBody>
          <a:bodyPr wrap="square" lIns="0" tIns="0" rIns="0" bIns="0" anchor="t">
            <a:noAutofit/>
          </a:bodyPr>
          <a:lstStyle>
            <a:defPPr algn="l">
              <a:defRPr sz="2325" b="1">
                <a:solidFill>
                  <a:srgbClr val="2E6FB5"/>
                </a:solidFill>
                <a:latin typeface="Aptos"/>
                <a:ea typeface="Aptos"/>
                <a:cs typeface="Aptos"/>
              </a:defRPr>
            </a:defPPr>
            <a:lvl1pPr algn="l">
              <a:defRPr sz="2325" b="1">
                <a:solidFill>
                  <a:srgbClr val="2E6FB5"/>
                </a:solidFill>
                <a:latin typeface="Aptos"/>
                <a:ea typeface="Aptos"/>
                <a:cs typeface="Aptos"/>
              </a:defRPr>
            </a:lvl1pPr>
            <a:lvl2pPr algn="l">
              <a:defRPr sz="2325" b="1">
                <a:solidFill>
                  <a:srgbClr val="2E6FB5"/>
                </a:solidFill>
                <a:latin typeface="Aptos"/>
                <a:ea typeface="Aptos"/>
                <a:cs typeface="Aptos"/>
              </a:defRPr>
            </a:lvl2pPr>
            <a:lvl3pPr algn="l">
              <a:defRPr sz="2325" b="1">
                <a:solidFill>
                  <a:srgbClr val="2E6FB5"/>
                </a:solidFill>
                <a:latin typeface="Aptos"/>
                <a:ea typeface="Aptos"/>
                <a:cs typeface="Aptos"/>
              </a:defRPr>
            </a:lvl3pPr>
            <a:lvl4pPr algn="l">
              <a:defRPr sz="2325" b="1">
                <a:solidFill>
                  <a:srgbClr val="2E6FB5"/>
                </a:solidFill>
                <a:latin typeface="Aptos"/>
                <a:ea typeface="Aptos"/>
                <a:cs typeface="Aptos"/>
              </a:defRPr>
            </a:lvl4pPr>
            <a:lvl5pPr algn="l">
              <a:defRPr sz="2325" b="1">
                <a:solidFill>
                  <a:srgbClr val="2E6FB5"/>
                </a:solidFill>
                <a:latin typeface="Aptos"/>
                <a:ea typeface="Aptos"/>
                <a:cs typeface="Aptos"/>
              </a:defRPr>
            </a:lvl5pPr>
            <a:lvl6pPr algn="l">
              <a:defRPr sz="2325" b="1">
                <a:solidFill>
                  <a:srgbClr val="2E6FB5"/>
                </a:solidFill>
                <a:latin typeface="Aptos"/>
                <a:ea typeface="Aptos"/>
                <a:cs typeface="Aptos"/>
              </a:defRPr>
            </a:lvl6pPr>
            <a:lvl7pPr algn="l">
              <a:defRPr sz="2325" b="1">
                <a:solidFill>
                  <a:srgbClr val="2E6FB5"/>
                </a:solidFill>
                <a:latin typeface="Aptos"/>
                <a:ea typeface="Aptos"/>
                <a:cs typeface="Aptos"/>
              </a:defRPr>
            </a:lvl7pPr>
            <a:lvl8pPr algn="l">
              <a:defRPr sz="2325" b="1">
                <a:solidFill>
                  <a:srgbClr val="2E6FB5"/>
                </a:solidFill>
                <a:latin typeface="Aptos"/>
                <a:ea typeface="Aptos"/>
                <a:cs typeface="Aptos"/>
              </a:defRPr>
            </a:lvl8pPr>
            <a:lvl9pPr algn="l">
              <a:defRPr sz="2325" b="1">
                <a:solidFill>
                  <a:srgbClr val="2E6FB5"/>
                </a:solidFill>
                <a:latin typeface="Aptos"/>
                <a:ea typeface="Aptos"/>
                <a:cs typeface="Aptos"/>
              </a:defRPr>
            </a:lvl9pPr>
          </a:lstStyle>
          <a:p>
            <a:pPr algn="l">
              <a:defRPr sz="2325" b="1">
                <a:solidFill>
                  <a:srgbClr val="2E6FB5"/>
                </a:solidFill>
                <a:latin typeface="Aptos"/>
                <a:ea typeface="Aptos"/>
                <a:cs typeface="Aptos"/>
              </a:defRPr>
            </a:pPr>
            <a:r>
              <a:rPr sz="2325" b="1">
                <a:solidFill>
                  <a:srgbClr val="2E6FB5"/>
                </a:solidFill>
                <a:latin typeface="Aptos"/>
                <a:ea typeface="Aptos"/>
                <a:cs typeface="Aptos"/>
              </a:rPr>
              <a:t>Small below 10%</a:t>
            </a:r>
            <a:endParaRPr sz="2325" b="1">
              <a:solidFill>
                <a:srgbClr val="2E6FB5"/>
              </a:solidFill>
              <a:latin typeface="Aptos"/>
              <a:ea typeface="Aptos"/>
              <a:cs typeface="Aptos"/>
            </a:endParaRPr>
          </a:p>
        </p:txBody>
      </p:sp>
      <p:sp>
        <p:nvSpPr>
          <p:cNvPr id="12" name="Evict from Main"/>
          <p:cNvSpPr>
            <a:spLocks noGrp="1"/>
          </p:cNvSpPr>
          <p:nvPr/>
        </p:nvSpPr>
        <p:spPr>
          <a:xfrm>
            <a:off x="6572250" y="4619625"/>
            <a:ext cx="4810125" cy="619125"/>
          </a:xfrm>
          <a:prstGeom prst="rect">
            <a:avLst/>
          </a:prstGeom>
          <a:noFill/>
          <a:ln w="0">
            <a:noFill/>
          </a:ln>
        </p:spPr>
        <p:txBody>
          <a:bodyPr wrap="square" lIns="0" tIns="0" rIns="0" bIns="0" anchor="t">
            <a:noAutofit/>
          </a:bodyPr>
          <a:lstStyle>
            <a:defPPr algn="l">
              <a:defRPr sz="2850" b="1">
                <a:solidFill>
                  <a:srgbClr val="192337"/>
                </a:solidFill>
                <a:latin typeface="Aptos"/>
                <a:ea typeface="Aptos"/>
                <a:cs typeface="Aptos"/>
              </a:defRPr>
            </a:defPPr>
            <a:lvl1pPr algn="l">
              <a:defRPr sz="2850" b="1">
                <a:solidFill>
                  <a:srgbClr val="192337"/>
                </a:solidFill>
                <a:latin typeface="Aptos"/>
                <a:ea typeface="Aptos"/>
                <a:cs typeface="Aptos"/>
              </a:defRPr>
            </a:lvl1pPr>
            <a:lvl2pPr algn="l">
              <a:defRPr sz="2850" b="1">
                <a:solidFill>
                  <a:srgbClr val="192337"/>
                </a:solidFill>
                <a:latin typeface="Aptos"/>
                <a:ea typeface="Aptos"/>
                <a:cs typeface="Aptos"/>
              </a:defRPr>
            </a:lvl2pPr>
            <a:lvl3pPr algn="l">
              <a:defRPr sz="2850" b="1">
                <a:solidFill>
                  <a:srgbClr val="192337"/>
                </a:solidFill>
                <a:latin typeface="Aptos"/>
                <a:ea typeface="Aptos"/>
                <a:cs typeface="Aptos"/>
              </a:defRPr>
            </a:lvl3pPr>
            <a:lvl4pPr algn="l">
              <a:defRPr sz="2850" b="1">
                <a:solidFill>
                  <a:srgbClr val="192337"/>
                </a:solidFill>
                <a:latin typeface="Aptos"/>
                <a:ea typeface="Aptos"/>
                <a:cs typeface="Aptos"/>
              </a:defRPr>
            </a:lvl4pPr>
            <a:lvl5pPr algn="l">
              <a:defRPr sz="2850" b="1">
                <a:solidFill>
                  <a:srgbClr val="192337"/>
                </a:solidFill>
                <a:latin typeface="Aptos"/>
                <a:ea typeface="Aptos"/>
                <a:cs typeface="Aptos"/>
              </a:defRPr>
            </a:lvl5pPr>
            <a:lvl6pPr algn="l">
              <a:defRPr sz="2850" b="1">
                <a:solidFill>
                  <a:srgbClr val="192337"/>
                </a:solidFill>
                <a:latin typeface="Aptos"/>
                <a:ea typeface="Aptos"/>
                <a:cs typeface="Aptos"/>
              </a:defRPr>
            </a:lvl6pPr>
            <a:lvl7pPr algn="l">
              <a:defRPr sz="2850" b="1">
                <a:solidFill>
                  <a:srgbClr val="192337"/>
                </a:solidFill>
                <a:latin typeface="Aptos"/>
                <a:ea typeface="Aptos"/>
                <a:cs typeface="Aptos"/>
              </a:defRPr>
            </a:lvl7pPr>
            <a:lvl8pPr algn="l">
              <a:defRPr sz="2850" b="1">
                <a:solidFill>
                  <a:srgbClr val="192337"/>
                </a:solidFill>
                <a:latin typeface="Aptos"/>
                <a:ea typeface="Aptos"/>
                <a:cs typeface="Aptos"/>
              </a:defRPr>
            </a:lvl8pPr>
            <a:lvl9pPr algn="l">
              <a:defRPr sz="2850" b="1">
                <a:solidFill>
                  <a:srgbClr val="192337"/>
                </a:solidFill>
                <a:latin typeface="Aptos"/>
                <a:ea typeface="Aptos"/>
                <a:cs typeface="Aptos"/>
              </a:defRPr>
            </a:lvl9pPr>
          </a:lstStyle>
          <a:p>
            <a:pPr algn="l">
              <a:defRPr sz="2850" b="1">
                <a:solidFill>
                  <a:srgbClr val="192337"/>
                </a:solidFill>
                <a:latin typeface="Aptos"/>
                <a:ea typeface="Aptos"/>
                <a:cs typeface="Aptos"/>
              </a:defRPr>
            </a:pPr>
            <a:r>
              <a:rPr sz="2850" b="1">
                <a:solidFill>
                  <a:srgbClr val="192337"/>
                </a:solidFill>
                <a:latin typeface="Aptos"/>
                <a:ea typeface="Aptos"/>
                <a:cs typeface="Aptos"/>
              </a:rPr>
              <a:t>Evict from Main</a:t>
            </a:r>
            <a:endParaRPr sz="2850" b="1">
              <a:solidFill>
                <a:srgbClr val="192337"/>
              </a:solidFill>
              <a:latin typeface="Aptos"/>
              <a:ea typeface="Aptos"/>
              <a:cs typeface="Aptos"/>
            </a:endParaRPr>
          </a:p>
        </p:txBody>
      </p:sp>
      <p:sp>
        <p:nvSpPr>
          <p:cNvPr id="13" name="template-element-13"/>
          <p:cNvSpPr>
            <a:spLocks noGrp="1"/>
          </p:cNvSpPr>
          <p:nvPr/>
        </p:nvSpPr>
        <p:spPr>
          <a:xfrm>
            <a:off x="723900" y="5657850"/>
            <a:ext cx="10763250" cy="523875"/>
          </a:xfrm>
          <a:prstGeom prst="rect">
            <a:avLst/>
          </a:prstGeom>
          <a:solidFill>
            <a:srgbClr val="EAF3FE"/>
          </a:solidFill>
          <a:ln w="0">
            <a:noFill/>
          </a:ln>
        </p:spPr>
      </p:sp>
      <p:sp>
        <p:nvSpPr>
          <p:cNvPr id="14" name="Each queue checks its oldest object first."/>
          <p:cNvSpPr>
            <a:spLocks noGrp="1"/>
          </p:cNvSpPr>
          <p:nvPr/>
        </p:nvSpPr>
        <p:spPr>
          <a:xfrm>
            <a:off x="952500" y="5781675"/>
            <a:ext cx="10334625" cy="409575"/>
          </a:xfrm>
          <a:prstGeom prst="rect">
            <a:avLst/>
          </a:prstGeom>
          <a:noFill/>
          <a:ln w="0">
            <a:noFill/>
          </a:ln>
        </p:spPr>
        <p:txBody>
          <a:bodyPr wrap="square" lIns="0" tIns="0" rIns="0" bIns="0" anchor="t">
            <a:noAutofit/>
          </a:bodyPr>
          <a:lstStyle>
            <a:defPPr algn="l">
              <a:defRPr sz="1875" b="1">
                <a:solidFill>
                  <a:srgbClr val="13294B"/>
                </a:solidFill>
                <a:latin typeface="Aptos"/>
                <a:ea typeface="Aptos"/>
                <a:cs typeface="Aptos"/>
              </a:defRPr>
            </a:defPPr>
            <a:lvl1pPr algn="l">
              <a:defRPr sz="1875" b="1">
                <a:solidFill>
                  <a:srgbClr val="13294B"/>
                </a:solidFill>
                <a:latin typeface="Aptos"/>
                <a:ea typeface="Aptos"/>
                <a:cs typeface="Aptos"/>
              </a:defRPr>
            </a:lvl1pPr>
            <a:lvl2pPr algn="l">
              <a:defRPr sz="1875" b="1">
                <a:solidFill>
                  <a:srgbClr val="13294B"/>
                </a:solidFill>
                <a:latin typeface="Aptos"/>
                <a:ea typeface="Aptos"/>
                <a:cs typeface="Aptos"/>
              </a:defRPr>
            </a:lvl2pPr>
            <a:lvl3pPr algn="l">
              <a:defRPr sz="1875" b="1">
                <a:solidFill>
                  <a:srgbClr val="13294B"/>
                </a:solidFill>
                <a:latin typeface="Aptos"/>
                <a:ea typeface="Aptos"/>
                <a:cs typeface="Aptos"/>
              </a:defRPr>
            </a:lvl3pPr>
            <a:lvl4pPr algn="l">
              <a:defRPr sz="1875" b="1">
                <a:solidFill>
                  <a:srgbClr val="13294B"/>
                </a:solidFill>
                <a:latin typeface="Aptos"/>
                <a:ea typeface="Aptos"/>
                <a:cs typeface="Aptos"/>
              </a:defRPr>
            </a:lvl4pPr>
            <a:lvl5pPr algn="l">
              <a:defRPr sz="1875" b="1">
                <a:solidFill>
                  <a:srgbClr val="13294B"/>
                </a:solidFill>
                <a:latin typeface="Aptos"/>
                <a:ea typeface="Aptos"/>
                <a:cs typeface="Aptos"/>
              </a:defRPr>
            </a:lvl5pPr>
            <a:lvl6pPr algn="l">
              <a:defRPr sz="1875" b="1">
                <a:solidFill>
                  <a:srgbClr val="13294B"/>
                </a:solidFill>
                <a:latin typeface="Aptos"/>
                <a:ea typeface="Aptos"/>
                <a:cs typeface="Aptos"/>
              </a:defRPr>
            </a:lvl6pPr>
            <a:lvl7pPr algn="l">
              <a:defRPr sz="1875" b="1">
                <a:solidFill>
                  <a:srgbClr val="13294B"/>
                </a:solidFill>
                <a:latin typeface="Aptos"/>
                <a:ea typeface="Aptos"/>
                <a:cs typeface="Aptos"/>
              </a:defRPr>
            </a:lvl7pPr>
            <a:lvl8pPr algn="l">
              <a:defRPr sz="1875" b="1">
                <a:solidFill>
                  <a:srgbClr val="13294B"/>
                </a:solidFill>
                <a:latin typeface="Aptos"/>
                <a:ea typeface="Aptos"/>
                <a:cs typeface="Aptos"/>
              </a:defRPr>
            </a:lvl8pPr>
            <a:lvl9pPr algn="l">
              <a:defRPr sz="1875" b="1">
                <a:solidFill>
                  <a:srgbClr val="13294B"/>
                </a:solidFill>
                <a:latin typeface="Aptos"/>
                <a:ea typeface="Aptos"/>
                <a:cs typeface="Aptos"/>
              </a:defRPr>
            </a:lvl9pPr>
          </a:lstStyle>
          <a:p>
            <a:pPr algn="l">
              <a:defRPr sz="1875" b="1">
                <a:solidFill>
                  <a:srgbClr val="13294B"/>
                </a:solidFill>
                <a:latin typeface="Aptos"/>
                <a:ea typeface="Aptos"/>
                <a:cs typeface="Aptos"/>
              </a:defRPr>
            </a:pPr>
            <a:r>
              <a:rPr sz="1875" b="1">
                <a:solidFill>
                  <a:srgbClr val="13294B"/>
                </a:solidFill>
                <a:latin typeface="Aptos"/>
                <a:ea typeface="Aptos"/>
                <a:cs typeface="Aptos"/>
              </a:rPr>
              <a:t>Each queue checks its oldest object first.</a:t>
            </a:r>
            <a:endParaRPr sz="1875" b="1">
              <a:solidFill>
                <a:srgbClr val="13294B"/>
              </a:solidFill>
              <a:latin typeface="Aptos"/>
              <a:ea typeface="Aptos"/>
              <a:cs typeface="Aptos"/>
            </a:endParaRPr>
          </a:p>
        </p:txBody>
      </p:sp>
      <p:sp>
        <p:nvSpPr>
          <p:cNvPr id="15" name="Source: Algorithm 1, lines 14–18 · Yang et al., SOSP 2023"/>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Algorithm 1, lines 14–18 · Yang et al., SOSP 2023</a:t>
            </a:r>
            <a:endParaRPr sz="975" b="0">
              <a:solidFill>
                <a:srgbClr val="71849E"/>
              </a:solidFill>
              <a:latin typeface="Aptos"/>
              <a:ea typeface="Aptos"/>
              <a:cs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grpSp>
        <p:nvGrpSpPr>
          <p:cNvPr id="10500" name="Original slide 13 diagram"/>
          <p:cNvGrpSpPr/>
          <p:nvPr/>
        </p:nvGrpSpPr>
        <p:grpSpPr>
          <a:xfrm>
            <a:off x="714375" y="2047875"/>
            <a:ext cx="10763250" cy="2505075"/>
            <a:chOff x="1076325" y="2057400"/>
            <a:chExt cx="9848850" cy="2295525"/>
          </a:xfrm>
        </p:grpSpPr>
        <p:sp>
          <p:nvSpPr>
            <p:cNvPr id="10501" name="Rounded Rectangle 7"/>
            <p:cNvSpPr/>
            <p:nvPr/>
          </p:nvSpPr>
          <p:spPr>
            <a:xfrm>
              <a:off x="2834640" y="2057400"/>
              <a:ext cx="6519672" cy="73152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0502" name="TextBox 8"/>
            <p:cNvSpPr txBox="1"/>
            <p:nvPr/>
          </p:nvSpPr>
          <p:spPr>
            <a:xfrm>
              <a:off x="2944368" y="2203704"/>
              <a:ext cx="6300216" cy="548640"/>
            </a:xfrm>
            <a:prstGeom prst="rect">
              <a:avLst/>
            </a:prstGeom>
            <a:noFill/>
          </p:spPr>
          <p:txBody>
            <a:bodyPr wrap="square" lIns="0" tIns="0" rIns="0" bIns="0">
              <a:spAutoFit/>
            </a:bodyPr>
            <a:lstStyle/>
            <a:p>
              <a:pPr algn="ctr">
                <a:lnSpc>
                  <a:spcPct val="112000"/>
                </a:lnSpc>
                <a:spcBef>
                  <a:spcPts val="0"/>
                </a:spcBef>
                <a:spcAft>
                  <a:spcPts val="500"/>
                </a:spcAft>
              </a:pPr>
              <a:r>
                <a:rPr sz="2500" b="1">
                  <a:solidFill>
                    <a:srgbClr val="D9852A"/>
                  </a:solidFill>
                  <a:latin typeface="Aptos"/>
                </a:rPr>
                <a:t>Oldest object: freq &gt; 1?</a:t>
              </a:r>
              <a:endParaRPr sz="2500" b="1">
                <a:solidFill>
                  <a:srgbClr val="D9852A"/>
                </a:solidFill>
                <a:latin typeface="Aptos"/>
              </a:endParaRPr>
            </a:p>
          </p:txBody>
        </p:sp>
        <p:cxnSp>
          <p:nvCxnSpPr>
            <p:cNvPr id="10503" name="Connector 9"/>
            <p:cNvCxnSpPr/>
            <p:nvPr/>
          </p:nvCxnSpPr>
          <p:spPr>
            <a:xfrm>
              <a:off x="4114800" y="2788920"/>
              <a:ext cx="0" cy="832104"/>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10504" name="TextBox 10"/>
            <p:cNvSpPr txBox="1"/>
            <p:nvPr/>
          </p:nvSpPr>
          <p:spPr>
            <a:xfrm>
              <a:off x="4270248" y="3090672"/>
              <a:ext cx="640080" cy="274320"/>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D9852A"/>
                  </a:solidFill>
                  <a:latin typeface="Aptos"/>
                </a:rPr>
                <a:t>Yes</a:t>
              </a:r>
              <a:endParaRPr sz="1400" b="0">
                <a:solidFill>
                  <a:srgbClr val="D9852A"/>
                </a:solidFill>
                <a:latin typeface="Aptos"/>
              </a:endParaRPr>
            </a:p>
          </p:txBody>
        </p:sp>
        <p:cxnSp>
          <p:nvCxnSpPr>
            <p:cNvPr id="10505" name="Connector 11"/>
            <p:cNvCxnSpPr/>
            <p:nvPr/>
          </p:nvCxnSpPr>
          <p:spPr>
            <a:xfrm>
              <a:off x="7955279" y="2788920"/>
              <a:ext cx="0" cy="832104"/>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0506" name="TextBox 12"/>
            <p:cNvSpPr txBox="1"/>
            <p:nvPr/>
          </p:nvSpPr>
          <p:spPr>
            <a:xfrm>
              <a:off x="8110727" y="3090672"/>
              <a:ext cx="640080" cy="274320"/>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788594"/>
                  </a:solidFill>
                  <a:latin typeface="Aptos"/>
                </a:rPr>
                <a:t>No</a:t>
              </a:r>
              <a:endParaRPr sz="1400" b="0">
                <a:solidFill>
                  <a:srgbClr val="788594"/>
                </a:solidFill>
                <a:latin typeface="Aptos"/>
              </a:endParaRPr>
            </a:p>
          </p:txBody>
        </p:sp>
        <p:sp>
          <p:nvSpPr>
            <p:cNvPr id="10507" name="Rounded Rectangle 13"/>
            <p:cNvSpPr/>
            <p:nvPr/>
          </p:nvSpPr>
          <p:spPr>
            <a:xfrm>
              <a:off x="1078992" y="3621024"/>
              <a:ext cx="4700016" cy="73152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0508" name="TextBox 14"/>
            <p:cNvSpPr txBox="1"/>
            <p:nvPr/>
          </p:nvSpPr>
          <p:spPr>
            <a:xfrm>
              <a:off x="1188719" y="3767328"/>
              <a:ext cx="4480559" cy="548640"/>
            </a:xfrm>
            <a:prstGeom prst="rect">
              <a:avLst/>
            </a:prstGeom>
            <a:noFill/>
          </p:spPr>
          <p:txBody>
            <a:bodyPr wrap="square" lIns="0" tIns="0" rIns="0" bIns="0">
              <a:spAutoFit/>
            </a:bodyPr>
            <a:lstStyle/>
            <a:p>
              <a:pPr algn="ctr">
                <a:lnSpc>
                  <a:spcPct val="112000"/>
                </a:lnSpc>
                <a:spcBef>
                  <a:spcPts val="0"/>
                </a:spcBef>
                <a:spcAft>
                  <a:spcPts val="500"/>
                </a:spcAft>
              </a:pPr>
              <a:r>
                <a:rPr sz="2100" b="1">
                  <a:solidFill>
                    <a:srgbClr val="D9852A"/>
                  </a:solidFill>
                  <a:latin typeface="Aptos"/>
                </a:rPr>
                <a:t>Move to Main</a:t>
              </a:r>
              <a:endParaRPr sz="2100" b="1">
                <a:solidFill>
                  <a:srgbClr val="D9852A"/>
                </a:solidFill>
                <a:latin typeface="Aptos"/>
              </a:endParaRPr>
            </a:p>
          </p:txBody>
        </p:sp>
        <p:sp>
          <p:nvSpPr>
            <p:cNvPr id="10509" name="Rounded Rectangle 15"/>
            <p:cNvSpPr/>
            <p:nvPr/>
          </p:nvSpPr>
          <p:spPr>
            <a:xfrm>
              <a:off x="6217920" y="3621024"/>
              <a:ext cx="4700016" cy="73152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0510" name="TextBox 16"/>
            <p:cNvSpPr txBox="1"/>
            <p:nvPr/>
          </p:nvSpPr>
          <p:spPr>
            <a:xfrm>
              <a:off x="6327648" y="3767328"/>
              <a:ext cx="4480559" cy="548640"/>
            </a:xfrm>
            <a:prstGeom prst="rect">
              <a:avLst/>
            </a:prstGeom>
            <a:noFill/>
          </p:spPr>
          <p:txBody>
            <a:bodyPr wrap="square" lIns="0" tIns="0" rIns="0" bIns="0">
              <a:spAutoFit/>
            </a:bodyPr>
            <a:lstStyle/>
            <a:p>
              <a:pPr algn="ctr">
                <a:lnSpc>
                  <a:spcPct val="112000"/>
                </a:lnSpc>
                <a:spcBef>
                  <a:spcPts val="0"/>
                </a:spcBef>
                <a:spcAft>
                  <a:spcPts val="500"/>
                </a:spcAft>
              </a:pPr>
              <a:r>
                <a:rPr sz="2000" b="1">
                  <a:solidFill>
                    <a:srgbClr val="788594"/>
                  </a:solidFill>
                  <a:latin typeface="Aptos"/>
                </a:rPr>
                <a:t>Remove cached data; ID → G</a:t>
              </a:r>
              <a:endParaRPr sz="2000" b="1">
                <a:solidFill>
                  <a:srgbClr val="788594"/>
                </a:solidFill>
                <a:latin typeface="Aptos"/>
              </a:endParaRPr>
            </a:p>
          </p:txBody>
        </p:sp>
      </p:grpSp>
      <p:sp>
        <p:nvSpPr>
          <p:cNvPr id="12" name="template-element-14"/>
          <p:cNvSpPr>
            <a:spLocks noGrp="1"/>
          </p:cNvSpPr>
          <p:nvPr/>
        </p:nvSpPr>
        <p:spPr>
          <a:xfrm>
            <a:off x="0" y="0"/>
            <a:ext cx="12192000" cy="409575"/>
          </a:xfrm>
          <a:prstGeom prst="rect">
            <a:avLst/>
          </a:prstGeom>
          <a:solidFill>
            <a:srgbClr val="13294B"/>
          </a:solidFill>
          <a:ln w="0">
            <a:noFill/>
          </a:ln>
        </p:spPr>
      </p:sp>
      <p:sp>
        <p:nvSpPr>
          <p:cNvPr id="2" name="Part 2 · Small Eviction"/>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Small Eviction</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Small Queue Eviction: Filter New Objects"/>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Small Queue Eviction: Filter New Objects</a:t>
            </a:r>
            <a:endParaRPr sz="3300" b="1">
              <a:solidFill>
                <a:srgbClr val="192337"/>
              </a:solidFill>
              <a:latin typeface="Aptos Display"/>
              <a:ea typeface="Aptos Display"/>
              <a:cs typeface="Aptos Display"/>
            </a:endParaRPr>
          </a:p>
        </p:txBody>
      </p:sp>
      <p:sp>
        <p:nvSpPr>
          <p:cNvPr id="5" name="Inspect the oldest object in Small."/>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Inspect the oldest object in Small.</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09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09 / 12</a:t>
            </a:r>
            <a:endParaRPr sz="900" b="0">
              <a:solidFill>
                <a:srgbClr val="71849E"/>
              </a:solidFill>
              <a:latin typeface="Aptos"/>
              <a:ea typeface="Aptos"/>
              <a:cs typeface="Aptos"/>
            </a:endParaRPr>
          </a:p>
        </p:txBody>
      </p:sp>
      <p:sp>
        <p:nvSpPr>
          <p:cNvPr id="8" name="Objects with a counter greater than one move to Main."/>
          <p:cNvSpPr>
            <a:spLocks noGrp="1"/>
          </p:cNvSpPr>
          <p:nvPr/>
        </p:nvSpPr>
        <p:spPr>
          <a:xfrm>
            <a:off x="762000" y="4848225"/>
            <a:ext cx="10668000" cy="504825"/>
          </a:xfrm>
          <a:prstGeom prst="rect">
            <a:avLst/>
          </a:prstGeom>
          <a:noFill/>
          <a:ln w="0">
            <a:noFill/>
          </a:ln>
        </p:spPr>
        <p:txBody>
          <a:bodyPr wrap="square" lIns="0" tIns="0" rIns="0" bIns="0" anchor="t">
            <a:noAutofit/>
          </a:bodyPr>
          <a:lstStyle>
            <a:defPPr algn="l">
              <a:defRPr sz="2325" b="1">
                <a:solidFill>
                  <a:srgbClr val="192337"/>
                </a:solidFill>
                <a:latin typeface="Aptos"/>
                <a:ea typeface="Aptos"/>
                <a:cs typeface="Aptos"/>
              </a:defRPr>
            </a:defPPr>
            <a:lvl1pPr algn="l">
              <a:defRPr sz="2325" b="1">
                <a:solidFill>
                  <a:srgbClr val="192337"/>
                </a:solidFill>
                <a:latin typeface="Aptos"/>
                <a:ea typeface="Aptos"/>
                <a:cs typeface="Aptos"/>
              </a:defRPr>
            </a:lvl1pPr>
            <a:lvl2pPr algn="l">
              <a:defRPr sz="2325" b="1">
                <a:solidFill>
                  <a:srgbClr val="192337"/>
                </a:solidFill>
                <a:latin typeface="Aptos"/>
                <a:ea typeface="Aptos"/>
                <a:cs typeface="Aptos"/>
              </a:defRPr>
            </a:lvl2pPr>
            <a:lvl3pPr algn="l">
              <a:defRPr sz="2325" b="1">
                <a:solidFill>
                  <a:srgbClr val="192337"/>
                </a:solidFill>
                <a:latin typeface="Aptos"/>
                <a:ea typeface="Aptos"/>
                <a:cs typeface="Aptos"/>
              </a:defRPr>
            </a:lvl3pPr>
            <a:lvl4pPr algn="l">
              <a:defRPr sz="2325" b="1">
                <a:solidFill>
                  <a:srgbClr val="192337"/>
                </a:solidFill>
                <a:latin typeface="Aptos"/>
                <a:ea typeface="Aptos"/>
                <a:cs typeface="Aptos"/>
              </a:defRPr>
            </a:lvl4pPr>
            <a:lvl5pPr algn="l">
              <a:defRPr sz="2325" b="1">
                <a:solidFill>
                  <a:srgbClr val="192337"/>
                </a:solidFill>
                <a:latin typeface="Aptos"/>
                <a:ea typeface="Aptos"/>
                <a:cs typeface="Aptos"/>
              </a:defRPr>
            </a:lvl5pPr>
            <a:lvl6pPr algn="l">
              <a:defRPr sz="2325" b="1">
                <a:solidFill>
                  <a:srgbClr val="192337"/>
                </a:solidFill>
                <a:latin typeface="Aptos"/>
                <a:ea typeface="Aptos"/>
                <a:cs typeface="Aptos"/>
              </a:defRPr>
            </a:lvl6pPr>
            <a:lvl7pPr algn="l">
              <a:defRPr sz="2325" b="1">
                <a:solidFill>
                  <a:srgbClr val="192337"/>
                </a:solidFill>
                <a:latin typeface="Aptos"/>
                <a:ea typeface="Aptos"/>
                <a:cs typeface="Aptos"/>
              </a:defRPr>
            </a:lvl7pPr>
            <a:lvl8pPr algn="l">
              <a:defRPr sz="2325" b="1">
                <a:solidFill>
                  <a:srgbClr val="192337"/>
                </a:solidFill>
                <a:latin typeface="Aptos"/>
                <a:ea typeface="Aptos"/>
                <a:cs typeface="Aptos"/>
              </a:defRPr>
            </a:lvl8pPr>
            <a:lvl9pPr algn="l">
              <a:defRPr sz="2325" b="1">
                <a:solidFill>
                  <a:srgbClr val="192337"/>
                </a:solidFill>
                <a:latin typeface="Aptos"/>
                <a:ea typeface="Aptos"/>
                <a:cs typeface="Aptos"/>
              </a:defRPr>
            </a:lvl9pPr>
          </a:lstStyle>
          <a:p>
            <a:pPr algn="l">
              <a:defRPr sz="2325" b="1">
                <a:solidFill>
                  <a:srgbClr val="192337"/>
                </a:solidFill>
                <a:latin typeface="Aptos"/>
                <a:ea typeface="Aptos"/>
                <a:cs typeface="Aptos"/>
              </a:defRPr>
            </a:pPr>
            <a:r>
              <a:rPr sz="2325" b="1">
                <a:solidFill>
                  <a:srgbClr val="192337"/>
                </a:solidFill>
                <a:latin typeface="Aptos"/>
                <a:ea typeface="Aptos"/>
                <a:cs typeface="Aptos"/>
              </a:rPr>
              <a:t>Objects with a counter greater than one move to Main.</a:t>
            </a:r>
            <a:endParaRPr sz="2325" b="1">
              <a:solidFill>
                <a:srgbClr val="192337"/>
              </a:solidFill>
              <a:latin typeface="Aptos"/>
              <a:ea typeface="Aptos"/>
              <a:cs typeface="Aptos"/>
            </a:endParaRPr>
          </a:p>
        </p:txBody>
      </p:sp>
      <p:sp>
        <p:nvSpPr>
          <p:cNvPr id="9" name="Otherwise, remove the data and send their IDs to Ghost."/>
          <p:cNvSpPr>
            <a:spLocks noGrp="1"/>
          </p:cNvSpPr>
          <p:nvPr/>
        </p:nvSpPr>
        <p:spPr>
          <a:xfrm>
            <a:off x="762000" y="5438775"/>
            <a:ext cx="10668000" cy="504825"/>
          </a:xfrm>
          <a:prstGeom prst="rect">
            <a:avLst/>
          </a:prstGeom>
          <a:noFill/>
          <a:ln w="0">
            <a:noFill/>
          </a:ln>
        </p:spPr>
        <p:txBody>
          <a:bodyPr wrap="square" lIns="0" tIns="0" rIns="0" bIns="0" anchor="t">
            <a:noAutofit/>
          </a:bodyPr>
          <a:lstStyle>
            <a:defPPr algn="l">
              <a:defRPr sz="2325" b="0">
                <a:solidFill>
                  <a:srgbClr val="192337"/>
                </a:solidFill>
                <a:latin typeface="Aptos"/>
                <a:ea typeface="Aptos"/>
                <a:cs typeface="Aptos"/>
              </a:defRPr>
            </a:defPPr>
            <a:lvl1pPr algn="l">
              <a:defRPr sz="2325" b="0">
                <a:solidFill>
                  <a:srgbClr val="192337"/>
                </a:solidFill>
                <a:latin typeface="Aptos"/>
                <a:ea typeface="Aptos"/>
                <a:cs typeface="Aptos"/>
              </a:defRPr>
            </a:lvl1pPr>
            <a:lvl2pPr algn="l">
              <a:defRPr sz="2325" b="0">
                <a:solidFill>
                  <a:srgbClr val="192337"/>
                </a:solidFill>
                <a:latin typeface="Aptos"/>
                <a:ea typeface="Aptos"/>
                <a:cs typeface="Aptos"/>
              </a:defRPr>
            </a:lvl2pPr>
            <a:lvl3pPr algn="l">
              <a:defRPr sz="2325" b="0">
                <a:solidFill>
                  <a:srgbClr val="192337"/>
                </a:solidFill>
                <a:latin typeface="Aptos"/>
                <a:ea typeface="Aptos"/>
                <a:cs typeface="Aptos"/>
              </a:defRPr>
            </a:lvl3pPr>
            <a:lvl4pPr algn="l">
              <a:defRPr sz="2325" b="0">
                <a:solidFill>
                  <a:srgbClr val="192337"/>
                </a:solidFill>
                <a:latin typeface="Aptos"/>
                <a:ea typeface="Aptos"/>
                <a:cs typeface="Aptos"/>
              </a:defRPr>
            </a:lvl4pPr>
            <a:lvl5pPr algn="l">
              <a:defRPr sz="2325" b="0">
                <a:solidFill>
                  <a:srgbClr val="192337"/>
                </a:solidFill>
                <a:latin typeface="Aptos"/>
                <a:ea typeface="Aptos"/>
                <a:cs typeface="Aptos"/>
              </a:defRPr>
            </a:lvl5pPr>
            <a:lvl6pPr algn="l">
              <a:defRPr sz="2325" b="0">
                <a:solidFill>
                  <a:srgbClr val="192337"/>
                </a:solidFill>
                <a:latin typeface="Aptos"/>
                <a:ea typeface="Aptos"/>
                <a:cs typeface="Aptos"/>
              </a:defRPr>
            </a:lvl6pPr>
            <a:lvl7pPr algn="l">
              <a:defRPr sz="2325" b="0">
                <a:solidFill>
                  <a:srgbClr val="192337"/>
                </a:solidFill>
                <a:latin typeface="Aptos"/>
                <a:ea typeface="Aptos"/>
                <a:cs typeface="Aptos"/>
              </a:defRPr>
            </a:lvl7pPr>
            <a:lvl8pPr algn="l">
              <a:defRPr sz="2325" b="0">
                <a:solidFill>
                  <a:srgbClr val="192337"/>
                </a:solidFill>
                <a:latin typeface="Aptos"/>
                <a:ea typeface="Aptos"/>
                <a:cs typeface="Aptos"/>
              </a:defRPr>
            </a:lvl8pPr>
            <a:lvl9pPr algn="l">
              <a:defRPr sz="2325" b="0">
                <a:solidFill>
                  <a:srgbClr val="192337"/>
                </a:solidFill>
                <a:latin typeface="Aptos"/>
                <a:ea typeface="Aptos"/>
                <a:cs typeface="Aptos"/>
              </a:defRPr>
            </a:lvl9pPr>
          </a:lstStyle>
          <a:p>
            <a:pPr algn="l">
              <a:defRPr sz="2325" b="0">
                <a:solidFill>
                  <a:srgbClr val="192337"/>
                </a:solidFill>
                <a:latin typeface="Aptos"/>
                <a:ea typeface="Aptos"/>
                <a:cs typeface="Aptos"/>
              </a:defRPr>
            </a:pPr>
            <a:r>
              <a:rPr sz="2325" b="0">
                <a:solidFill>
                  <a:srgbClr val="192337"/>
                </a:solidFill>
                <a:latin typeface="Aptos"/>
                <a:ea typeface="Aptos"/>
                <a:cs typeface="Aptos"/>
              </a:rPr>
              <a:t>Otherwise, remove the data and send their IDs to Ghost.</a:t>
            </a:r>
            <a:endParaRPr sz="2325" b="0">
              <a:solidFill>
                <a:srgbClr val="192337"/>
              </a:solidFill>
              <a:latin typeface="Aptos"/>
              <a:ea typeface="Aptos"/>
              <a:cs typeface="Aptos"/>
            </a:endParaRPr>
          </a:p>
        </p:txBody>
      </p:sp>
      <p:sp>
        <p:nvSpPr>
          <p:cNvPr id="10" name="The paper clears the access bits when an object leaves Small."/>
          <p:cNvSpPr>
            <a:spLocks noGrp="1"/>
          </p:cNvSpPr>
          <p:nvPr/>
        </p:nvSpPr>
        <p:spPr>
          <a:xfrm>
            <a:off x="762000" y="5962650"/>
            <a:ext cx="10668000" cy="314325"/>
          </a:xfrm>
          <a:prstGeom prst="rect">
            <a:avLst/>
          </a:prstGeom>
          <a:noFill/>
          <a:ln w="0">
            <a:noFill/>
          </a:ln>
        </p:spPr>
        <p:txBody>
          <a:bodyPr wrap="square" lIns="0" tIns="0" rIns="0" bIns="0" anchor="t">
            <a:noAutofit/>
          </a:bodyPr>
          <a:lstStyle>
            <a:defPPr algn="l">
              <a:defRPr sz="1800" b="1">
                <a:solidFill>
                  <a:srgbClr val="DE8626"/>
                </a:solidFill>
                <a:latin typeface="Aptos"/>
                <a:ea typeface="Aptos"/>
                <a:cs typeface="Aptos"/>
              </a:defRPr>
            </a:defPPr>
            <a:lvl1pPr algn="l">
              <a:defRPr sz="1800" b="1">
                <a:solidFill>
                  <a:srgbClr val="DE8626"/>
                </a:solidFill>
                <a:latin typeface="Aptos"/>
                <a:ea typeface="Aptos"/>
                <a:cs typeface="Aptos"/>
              </a:defRPr>
            </a:lvl1pPr>
            <a:lvl2pPr algn="l">
              <a:defRPr sz="1800" b="1">
                <a:solidFill>
                  <a:srgbClr val="DE8626"/>
                </a:solidFill>
                <a:latin typeface="Aptos"/>
                <a:ea typeface="Aptos"/>
                <a:cs typeface="Aptos"/>
              </a:defRPr>
            </a:lvl2pPr>
            <a:lvl3pPr algn="l">
              <a:defRPr sz="1800" b="1">
                <a:solidFill>
                  <a:srgbClr val="DE8626"/>
                </a:solidFill>
                <a:latin typeface="Aptos"/>
                <a:ea typeface="Aptos"/>
                <a:cs typeface="Aptos"/>
              </a:defRPr>
            </a:lvl3pPr>
            <a:lvl4pPr algn="l">
              <a:defRPr sz="1800" b="1">
                <a:solidFill>
                  <a:srgbClr val="DE8626"/>
                </a:solidFill>
                <a:latin typeface="Aptos"/>
                <a:ea typeface="Aptos"/>
                <a:cs typeface="Aptos"/>
              </a:defRPr>
            </a:lvl4pPr>
            <a:lvl5pPr algn="l">
              <a:defRPr sz="1800" b="1">
                <a:solidFill>
                  <a:srgbClr val="DE8626"/>
                </a:solidFill>
                <a:latin typeface="Aptos"/>
                <a:ea typeface="Aptos"/>
                <a:cs typeface="Aptos"/>
              </a:defRPr>
            </a:lvl5pPr>
            <a:lvl6pPr algn="l">
              <a:defRPr sz="1800" b="1">
                <a:solidFill>
                  <a:srgbClr val="DE8626"/>
                </a:solidFill>
                <a:latin typeface="Aptos"/>
                <a:ea typeface="Aptos"/>
                <a:cs typeface="Aptos"/>
              </a:defRPr>
            </a:lvl6pPr>
            <a:lvl7pPr algn="l">
              <a:defRPr sz="1800" b="1">
                <a:solidFill>
                  <a:srgbClr val="DE8626"/>
                </a:solidFill>
                <a:latin typeface="Aptos"/>
                <a:ea typeface="Aptos"/>
                <a:cs typeface="Aptos"/>
              </a:defRPr>
            </a:lvl7pPr>
            <a:lvl8pPr algn="l">
              <a:defRPr sz="1800" b="1">
                <a:solidFill>
                  <a:srgbClr val="DE8626"/>
                </a:solidFill>
                <a:latin typeface="Aptos"/>
                <a:ea typeface="Aptos"/>
                <a:cs typeface="Aptos"/>
              </a:defRPr>
            </a:lvl8pPr>
            <a:lvl9pPr algn="l">
              <a:defRPr sz="1800" b="1">
                <a:solidFill>
                  <a:srgbClr val="DE8626"/>
                </a:solidFill>
                <a:latin typeface="Aptos"/>
                <a:ea typeface="Aptos"/>
                <a:cs typeface="Aptos"/>
              </a:defRPr>
            </a:lvl9pPr>
          </a:lstStyle>
          <a:p>
            <a:pPr algn="l">
              <a:defRPr sz="1800" b="1">
                <a:solidFill>
                  <a:srgbClr val="DE8626"/>
                </a:solidFill>
                <a:latin typeface="Aptos"/>
                <a:ea typeface="Aptos"/>
                <a:cs typeface="Aptos"/>
              </a:defRPr>
            </a:pPr>
            <a:r>
              <a:rPr sz="1800" b="1">
                <a:solidFill>
                  <a:srgbClr val="DE8626"/>
                </a:solidFill>
                <a:latin typeface="Aptos"/>
                <a:ea typeface="Aptos"/>
                <a:cs typeface="Aptos"/>
              </a:rPr>
              <a:t>The paper clears the access bits when an object leaves Small.</a:t>
            </a:r>
            <a:endParaRPr sz="1800" b="1">
              <a:solidFill>
                <a:srgbClr val="DE8626"/>
              </a:solidFill>
              <a:latin typeface="Aptos"/>
              <a:ea typeface="Aptos"/>
              <a:cs typeface="Aptos"/>
            </a:endParaRPr>
          </a:p>
        </p:txBody>
      </p:sp>
      <p:sp>
        <p:nvSpPr>
          <p:cNvPr id="11" name="Source: Section 4.1 and Algorithm 1, lines 19–30 · Yang et al., SOSP 2"/>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Section 4.1 and Algorithm 1, lines 19–30 · Yang et al., SOSP 2023</a:t>
            </a:r>
            <a:endParaRPr sz="975" b="0">
              <a:solidFill>
                <a:srgbClr val="71849E"/>
              </a:solidFill>
              <a:latin typeface="Aptos"/>
              <a:ea typeface="Aptos"/>
              <a:cs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grpSp>
        <p:nvGrpSpPr>
          <p:cNvPr id="10600" name="Original slide 14 diagram"/>
          <p:cNvGrpSpPr/>
          <p:nvPr/>
        </p:nvGrpSpPr>
        <p:grpSpPr>
          <a:xfrm>
            <a:off x="714375" y="2047875"/>
            <a:ext cx="10763250" cy="2505075"/>
            <a:chOff x="1076325" y="2057400"/>
            <a:chExt cx="9848850" cy="2295525"/>
          </a:xfrm>
        </p:grpSpPr>
        <p:sp>
          <p:nvSpPr>
            <p:cNvPr id="10601" name="Rounded Rectangle 7"/>
            <p:cNvSpPr/>
            <p:nvPr/>
          </p:nvSpPr>
          <p:spPr>
            <a:xfrm>
              <a:off x="2834640" y="2057400"/>
              <a:ext cx="6519672" cy="73152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0602" name="TextBox 8"/>
            <p:cNvSpPr txBox="1"/>
            <p:nvPr/>
          </p:nvSpPr>
          <p:spPr>
            <a:xfrm>
              <a:off x="2944368" y="2203704"/>
              <a:ext cx="6300216" cy="548640"/>
            </a:xfrm>
            <a:prstGeom prst="rect">
              <a:avLst/>
            </a:prstGeom>
            <a:noFill/>
          </p:spPr>
          <p:txBody>
            <a:bodyPr wrap="square" lIns="0" tIns="0" rIns="0" bIns="0">
              <a:spAutoFit/>
            </a:bodyPr>
            <a:lstStyle/>
            <a:p>
              <a:pPr algn="ctr">
                <a:lnSpc>
                  <a:spcPct val="112000"/>
                </a:lnSpc>
                <a:spcBef>
                  <a:spcPts val="0"/>
                </a:spcBef>
                <a:spcAft>
                  <a:spcPts val="500"/>
                </a:spcAft>
              </a:pPr>
              <a:r>
                <a:rPr sz="2500" b="1">
                  <a:solidFill>
                    <a:srgbClr val="2D6DAF"/>
                  </a:solidFill>
                  <a:latin typeface="Aptos"/>
                </a:rPr>
                <a:t>Oldest object: freq &gt; 0?</a:t>
              </a:r>
              <a:endParaRPr sz="2500" b="1">
                <a:solidFill>
                  <a:srgbClr val="2D6DAF"/>
                </a:solidFill>
                <a:latin typeface="Aptos"/>
              </a:endParaRPr>
            </a:p>
          </p:txBody>
        </p:sp>
        <p:cxnSp>
          <p:nvCxnSpPr>
            <p:cNvPr id="10603" name="Connector 9"/>
            <p:cNvCxnSpPr/>
            <p:nvPr/>
          </p:nvCxnSpPr>
          <p:spPr>
            <a:xfrm>
              <a:off x="4114800" y="2788920"/>
              <a:ext cx="0" cy="832104"/>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0604" name="TextBox 10"/>
            <p:cNvSpPr txBox="1"/>
            <p:nvPr/>
          </p:nvSpPr>
          <p:spPr>
            <a:xfrm>
              <a:off x="4270248" y="3090672"/>
              <a:ext cx="640080" cy="274320"/>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2D6DAF"/>
                  </a:solidFill>
                  <a:latin typeface="Aptos"/>
                </a:rPr>
                <a:t>Yes</a:t>
              </a:r>
              <a:endParaRPr sz="1400" b="0">
                <a:solidFill>
                  <a:srgbClr val="2D6DAF"/>
                </a:solidFill>
                <a:latin typeface="Aptos"/>
              </a:endParaRPr>
            </a:p>
          </p:txBody>
        </p:sp>
        <p:cxnSp>
          <p:nvCxnSpPr>
            <p:cNvPr id="10605" name="Connector 11"/>
            <p:cNvCxnSpPr/>
            <p:nvPr/>
          </p:nvCxnSpPr>
          <p:spPr>
            <a:xfrm>
              <a:off x="7955279" y="2788920"/>
              <a:ext cx="0" cy="832104"/>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0606" name="TextBox 12"/>
            <p:cNvSpPr txBox="1"/>
            <p:nvPr/>
          </p:nvSpPr>
          <p:spPr>
            <a:xfrm>
              <a:off x="8110727" y="3090672"/>
              <a:ext cx="640080" cy="274320"/>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788594"/>
                  </a:solidFill>
                  <a:latin typeface="Aptos"/>
                </a:rPr>
                <a:t>No</a:t>
              </a:r>
              <a:endParaRPr sz="1400" b="0">
                <a:solidFill>
                  <a:srgbClr val="788594"/>
                </a:solidFill>
                <a:latin typeface="Aptos"/>
              </a:endParaRPr>
            </a:p>
          </p:txBody>
        </p:sp>
        <p:sp>
          <p:nvSpPr>
            <p:cNvPr id="10607" name="Rounded Rectangle 13"/>
            <p:cNvSpPr/>
            <p:nvPr/>
          </p:nvSpPr>
          <p:spPr>
            <a:xfrm>
              <a:off x="1078992" y="3621024"/>
              <a:ext cx="4700016" cy="73152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0608" name="TextBox 14"/>
            <p:cNvSpPr txBox="1"/>
            <p:nvPr/>
          </p:nvSpPr>
          <p:spPr>
            <a:xfrm>
              <a:off x="1188719" y="3767328"/>
              <a:ext cx="4480559" cy="548640"/>
            </a:xfrm>
            <a:prstGeom prst="rect">
              <a:avLst/>
            </a:prstGeom>
            <a:noFill/>
          </p:spPr>
          <p:txBody>
            <a:bodyPr wrap="square" lIns="0" tIns="0" rIns="0" bIns="0">
              <a:spAutoFit/>
            </a:bodyPr>
            <a:lstStyle/>
            <a:p>
              <a:pPr algn="ctr">
                <a:lnSpc>
                  <a:spcPct val="112000"/>
                </a:lnSpc>
                <a:spcBef>
                  <a:spcPts val="0"/>
                </a:spcBef>
                <a:spcAft>
                  <a:spcPts val="500"/>
                </a:spcAft>
              </a:pPr>
              <a:r>
                <a:rPr sz="2100" b="1">
                  <a:solidFill>
                    <a:srgbClr val="2D6DAF"/>
                  </a:solidFill>
                  <a:latin typeface="Aptos"/>
                </a:rPr>
                <a:t>Reinsert into Main; freq − 1</a:t>
              </a:r>
              <a:endParaRPr sz="2100" b="1">
                <a:solidFill>
                  <a:srgbClr val="2D6DAF"/>
                </a:solidFill>
                <a:latin typeface="Aptos"/>
              </a:endParaRPr>
            </a:p>
          </p:txBody>
        </p:sp>
        <p:sp>
          <p:nvSpPr>
            <p:cNvPr id="10609" name="Rounded Rectangle 15"/>
            <p:cNvSpPr/>
            <p:nvPr/>
          </p:nvSpPr>
          <p:spPr>
            <a:xfrm>
              <a:off x="6217920" y="3621024"/>
              <a:ext cx="4700016" cy="73152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0610" name="TextBox 16"/>
            <p:cNvSpPr txBox="1"/>
            <p:nvPr/>
          </p:nvSpPr>
          <p:spPr>
            <a:xfrm>
              <a:off x="6327648" y="3767328"/>
              <a:ext cx="4480559" cy="548640"/>
            </a:xfrm>
            <a:prstGeom prst="rect">
              <a:avLst/>
            </a:prstGeom>
            <a:noFill/>
          </p:spPr>
          <p:txBody>
            <a:bodyPr wrap="square" lIns="0" tIns="0" rIns="0" bIns="0">
              <a:spAutoFit/>
            </a:bodyPr>
            <a:lstStyle/>
            <a:p>
              <a:pPr algn="ctr">
                <a:lnSpc>
                  <a:spcPct val="112000"/>
                </a:lnSpc>
                <a:spcBef>
                  <a:spcPts val="0"/>
                </a:spcBef>
                <a:spcAft>
                  <a:spcPts val="500"/>
                </a:spcAft>
              </a:pPr>
              <a:r>
                <a:rPr sz="2000" b="1">
                  <a:solidFill>
                    <a:srgbClr val="788594"/>
                  </a:solidFill>
                  <a:latin typeface="Aptos"/>
                </a:rPr>
                <a:t>Evict the object</a:t>
              </a:r>
              <a:endParaRPr sz="2000" b="1">
                <a:solidFill>
                  <a:srgbClr val="788594"/>
                </a:solidFill>
                <a:latin typeface="Aptos"/>
              </a:endParaRPr>
            </a:p>
          </p:txBody>
        </p:sp>
      </p:grpSp>
      <p:sp>
        <p:nvSpPr>
          <p:cNvPr id="12" name="template-element-15"/>
          <p:cNvSpPr>
            <a:spLocks noGrp="1"/>
          </p:cNvSpPr>
          <p:nvPr/>
        </p:nvSpPr>
        <p:spPr>
          <a:xfrm>
            <a:off x="0" y="0"/>
            <a:ext cx="12192000" cy="409575"/>
          </a:xfrm>
          <a:prstGeom prst="rect">
            <a:avLst/>
          </a:prstGeom>
          <a:solidFill>
            <a:srgbClr val="13294B"/>
          </a:solidFill>
          <a:ln w="0">
            <a:noFill/>
          </a:ln>
        </p:spPr>
      </p:sp>
      <p:sp>
        <p:nvSpPr>
          <p:cNvPr id="2" name="Part 2 · Main Eviction"/>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Main Eviction</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Main Queue Eviction: A Second Chance"/>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Main Queue Eviction: A Second Chance</a:t>
            </a:r>
            <a:endParaRPr sz="3300" b="1">
              <a:solidFill>
                <a:srgbClr val="192337"/>
              </a:solidFill>
              <a:latin typeface="Aptos Display"/>
              <a:ea typeface="Aptos Display"/>
              <a:cs typeface="Aptos Display"/>
            </a:endParaRPr>
          </a:p>
        </p:txBody>
      </p:sp>
      <p:sp>
        <p:nvSpPr>
          <p:cNvPr id="5" name="Inspect the oldest object in Main."/>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Inspect the oldest object in Main.</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10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10 / 12</a:t>
            </a:r>
            <a:endParaRPr sz="900" b="0">
              <a:solidFill>
                <a:srgbClr val="71849E"/>
              </a:solidFill>
              <a:latin typeface="Aptos"/>
              <a:ea typeface="Aptos"/>
              <a:cs typeface="Aptos"/>
            </a:endParaRPr>
          </a:p>
        </p:txBody>
      </p:sp>
      <p:sp>
        <p:nvSpPr>
          <p:cNvPr id="8" name="Objects with a positive counter get another chance,"/>
          <p:cNvSpPr>
            <a:spLocks noGrp="1"/>
          </p:cNvSpPr>
          <p:nvPr/>
        </p:nvSpPr>
        <p:spPr>
          <a:xfrm>
            <a:off x="762000" y="4867275"/>
            <a:ext cx="10668000" cy="485775"/>
          </a:xfrm>
          <a:prstGeom prst="rect">
            <a:avLst/>
          </a:prstGeom>
          <a:noFill/>
          <a:ln w="0">
            <a:noFill/>
          </a:ln>
        </p:spPr>
        <p:txBody>
          <a:bodyPr wrap="square" lIns="0" tIns="0" rIns="0" bIns="0" anchor="t">
            <a:noAutofit/>
          </a:bodyPr>
          <a:lstStyle>
            <a:defPPr algn="l">
              <a:defRPr sz="2325" b="1">
                <a:solidFill>
                  <a:srgbClr val="192337"/>
                </a:solidFill>
                <a:latin typeface="Aptos"/>
                <a:ea typeface="Aptos"/>
                <a:cs typeface="Aptos"/>
              </a:defRPr>
            </a:defPPr>
            <a:lvl1pPr algn="l">
              <a:defRPr sz="2325" b="1">
                <a:solidFill>
                  <a:srgbClr val="192337"/>
                </a:solidFill>
                <a:latin typeface="Aptos"/>
                <a:ea typeface="Aptos"/>
                <a:cs typeface="Aptos"/>
              </a:defRPr>
            </a:lvl1pPr>
            <a:lvl2pPr algn="l">
              <a:defRPr sz="2325" b="1">
                <a:solidFill>
                  <a:srgbClr val="192337"/>
                </a:solidFill>
                <a:latin typeface="Aptos"/>
                <a:ea typeface="Aptos"/>
                <a:cs typeface="Aptos"/>
              </a:defRPr>
            </a:lvl2pPr>
            <a:lvl3pPr algn="l">
              <a:defRPr sz="2325" b="1">
                <a:solidFill>
                  <a:srgbClr val="192337"/>
                </a:solidFill>
                <a:latin typeface="Aptos"/>
                <a:ea typeface="Aptos"/>
                <a:cs typeface="Aptos"/>
              </a:defRPr>
            </a:lvl3pPr>
            <a:lvl4pPr algn="l">
              <a:defRPr sz="2325" b="1">
                <a:solidFill>
                  <a:srgbClr val="192337"/>
                </a:solidFill>
                <a:latin typeface="Aptos"/>
                <a:ea typeface="Aptos"/>
                <a:cs typeface="Aptos"/>
              </a:defRPr>
            </a:lvl4pPr>
            <a:lvl5pPr algn="l">
              <a:defRPr sz="2325" b="1">
                <a:solidFill>
                  <a:srgbClr val="192337"/>
                </a:solidFill>
                <a:latin typeface="Aptos"/>
                <a:ea typeface="Aptos"/>
                <a:cs typeface="Aptos"/>
              </a:defRPr>
            </a:lvl5pPr>
            <a:lvl6pPr algn="l">
              <a:defRPr sz="2325" b="1">
                <a:solidFill>
                  <a:srgbClr val="192337"/>
                </a:solidFill>
                <a:latin typeface="Aptos"/>
                <a:ea typeface="Aptos"/>
                <a:cs typeface="Aptos"/>
              </a:defRPr>
            </a:lvl6pPr>
            <a:lvl7pPr algn="l">
              <a:defRPr sz="2325" b="1">
                <a:solidFill>
                  <a:srgbClr val="192337"/>
                </a:solidFill>
                <a:latin typeface="Aptos"/>
                <a:ea typeface="Aptos"/>
                <a:cs typeface="Aptos"/>
              </a:defRPr>
            </a:lvl7pPr>
            <a:lvl8pPr algn="l">
              <a:defRPr sz="2325" b="1">
                <a:solidFill>
                  <a:srgbClr val="192337"/>
                </a:solidFill>
                <a:latin typeface="Aptos"/>
                <a:ea typeface="Aptos"/>
                <a:cs typeface="Aptos"/>
              </a:defRPr>
            </a:lvl8pPr>
            <a:lvl9pPr algn="l">
              <a:defRPr sz="2325" b="1">
                <a:solidFill>
                  <a:srgbClr val="192337"/>
                </a:solidFill>
                <a:latin typeface="Aptos"/>
                <a:ea typeface="Aptos"/>
                <a:cs typeface="Aptos"/>
              </a:defRPr>
            </a:lvl9pPr>
          </a:lstStyle>
          <a:p>
            <a:pPr algn="l">
              <a:defRPr sz="2325" b="1">
                <a:solidFill>
                  <a:srgbClr val="192337"/>
                </a:solidFill>
                <a:latin typeface="Aptos"/>
                <a:ea typeface="Aptos"/>
                <a:cs typeface="Aptos"/>
              </a:defRPr>
            </a:pPr>
            <a:r>
              <a:rPr sz="2325" b="1">
                <a:solidFill>
                  <a:srgbClr val="192337"/>
                </a:solidFill>
                <a:latin typeface="Aptos"/>
                <a:ea typeface="Aptos"/>
                <a:cs typeface="Aptos"/>
              </a:rPr>
              <a:t>Objects with a positive counter get another chance,</a:t>
            </a:r>
            <a:endParaRPr sz="2325" b="1">
              <a:solidFill>
                <a:srgbClr val="192337"/>
              </a:solidFill>
              <a:latin typeface="Aptos"/>
              <a:ea typeface="Aptos"/>
              <a:cs typeface="Aptos"/>
            </a:endParaRPr>
          </a:p>
        </p:txBody>
      </p:sp>
      <p:sp>
        <p:nvSpPr>
          <p:cNvPr id="9" name="and the counter decreases by one."/>
          <p:cNvSpPr>
            <a:spLocks noGrp="1"/>
          </p:cNvSpPr>
          <p:nvPr/>
        </p:nvSpPr>
        <p:spPr>
          <a:xfrm>
            <a:off x="762000" y="5381625"/>
            <a:ext cx="10668000" cy="485775"/>
          </a:xfrm>
          <a:prstGeom prst="rect">
            <a:avLst/>
          </a:prstGeom>
          <a:noFill/>
          <a:ln w="0">
            <a:noFill/>
          </a:ln>
        </p:spPr>
        <p:txBody>
          <a:bodyPr wrap="square" lIns="0" tIns="0" rIns="0" bIns="0" anchor="t">
            <a:noAutofit/>
          </a:bodyPr>
          <a:lstStyle>
            <a:defPPr algn="l">
              <a:defRPr sz="2325" b="0">
                <a:solidFill>
                  <a:srgbClr val="192337"/>
                </a:solidFill>
                <a:latin typeface="Aptos"/>
                <a:ea typeface="Aptos"/>
                <a:cs typeface="Aptos"/>
              </a:defRPr>
            </a:defPPr>
            <a:lvl1pPr algn="l">
              <a:defRPr sz="2325" b="0">
                <a:solidFill>
                  <a:srgbClr val="192337"/>
                </a:solidFill>
                <a:latin typeface="Aptos"/>
                <a:ea typeface="Aptos"/>
                <a:cs typeface="Aptos"/>
              </a:defRPr>
            </a:lvl1pPr>
            <a:lvl2pPr algn="l">
              <a:defRPr sz="2325" b="0">
                <a:solidFill>
                  <a:srgbClr val="192337"/>
                </a:solidFill>
                <a:latin typeface="Aptos"/>
                <a:ea typeface="Aptos"/>
                <a:cs typeface="Aptos"/>
              </a:defRPr>
            </a:lvl2pPr>
            <a:lvl3pPr algn="l">
              <a:defRPr sz="2325" b="0">
                <a:solidFill>
                  <a:srgbClr val="192337"/>
                </a:solidFill>
                <a:latin typeface="Aptos"/>
                <a:ea typeface="Aptos"/>
                <a:cs typeface="Aptos"/>
              </a:defRPr>
            </a:lvl3pPr>
            <a:lvl4pPr algn="l">
              <a:defRPr sz="2325" b="0">
                <a:solidFill>
                  <a:srgbClr val="192337"/>
                </a:solidFill>
                <a:latin typeface="Aptos"/>
                <a:ea typeface="Aptos"/>
                <a:cs typeface="Aptos"/>
              </a:defRPr>
            </a:lvl4pPr>
            <a:lvl5pPr algn="l">
              <a:defRPr sz="2325" b="0">
                <a:solidFill>
                  <a:srgbClr val="192337"/>
                </a:solidFill>
                <a:latin typeface="Aptos"/>
                <a:ea typeface="Aptos"/>
                <a:cs typeface="Aptos"/>
              </a:defRPr>
            </a:lvl5pPr>
            <a:lvl6pPr algn="l">
              <a:defRPr sz="2325" b="0">
                <a:solidFill>
                  <a:srgbClr val="192337"/>
                </a:solidFill>
                <a:latin typeface="Aptos"/>
                <a:ea typeface="Aptos"/>
                <a:cs typeface="Aptos"/>
              </a:defRPr>
            </a:lvl6pPr>
            <a:lvl7pPr algn="l">
              <a:defRPr sz="2325" b="0">
                <a:solidFill>
                  <a:srgbClr val="192337"/>
                </a:solidFill>
                <a:latin typeface="Aptos"/>
                <a:ea typeface="Aptos"/>
                <a:cs typeface="Aptos"/>
              </a:defRPr>
            </a:lvl7pPr>
            <a:lvl8pPr algn="l">
              <a:defRPr sz="2325" b="0">
                <a:solidFill>
                  <a:srgbClr val="192337"/>
                </a:solidFill>
                <a:latin typeface="Aptos"/>
                <a:ea typeface="Aptos"/>
                <a:cs typeface="Aptos"/>
              </a:defRPr>
            </a:lvl8pPr>
            <a:lvl9pPr algn="l">
              <a:defRPr sz="2325" b="0">
                <a:solidFill>
                  <a:srgbClr val="192337"/>
                </a:solidFill>
                <a:latin typeface="Aptos"/>
                <a:ea typeface="Aptos"/>
                <a:cs typeface="Aptos"/>
              </a:defRPr>
            </a:lvl9pPr>
          </a:lstStyle>
          <a:p>
            <a:pPr algn="l">
              <a:defRPr sz="2325" b="0">
                <a:solidFill>
                  <a:srgbClr val="192337"/>
                </a:solidFill>
                <a:latin typeface="Aptos"/>
                <a:ea typeface="Aptos"/>
                <a:cs typeface="Aptos"/>
              </a:defRPr>
            </a:pPr>
            <a:r>
              <a:rPr sz="2325" b="0">
                <a:solidFill>
                  <a:srgbClr val="192337"/>
                </a:solidFill>
                <a:latin typeface="Aptos"/>
                <a:ea typeface="Aptos"/>
                <a:cs typeface="Aptos"/>
              </a:rPr>
              <a:t>and the counter decreases by one.</a:t>
            </a:r>
            <a:endParaRPr sz="2325" b="0">
              <a:solidFill>
                <a:srgbClr val="192337"/>
              </a:solidFill>
              <a:latin typeface="Aptos"/>
              <a:ea typeface="Aptos"/>
              <a:cs typeface="Aptos"/>
            </a:endParaRPr>
          </a:p>
        </p:txBody>
      </p:sp>
      <p:sp>
        <p:nvSpPr>
          <p:cNvPr id="10" name="Objects with a counter of zero are removed."/>
          <p:cNvSpPr>
            <a:spLocks noGrp="1"/>
          </p:cNvSpPr>
          <p:nvPr/>
        </p:nvSpPr>
        <p:spPr>
          <a:xfrm>
            <a:off x="762000" y="5895975"/>
            <a:ext cx="10668000" cy="419100"/>
          </a:xfrm>
          <a:prstGeom prst="rect">
            <a:avLst/>
          </a:prstGeom>
          <a:noFill/>
          <a:ln w="0">
            <a:noFill/>
          </a:ln>
        </p:spPr>
        <p:txBody>
          <a:bodyPr wrap="square" lIns="0" tIns="0" rIns="0" bIns="0" anchor="t">
            <a:noAutofit/>
          </a:bodyPr>
          <a:lstStyle>
            <a:defPPr algn="l">
              <a:defRPr sz="2325" b="1">
                <a:solidFill>
                  <a:srgbClr val="2E6FB5"/>
                </a:solidFill>
                <a:latin typeface="Aptos"/>
                <a:ea typeface="Aptos"/>
                <a:cs typeface="Aptos"/>
              </a:defRPr>
            </a:defPPr>
            <a:lvl1pPr algn="l">
              <a:defRPr sz="2325" b="1">
                <a:solidFill>
                  <a:srgbClr val="2E6FB5"/>
                </a:solidFill>
                <a:latin typeface="Aptos"/>
                <a:ea typeface="Aptos"/>
                <a:cs typeface="Aptos"/>
              </a:defRPr>
            </a:lvl1pPr>
            <a:lvl2pPr algn="l">
              <a:defRPr sz="2325" b="1">
                <a:solidFill>
                  <a:srgbClr val="2E6FB5"/>
                </a:solidFill>
                <a:latin typeface="Aptos"/>
                <a:ea typeface="Aptos"/>
                <a:cs typeface="Aptos"/>
              </a:defRPr>
            </a:lvl2pPr>
            <a:lvl3pPr algn="l">
              <a:defRPr sz="2325" b="1">
                <a:solidFill>
                  <a:srgbClr val="2E6FB5"/>
                </a:solidFill>
                <a:latin typeface="Aptos"/>
                <a:ea typeface="Aptos"/>
                <a:cs typeface="Aptos"/>
              </a:defRPr>
            </a:lvl3pPr>
            <a:lvl4pPr algn="l">
              <a:defRPr sz="2325" b="1">
                <a:solidFill>
                  <a:srgbClr val="2E6FB5"/>
                </a:solidFill>
                <a:latin typeface="Aptos"/>
                <a:ea typeface="Aptos"/>
                <a:cs typeface="Aptos"/>
              </a:defRPr>
            </a:lvl4pPr>
            <a:lvl5pPr algn="l">
              <a:defRPr sz="2325" b="1">
                <a:solidFill>
                  <a:srgbClr val="2E6FB5"/>
                </a:solidFill>
                <a:latin typeface="Aptos"/>
                <a:ea typeface="Aptos"/>
                <a:cs typeface="Aptos"/>
              </a:defRPr>
            </a:lvl5pPr>
            <a:lvl6pPr algn="l">
              <a:defRPr sz="2325" b="1">
                <a:solidFill>
                  <a:srgbClr val="2E6FB5"/>
                </a:solidFill>
                <a:latin typeface="Aptos"/>
                <a:ea typeface="Aptos"/>
                <a:cs typeface="Aptos"/>
              </a:defRPr>
            </a:lvl6pPr>
            <a:lvl7pPr algn="l">
              <a:defRPr sz="2325" b="1">
                <a:solidFill>
                  <a:srgbClr val="2E6FB5"/>
                </a:solidFill>
                <a:latin typeface="Aptos"/>
                <a:ea typeface="Aptos"/>
                <a:cs typeface="Aptos"/>
              </a:defRPr>
            </a:lvl7pPr>
            <a:lvl8pPr algn="l">
              <a:defRPr sz="2325" b="1">
                <a:solidFill>
                  <a:srgbClr val="2E6FB5"/>
                </a:solidFill>
                <a:latin typeface="Aptos"/>
                <a:ea typeface="Aptos"/>
                <a:cs typeface="Aptos"/>
              </a:defRPr>
            </a:lvl8pPr>
            <a:lvl9pPr algn="l">
              <a:defRPr sz="2325" b="1">
                <a:solidFill>
                  <a:srgbClr val="2E6FB5"/>
                </a:solidFill>
                <a:latin typeface="Aptos"/>
                <a:ea typeface="Aptos"/>
                <a:cs typeface="Aptos"/>
              </a:defRPr>
            </a:lvl9pPr>
          </a:lstStyle>
          <a:p>
            <a:pPr algn="l">
              <a:defRPr sz="2325" b="1">
                <a:solidFill>
                  <a:srgbClr val="2E6FB5"/>
                </a:solidFill>
                <a:latin typeface="Aptos"/>
                <a:ea typeface="Aptos"/>
                <a:cs typeface="Aptos"/>
              </a:defRPr>
            </a:pPr>
            <a:r>
              <a:rPr sz="2325" b="1">
                <a:solidFill>
                  <a:srgbClr val="2E6FB5"/>
                </a:solidFill>
                <a:latin typeface="Aptos"/>
                <a:ea typeface="Aptos"/>
                <a:cs typeface="Aptos"/>
              </a:rPr>
              <a:t>Objects with a counter of zero are removed.</a:t>
            </a:r>
            <a:endParaRPr sz="2325" b="1">
              <a:solidFill>
                <a:srgbClr val="2E6FB5"/>
              </a:solidFill>
              <a:latin typeface="Aptos"/>
              <a:ea typeface="Aptos"/>
              <a:cs typeface="Aptos"/>
            </a:endParaRPr>
          </a:p>
        </p:txBody>
      </p:sp>
      <p:sp>
        <p:nvSpPr>
          <p:cNvPr id="11" name="Source: Algorithm 1, lines 31–40 · Yang et al., SOSP 2023"/>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Algorithm 1, lines 31–40 · Yang et al., SOSP 2023</a:t>
            </a:r>
            <a:endParaRPr sz="975" b="0">
              <a:solidFill>
                <a:srgbClr val="71849E"/>
              </a:solidFill>
              <a:latin typeface="Aptos"/>
              <a:ea typeface="Aptos"/>
              <a:cs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14" name="template-element-16"/>
          <p:cNvSpPr>
            <a:spLocks noGrp="1"/>
          </p:cNvSpPr>
          <p:nvPr/>
        </p:nvSpPr>
        <p:spPr>
          <a:xfrm>
            <a:off x="0" y="0"/>
            <a:ext cx="12192000" cy="409575"/>
          </a:xfrm>
          <a:prstGeom prst="rect">
            <a:avLst/>
          </a:prstGeom>
          <a:solidFill>
            <a:srgbClr val="13294B"/>
          </a:solidFill>
          <a:ln w="0">
            <a:noFill/>
          </a:ln>
        </p:spPr>
      </p:sp>
      <p:sp>
        <p:nvSpPr>
          <p:cNvPr id="2" name="Part 2 · Design Rationale"/>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Design Rationale</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Why the Design Is Efficient"/>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Why the Design Is Efficient</a:t>
            </a:r>
            <a:endParaRPr sz="3300" b="1">
              <a:solidFill>
                <a:srgbClr val="192337"/>
              </a:solidFill>
              <a:latin typeface="Aptos Display"/>
              <a:ea typeface="Aptos Display"/>
              <a:cs typeface="Aptos Display"/>
            </a:endParaRPr>
          </a:p>
        </p:txBody>
      </p:sp>
      <p:sp>
        <p:nvSpPr>
          <p:cNvPr id="5" name="The paper combines quick demotion with reinsertion during eviction."/>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The paper combines quick demotion with reinsertion during eviction.</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11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11 / 12</a:t>
            </a:r>
            <a:endParaRPr sz="900" b="0">
              <a:solidFill>
                <a:srgbClr val="71849E"/>
              </a:solidFill>
              <a:latin typeface="Aptos"/>
              <a:ea typeface="Aptos"/>
              <a:cs typeface="Aptos"/>
            </a:endParaRPr>
          </a:p>
        </p:txBody>
      </p:sp>
      <p:sp>
        <p:nvSpPr>
          <p:cNvPr id="8" name="Quick demotion"/>
          <p:cNvSpPr>
            <a:spLocks noGrp="1"/>
          </p:cNvSpPr>
          <p:nvPr/>
        </p:nvSpPr>
        <p:spPr>
          <a:xfrm>
            <a:off x="762000" y="2247900"/>
            <a:ext cx="5048250" cy="590550"/>
          </a:xfrm>
          <a:prstGeom prst="rect">
            <a:avLst/>
          </a:prstGeom>
          <a:noFill/>
          <a:ln w="0">
            <a:noFill/>
          </a:ln>
        </p:spPr>
        <p:txBody>
          <a:bodyPr wrap="square" lIns="0" tIns="0" rIns="0" bIns="0" anchor="t">
            <a:noAutofit/>
          </a:bodyPr>
          <a:lstStyle>
            <a:defPPr algn="l">
              <a:defRPr sz="2925" b="1">
                <a:solidFill>
                  <a:srgbClr val="DE8626"/>
                </a:solidFill>
                <a:latin typeface="Aptos"/>
                <a:ea typeface="Aptos"/>
                <a:cs typeface="Aptos"/>
              </a:defRPr>
            </a:defPPr>
            <a:lvl1pPr algn="l">
              <a:defRPr sz="2925" b="1">
                <a:solidFill>
                  <a:srgbClr val="DE8626"/>
                </a:solidFill>
                <a:latin typeface="Aptos"/>
                <a:ea typeface="Aptos"/>
                <a:cs typeface="Aptos"/>
              </a:defRPr>
            </a:lvl1pPr>
            <a:lvl2pPr algn="l">
              <a:defRPr sz="2925" b="1">
                <a:solidFill>
                  <a:srgbClr val="DE8626"/>
                </a:solidFill>
                <a:latin typeface="Aptos"/>
                <a:ea typeface="Aptos"/>
                <a:cs typeface="Aptos"/>
              </a:defRPr>
            </a:lvl2pPr>
            <a:lvl3pPr algn="l">
              <a:defRPr sz="2925" b="1">
                <a:solidFill>
                  <a:srgbClr val="DE8626"/>
                </a:solidFill>
                <a:latin typeface="Aptos"/>
                <a:ea typeface="Aptos"/>
                <a:cs typeface="Aptos"/>
              </a:defRPr>
            </a:lvl3pPr>
            <a:lvl4pPr algn="l">
              <a:defRPr sz="2925" b="1">
                <a:solidFill>
                  <a:srgbClr val="DE8626"/>
                </a:solidFill>
                <a:latin typeface="Aptos"/>
                <a:ea typeface="Aptos"/>
                <a:cs typeface="Aptos"/>
              </a:defRPr>
            </a:lvl4pPr>
            <a:lvl5pPr algn="l">
              <a:defRPr sz="2925" b="1">
                <a:solidFill>
                  <a:srgbClr val="DE8626"/>
                </a:solidFill>
                <a:latin typeface="Aptos"/>
                <a:ea typeface="Aptos"/>
                <a:cs typeface="Aptos"/>
              </a:defRPr>
            </a:lvl5pPr>
            <a:lvl6pPr algn="l">
              <a:defRPr sz="2925" b="1">
                <a:solidFill>
                  <a:srgbClr val="DE8626"/>
                </a:solidFill>
                <a:latin typeface="Aptos"/>
                <a:ea typeface="Aptos"/>
                <a:cs typeface="Aptos"/>
              </a:defRPr>
            </a:lvl6pPr>
            <a:lvl7pPr algn="l">
              <a:defRPr sz="2925" b="1">
                <a:solidFill>
                  <a:srgbClr val="DE8626"/>
                </a:solidFill>
                <a:latin typeface="Aptos"/>
                <a:ea typeface="Aptos"/>
                <a:cs typeface="Aptos"/>
              </a:defRPr>
            </a:lvl7pPr>
            <a:lvl8pPr algn="l">
              <a:defRPr sz="2925" b="1">
                <a:solidFill>
                  <a:srgbClr val="DE8626"/>
                </a:solidFill>
                <a:latin typeface="Aptos"/>
                <a:ea typeface="Aptos"/>
                <a:cs typeface="Aptos"/>
              </a:defRPr>
            </a:lvl8pPr>
            <a:lvl9pPr algn="l">
              <a:defRPr sz="2925" b="1">
                <a:solidFill>
                  <a:srgbClr val="DE8626"/>
                </a:solidFill>
                <a:latin typeface="Aptos"/>
                <a:ea typeface="Aptos"/>
                <a:cs typeface="Aptos"/>
              </a:defRPr>
            </a:lvl9pPr>
          </a:lstStyle>
          <a:p>
            <a:pPr algn="l">
              <a:defRPr sz="2925" b="1">
                <a:solidFill>
                  <a:srgbClr val="DE8626"/>
                </a:solidFill>
                <a:latin typeface="Aptos"/>
                <a:ea typeface="Aptos"/>
                <a:cs typeface="Aptos"/>
              </a:defRPr>
            </a:pPr>
            <a:r>
              <a:rPr sz="2925" b="1">
                <a:solidFill>
                  <a:srgbClr val="DE8626"/>
                </a:solidFill>
                <a:latin typeface="Aptos"/>
                <a:ea typeface="Aptos"/>
                <a:cs typeface="Aptos"/>
              </a:rPr>
              <a:t>Quick demotion</a:t>
            </a:r>
            <a:endParaRPr sz="2925" b="1">
              <a:solidFill>
                <a:srgbClr val="DE8626"/>
              </a:solidFill>
              <a:latin typeface="Aptos"/>
              <a:ea typeface="Aptos"/>
              <a:cs typeface="Aptos"/>
            </a:endParaRPr>
          </a:p>
        </p:txBody>
      </p:sp>
      <p:sp>
        <p:nvSpPr>
          <p:cNvPr id="9" name="Small removes objects with&#10;little reuse after a short stay."/>
          <p:cNvSpPr>
            <a:spLocks noGrp="1"/>
          </p:cNvSpPr>
          <p:nvPr/>
        </p:nvSpPr>
        <p:spPr>
          <a:xfrm>
            <a:off x="762000" y="3105150"/>
            <a:ext cx="5048250" cy="1219200"/>
          </a:xfrm>
          <a:prstGeom prst="rect">
            <a:avLst/>
          </a:prstGeom>
          <a:noFill/>
          <a:ln w="0">
            <a:noFill/>
          </a:ln>
        </p:spPr>
        <p:txBody>
          <a:bodyPr wrap="square" lIns="0" tIns="0" rIns="0" bIns="0" anchor="t">
            <a:noAutofit/>
          </a:bodyPr>
          <a:lstStyle>
            <a:defPPr algn="l">
              <a:defRPr sz="2550" b="0">
                <a:solidFill>
                  <a:srgbClr val="192337"/>
                </a:solidFill>
                <a:latin typeface="Aptos"/>
                <a:ea typeface="Aptos"/>
                <a:cs typeface="Aptos"/>
              </a:defRPr>
            </a:defPPr>
            <a:lvl1pPr algn="l">
              <a:defRPr sz="2550" b="0">
                <a:solidFill>
                  <a:srgbClr val="192337"/>
                </a:solidFill>
                <a:latin typeface="Aptos"/>
                <a:ea typeface="Aptos"/>
                <a:cs typeface="Aptos"/>
              </a:defRPr>
            </a:lvl1pPr>
            <a:lvl2pPr algn="l">
              <a:defRPr sz="2550" b="0">
                <a:solidFill>
                  <a:srgbClr val="192337"/>
                </a:solidFill>
                <a:latin typeface="Aptos"/>
                <a:ea typeface="Aptos"/>
                <a:cs typeface="Aptos"/>
              </a:defRPr>
            </a:lvl2pPr>
            <a:lvl3pPr algn="l">
              <a:defRPr sz="2550" b="0">
                <a:solidFill>
                  <a:srgbClr val="192337"/>
                </a:solidFill>
                <a:latin typeface="Aptos"/>
                <a:ea typeface="Aptos"/>
                <a:cs typeface="Aptos"/>
              </a:defRPr>
            </a:lvl3pPr>
            <a:lvl4pPr algn="l">
              <a:defRPr sz="2550" b="0">
                <a:solidFill>
                  <a:srgbClr val="192337"/>
                </a:solidFill>
                <a:latin typeface="Aptos"/>
                <a:ea typeface="Aptos"/>
                <a:cs typeface="Aptos"/>
              </a:defRPr>
            </a:lvl4pPr>
            <a:lvl5pPr algn="l">
              <a:defRPr sz="2550" b="0">
                <a:solidFill>
                  <a:srgbClr val="192337"/>
                </a:solidFill>
                <a:latin typeface="Aptos"/>
                <a:ea typeface="Aptos"/>
                <a:cs typeface="Aptos"/>
              </a:defRPr>
            </a:lvl5pPr>
            <a:lvl6pPr algn="l">
              <a:defRPr sz="2550" b="0">
                <a:solidFill>
                  <a:srgbClr val="192337"/>
                </a:solidFill>
                <a:latin typeface="Aptos"/>
                <a:ea typeface="Aptos"/>
                <a:cs typeface="Aptos"/>
              </a:defRPr>
            </a:lvl6pPr>
            <a:lvl7pPr algn="l">
              <a:defRPr sz="2550" b="0">
                <a:solidFill>
                  <a:srgbClr val="192337"/>
                </a:solidFill>
                <a:latin typeface="Aptos"/>
                <a:ea typeface="Aptos"/>
                <a:cs typeface="Aptos"/>
              </a:defRPr>
            </a:lvl7pPr>
            <a:lvl8pPr algn="l">
              <a:defRPr sz="2550" b="0">
                <a:solidFill>
                  <a:srgbClr val="192337"/>
                </a:solidFill>
                <a:latin typeface="Aptos"/>
                <a:ea typeface="Aptos"/>
                <a:cs typeface="Aptos"/>
              </a:defRPr>
            </a:lvl8pPr>
            <a:lvl9pPr algn="l">
              <a:defRPr sz="2550" b="0">
                <a:solidFill>
                  <a:srgbClr val="192337"/>
                </a:solidFill>
                <a:latin typeface="Aptos"/>
                <a:ea typeface="Aptos"/>
                <a:cs typeface="Aptos"/>
              </a:defRPr>
            </a:lvl9pPr>
          </a:lstStyle>
          <a:p>
            <a:pPr algn="l">
              <a:defRPr sz="2550" b="0">
                <a:solidFill>
                  <a:srgbClr val="192337"/>
                </a:solidFill>
                <a:latin typeface="Aptos"/>
                <a:ea typeface="Aptos"/>
                <a:cs typeface="Aptos"/>
              </a:defRPr>
            </a:pPr>
            <a:r>
              <a:rPr sz="2550" b="0">
                <a:solidFill>
                  <a:srgbClr val="192337"/>
                </a:solidFill>
                <a:latin typeface="Aptos"/>
                <a:ea typeface="Aptos"/>
                <a:cs typeface="Aptos"/>
              </a:rPr>
              <a:t>Small removes objects with</a:t>
            </a:r>
            <a:endParaRPr sz="2550" b="0">
              <a:solidFill>
                <a:srgbClr val="192337"/>
              </a:solidFill>
              <a:latin typeface="Aptos"/>
              <a:ea typeface="Aptos"/>
              <a:cs typeface="Aptos"/>
            </a:endParaRPr>
          </a:p>
          <a:p>
            <a:pPr algn="l">
              <a:defRPr sz="2550" b="0">
                <a:solidFill>
                  <a:srgbClr val="192337"/>
                </a:solidFill>
                <a:latin typeface="Aptos"/>
                <a:ea typeface="Aptos"/>
                <a:cs typeface="Aptos"/>
              </a:defRPr>
            </a:pPr>
            <a:r>
              <a:rPr sz="2550" b="0">
                <a:solidFill>
                  <a:srgbClr val="192337"/>
                </a:solidFill>
                <a:latin typeface="Aptos"/>
                <a:ea typeface="Aptos"/>
                <a:cs typeface="Aptos"/>
              </a:rPr>
              <a:t>little reuse after a short stay.</a:t>
            </a:r>
            <a:endParaRPr sz="2550" b="0">
              <a:solidFill>
                <a:srgbClr val="192337"/>
              </a:solidFill>
              <a:latin typeface="Aptos"/>
              <a:ea typeface="Aptos"/>
              <a:cs typeface="Aptos"/>
            </a:endParaRPr>
          </a:p>
        </p:txBody>
      </p:sp>
      <p:sp>
        <p:nvSpPr>
          <p:cNvPr id="10" name="Lazy promotion"/>
          <p:cNvSpPr>
            <a:spLocks noGrp="1"/>
          </p:cNvSpPr>
          <p:nvPr/>
        </p:nvSpPr>
        <p:spPr>
          <a:xfrm>
            <a:off x="6572250" y="2247900"/>
            <a:ext cx="4857750" cy="590550"/>
          </a:xfrm>
          <a:prstGeom prst="rect">
            <a:avLst/>
          </a:prstGeom>
          <a:noFill/>
          <a:ln w="0">
            <a:noFill/>
          </a:ln>
        </p:spPr>
        <p:txBody>
          <a:bodyPr wrap="square" lIns="0" tIns="0" rIns="0" bIns="0" anchor="t">
            <a:noAutofit/>
          </a:bodyPr>
          <a:lstStyle>
            <a:defPPr algn="l">
              <a:defRPr sz="2925" b="1">
                <a:solidFill>
                  <a:srgbClr val="2E6FB5"/>
                </a:solidFill>
                <a:latin typeface="Aptos"/>
                <a:ea typeface="Aptos"/>
                <a:cs typeface="Aptos"/>
              </a:defRPr>
            </a:defPPr>
            <a:lvl1pPr algn="l">
              <a:defRPr sz="2925" b="1">
                <a:solidFill>
                  <a:srgbClr val="2E6FB5"/>
                </a:solidFill>
                <a:latin typeface="Aptos"/>
                <a:ea typeface="Aptos"/>
                <a:cs typeface="Aptos"/>
              </a:defRPr>
            </a:lvl1pPr>
            <a:lvl2pPr algn="l">
              <a:defRPr sz="2925" b="1">
                <a:solidFill>
                  <a:srgbClr val="2E6FB5"/>
                </a:solidFill>
                <a:latin typeface="Aptos"/>
                <a:ea typeface="Aptos"/>
                <a:cs typeface="Aptos"/>
              </a:defRPr>
            </a:lvl2pPr>
            <a:lvl3pPr algn="l">
              <a:defRPr sz="2925" b="1">
                <a:solidFill>
                  <a:srgbClr val="2E6FB5"/>
                </a:solidFill>
                <a:latin typeface="Aptos"/>
                <a:ea typeface="Aptos"/>
                <a:cs typeface="Aptos"/>
              </a:defRPr>
            </a:lvl3pPr>
            <a:lvl4pPr algn="l">
              <a:defRPr sz="2925" b="1">
                <a:solidFill>
                  <a:srgbClr val="2E6FB5"/>
                </a:solidFill>
                <a:latin typeface="Aptos"/>
                <a:ea typeface="Aptos"/>
                <a:cs typeface="Aptos"/>
              </a:defRPr>
            </a:lvl4pPr>
            <a:lvl5pPr algn="l">
              <a:defRPr sz="2925" b="1">
                <a:solidFill>
                  <a:srgbClr val="2E6FB5"/>
                </a:solidFill>
                <a:latin typeface="Aptos"/>
                <a:ea typeface="Aptos"/>
                <a:cs typeface="Aptos"/>
              </a:defRPr>
            </a:lvl5pPr>
            <a:lvl6pPr algn="l">
              <a:defRPr sz="2925" b="1">
                <a:solidFill>
                  <a:srgbClr val="2E6FB5"/>
                </a:solidFill>
                <a:latin typeface="Aptos"/>
                <a:ea typeface="Aptos"/>
                <a:cs typeface="Aptos"/>
              </a:defRPr>
            </a:lvl6pPr>
            <a:lvl7pPr algn="l">
              <a:defRPr sz="2925" b="1">
                <a:solidFill>
                  <a:srgbClr val="2E6FB5"/>
                </a:solidFill>
                <a:latin typeface="Aptos"/>
                <a:ea typeface="Aptos"/>
                <a:cs typeface="Aptos"/>
              </a:defRPr>
            </a:lvl7pPr>
            <a:lvl8pPr algn="l">
              <a:defRPr sz="2925" b="1">
                <a:solidFill>
                  <a:srgbClr val="2E6FB5"/>
                </a:solidFill>
                <a:latin typeface="Aptos"/>
                <a:ea typeface="Aptos"/>
                <a:cs typeface="Aptos"/>
              </a:defRPr>
            </a:lvl8pPr>
            <a:lvl9pPr algn="l">
              <a:defRPr sz="2925" b="1">
                <a:solidFill>
                  <a:srgbClr val="2E6FB5"/>
                </a:solidFill>
                <a:latin typeface="Aptos"/>
                <a:ea typeface="Aptos"/>
                <a:cs typeface="Aptos"/>
              </a:defRPr>
            </a:lvl9pPr>
          </a:lstStyle>
          <a:p>
            <a:pPr algn="l">
              <a:defRPr sz="2925" b="1">
                <a:solidFill>
                  <a:srgbClr val="2E6FB5"/>
                </a:solidFill>
                <a:latin typeface="Aptos"/>
                <a:ea typeface="Aptos"/>
                <a:cs typeface="Aptos"/>
              </a:defRPr>
            </a:pPr>
            <a:r>
              <a:rPr sz="2925" b="1">
                <a:solidFill>
                  <a:srgbClr val="2E6FB5"/>
                </a:solidFill>
                <a:latin typeface="Aptos"/>
                <a:ea typeface="Aptos"/>
                <a:cs typeface="Aptos"/>
              </a:rPr>
              <a:t>Lazy promotion</a:t>
            </a:r>
            <a:endParaRPr sz="2925" b="1">
              <a:solidFill>
                <a:srgbClr val="2E6FB5"/>
              </a:solidFill>
              <a:latin typeface="Aptos"/>
              <a:ea typeface="Aptos"/>
              <a:cs typeface="Aptos"/>
            </a:endParaRPr>
          </a:p>
        </p:txBody>
      </p:sp>
      <p:sp>
        <p:nvSpPr>
          <p:cNvPr id="11" name="Main reinserts useful objects&#10;when considering eviction."/>
          <p:cNvSpPr>
            <a:spLocks noGrp="1"/>
          </p:cNvSpPr>
          <p:nvPr/>
        </p:nvSpPr>
        <p:spPr>
          <a:xfrm>
            <a:off x="6572250" y="3105150"/>
            <a:ext cx="4857750" cy="1219200"/>
          </a:xfrm>
          <a:prstGeom prst="rect">
            <a:avLst/>
          </a:prstGeom>
          <a:noFill/>
          <a:ln w="0">
            <a:noFill/>
          </a:ln>
        </p:spPr>
        <p:txBody>
          <a:bodyPr wrap="square" lIns="0" tIns="0" rIns="0" bIns="0" anchor="t">
            <a:noAutofit/>
          </a:bodyPr>
          <a:lstStyle>
            <a:defPPr algn="l">
              <a:defRPr sz="2550" b="0">
                <a:solidFill>
                  <a:srgbClr val="192337"/>
                </a:solidFill>
                <a:latin typeface="Aptos"/>
                <a:ea typeface="Aptos"/>
                <a:cs typeface="Aptos"/>
              </a:defRPr>
            </a:defPPr>
            <a:lvl1pPr algn="l">
              <a:defRPr sz="2550" b="0">
                <a:solidFill>
                  <a:srgbClr val="192337"/>
                </a:solidFill>
                <a:latin typeface="Aptos"/>
                <a:ea typeface="Aptos"/>
                <a:cs typeface="Aptos"/>
              </a:defRPr>
            </a:lvl1pPr>
            <a:lvl2pPr algn="l">
              <a:defRPr sz="2550" b="0">
                <a:solidFill>
                  <a:srgbClr val="192337"/>
                </a:solidFill>
                <a:latin typeface="Aptos"/>
                <a:ea typeface="Aptos"/>
                <a:cs typeface="Aptos"/>
              </a:defRPr>
            </a:lvl2pPr>
            <a:lvl3pPr algn="l">
              <a:defRPr sz="2550" b="0">
                <a:solidFill>
                  <a:srgbClr val="192337"/>
                </a:solidFill>
                <a:latin typeface="Aptos"/>
                <a:ea typeface="Aptos"/>
                <a:cs typeface="Aptos"/>
              </a:defRPr>
            </a:lvl3pPr>
            <a:lvl4pPr algn="l">
              <a:defRPr sz="2550" b="0">
                <a:solidFill>
                  <a:srgbClr val="192337"/>
                </a:solidFill>
                <a:latin typeface="Aptos"/>
                <a:ea typeface="Aptos"/>
                <a:cs typeface="Aptos"/>
              </a:defRPr>
            </a:lvl4pPr>
            <a:lvl5pPr algn="l">
              <a:defRPr sz="2550" b="0">
                <a:solidFill>
                  <a:srgbClr val="192337"/>
                </a:solidFill>
                <a:latin typeface="Aptos"/>
                <a:ea typeface="Aptos"/>
                <a:cs typeface="Aptos"/>
              </a:defRPr>
            </a:lvl5pPr>
            <a:lvl6pPr algn="l">
              <a:defRPr sz="2550" b="0">
                <a:solidFill>
                  <a:srgbClr val="192337"/>
                </a:solidFill>
                <a:latin typeface="Aptos"/>
                <a:ea typeface="Aptos"/>
                <a:cs typeface="Aptos"/>
              </a:defRPr>
            </a:lvl6pPr>
            <a:lvl7pPr algn="l">
              <a:defRPr sz="2550" b="0">
                <a:solidFill>
                  <a:srgbClr val="192337"/>
                </a:solidFill>
                <a:latin typeface="Aptos"/>
                <a:ea typeface="Aptos"/>
                <a:cs typeface="Aptos"/>
              </a:defRPr>
            </a:lvl7pPr>
            <a:lvl8pPr algn="l">
              <a:defRPr sz="2550" b="0">
                <a:solidFill>
                  <a:srgbClr val="192337"/>
                </a:solidFill>
                <a:latin typeface="Aptos"/>
                <a:ea typeface="Aptos"/>
                <a:cs typeface="Aptos"/>
              </a:defRPr>
            </a:lvl8pPr>
            <a:lvl9pPr algn="l">
              <a:defRPr sz="2550" b="0">
                <a:solidFill>
                  <a:srgbClr val="192337"/>
                </a:solidFill>
                <a:latin typeface="Aptos"/>
                <a:ea typeface="Aptos"/>
                <a:cs typeface="Aptos"/>
              </a:defRPr>
            </a:lvl9pPr>
          </a:lstStyle>
          <a:p>
            <a:pPr algn="l">
              <a:defRPr sz="2550" b="0">
                <a:solidFill>
                  <a:srgbClr val="192337"/>
                </a:solidFill>
                <a:latin typeface="Aptos"/>
                <a:ea typeface="Aptos"/>
                <a:cs typeface="Aptos"/>
              </a:defRPr>
            </a:pPr>
            <a:r>
              <a:rPr sz="2550" b="0">
                <a:solidFill>
                  <a:srgbClr val="192337"/>
                </a:solidFill>
                <a:latin typeface="Aptos"/>
                <a:ea typeface="Aptos"/>
                <a:cs typeface="Aptos"/>
              </a:rPr>
              <a:t>Main reinserts useful objects</a:t>
            </a:r>
            <a:endParaRPr sz="2550" b="0">
              <a:solidFill>
                <a:srgbClr val="192337"/>
              </a:solidFill>
              <a:latin typeface="Aptos"/>
              <a:ea typeface="Aptos"/>
              <a:cs typeface="Aptos"/>
            </a:endParaRPr>
          </a:p>
          <a:p>
            <a:pPr algn="l">
              <a:defRPr sz="2550" b="0">
                <a:solidFill>
                  <a:srgbClr val="192337"/>
                </a:solidFill>
                <a:latin typeface="Aptos"/>
                <a:ea typeface="Aptos"/>
                <a:cs typeface="Aptos"/>
              </a:defRPr>
            </a:pPr>
            <a:r>
              <a:rPr sz="2550" b="0">
                <a:solidFill>
                  <a:srgbClr val="192337"/>
                </a:solidFill>
                <a:latin typeface="Aptos"/>
                <a:ea typeface="Aptos"/>
                <a:cs typeface="Aptos"/>
              </a:rPr>
              <a:t>when considering eviction.</a:t>
            </a:r>
            <a:endParaRPr sz="2550" b="0">
              <a:solidFill>
                <a:srgbClr val="192337"/>
              </a:solidFill>
              <a:latin typeface="Aptos"/>
              <a:ea typeface="Aptos"/>
              <a:cs typeface="Aptos"/>
            </a:endParaRPr>
          </a:p>
        </p:txBody>
      </p:sp>
      <p:sp>
        <p:nvSpPr>
          <p:cNvPr id="12" name="Cache hits only update a small counter.&#10;They do not reorder the queues"/>
          <p:cNvSpPr>
            <a:spLocks noGrp="1"/>
          </p:cNvSpPr>
          <p:nvPr/>
        </p:nvSpPr>
        <p:spPr>
          <a:xfrm>
            <a:off x="762000" y="4752975"/>
            <a:ext cx="10668000" cy="904875"/>
          </a:xfrm>
          <a:prstGeom prst="rect">
            <a:avLst/>
          </a:prstGeom>
          <a:noFill/>
          <a:ln w="0">
            <a:noFill/>
          </a:ln>
        </p:spPr>
        <p:txBody>
          <a:bodyPr wrap="square" lIns="0" tIns="0" rIns="0" bIns="0" anchor="t">
            <a:noAutofit/>
          </a:bodyPr>
          <a:lstStyle>
            <a:defPPr algn="l">
              <a:defRPr sz="2475" b="1">
                <a:solidFill>
                  <a:srgbClr val="192337"/>
                </a:solidFill>
                <a:latin typeface="Aptos"/>
                <a:ea typeface="Aptos"/>
                <a:cs typeface="Aptos"/>
              </a:defRPr>
            </a:defPPr>
            <a:lvl1pPr algn="l">
              <a:defRPr sz="2475" b="1">
                <a:solidFill>
                  <a:srgbClr val="192337"/>
                </a:solidFill>
                <a:latin typeface="Aptos"/>
                <a:ea typeface="Aptos"/>
                <a:cs typeface="Aptos"/>
              </a:defRPr>
            </a:lvl1pPr>
            <a:lvl2pPr algn="l">
              <a:defRPr sz="2475" b="1">
                <a:solidFill>
                  <a:srgbClr val="192337"/>
                </a:solidFill>
                <a:latin typeface="Aptos"/>
                <a:ea typeface="Aptos"/>
                <a:cs typeface="Aptos"/>
              </a:defRPr>
            </a:lvl2pPr>
            <a:lvl3pPr algn="l">
              <a:defRPr sz="2475" b="1">
                <a:solidFill>
                  <a:srgbClr val="192337"/>
                </a:solidFill>
                <a:latin typeface="Aptos"/>
                <a:ea typeface="Aptos"/>
                <a:cs typeface="Aptos"/>
              </a:defRPr>
            </a:lvl3pPr>
            <a:lvl4pPr algn="l">
              <a:defRPr sz="2475" b="1">
                <a:solidFill>
                  <a:srgbClr val="192337"/>
                </a:solidFill>
                <a:latin typeface="Aptos"/>
                <a:ea typeface="Aptos"/>
                <a:cs typeface="Aptos"/>
              </a:defRPr>
            </a:lvl4pPr>
            <a:lvl5pPr algn="l">
              <a:defRPr sz="2475" b="1">
                <a:solidFill>
                  <a:srgbClr val="192337"/>
                </a:solidFill>
                <a:latin typeface="Aptos"/>
                <a:ea typeface="Aptos"/>
                <a:cs typeface="Aptos"/>
              </a:defRPr>
            </a:lvl5pPr>
            <a:lvl6pPr algn="l">
              <a:defRPr sz="2475" b="1">
                <a:solidFill>
                  <a:srgbClr val="192337"/>
                </a:solidFill>
                <a:latin typeface="Aptos"/>
                <a:ea typeface="Aptos"/>
                <a:cs typeface="Aptos"/>
              </a:defRPr>
            </a:lvl6pPr>
            <a:lvl7pPr algn="l">
              <a:defRPr sz="2475" b="1">
                <a:solidFill>
                  <a:srgbClr val="192337"/>
                </a:solidFill>
                <a:latin typeface="Aptos"/>
                <a:ea typeface="Aptos"/>
                <a:cs typeface="Aptos"/>
              </a:defRPr>
            </a:lvl7pPr>
            <a:lvl8pPr algn="l">
              <a:defRPr sz="2475" b="1">
                <a:solidFill>
                  <a:srgbClr val="192337"/>
                </a:solidFill>
                <a:latin typeface="Aptos"/>
                <a:ea typeface="Aptos"/>
                <a:cs typeface="Aptos"/>
              </a:defRPr>
            </a:lvl8pPr>
            <a:lvl9pPr algn="l">
              <a:defRPr sz="2475" b="1">
                <a:solidFill>
                  <a:srgbClr val="192337"/>
                </a:solidFill>
                <a:latin typeface="Aptos"/>
                <a:ea typeface="Aptos"/>
                <a:cs typeface="Aptos"/>
              </a:defRPr>
            </a:lvl9pPr>
          </a:lstStyle>
          <a:p>
            <a:pPr algn="l">
              <a:defRPr sz="2475" b="1">
                <a:solidFill>
                  <a:srgbClr val="192337"/>
                </a:solidFill>
                <a:latin typeface="Aptos"/>
                <a:ea typeface="Aptos"/>
                <a:cs typeface="Aptos"/>
              </a:defRPr>
            </a:pPr>
            <a:r>
              <a:rPr sz="2475" b="1">
                <a:solidFill>
                  <a:srgbClr val="192337"/>
                </a:solidFill>
                <a:latin typeface="Aptos"/>
                <a:ea typeface="Aptos"/>
                <a:cs typeface="Aptos"/>
              </a:rPr>
              <a:t>Cache hits only update a small counter.</a:t>
            </a:r>
            <a:endParaRPr sz="2475" b="1">
              <a:solidFill>
                <a:srgbClr val="192337"/>
              </a:solidFill>
              <a:latin typeface="Aptos"/>
              <a:ea typeface="Aptos"/>
              <a:cs typeface="Aptos"/>
            </a:endParaRPr>
          </a:p>
          <a:p>
            <a:pPr algn="l">
              <a:defRPr sz="2475" b="1">
                <a:solidFill>
                  <a:srgbClr val="192337"/>
                </a:solidFill>
                <a:latin typeface="Aptos"/>
                <a:ea typeface="Aptos"/>
                <a:cs typeface="Aptos"/>
              </a:defRPr>
            </a:pPr>
            <a:r>
              <a:rPr sz="2475" b="1">
                <a:solidFill>
                  <a:srgbClr val="192337"/>
                </a:solidFill>
                <a:latin typeface="Aptos"/>
                <a:ea typeface="Aptos"/>
                <a:cs typeface="Aptos"/>
              </a:rPr>
              <a:t>They do not reorder the queues.</a:t>
            </a:r>
            <a:endParaRPr sz="2475" b="1">
              <a:solidFill>
                <a:srgbClr val="192337"/>
              </a:solidFill>
              <a:latin typeface="Aptos"/>
              <a:ea typeface="Aptos"/>
              <a:cs typeface="Aptos"/>
            </a:endParaRPr>
          </a:p>
        </p:txBody>
      </p:sp>
      <p:sp>
        <p:nvSpPr>
          <p:cNvPr id="13" name="Source: Sections 3.2, 4.1 and 4.3 · Yang et al., SOSP 2023"/>
          <p:cNvSpPr>
            <a:spLocks noGrp="1"/>
          </p:cNvSpPr>
          <p:nvPr/>
        </p:nvSpPr>
        <p:spPr>
          <a:xfrm>
            <a:off x="762000" y="6305550"/>
            <a:ext cx="10810875" cy="190500"/>
          </a:xfrm>
          <a:prstGeom prst="rect">
            <a:avLst/>
          </a:prstGeom>
          <a:noFill/>
          <a:ln w="0">
            <a:noFill/>
          </a:ln>
        </p:spPr>
        <p:txBody>
          <a:bodyPr wrap="square" lIns="0" tIns="0" rIns="0" bIns="0" anchor="t">
            <a:noAutofit/>
          </a:bodyPr>
          <a:lstStyle>
            <a:defPPr algn="l">
              <a:defRPr sz="975" b="0">
                <a:solidFill>
                  <a:srgbClr val="71849E"/>
                </a:solidFill>
                <a:latin typeface="Aptos"/>
                <a:ea typeface="Aptos"/>
                <a:cs typeface="Aptos"/>
              </a:defRPr>
            </a:defPPr>
            <a:lvl1pPr algn="l">
              <a:defRPr sz="975" b="0">
                <a:solidFill>
                  <a:srgbClr val="71849E"/>
                </a:solidFill>
                <a:latin typeface="Aptos"/>
                <a:ea typeface="Aptos"/>
                <a:cs typeface="Aptos"/>
              </a:defRPr>
            </a:lvl1pPr>
            <a:lvl2pPr algn="l">
              <a:defRPr sz="975" b="0">
                <a:solidFill>
                  <a:srgbClr val="71849E"/>
                </a:solidFill>
                <a:latin typeface="Aptos"/>
                <a:ea typeface="Aptos"/>
                <a:cs typeface="Aptos"/>
              </a:defRPr>
            </a:lvl2pPr>
            <a:lvl3pPr algn="l">
              <a:defRPr sz="975" b="0">
                <a:solidFill>
                  <a:srgbClr val="71849E"/>
                </a:solidFill>
                <a:latin typeface="Aptos"/>
                <a:ea typeface="Aptos"/>
                <a:cs typeface="Aptos"/>
              </a:defRPr>
            </a:lvl3pPr>
            <a:lvl4pPr algn="l">
              <a:defRPr sz="975" b="0">
                <a:solidFill>
                  <a:srgbClr val="71849E"/>
                </a:solidFill>
                <a:latin typeface="Aptos"/>
                <a:ea typeface="Aptos"/>
                <a:cs typeface="Aptos"/>
              </a:defRPr>
            </a:lvl4pPr>
            <a:lvl5pPr algn="l">
              <a:defRPr sz="975" b="0">
                <a:solidFill>
                  <a:srgbClr val="71849E"/>
                </a:solidFill>
                <a:latin typeface="Aptos"/>
                <a:ea typeface="Aptos"/>
                <a:cs typeface="Aptos"/>
              </a:defRPr>
            </a:lvl5pPr>
            <a:lvl6pPr algn="l">
              <a:defRPr sz="975" b="0">
                <a:solidFill>
                  <a:srgbClr val="71849E"/>
                </a:solidFill>
                <a:latin typeface="Aptos"/>
                <a:ea typeface="Aptos"/>
                <a:cs typeface="Aptos"/>
              </a:defRPr>
            </a:lvl6pPr>
            <a:lvl7pPr algn="l">
              <a:defRPr sz="975" b="0">
                <a:solidFill>
                  <a:srgbClr val="71849E"/>
                </a:solidFill>
                <a:latin typeface="Aptos"/>
                <a:ea typeface="Aptos"/>
                <a:cs typeface="Aptos"/>
              </a:defRPr>
            </a:lvl7pPr>
            <a:lvl8pPr algn="l">
              <a:defRPr sz="975" b="0">
                <a:solidFill>
                  <a:srgbClr val="71849E"/>
                </a:solidFill>
                <a:latin typeface="Aptos"/>
                <a:ea typeface="Aptos"/>
                <a:cs typeface="Aptos"/>
              </a:defRPr>
            </a:lvl8pPr>
            <a:lvl9pPr algn="l">
              <a:defRPr sz="975" b="0">
                <a:solidFill>
                  <a:srgbClr val="71849E"/>
                </a:solidFill>
                <a:latin typeface="Aptos"/>
                <a:ea typeface="Aptos"/>
                <a:cs typeface="Aptos"/>
              </a:defRPr>
            </a:lvl9pPr>
          </a:lstStyle>
          <a:p>
            <a:pPr algn="l">
              <a:defRPr sz="975" b="0">
                <a:solidFill>
                  <a:srgbClr val="71849E"/>
                </a:solidFill>
                <a:latin typeface="Aptos"/>
                <a:ea typeface="Aptos"/>
                <a:cs typeface="Aptos"/>
              </a:defRPr>
            </a:pPr>
            <a:r>
              <a:rPr sz="975" b="0">
                <a:solidFill>
                  <a:srgbClr val="71849E"/>
                </a:solidFill>
                <a:latin typeface="Aptos"/>
                <a:ea typeface="Aptos"/>
                <a:cs typeface="Aptos"/>
              </a:rPr>
              <a:t>Source: Sections 3.2, 4.1 and 4.3 · Yang et al., SOSP 2023</a:t>
            </a:r>
            <a:endParaRPr sz="975" b="0">
              <a:solidFill>
                <a:srgbClr val="71849E"/>
              </a:solidFill>
              <a:latin typeface="Aptos"/>
              <a:ea typeface="Aptos"/>
              <a:cs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16" name="template-element-17"/>
          <p:cNvSpPr>
            <a:spLocks noGrp="1"/>
          </p:cNvSpPr>
          <p:nvPr/>
        </p:nvSpPr>
        <p:spPr>
          <a:xfrm>
            <a:off x="0" y="0"/>
            <a:ext cx="12192000" cy="409575"/>
          </a:xfrm>
          <a:prstGeom prst="rect">
            <a:avLst/>
          </a:prstGeom>
          <a:solidFill>
            <a:srgbClr val="13294B"/>
          </a:solidFill>
          <a:ln w="0">
            <a:noFill/>
          </a:ln>
        </p:spPr>
      </p:sp>
      <p:sp>
        <p:nvSpPr>
          <p:cNvPr id="2" name="Part 2 · Summary"/>
          <p:cNvSpPr>
            <a:spLocks noGrp="1"/>
          </p:cNvSpPr>
          <p:nvPr/>
        </p:nvSpPr>
        <p:spPr>
          <a:xfrm>
            <a:off x="457200" y="123825"/>
            <a:ext cx="5238750" cy="209550"/>
          </a:xfrm>
          <a:prstGeom prst="rect">
            <a:avLst/>
          </a:prstGeom>
          <a:noFill/>
          <a:ln w="0">
            <a:noFill/>
          </a:ln>
        </p:spPr>
        <p:txBody>
          <a:bodyPr wrap="square" lIns="0" tIns="0" rIns="0" bIns="0" anchor="t">
            <a:noAutofit/>
          </a:bodyPr>
          <a:lstStyle>
            <a:defPPr algn="l">
              <a:defRPr sz="1050" b="1">
                <a:solidFill>
                  <a:srgbClr val="FFFFFF"/>
                </a:solidFill>
                <a:latin typeface="Aptos"/>
                <a:ea typeface="Aptos"/>
                <a:cs typeface="Aptos"/>
              </a:defRPr>
            </a:defPPr>
            <a:lvl1pPr algn="l">
              <a:defRPr sz="1050" b="1">
                <a:solidFill>
                  <a:srgbClr val="FFFFFF"/>
                </a:solidFill>
                <a:latin typeface="Aptos"/>
                <a:ea typeface="Aptos"/>
                <a:cs typeface="Aptos"/>
              </a:defRPr>
            </a:lvl1pPr>
            <a:lvl2pPr algn="l">
              <a:defRPr sz="1050" b="1">
                <a:solidFill>
                  <a:srgbClr val="FFFFFF"/>
                </a:solidFill>
                <a:latin typeface="Aptos"/>
                <a:ea typeface="Aptos"/>
                <a:cs typeface="Aptos"/>
              </a:defRPr>
            </a:lvl2pPr>
            <a:lvl3pPr algn="l">
              <a:defRPr sz="1050" b="1">
                <a:solidFill>
                  <a:srgbClr val="FFFFFF"/>
                </a:solidFill>
                <a:latin typeface="Aptos"/>
                <a:ea typeface="Aptos"/>
                <a:cs typeface="Aptos"/>
              </a:defRPr>
            </a:lvl3pPr>
            <a:lvl4pPr algn="l">
              <a:defRPr sz="1050" b="1">
                <a:solidFill>
                  <a:srgbClr val="FFFFFF"/>
                </a:solidFill>
                <a:latin typeface="Aptos"/>
                <a:ea typeface="Aptos"/>
                <a:cs typeface="Aptos"/>
              </a:defRPr>
            </a:lvl4pPr>
            <a:lvl5pPr algn="l">
              <a:defRPr sz="1050" b="1">
                <a:solidFill>
                  <a:srgbClr val="FFFFFF"/>
                </a:solidFill>
                <a:latin typeface="Aptos"/>
                <a:ea typeface="Aptos"/>
                <a:cs typeface="Aptos"/>
              </a:defRPr>
            </a:lvl5pPr>
            <a:lvl6pPr algn="l">
              <a:defRPr sz="1050" b="1">
                <a:solidFill>
                  <a:srgbClr val="FFFFFF"/>
                </a:solidFill>
                <a:latin typeface="Aptos"/>
                <a:ea typeface="Aptos"/>
                <a:cs typeface="Aptos"/>
              </a:defRPr>
            </a:lvl6pPr>
            <a:lvl7pPr algn="l">
              <a:defRPr sz="1050" b="1">
                <a:solidFill>
                  <a:srgbClr val="FFFFFF"/>
                </a:solidFill>
                <a:latin typeface="Aptos"/>
                <a:ea typeface="Aptos"/>
                <a:cs typeface="Aptos"/>
              </a:defRPr>
            </a:lvl7pPr>
            <a:lvl8pPr algn="l">
              <a:defRPr sz="1050" b="1">
                <a:solidFill>
                  <a:srgbClr val="FFFFFF"/>
                </a:solidFill>
                <a:latin typeface="Aptos"/>
                <a:ea typeface="Aptos"/>
                <a:cs typeface="Aptos"/>
              </a:defRPr>
            </a:lvl8pPr>
            <a:lvl9pPr algn="l">
              <a:defRPr sz="1050" b="1">
                <a:solidFill>
                  <a:srgbClr val="FFFFFF"/>
                </a:solidFill>
                <a:latin typeface="Aptos"/>
                <a:ea typeface="Aptos"/>
                <a:cs typeface="Aptos"/>
              </a:defRPr>
            </a:lvl9pPr>
          </a:lstStyle>
          <a:p>
            <a:pPr algn="l">
              <a:defRPr sz="1050" b="1">
                <a:solidFill>
                  <a:srgbClr val="FFFFFF"/>
                </a:solidFill>
                <a:latin typeface="Aptos"/>
                <a:ea typeface="Aptos"/>
                <a:cs typeface="Aptos"/>
              </a:defRPr>
            </a:pPr>
            <a:r>
              <a:rPr sz="1050" b="1">
                <a:solidFill>
                  <a:srgbClr val="FFFFFF"/>
                </a:solidFill>
                <a:latin typeface="Aptos"/>
                <a:ea typeface="Aptos"/>
                <a:cs typeface="Aptos"/>
              </a:rPr>
              <a:t>Part 2 · Summary</a:t>
            </a:r>
            <a:endParaRPr sz="1050" b="1">
              <a:solidFill>
                <a:srgbClr val="FFFFFF"/>
              </a:solidFill>
              <a:latin typeface="Aptos"/>
              <a:ea typeface="Aptos"/>
              <a:cs typeface="Aptos"/>
            </a:endParaRPr>
          </a:p>
        </p:txBody>
      </p:sp>
      <p:sp>
        <p:nvSpPr>
          <p:cNvPr id="3" name="S3-FIFO · FIFO Queues Are All You Need"/>
          <p:cNvSpPr>
            <a:spLocks noGrp="1"/>
          </p:cNvSpPr>
          <p:nvPr/>
        </p:nvSpPr>
        <p:spPr>
          <a:xfrm>
            <a:off x="6858000" y="123825"/>
            <a:ext cx="4857750" cy="209550"/>
          </a:xfrm>
          <a:prstGeom prst="rect">
            <a:avLst/>
          </a:prstGeom>
          <a:noFill/>
          <a:ln w="0">
            <a:noFill/>
          </a:ln>
        </p:spPr>
        <p:txBody>
          <a:bodyPr wrap="square" lIns="0" tIns="0" rIns="0" bIns="0" anchor="t">
            <a:noAutofit/>
          </a:bodyPr>
          <a:lstStyle>
            <a:defPPr algn="r">
              <a:defRPr sz="1050" b="0">
                <a:solidFill>
                  <a:srgbClr val="D0E1F3"/>
                </a:solidFill>
                <a:latin typeface="Aptos"/>
                <a:ea typeface="Aptos"/>
                <a:cs typeface="Aptos"/>
              </a:defRPr>
            </a:defPPr>
            <a:lvl1pPr algn="r">
              <a:defRPr sz="1050" b="0">
                <a:solidFill>
                  <a:srgbClr val="D0E1F3"/>
                </a:solidFill>
                <a:latin typeface="Aptos"/>
                <a:ea typeface="Aptos"/>
                <a:cs typeface="Aptos"/>
              </a:defRPr>
            </a:lvl1pPr>
            <a:lvl2pPr algn="r">
              <a:defRPr sz="1050" b="0">
                <a:solidFill>
                  <a:srgbClr val="D0E1F3"/>
                </a:solidFill>
                <a:latin typeface="Aptos"/>
                <a:ea typeface="Aptos"/>
                <a:cs typeface="Aptos"/>
              </a:defRPr>
            </a:lvl2pPr>
            <a:lvl3pPr algn="r">
              <a:defRPr sz="1050" b="0">
                <a:solidFill>
                  <a:srgbClr val="D0E1F3"/>
                </a:solidFill>
                <a:latin typeface="Aptos"/>
                <a:ea typeface="Aptos"/>
                <a:cs typeface="Aptos"/>
              </a:defRPr>
            </a:lvl3pPr>
            <a:lvl4pPr algn="r">
              <a:defRPr sz="1050" b="0">
                <a:solidFill>
                  <a:srgbClr val="D0E1F3"/>
                </a:solidFill>
                <a:latin typeface="Aptos"/>
                <a:ea typeface="Aptos"/>
                <a:cs typeface="Aptos"/>
              </a:defRPr>
            </a:lvl4pPr>
            <a:lvl5pPr algn="r">
              <a:defRPr sz="1050" b="0">
                <a:solidFill>
                  <a:srgbClr val="D0E1F3"/>
                </a:solidFill>
                <a:latin typeface="Aptos"/>
                <a:ea typeface="Aptos"/>
                <a:cs typeface="Aptos"/>
              </a:defRPr>
            </a:lvl5pPr>
            <a:lvl6pPr algn="r">
              <a:defRPr sz="1050" b="0">
                <a:solidFill>
                  <a:srgbClr val="D0E1F3"/>
                </a:solidFill>
                <a:latin typeface="Aptos"/>
                <a:ea typeface="Aptos"/>
                <a:cs typeface="Aptos"/>
              </a:defRPr>
            </a:lvl6pPr>
            <a:lvl7pPr algn="r">
              <a:defRPr sz="1050" b="0">
                <a:solidFill>
                  <a:srgbClr val="D0E1F3"/>
                </a:solidFill>
                <a:latin typeface="Aptos"/>
                <a:ea typeface="Aptos"/>
                <a:cs typeface="Aptos"/>
              </a:defRPr>
            </a:lvl7pPr>
            <a:lvl8pPr algn="r">
              <a:defRPr sz="1050" b="0">
                <a:solidFill>
                  <a:srgbClr val="D0E1F3"/>
                </a:solidFill>
                <a:latin typeface="Aptos"/>
                <a:ea typeface="Aptos"/>
                <a:cs typeface="Aptos"/>
              </a:defRPr>
            </a:lvl8pPr>
            <a:lvl9pPr algn="r">
              <a:defRPr sz="1050" b="0">
                <a:solidFill>
                  <a:srgbClr val="D0E1F3"/>
                </a:solidFill>
                <a:latin typeface="Aptos"/>
                <a:ea typeface="Aptos"/>
                <a:cs typeface="Aptos"/>
              </a:defRPr>
            </a:lvl9pPr>
          </a:lstStyle>
          <a:p>
            <a:pPr algn="r">
              <a:defRPr sz="1050" b="0">
                <a:solidFill>
                  <a:srgbClr val="D0E1F3"/>
                </a:solidFill>
                <a:latin typeface="Aptos"/>
                <a:ea typeface="Aptos"/>
                <a:cs typeface="Aptos"/>
              </a:defRPr>
            </a:pPr>
            <a:r>
              <a:rPr sz="1050" b="0">
                <a:solidFill>
                  <a:srgbClr val="D0E1F3"/>
                </a:solidFill>
                <a:latin typeface="Aptos"/>
                <a:ea typeface="Aptos"/>
                <a:cs typeface="Aptos"/>
              </a:rPr>
              <a:t>S3-FIFO · FIFO Queues Are All You Need</a:t>
            </a:r>
            <a:endParaRPr sz="1050" b="0">
              <a:solidFill>
                <a:srgbClr val="D0E1F3"/>
              </a:solidFill>
              <a:latin typeface="Aptos"/>
              <a:ea typeface="Aptos"/>
              <a:cs typeface="Aptos"/>
            </a:endParaRPr>
          </a:p>
        </p:txBody>
      </p:sp>
      <p:sp>
        <p:nvSpPr>
          <p:cNvPr id="4" name="How the Three Queues Work Together"/>
          <p:cNvSpPr>
            <a:spLocks noGrp="1"/>
          </p:cNvSpPr>
          <p:nvPr/>
        </p:nvSpPr>
        <p:spPr>
          <a:xfrm>
            <a:off x="552450" y="742950"/>
            <a:ext cx="11049000" cy="619125"/>
          </a:xfrm>
          <a:prstGeom prst="rect">
            <a:avLst/>
          </a:prstGeom>
          <a:noFill/>
          <a:ln w="0">
            <a:noFill/>
          </a:ln>
        </p:spPr>
        <p:txBody>
          <a:bodyPr wrap="square" lIns="0" tIns="0" rIns="0" bIns="0" anchor="t">
            <a:noAutofit/>
          </a:bodyPr>
          <a:lstStyle>
            <a:defPPr algn="l">
              <a:defRPr sz="3300" b="1">
                <a:solidFill>
                  <a:srgbClr val="192337"/>
                </a:solidFill>
                <a:latin typeface="Aptos Display"/>
                <a:ea typeface="Aptos Display"/>
                <a:cs typeface="Aptos Display"/>
              </a:defRPr>
            </a:defPPr>
            <a:lvl1pPr algn="l">
              <a:defRPr sz="3300" b="1">
                <a:solidFill>
                  <a:srgbClr val="192337"/>
                </a:solidFill>
                <a:latin typeface="Aptos Display"/>
                <a:ea typeface="Aptos Display"/>
                <a:cs typeface="Aptos Display"/>
              </a:defRPr>
            </a:lvl1pPr>
            <a:lvl2pPr algn="l">
              <a:defRPr sz="3300" b="1">
                <a:solidFill>
                  <a:srgbClr val="192337"/>
                </a:solidFill>
                <a:latin typeface="Aptos Display"/>
                <a:ea typeface="Aptos Display"/>
                <a:cs typeface="Aptos Display"/>
              </a:defRPr>
            </a:lvl2pPr>
            <a:lvl3pPr algn="l">
              <a:defRPr sz="3300" b="1">
                <a:solidFill>
                  <a:srgbClr val="192337"/>
                </a:solidFill>
                <a:latin typeface="Aptos Display"/>
                <a:ea typeface="Aptos Display"/>
                <a:cs typeface="Aptos Display"/>
              </a:defRPr>
            </a:lvl3pPr>
            <a:lvl4pPr algn="l">
              <a:defRPr sz="3300" b="1">
                <a:solidFill>
                  <a:srgbClr val="192337"/>
                </a:solidFill>
                <a:latin typeface="Aptos Display"/>
                <a:ea typeface="Aptos Display"/>
                <a:cs typeface="Aptos Display"/>
              </a:defRPr>
            </a:lvl4pPr>
            <a:lvl5pPr algn="l">
              <a:defRPr sz="3300" b="1">
                <a:solidFill>
                  <a:srgbClr val="192337"/>
                </a:solidFill>
                <a:latin typeface="Aptos Display"/>
                <a:ea typeface="Aptos Display"/>
                <a:cs typeface="Aptos Display"/>
              </a:defRPr>
            </a:lvl5pPr>
            <a:lvl6pPr algn="l">
              <a:defRPr sz="3300" b="1">
                <a:solidFill>
                  <a:srgbClr val="192337"/>
                </a:solidFill>
                <a:latin typeface="Aptos Display"/>
                <a:ea typeface="Aptos Display"/>
                <a:cs typeface="Aptos Display"/>
              </a:defRPr>
            </a:lvl6pPr>
            <a:lvl7pPr algn="l">
              <a:defRPr sz="3300" b="1">
                <a:solidFill>
                  <a:srgbClr val="192337"/>
                </a:solidFill>
                <a:latin typeface="Aptos Display"/>
                <a:ea typeface="Aptos Display"/>
                <a:cs typeface="Aptos Display"/>
              </a:defRPr>
            </a:lvl7pPr>
            <a:lvl8pPr algn="l">
              <a:defRPr sz="3300" b="1">
                <a:solidFill>
                  <a:srgbClr val="192337"/>
                </a:solidFill>
                <a:latin typeface="Aptos Display"/>
                <a:ea typeface="Aptos Display"/>
                <a:cs typeface="Aptos Display"/>
              </a:defRPr>
            </a:lvl8pPr>
            <a:lvl9pPr algn="l">
              <a:defRPr sz="3300" b="1">
                <a:solidFill>
                  <a:srgbClr val="192337"/>
                </a:solidFill>
                <a:latin typeface="Aptos Display"/>
                <a:ea typeface="Aptos Display"/>
                <a:cs typeface="Aptos Display"/>
              </a:defRPr>
            </a:lvl9pPr>
          </a:lstStyle>
          <a:p>
            <a:pPr algn="l">
              <a:defRPr sz="3300" b="1">
                <a:solidFill>
                  <a:srgbClr val="192337"/>
                </a:solidFill>
                <a:latin typeface="Aptos Display"/>
                <a:ea typeface="Aptos Display"/>
                <a:cs typeface="Aptos Display"/>
              </a:defRPr>
            </a:pPr>
            <a:r>
              <a:rPr sz="3300" b="1">
                <a:solidFill>
                  <a:srgbClr val="192337"/>
                </a:solidFill>
                <a:latin typeface="Aptos Display"/>
                <a:ea typeface="Aptos Display"/>
                <a:cs typeface="Aptos Display"/>
              </a:rPr>
              <a:t>How the Three Queues Work Together</a:t>
            </a:r>
            <a:endParaRPr sz="3300" b="1">
              <a:solidFill>
                <a:srgbClr val="192337"/>
              </a:solidFill>
              <a:latin typeface="Aptos Display"/>
              <a:ea typeface="Aptos Display"/>
              <a:cs typeface="Aptos Display"/>
            </a:endParaRPr>
          </a:p>
        </p:txBody>
      </p:sp>
      <p:sp>
        <p:nvSpPr>
          <p:cNvPr id="5" name="In summary:"/>
          <p:cNvSpPr>
            <a:spLocks noGrp="1"/>
          </p:cNvSpPr>
          <p:nvPr/>
        </p:nvSpPr>
        <p:spPr>
          <a:xfrm>
            <a:off x="571500" y="1409700"/>
            <a:ext cx="10953750" cy="533400"/>
          </a:xfrm>
          <a:prstGeom prst="rect">
            <a:avLst/>
          </a:prstGeom>
          <a:noFill/>
          <a:ln w="0">
            <a:noFill/>
          </a:ln>
        </p:spPr>
        <p:txBody>
          <a:bodyPr wrap="square" lIns="0" tIns="0" rIns="0" bIns="0" anchor="t">
            <a:noAutofit/>
          </a:bodyPr>
          <a:lstStyle>
            <a:defPPr algn="l">
              <a:defRPr sz="2025" b="0">
                <a:solidFill>
                  <a:srgbClr val="596778"/>
                </a:solidFill>
                <a:latin typeface="Aptos"/>
                <a:ea typeface="Aptos"/>
                <a:cs typeface="Aptos"/>
              </a:defRPr>
            </a:defPPr>
            <a:lvl1pPr algn="l">
              <a:defRPr sz="2025" b="0">
                <a:solidFill>
                  <a:srgbClr val="596778"/>
                </a:solidFill>
                <a:latin typeface="Aptos"/>
                <a:ea typeface="Aptos"/>
                <a:cs typeface="Aptos"/>
              </a:defRPr>
            </a:lvl1pPr>
            <a:lvl2pPr algn="l">
              <a:defRPr sz="2025" b="0">
                <a:solidFill>
                  <a:srgbClr val="596778"/>
                </a:solidFill>
                <a:latin typeface="Aptos"/>
                <a:ea typeface="Aptos"/>
                <a:cs typeface="Aptos"/>
              </a:defRPr>
            </a:lvl2pPr>
            <a:lvl3pPr algn="l">
              <a:defRPr sz="2025" b="0">
                <a:solidFill>
                  <a:srgbClr val="596778"/>
                </a:solidFill>
                <a:latin typeface="Aptos"/>
                <a:ea typeface="Aptos"/>
                <a:cs typeface="Aptos"/>
              </a:defRPr>
            </a:lvl3pPr>
            <a:lvl4pPr algn="l">
              <a:defRPr sz="2025" b="0">
                <a:solidFill>
                  <a:srgbClr val="596778"/>
                </a:solidFill>
                <a:latin typeface="Aptos"/>
                <a:ea typeface="Aptos"/>
                <a:cs typeface="Aptos"/>
              </a:defRPr>
            </a:lvl4pPr>
            <a:lvl5pPr algn="l">
              <a:defRPr sz="2025" b="0">
                <a:solidFill>
                  <a:srgbClr val="596778"/>
                </a:solidFill>
                <a:latin typeface="Aptos"/>
                <a:ea typeface="Aptos"/>
                <a:cs typeface="Aptos"/>
              </a:defRPr>
            </a:lvl5pPr>
            <a:lvl6pPr algn="l">
              <a:defRPr sz="2025" b="0">
                <a:solidFill>
                  <a:srgbClr val="596778"/>
                </a:solidFill>
                <a:latin typeface="Aptos"/>
                <a:ea typeface="Aptos"/>
                <a:cs typeface="Aptos"/>
              </a:defRPr>
            </a:lvl6pPr>
            <a:lvl7pPr algn="l">
              <a:defRPr sz="2025" b="0">
                <a:solidFill>
                  <a:srgbClr val="596778"/>
                </a:solidFill>
                <a:latin typeface="Aptos"/>
                <a:ea typeface="Aptos"/>
                <a:cs typeface="Aptos"/>
              </a:defRPr>
            </a:lvl7pPr>
            <a:lvl8pPr algn="l">
              <a:defRPr sz="2025" b="0">
                <a:solidFill>
                  <a:srgbClr val="596778"/>
                </a:solidFill>
                <a:latin typeface="Aptos"/>
                <a:ea typeface="Aptos"/>
                <a:cs typeface="Aptos"/>
              </a:defRPr>
            </a:lvl8pPr>
            <a:lvl9pPr algn="l">
              <a:defRPr sz="2025" b="0">
                <a:solidFill>
                  <a:srgbClr val="596778"/>
                </a:solidFill>
                <a:latin typeface="Aptos"/>
                <a:ea typeface="Aptos"/>
                <a:cs typeface="Aptos"/>
              </a:defRPr>
            </a:lvl9pPr>
          </a:lstStyle>
          <a:p>
            <a:pPr algn="l">
              <a:defRPr sz="2025" b="0">
                <a:solidFill>
                  <a:srgbClr val="596778"/>
                </a:solidFill>
                <a:latin typeface="Aptos"/>
                <a:ea typeface="Aptos"/>
                <a:cs typeface="Aptos"/>
              </a:defRPr>
            </a:pPr>
            <a:r>
              <a:rPr sz="2025" b="0">
                <a:solidFill>
                  <a:srgbClr val="596778"/>
                </a:solidFill>
                <a:latin typeface="Aptos"/>
                <a:ea typeface="Aptos"/>
                <a:cs typeface="Aptos"/>
              </a:rPr>
              <a:t>In summary:</a:t>
            </a:r>
            <a:endParaRPr sz="2025" b="0">
              <a:solidFill>
                <a:srgbClr val="596778"/>
              </a:solidFill>
              <a:latin typeface="Aptos"/>
              <a:ea typeface="Aptos"/>
              <a:cs typeface="Aptos"/>
            </a:endParaRPr>
          </a:p>
        </p:txBody>
      </p:sp>
      <p:sp>
        <p:nvSpPr>
          <p:cNvPr id="6" name="Yang et al., SOSP 2023 · Operating Systems · Theoretical Presentation"/>
          <p:cNvSpPr>
            <a:spLocks noGrp="1"/>
          </p:cNvSpPr>
          <p:nvPr/>
        </p:nvSpPr>
        <p:spPr>
          <a:xfrm>
            <a:off x="533400" y="6572250"/>
            <a:ext cx="9239250" cy="171450"/>
          </a:xfrm>
          <a:prstGeom prst="rect">
            <a:avLst/>
          </a:prstGeom>
          <a:noFill/>
          <a:ln w="0">
            <a:noFill/>
          </a:ln>
        </p:spPr>
        <p:txBody>
          <a:bodyPr wrap="square" lIns="0" tIns="0" rIns="0" bIns="0" anchor="t">
            <a:noAutofit/>
          </a:bodyPr>
          <a:lstStyle>
            <a:defPPr algn="l">
              <a:defRPr sz="900" b="0">
                <a:solidFill>
                  <a:srgbClr val="71849E"/>
                </a:solidFill>
                <a:latin typeface="Aptos"/>
                <a:ea typeface="Aptos"/>
                <a:cs typeface="Aptos"/>
              </a:defRPr>
            </a:defPPr>
            <a:lvl1pPr algn="l">
              <a:defRPr sz="900" b="0">
                <a:solidFill>
                  <a:srgbClr val="71849E"/>
                </a:solidFill>
                <a:latin typeface="Aptos"/>
                <a:ea typeface="Aptos"/>
                <a:cs typeface="Aptos"/>
              </a:defRPr>
            </a:lvl1pPr>
            <a:lvl2pPr algn="l">
              <a:defRPr sz="900" b="0">
                <a:solidFill>
                  <a:srgbClr val="71849E"/>
                </a:solidFill>
                <a:latin typeface="Aptos"/>
                <a:ea typeface="Aptos"/>
                <a:cs typeface="Aptos"/>
              </a:defRPr>
            </a:lvl2pPr>
            <a:lvl3pPr algn="l">
              <a:defRPr sz="900" b="0">
                <a:solidFill>
                  <a:srgbClr val="71849E"/>
                </a:solidFill>
                <a:latin typeface="Aptos"/>
                <a:ea typeface="Aptos"/>
                <a:cs typeface="Aptos"/>
              </a:defRPr>
            </a:lvl3pPr>
            <a:lvl4pPr algn="l">
              <a:defRPr sz="900" b="0">
                <a:solidFill>
                  <a:srgbClr val="71849E"/>
                </a:solidFill>
                <a:latin typeface="Aptos"/>
                <a:ea typeface="Aptos"/>
                <a:cs typeface="Aptos"/>
              </a:defRPr>
            </a:lvl4pPr>
            <a:lvl5pPr algn="l">
              <a:defRPr sz="900" b="0">
                <a:solidFill>
                  <a:srgbClr val="71849E"/>
                </a:solidFill>
                <a:latin typeface="Aptos"/>
                <a:ea typeface="Aptos"/>
                <a:cs typeface="Aptos"/>
              </a:defRPr>
            </a:lvl5pPr>
            <a:lvl6pPr algn="l">
              <a:defRPr sz="900" b="0">
                <a:solidFill>
                  <a:srgbClr val="71849E"/>
                </a:solidFill>
                <a:latin typeface="Aptos"/>
                <a:ea typeface="Aptos"/>
                <a:cs typeface="Aptos"/>
              </a:defRPr>
            </a:lvl6pPr>
            <a:lvl7pPr algn="l">
              <a:defRPr sz="900" b="0">
                <a:solidFill>
                  <a:srgbClr val="71849E"/>
                </a:solidFill>
                <a:latin typeface="Aptos"/>
                <a:ea typeface="Aptos"/>
                <a:cs typeface="Aptos"/>
              </a:defRPr>
            </a:lvl7pPr>
            <a:lvl8pPr algn="l">
              <a:defRPr sz="900" b="0">
                <a:solidFill>
                  <a:srgbClr val="71849E"/>
                </a:solidFill>
                <a:latin typeface="Aptos"/>
                <a:ea typeface="Aptos"/>
                <a:cs typeface="Aptos"/>
              </a:defRPr>
            </a:lvl8pPr>
            <a:lvl9pPr algn="l">
              <a:defRPr sz="900" b="0">
                <a:solidFill>
                  <a:srgbClr val="71849E"/>
                </a:solidFill>
                <a:latin typeface="Aptos"/>
                <a:ea typeface="Aptos"/>
                <a:cs typeface="Aptos"/>
              </a:defRPr>
            </a:lvl9pPr>
          </a:lstStyle>
          <a:p>
            <a:pPr algn="l">
              <a:defRPr sz="900" b="0">
                <a:solidFill>
                  <a:srgbClr val="71849E"/>
                </a:solidFill>
                <a:latin typeface="Aptos"/>
                <a:ea typeface="Aptos"/>
                <a:cs typeface="Aptos"/>
              </a:defRPr>
            </a:pPr>
            <a:r>
              <a:rPr sz="900" b="0">
                <a:solidFill>
                  <a:srgbClr val="71849E"/>
                </a:solidFill>
                <a:latin typeface="Aptos"/>
                <a:ea typeface="Aptos"/>
                <a:cs typeface="Aptos"/>
              </a:rPr>
              <a:t>Yang et al., SOSP 2023 · Operating Systems · Theoretical Presentation</a:t>
            </a:r>
            <a:endParaRPr sz="900" b="0">
              <a:solidFill>
                <a:srgbClr val="71849E"/>
              </a:solidFill>
              <a:latin typeface="Aptos"/>
              <a:ea typeface="Aptos"/>
              <a:cs typeface="Aptos"/>
            </a:endParaRPr>
          </a:p>
        </p:txBody>
      </p:sp>
      <p:sp>
        <p:nvSpPr>
          <p:cNvPr id="7" name="Part 2   12 / 12"/>
          <p:cNvSpPr>
            <a:spLocks noGrp="1"/>
          </p:cNvSpPr>
          <p:nvPr/>
        </p:nvSpPr>
        <p:spPr>
          <a:xfrm>
            <a:off x="10048875" y="6572250"/>
            <a:ext cx="1619250" cy="171450"/>
          </a:xfrm>
          <a:prstGeom prst="rect">
            <a:avLst/>
          </a:prstGeom>
          <a:noFill/>
          <a:ln w="0">
            <a:noFill/>
          </a:ln>
        </p:spPr>
        <p:txBody>
          <a:bodyPr wrap="square" lIns="0" tIns="0" rIns="0" bIns="0" anchor="t">
            <a:noAutofit/>
          </a:bodyPr>
          <a:lstStyle>
            <a:defPPr algn="r">
              <a:defRPr sz="900" b="0">
                <a:solidFill>
                  <a:srgbClr val="71849E"/>
                </a:solidFill>
                <a:latin typeface="Aptos"/>
                <a:ea typeface="Aptos"/>
                <a:cs typeface="Aptos"/>
              </a:defRPr>
            </a:defPPr>
            <a:lvl1pPr algn="r">
              <a:defRPr sz="900" b="0">
                <a:solidFill>
                  <a:srgbClr val="71849E"/>
                </a:solidFill>
                <a:latin typeface="Aptos"/>
                <a:ea typeface="Aptos"/>
                <a:cs typeface="Aptos"/>
              </a:defRPr>
            </a:lvl1pPr>
            <a:lvl2pPr algn="r">
              <a:defRPr sz="900" b="0">
                <a:solidFill>
                  <a:srgbClr val="71849E"/>
                </a:solidFill>
                <a:latin typeface="Aptos"/>
                <a:ea typeface="Aptos"/>
                <a:cs typeface="Aptos"/>
              </a:defRPr>
            </a:lvl2pPr>
            <a:lvl3pPr algn="r">
              <a:defRPr sz="900" b="0">
                <a:solidFill>
                  <a:srgbClr val="71849E"/>
                </a:solidFill>
                <a:latin typeface="Aptos"/>
                <a:ea typeface="Aptos"/>
                <a:cs typeface="Aptos"/>
              </a:defRPr>
            </a:lvl3pPr>
            <a:lvl4pPr algn="r">
              <a:defRPr sz="900" b="0">
                <a:solidFill>
                  <a:srgbClr val="71849E"/>
                </a:solidFill>
                <a:latin typeface="Aptos"/>
                <a:ea typeface="Aptos"/>
                <a:cs typeface="Aptos"/>
              </a:defRPr>
            </a:lvl4pPr>
            <a:lvl5pPr algn="r">
              <a:defRPr sz="900" b="0">
                <a:solidFill>
                  <a:srgbClr val="71849E"/>
                </a:solidFill>
                <a:latin typeface="Aptos"/>
                <a:ea typeface="Aptos"/>
                <a:cs typeface="Aptos"/>
              </a:defRPr>
            </a:lvl5pPr>
            <a:lvl6pPr algn="r">
              <a:defRPr sz="900" b="0">
                <a:solidFill>
                  <a:srgbClr val="71849E"/>
                </a:solidFill>
                <a:latin typeface="Aptos"/>
                <a:ea typeface="Aptos"/>
                <a:cs typeface="Aptos"/>
              </a:defRPr>
            </a:lvl6pPr>
            <a:lvl7pPr algn="r">
              <a:defRPr sz="900" b="0">
                <a:solidFill>
                  <a:srgbClr val="71849E"/>
                </a:solidFill>
                <a:latin typeface="Aptos"/>
                <a:ea typeface="Aptos"/>
                <a:cs typeface="Aptos"/>
              </a:defRPr>
            </a:lvl7pPr>
            <a:lvl8pPr algn="r">
              <a:defRPr sz="900" b="0">
                <a:solidFill>
                  <a:srgbClr val="71849E"/>
                </a:solidFill>
                <a:latin typeface="Aptos"/>
                <a:ea typeface="Aptos"/>
                <a:cs typeface="Aptos"/>
              </a:defRPr>
            </a:lvl8pPr>
            <a:lvl9pPr algn="r">
              <a:defRPr sz="900" b="0">
                <a:solidFill>
                  <a:srgbClr val="71849E"/>
                </a:solidFill>
                <a:latin typeface="Aptos"/>
                <a:ea typeface="Aptos"/>
                <a:cs typeface="Aptos"/>
              </a:defRPr>
            </a:lvl9pPr>
          </a:lstStyle>
          <a:p>
            <a:pPr algn="r">
              <a:defRPr sz="900" b="0">
                <a:solidFill>
                  <a:srgbClr val="71849E"/>
                </a:solidFill>
                <a:latin typeface="Aptos"/>
                <a:ea typeface="Aptos"/>
                <a:cs typeface="Aptos"/>
              </a:defRPr>
            </a:pPr>
            <a:r>
              <a:rPr sz="900" b="0">
                <a:solidFill>
                  <a:srgbClr val="71849E"/>
                </a:solidFill>
                <a:latin typeface="Aptos"/>
                <a:ea typeface="Aptos"/>
                <a:cs typeface="Aptos"/>
              </a:rPr>
              <a:t>Part 2   12 / 12</a:t>
            </a:r>
            <a:endParaRPr sz="900" b="0">
              <a:solidFill>
                <a:srgbClr val="71849E"/>
              </a:solidFill>
              <a:latin typeface="Aptos"/>
              <a:ea typeface="Aptos"/>
              <a:cs typeface="Aptos"/>
            </a:endParaRPr>
          </a:p>
        </p:txBody>
      </p:sp>
      <p:sp>
        <p:nvSpPr>
          <p:cNvPr id="8" name="Small"/>
          <p:cNvSpPr>
            <a:spLocks noGrp="1"/>
          </p:cNvSpPr>
          <p:nvPr/>
        </p:nvSpPr>
        <p:spPr>
          <a:xfrm>
            <a:off x="762000" y="2133600"/>
            <a:ext cx="2190750" cy="619125"/>
          </a:xfrm>
          <a:prstGeom prst="rect">
            <a:avLst/>
          </a:prstGeom>
          <a:noFill/>
          <a:ln w="0">
            <a:noFill/>
          </a:ln>
        </p:spPr>
        <p:txBody>
          <a:bodyPr wrap="square" lIns="0" tIns="0" rIns="0" bIns="0" anchor="t">
            <a:noAutofit/>
          </a:bodyPr>
          <a:lstStyle>
            <a:defPPr algn="l">
              <a:defRPr sz="3000" b="1">
                <a:solidFill>
                  <a:srgbClr val="DE8626"/>
                </a:solidFill>
                <a:latin typeface="Aptos"/>
                <a:ea typeface="Aptos"/>
                <a:cs typeface="Aptos"/>
              </a:defRPr>
            </a:defPPr>
            <a:lvl1pPr algn="l">
              <a:defRPr sz="3000" b="1">
                <a:solidFill>
                  <a:srgbClr val="DE8626"/>
                </a:solidFill>
                <a:latin typeface="Aptos"/>
                <a:ea typeface="Aptos"/>
                <a:cs typeface="Aptos"/>
              </a:defRPr>
            </a:lvl1pPr>
            <a:lvl2pPr algn="l">
              <a:defRPr sz="3000" b="1">
                <a:solidFill>
                  <a:srgbClr val="DE8626"/>
                </a:solidFill>
                <a:latin typeface="Aptos"/>
                <a:ea typeface="Aptos"/>
                <a:cs typeface="Aptos"/>
              </a:defRPr>
            </a:lvl2pPr>
            <a:lvl3pPr algn="l">
              <a:defRPr sz="3000" b="1">
                <a:solidFill>
                  <a:srgbClr val="DE8626"/>
                </a:solidFill>
                <a:latin typeface="Aptos"/>
                <a:ea typeface="Aptos"/>
                <a:cs typeface="Aptos"/>
              </a:defRPr>
            </a:lvl3pPr>
            <a:lvl4pPr algn="l">
              <a:defRPr sz="3000" b="1">
                <a:solidFill>
                  <a:srgbClr val="DE8626"/>
                </a:solidFill>
                <a:latin typeface="Aptos"/>
                <a:ea typeface="Aptos"/>
                <a:cs typeface="Aptos"/>
              </a:defRPr>
            </a:lvl4pPr>
            <a:lvl5pPr algn="l">
              <a:defRPr sz="3000" b="1">
                <a:solidFill>
                  <a:srgbClr val="DE8626"/>
                </a:solidFill>
                <a:latin typeface="Aptos"/>
                <a:ea typeface="Aptos"/>
                <a:cs typeface="Aptos"/>
              </a:defRPr>
            </a:lvl5pPr>
            <a:lvl6pPr algn="l">
              <a:defRPr sz="3000" b="1">
                <a:solidFill>
                  <a:srgbClr val="DE8626"/>
                </a:solidFill>
                <a:latin typeface="Aptos"/>
                <a:ea typeface="Aptos"/>
                <a:cs typeface="Aptos"/>
              </a:defRPr>
            </a:lvl6pPr>
            <a:lvl7pPr algn="l">
              <a:defRPr sz="3000" b="1">
                <a:solidFill>
                  <a:srgbClr val="DE8626"/>
                </a:solidFill>
                <a:latin typeface="Aptos"/>
                <a:ea typeface="Aptos"/>
                <a:cs typeface="Aptos"/>
              </a:defRPr>
            </a:lvl7pPr>
            <a:lvl8pPr algn="l">
              <a:defRPr sz="3000" b="1">
                <a:solidFill>
                  <a:srgbClr val="DE8626"/>
                </a:solidFill>
                <a:latin typeface="Aptos"/>
                <a:ea typeface="Aptos"/>
                <a:cs typeface="Aptos"/>
              </a:defRPr>
            </a:lvl8pPr>
            <a:lvl9pPr algn="l">
              <a:defRPr sz="3000" b="1">
                <a:solidFill>
                  <a:srgbClr val="DE8626"/>
                </a:solidFill>
                <a:latin typeface="Aptos"/>
                <a:ea typeface="Aptos"/>
                <a:cs typeface="Aptos"/>
              </a:defRPr>
            </a:lvl9pPr>
          </a:lstStyle>
          <a:p>
            <a:pPr algn="l">
              <a:defRPr sz="3000" b="1">
                <a:solidFill>
                  <a:srgbClr val="DE8626"/>
                </a:solidFill>
                <a:latin typeface="Aptos"/>
                <a:ea typeface="Aptos"/>
                <a:cs typeface="Aptos"/>
              </a:defRPr>
            </a:pPr>
            <a:r>
              <a:rPr sz="3000" b="1">
                <a:solidFill>
                  <a:srgbClr val="DE8626"/>
                </a:solidFill>
                <a:latin typeface="Aptos"/>
                <a:ea typeface="Aptos"/>
                <a:cs typeface="Aptos"/>
              </a:rPr>
              <a:t>Small</a:t>
            </a:r>
            <a:endParaRPr sz="3000" b="1">
              <a:solidFill>
                <a:srgbClr val="DE8626"/>
              </a:solidFill>
              <a:latin typeface="Aptos"/>
              <a:ea typeface="Aptos"/>
              <a:cs typeface="Aptos"/>
            </a:endParaRPr>
          </a:p>
        </p:txBody>
      </p:sp>
      <p:sp>
        <p:nvSpPr>
          <p:cNvPr id="9" name="filters new objects."/>
          <p:cNvSpPr>
            <a:spLocks noGrp="1"/>
          </p:cNvSpPr>
          <p:nvPr/>
        </p:nvSpPr>
        <p:spPr>
          <a:xfrm>
            <a:off x="3238500" y="2162175"/>
            <a:ext cx="8191500" cy="647700"/>
          </a:xfrm>
          <a:prstGeom prst="rect">
            <a:avLst/>
          </a:prstGeom>
          <a:noFill/>
          <a:ln w="0">
            <a:noFill/>
          </a:ln>
        </p:spPr>
        <p:txBody>
          <a:bodyPr wrap="square" lIns="0" tIns="0" rIns="0" bIns="0" anchor="t">
            <a:noAutofit/>
          </a:bodyPr>
          <a:lstStyle>
            <a:defPPr algn="l">
              <a:defRPr sz="2700" b="0">
                <a:solidFill>
                  <a:srgbClr val="192337"/>
                </a:solidFill>
                <a:latin typeface="Aptos"/>
                <a:ea typeface="Aptos"/>
                <a:cs typeface="Aptos"/>
              </a:defRPr>
            </a:defPPr>
            <a:lvl1pPr algn="l">
              <a:defRPr sz="2700" b="0">
                <a:solidFill>
                  <a:srgbClr val="192337"/>
                </a:solidFill>
                <a:latin typeface="Aptos"/>
                <a:ea typeface="Aptos"/>
                <a:cs typeface="Aptos"/>
              </a:defRPr>
            </a:lvl1pPr>
            <a:lvl2pPr algn="l">
              <a:defRPr sz="2700" b="0">
                <a:solidFill>
                  <a:srgbClr val="192337"/>
                </a:solidFill>
                <a:latin typeface="Aptos"/>
                <a:ea typeface="Aptos"/>
                <a:cs typeface="Aptos"/>
              </a:defRPr>
            </a:lvl2pPr>
            <a:lvl3pPr algn="l">
              <a:defRPr sz="2700" b="0">
                <a:solidFill>
                  <a:srgbClr val="192337"/>
                </a:solidFill>
                <a:latin typeface="Aptos"/>
                <a:ea typeface="Aptos"/>
                <a:cs typeface="Aptos"/>
              </a:defRPr>
            </a:lvl3pPr>
            <a:lvl4pPr algn="l">
              <a:defRPr sz="2700" b="0">
                <a:solidFill>
                  <a:srgbClr val="192337"/>
                </a:solidFill>
                <a:latin typeface="Aptos"/>
                <a:ea typeface="Aptos"/>
                <a:cs typeface="Aptos"/>
              </a:defRPr>
            </a:lvl4pPr>
            <a:lvl5pPr algn="l">
              <a:defRPr sz="2700" b="0">
                <a:solidFill>
                  <a:srgbClr val="192337"/>
                </a:solidFill>
                <a:latin typeface="Aptos"/>
                <a:ea typeface="Aptos"/>
                <a:cs typeface="Aptos"/>
              </a:defRPr>
            </a:lvl5pPr>
            <a:lvl6pPr algn="l">
              <a:defRPr sz="2700" b="0">
                <a:solidFill>
                  <a:srgbClr val="192337"/>
                </a:solidFill>
                <a:latin typeface="Aptos"/>
                <a:ea typeface="Aptos"/>
                <a:cs typeface="Aptos"/>
              </a:defRPr>
            </a:lvl6pPr>
            <a:lvl7pPr algn="l">
              <a:defRPr sz="2700" b="0">
                <a:solidFill>
                  <a:srgbClr val="192337"/>
                </a:solidFill>
                <a:latin typeface="Aptos"/>
                <a:ea typeface="Aptos"/>
                <a:cs typeface="Aptos"/>
              </a:defRPr>
            </a:lvl7pPr>
            <a:lvl8pPr algn="l">
              <a:defRPr sz="2700" b="0">
                <a:solidFill>
                  <a:srgbClr val="192337"/>
                </a:solidFill>
                <a:latin typeface="Aptos"/>
                <a:ea typeface="Aptos"/>
                <a:cs typeface="Aptos"/>
              </a:defRPr>
            </a:lvl8pPr>
            <a:lvl9pPr algn="l">
              <a:defRPr sz="2700" b="0">
                <a:solidFill>
                  <a:srgbClr val="192337"/>
                </a:solidFill>
                <a:latin typeface="Aptos"/>
                <a:ea typeface="Aptos"/>
                <a:cs typeface="Aptos"/>
              </a:defRPr>
            </a:lvl9pPr>
          </a:lstStyle>
          <a:p>
            <a:pPr algn="l">
              <a:defRPr sz="2700" b="0">
                <a:solidFill>
                  <a:srgbClr val="192337"/>
                </a:solidFill>
                <a:latin typeface="Aptos"/>
                <a:ea typeface="Aptos"/>
                <a:cs typeface="Aptos"/>
              </a:defRPr>
            </a:pPr>
            <a:r>
              <a:rPr sz="2700" b="0">
                <a:solidFill>
                  <a:srgbClr val="192337"/>
                </a:solidFill>
                <a:latin typeface="Aptos"/>
                <a:ea typeface="Aptos"/>
                <a:cs typeface="Aptos"/>
              </a:rPr>
              <a:t>filters new objects.</a:t>
            </a:r>
            <a:endParaRPr sz="2700" b="0">
              <a:solidFill>
                <a:srgbClr val="192337"/>
              </a:solidFill>
              <a:latin typeface="Aptos"/>
              <a:ea typeface="Aptos"/>
              <a:cs typeface="Aptos"/>
            </a:endParaRPr>
          </a:p>
        </p:txBody>
      </p:sp>
      <p:sp>
        <p:nvSpPr>
          <p:cNvPr id="10" name="Main"/>
          <p:cNvSpPr>
            <a:spLocks noGrp="1"/>
          </p:cNvSpPr>
          <p:nvPr/>
        </p:nvSpPr>
        <p:spPr>
          <a:xfrm>
            <a:off x="762000" y="3019425"/>
            <a:ext cx="2190750" cy="619125"/>
          </a:xfrm>
          <a:prstGeom prst="rect">
            <a:avLst/>
          </a:prstGeom>
          <a:noFill/>
          <a:ln w="0">
            <a:noFill/>
          </a:ln>
        </p:spPr>
        <p:txBody>
          <a:bodyPr wrap="square" lIns="0" tIns="0" rIns="0" bIns="0" anchor="t">
            <a:noAutofit/>
          </a:bodyPr>
          <a:lstStyle>
            <a:defPPr algn="l">
              <a:defRPr sz="3000" b="1">
                <a:solidFill>
                  <a:srgbClr val="2E6FB5"/>
                </a:solidFill>
                <a:latin typeface="Aptos"/>
                <a:ea typeface="Aptos"/>
                <a:cs typeface="Aptos"/>
              </a:defRPr>
            </a:defPPr>
            <a:lvl1pPr algn="l">
              <a:defRPr sz="3000" b="1">
                <a:solidFill>
                  <a:srgbClr val="2E6FB5"/>
                </a:solidFill>
                <a:latin typeface="Aptos"/>
                <a:ea typeface="Aptos"/>
                <a:cs typeface="Aptos"/>
              </a:defRPr>
            </a:lvl1pPr>
            <a:lvl2pPr algn="l">
              <a:defRPr sz="3000" b="1">
                <a:solidFill>
                  <a:srgbClr val="2E6FB5"/>
                </a:solidFill>
                <a:latin typeface="Aptos"/>
                <a:ea typeface="Aptos"/>
                <a:cs typeface="Aptos"/>
              </a:defRPr>
            </a:lvl2pPr>
            <a:lvl3pPr algn="l">
              <a:defRPr sz="3000" b="1">
                <a:solidFill>
                  <a:srgbClr val="2E6FB5"/>
                </a:solidFill>
                <a:latin typeface="Aptos"/>
                <a:ea typeface="Aptos"/>
                <a:cs typeface="Aptos"/>
              </a:defRPr>
            </a:lvl3pPr>
            <a:lvl4pPr algn="l">
              <a:defRPr sz="3000" b="1">
                <a:solidFill>
                  <a:srgbClr val="2E6FB5"/>
                </a:solidFill>
                <a:latin typeface="Aptos"/>
                <a:ea typeface="Aptos"/>
                <a:cs typeface="Aptos"/>
              </a:defRPr>
            </a:lvl4pPr>
            <a:lvl5pPr algn="l">
              <a:defRPr sz="3000" b="1">
                <a:solidFill>
                  <a:srgbClr val="2E6FB5"/>
                </a:solidFill>
                <a:latin typeface="Aptos"/>
                <a:ea typeface="Aptos"/>
                <a:cs typeface="Aptos"/>
              </a:defRPr>
            </a:lvl5pPr>
            <a:lvl6pPr algn="l">
              <a:defRPr sz="3000" b="1">
                <a:solidFill>
                  <a:srgbClr val="2E6FB5"/>
                </a:solidFill>
                <a:latin typeface="Aptos"/>
                <a:ea typeface="Aptos"/>
                <a:cs typeface="Aptos"/>
              </a:defRPr>
            </a:lvl6pPr>
            <a:lvl7pPr algn="l">
              <a:defRPr sz="3000" b="1">
                <a:solidFill>
                  <a:srgbClr val="2E6FB5"/>
                </a:solidFill>
                <a:latin typeface="Aptos"/>
                <a:ea typeface="Aptos"/>
                <a:cs typeface="Aptos"/>
              </a:defRPr>
            </a:lvl7pPr>
            <a:lvl8pPr algn="l">
              <a:defRPr sz="3000" b="1">
                <a:solidFill>
                  <a:srgbClr val="2E6FB5"/>
                </a:solidFill>
                <a:latin typeface="Aptos"/>
                <a:ea typeface="Aptos"/>
                <a:cs typeface="Aptos"/>
              </a:defRPr>
            </a:lvl8pPr>
            <a:lvl9pPr algn="l">
              <a:defRPr sz="3000" b="1">
                <a:solidFill>
                  <a:srgbClr val="2E6FB5"/>
                </a:solidFill>
                <a:latin typeface="Aptos"/>
                <a:ea typeface="Aptos"/>
                <a:cs typeface="Aptos"/>
              </a:defRPr>
            </a:lvl9pPr>
          </a:lstStyle>
          <a:p>
            <a:pPr algn="l">
              <a:defRPr sz="3000" b="1">
                <a:solidFill>
                  <a:srgbClr val="2E6FB5"/>
                </a:solidFill>
                <a:latin typeface="Aptos"/>
                <a:ea typeface="Aptos"/>
                <a:cs typeface="Aptos"/>
              </a:defRPr>
            </a:pPr>
            <a:r>
              <a:rPr sz="3000" b="1">
                <a:solidFill>
                  <a:srgbClr val="2E6FB5"/>
                </a:solidFill>
                <a:latin typeface="Aptos"/>
                <a:ea typeface="Aptos"/>
                <a:cs typeface="Aptos"/>
              </a:rPr>
              <a:t>Main</a:t>
            </a:r>
            <a:endParaRPr sz="3000" b="1">
              <a:solidFill>
                <a:srgbClr val="2E6FB5"/>
              </a:solidFill>
              <a:latin typeface="Aptos"/>
              <a:ea typeface="Aptos"/>
              <a:cs typeface="Aptos"/>
            </a:endParaRPr>
          </a:p>
        </p:txBody>
      </p:sp>
      <p:sp>
        <p:nvSpPr>
          <p:cNvPr id="11" name="protects useful objects."/>
          <p:cNvSpPr>
            <a:spLocks noGrp="1"/>
          </p:cNvSpPr>
          <p:nvPr/>
        </p:nvSpPr>
        <p:spPr>
          <a:xfrm>
            <a:off x="3238500" y="3048000"/>
            <a:ext cx="8191500" cy="647700"/>
          </a:xfrm>
          <a:prstGeom prst="rect">
            <a:avLst/>
          </a:prstGeom>
          <a:noFill/>
          <a:ln w="0">
            <a:noFill/>
          </a:ln>
        </p:spPr>
        <p:txBody>
          <a:bodyPr wrap="square" lIns="0" tIns="0" rIns="0" bIns="0" anchor="t">
            <a:noAutofit/>
          </a:bodyPr>
          <a:lstStyle>
            <a:defPPr algn="l">
              <a:defRPr sz="2700" b="0">
                <a:solidFill>
                  <a:srgbClr val="192337"/>
                </a:solidFill>
                <a:latin typeface="Aptos"/>
                <a:ea typeface="Aptos"/>
                <a:cs typeface="Aptos"/>
              </a:defRPr>
            </a:defPPr>
            <a:lvl1pPr algn="l">
              <a:defRPr sz="2700" b="0">
                <a:solidFill>
                  <a:srgbClr val="192337"/>
                </a:solidFill>
                <a:latin typeface="Aptos"/>
                <a:ea typeface="Aptos"/>
                <a:cs typeface="Aptos"/>
              </a:defRPr>
            </a:lvl1pPr>
            <a:lvl2pPr algn="l">
              <a:defRPr sz="2700" b="0">
                <a:solidFill>
                  <a:srgbClr val="192337"/>
                </a:solidFill>
                <a:latin typeface="Aptos"/>
                <a:ea typeface="Aptos"/>
                <a:cs typeface="Aptos"/>
              </a:defRPr>
            </a:lvl2pPr>
            <a:lvl3pPr algn="l">
              <a:defRPr sz="2700" b="0">
                <a:solidFill>
                  <a:srgbClr val="192337"/>
                </a:solidFill>
                <a:latin typeface="Aptos"/>
                <a:ea typeface="Aptos"/>
                <a:cs typeface="Aptos"/>
              </a:defRPr>
            </a:lvl3pPr>
            <a:lvl4pPr algn="l">
              <a:defRPr sz="2700" b="0">
                <a:solidFill>
                  <a:srgbClr val="192337"/>
                </a:solidFill>
                <a:latin typeface="Aptos"/>
                <a:ea typeface="Aptos"/>
                <a:cs typeface="Aptos"/>
              </a:defRPr>
            </a:lvl4pPr>
            <a:lvl5pPr algn="l">
              <a:defRPr sz="2700" b="0">
                <a:solidFill>
                  <a:srgbClr val="192337"/>
                </a:solidFill>
                <a:latin typeface="Aptos"/>
                <a:ea typeface="Aptos"/>
                <a:cs typeface="Aptos"/>
              </a:defRPr>
            </a:lvl5pPr>
            <a:lvl6pPr algn="l">
              <a:defRPr sz="2700" b="0">
                <a:solidFill>
                  <a:srgbClr val="192337"/>
                </a:solidFill>
                <a:latin typeface="Aptos"/>
                <a:ea typeface="Aptos"/>
                <a:cs typeface="Aptos"/>
              </a:defRPr>
            </a:lvl6pPr>
            <a:lvl7pPr algn="l">
              <a:defRPr sz="2700" b="0">
                <a:solidFill>
                  <a:srgbClr val="192337"/>
                </a:solidFill>
                <a:latin typeface="Aptos"/>
                <a:ea typeface="Aptos"/>
                <a:cs typeface="Aptos"/>
              </a:defRPr>
            </a:lvl7pPr>
            <a:lvl8pPr algn="l">
              <a:defRPr sz="2700" b="0">
                <a:solidFill>
                  <a:srgbClr val="192337"/>
                </a:solidFill>
                <a:latin typeface="Aptos"/>
                <a:ea typeface="Aptos"/>
                <a:cs typeface="Aptos"/>
              </a:defRPr>
            </a:lvl8pPr>
            <a:lvl9pPr algn="l">
              <a:defRPr sz="2700" b="0">
                <a:solidFill>
                  <a:srgbClr val="192337"/>
                </a:solidFill>
                <a:latin typeface="Aptos"/>
                <a:ea typeface="Aptos"/>
                <a:cs typeface="Aptos"/>
              </a:defRPr>
            </a:lvl9pPr>
          </a:lstStyle>
          <a:p>
            <a:pPr algn="l">
              <a:defRPr sz="2700" b="0">
                <a:solidFill>
                  <a:srgbClr val="192337"/>
                </a:solidFill>
                <a:latin typeface="Aptos"/>
                <a:ea typeface="Aptos"/>
                <a:cs typeface="Aptos"/>
              </a:defRPr>
            </a:pPr>
            <a:r>
              <a:rPr sz="2700" b="0">
                <a:solidFill>
                  <a:srgbClr val="192337"/>
                </a:solidFill>
                <a:latin typeface="Aptos"/>
                <a:ea typeface="Aptos"/>
                <a:cs typeface="Aptos"/>
              </a:rPr>
              <a:t>protects useful objects.</a:t>
            </a:r>
            <a:endParaRPr sz="2700" b="0">
              <a:solidFill>
                <a:srgbClr val="192337"/>
              </a:solidFill>
              <a:latin typeface="Aptos"/>
              <a:ea typeface="Aptos"/>
              <a:cs typeface="Aptos"/>
            </a:endParaRPr>
          </a:p>
        </p:txBody>
      </p:sp>
      <p:sp>
        <p:nvSpPr>
          <p:cNvPr id="12" name="Ghost"/>
          <p:cNvSpPr>
            <a:spLocks noGrp="1"/>
          </p:cNvSpPr>
          <p:nvPr/>
        </p:nvSpPr>
        <p:spPr>
          <a:xfrm>
            <a:off x="762000" y="3905250"/>
            <a:ext cx="2190750" cy="619125"/>
          </a:xfrm>
          <a:prstGeom prst="rect">
            <a:avLst/>
          </a:prstGeom>
          <a:noFill/>
          <a:ln w="0">
            <a:noFill/>
          </a:ln>
        </p:spPr>
        <p:txBody>
          <a:bodyPr wrap="square" lIns="0" tIns="0" rIns="0" bIns="0" anchor="t">
            <a:noAutofit/>
          </a:bodyPr>
          <a:lstStyle>
            <a:defPPr algn="l">
              <a:defRPr sz="3000" b="1">
                <a:solidFill>
                  <a:srgbClr val="7D8998"/>
                </a:solidFill>
                <a:latin typeface="Aptos"/>
                <a:ea typeface="Aptos"/>
                <a:cs typeface="Aptos"/>
              </a:defRPr>
            </a:defPPr>
            <a:lvl1pPr algn="l">
              <a:defRPr sz="3000" b="1">
                <a:solidFill>
                  <a:srgbClr val="7D8998"/>
                </a:solidFill>
                <a:latin typeface="Aptos"/>
                <a:ea typeface="Aptos"/>
                <a:cs typeface="Aptos"/>
              </a:defRPr>
            </a:lvl1pPr>
            <a:lvl2pPr algn="l">
              <a:defRPr sz="3000" b="1">
                <a:solidFill>
                  <a:srgbClr val="7D8998"/>
                </a:solidFill>
                <a:latin typeface="Aptos"/>
                <a:ea typeface="Aptos"/>
                <a:cs typeface="Aptos"/>
              </a:defRPr>
            </a:lvl2pPr>
            <a:lvl3pPr algn="l">
              <a:defRPr sz="3000" b="1">
                <a:solidFill>
                  <a:srgbClr val="7D8998"/>
                </a:solidFill>
                <a:latin typeface="Aptos"/>
                <a:ea typeface="Aptos"/>
                <a:cs typeface="Aptos"/>
              </a:defRPr>
            </a:lvl3pPr>
            <a:lvl4pPr algn="l">
              <a:defRPr sz="3000" b="1">
                <a:solidFill>
                  <a:srgbClr val="7D8998"/>
                </a:solidFill>
                <a:latin typeface="Aptos"/>
                <a:ea typeface="Aptos"/>
                <a:cs typeface="Aptos"/>
              </a:defRPr>
            </a:lvl4pPr>
            <a:lvl5pPr algn="l">
              <a:defRPr sz="3000" b="1">
                <a:solidFill>
                  <a:srgbClr val="7D8998"/>
                </a:solidFill>
                <a:latin typeface="Aptos"/>
                <a:ea typeface="Aptos"/>
                <a:cs typeface="Aptos"/>
              </a:defRPr>
            </a:lvl5pPr>
            <a:lvl6pPr algn="l">
              <a:defRPr sz="3000" b="1">
                <a:solidFill>
                  <a:srgbClr val="7D8998"/>
                </a:solidFill>
                <a:latin typeface="Aptos"/>
                <a:ea typeface="Aptos"/>
                <a:cs typeface="Aptos"/>
              </a:defRPr>
            </a:lvl6pPr>
            <a:lvl7pPr algn="l">
              <a:defRPr sz="3000" b="1">
                <a:solidFill>
                  <a:srgbClr val="7D8998"/>
                </a:solidFill>
                <a:latin typeface="Aptos"/>
                <a:ea typeface="Aptos"/>
                <a:cs typeface="Aptos"/>
              </a:defRPr>
            </a:lvl7pPr>
            <a:lvl8pPr algn="l">
              <a:defRPr sz="3000" b="1">
                <a:solidFill>
                  <a:srgbClr val="7D8998"/>
                </a:solidFill>
                <a:latin typeface="Aptos"/>
                <a:ea typeface="Aptos"/>
                <a:cs typeface="Aptos"/>
              </a:defRPr>
            </a:lvl8pPr>
            <a:lvl9pPr algn="l">
              <a:defRPr sz="3000" b="1">
                <a:solidFill>
                  <a:srgbClr val="7D8998"/>
                </a:solidFill>
                <a:latin typeface="Aptos"/>
                <a:ea typeface="Aptos"/>
                <a:cs typeface="Aptos"/>
              </a:defRPr>
            </a:lvl9pPr>
          </a:lstStyle>
          <a:p>
            <a:pPr algn="l">
              <a:defRPr sz="3000" b="1">
                <a:solidFill>
                  <a:srgbClr val="7D8998"/>
                </a:solidFill>
                <a:latin typeface="Aptos"/>
                <a:ea typeface="Aptos"/>
                <a:cs typeface="Aptos"/>
              </a:defRPr>
            </a:pPr>
            <a:r>
              <a:rPr sz="3000" b="1">
                <a:solidFill>
                  <a:srgbClr val="7D8998"/>
                </a:solidFill>
                <a:latin typeface="Aptos"/>
                <a:ea typeface="Aptos"/>
                <a:cs typeface="Aptos"/>
              </a:rPr>
              <a:t>Ghost</a:t>
            </a:r>
            <a:endParaRPr sz="3000" b="1">
              <a:solidFill>
                <a:srgbClr val="7D8998"/>
              </a:solidFill>
              <a:latin typeface="Aptos"/>
              <a:ea typeface="Aptos"/>
              <a:cs typeface="Aptos"/>
            </a:endParaRPr>
          </a:p>
        </p:txBody>
      </p:sp>
      <p:sp>
        <p:nvSpPr>
          <p:cNvPr id="13" name="remembers removed objects."/>
          <p:cNvSpPr>
            <a:spLocks noGrp="1"/>
          </p:cNvSpPr>
          <p:nvPr/>
        </p:nvSpPr>
        <p:spPr>
          <a:xfrm>
            <a:off x="3238500" y="3933825"/>
            <a:ext cx="8191500" cy="647700"/>
          </a:xfrm>
          <a:prstGeom prst="rect">
            <a:avLst/>
          </a:prstGeom>
          <a:noFill/>
          <a:ln w="0">
            <a:noFill/>
          </a:ln>
        </p:spPr>
        <p:txBody>
          <a:bodyPr wrap="square" lIns="0" tIns="0" rIns="0" bIns="0" anchor="t">
            <a:noAutofit/>
          </a:bodyPr>
          <a:lstStyle>
            <a:defPPr algn="l">
              <a:defRPr sz="2700" b="0">
                <a:solidFill>
                  <a:srgbClr val="192337"/>
                </a:solidFill>
                <a:latin typeface="Aptos"/>
                <a:ea typeface="Aptos"/>
                <a:cs typeface="Aptos"/>
              </a:defRPr>
            </a:defPPr>
            <a:lvl1pPr algn="l">
              <a:defRPr sz="2700" b="0">
                <a:solidFill>
                  <a:srgbClr val="192337"/>
                </a:solidFill>
                <a:latin typeface="Aptos"/>
                <a:ea typeface="Aptos"/>
                <a:cs typeface="Aptos"/>
              </a:defRPr>
            </a:lvl1pPr>
            <a:lvl2pPr algn="l">
              <a:defRPr sz="2700" b="0">
                <a:solidFill>
                  <a:srgbClr val="192337"/>
                </a:solidFill>
                <a:latin typeface="Aptos"/>
                <a:ea typeface="Aptos"/>
                <a:cs typeface="Aptos"/>
              </a:defRPr>
            </a:lvl2pPr>
            <a:lvl3pPr algn="l">
              <a:defRPr sz="2700" b="0">
                <a:solidFill>
                  <a:srgbClr val="192337"/>
                </a:solidFill>
                <a:latin typeface="Aptos"/>
                <a:ea typeface="Aptos"/>
                <a:cs typeface="Aptos"/>
              </a:defRPr>
            </a:lvl3pPr>
            <a:lvl4pPr algn="l">
              <a:defRPr sz="2700" b="0">
                <a:solidFill>
                  <a:srgbClr val="192337"/>
                </a:solidFill>
                <a:latin typeface="Aptos"/>
                <a:ea typeface="Aptos"/>
                <a:cs typeface="Aptos"/>
              </a:defRPr>
            </a:lvl4pPr>
            <a:lvl5pPr algn="l">
              <a:defRPr sz="2700" b="0">
                <a:solidFill>
                  <a:srgbClr val="192337"/>
                </a:solidFill>
                <a:latin typeface="Aptos"/>
                <a:ea typeface="Aptos"/>
                <a:cs typeface="Aptos"/>
              </a:defRPr>
            </a:lvl5pPr>
            <a:lvl6pPr algn="l">
              <a:defRPr sz="2700" b="0">
                <a:solidFill>
                  <a:srgbClr val="192337"/>
                </a:solidFill>
                <a:latin typeface="Aptos"/>
                <a:ea typeface="Aptos"/>
                <a:cs typeface="Aptos"/>
              </a:defRPr>
            </a:lvl6pPr>
            <a:lvl7pPr algn="l">
              <a:defRPr sz="2700" b="0">
                <a:solidFill>
                  <a:srgbClr val="192337"/>
                </a:solidFill>
                <a:latin typeface="Aptos"/>
                <a:ea typeface="Aptos"/>
                <a:cs typeface="Aptos"/>
              </a:defRPr>
            </a:lvl7pPr>
            <a:lvl8pPr algn="l">
              <a:defRPr sz="2700" b="0">
                <a:solidFill>
                  <a:srgbClr val="192337"/>
                </a:solidFill>
                <a:latin typeface="Aptos"/>
                <a:ea typeface="Aptos"/>
                <a:cs typeface="Aptos"/>
              </a:defRPr>
            </a:lvl8pPr>
            <a:lvl9pPr algn="l">
              <a:defRPr sz="2700" b="0">
                <a:solidFill>
                  <a:srgbClr val="192337"/>
                </a:solidFill>
                <a:latin typeface="Aptos"/>
                <a:ea typeface="Aptos"/>
                <a:cs typeface="Aptos"/>
              </a:defRPr>
            </a:lvl9pPr>
          </a:lstStyle>
          <a:p>
            <a:pPr algn="l">
              <a:defRPr sz="2700" b="0">
                <a:solidFill>
                  <a:srgbClr val="192337"/>
                </a:solidFill>
                <a:latin typeface="Aptos"/>
                <a:ea typeface="Aptos"/>
                <a:cs typeface="Aptos"/>
              </a:defRPr>
            </a:pPr>
            <a:r>
              <a:rPr sz="2700" b="0">
                <a:solidFill>
                  <a:srgbClr val="192337"/>
                </a:solidFill>
                <a:latin typeface="Aptos"/>
                <a:ea typeface="Aptos"/>
                <a:cs typeface="Aptos"/>
              </a:rPr>
              <a:t>remembers removed objects.</a:t>
            </a:r>
            <a:endParaRPr sz="2700" b="0">
              <a:solidFill>
                <a:srgbClr val="192337"/>
              </a:solidFill>
              <a:latin typeface="Aptos"/>
              <a:ea typeface="Aptos"/>
              <a:cs typeface="Aptos"/>
            </a:endParaRPr>
          </a:p>
        </p:txBody>
      </p:sp>
      <p:sp>
        <p:nvSpPr>
          <p:cNvPr id="14" name="This design reduces unnecessary updates&#10;and improves cache efficiency."/>
          <p:cNvSpPr>
            <a:spLocks noGrp="1"/>
          </p:cNvSpPr>
          <p:nvPr/>
        </p:nvSpPr>
        <p:spPr>
          <a:xfrm>
            <a:off x="762000" y="4876800"/>
            <a:ext cx="10668000" cy="895350"/>
          </a:xfrm>
          <a:prstGeom prst="rect">
            <a:avLst/>
          </a:prstGeom>
          <a:noFill/>
          <a:ln w="0">
            <a:noFill/>
          </a:ln>
        </p:spPr>
        <p:txBody>
          <a:bodyPr wrap="square" lIns="0" tIns="0" rIns="0" bIns="0" anchor="t">
            <a:noAutofit/>
          </a:bodyPr>
          <a:lstStyle>
            <a:defPPr algn="l">
              <a:defRPr sz="2400" b="1">
                <a:solidFill>
                  <a:srgbClr val="192337"/>
                </a:solidFill>
                <a:latin typeface="Aptos"/>
                <a:ea typeface="Aptos"/>
                <a:cs typeface="Aptos"/>
              </a:defRPr>
            </a:defPPr>
            <a:lvl1pPr algn="l">
              <a:defRPr sz="2400" b="1">
                <a:solidFill>
                  <a:srgbClr val="192337"/>
                </a:solidFill>
                <a:latin typeface="Aptos"/>
                <a:ea typeface="Aptos"/>
                <a:cs typeface="Aptos"/>
              </a:defRPr>
            </a:lvl1pPr>
            <a:lvl2pPr algn="l">
              <a:defRPr sz="2400" b="1">
                <a:solidFill>
                  <a:srgbClr val="192337"/>
                </a:solidFill>
                <a:latin typeface="Aptos"/>
                <a:ea typeface="Aptos"/>
                <a:cs typeface="Aptos"/>
              </a:defRPr>
            </a:lvl2pPr>
            <a:lvl3pPr algn="l">
              <a:defRPr sz="2400" b="1">
                <a:solidFill>
                  <a:srgbClr val="192337"/>
                </a:solidFill>
                <a:latin typeface="Aptos"/>
                <a:ea typeface="Aptos"/>
                <a:cs typeface="Aptos"/>
              </a:defRPr>
            </a:lvl3pPr>
            <a:lvl4pPr algn="l">
              <a:defRPr sz="2400" b="1">
                <a:solidFill>
                  <a:srgbClr val="192337"/>
                </a:solidFill>
                <a:latin typeface="Aptos"/>
                <a:ea typeface="Aptos"/>
                <a:cs typeface="Aptos"/>
              </a:defRPr>
            </a:lvl4pPr>
            <a:lvl5pPr algn="l">
              <a:defRPr sz="2400" b="1">
                <a:solidFill>
                  <a:srgbClr val="192337"/>
                </a:solidFill>
                <a:latin typeface="Aptos"/>
                <a:ea typeface="Aptos"/>
                <a:cs typeface="Aptos"/>
              </a:defRPr>
            </a:lvl5pPr>
            <a:lvl6pPr algn="l">
              <a:defRPr sz="2400" b="1">
                <a:solidFill>
                  <a:srgbClr val="192337"/>
                </a:solidFill>
                <a:latin typeface="Aptos"/>
                <a:ea typeface="Aptos"/>
                <a:cs typeface="Aptos"/>
              </a:defRPr>
            </a:lvl6pPr>
            <a:lvl7pPr algn="l">
              <a:defRPr sz="2400" b="1">
                <a:solidFill>
                  <a:srgbClr val="192337"/>
                </a:solidFill>
                <a:latin typeface="Aptos"/>
                <a:ea typeface="Aptos"/>
                <a:cs typeface="Aptos"/>
              </a:defRPr>
            </a:lvl7pPr>
            <a:lvl8pPr algn="l">
              <a:defRPr sz="2400" b="1">
                <a:solidFill>
                  <a:srgbClr val="192337"/>
                </a:solidFill>
                <a:latin typeface="Aptos"/>
                <a:ea typeface="Aptos"/>
                <a:cs typeface="Aptos"/>
              </a:defRPr>
            </a:lvl8pPr>
            <a:lvl9pPr algn="l">
              <a:defRPr sz="2400" b="1">
                <a:solidFill>
                  <a:srgbClr val="192337"/>
                </a:solidFill>
                <a:latin typeface="Aptos"/>
                <a:ea typeface="Aptos"/>
                <a:cs typeface="Aptos"/>
              </a:defRPr>
            </a:lvl9pPr>
          </a:lstStyle>
          <a:p>
            <a:pPr algn="l">
              <a:defRPr sz="2400" b="1">
                <a:solidFill>
                  <a:srgbClr val="192337"/>
                </a:solidFill>
                <a:latin typeface="Aptos"/>
                <a:ea typeface="Aptos"/>
                <a:cs typeface="Aptos"/>
              </a:defRPr>
            </a:pPr>
            <a:r>
              <a:rPr sz="2400" b="1">
                <a:solidFill>
                  <a:srgbClr val="192337"/>
                </a:solidFill>
                <a:latin typeface="Aptos"/>
                <a:ea typeface="Aptos"/>
                <a:cs typeface="Aptos"/>
              </a:rPr>
              <a:t>This design reduces unnecessary updates</a:t>
            </a:r>
            <a:endParaRPr sz="2400" b="1">
              <a:solidFill>
                <a:srgbClr val="192337"/>
              </a:solidFill>
              <a:latin typeface="Aptos"/>
              <a:ea typeface="Aptos"/>
              <a:cs typeface="Aptos"/>
            </a:endParaRPr>
          </a:p>
          <a:p>
            <a:pPr algn="l">
              <a:defRPr sz="2400" b="1">
                <a:solidFill>
                  <a:srgbClr val="192337"/>
                </a:solidFill>
                <a:latin typeface="Aptos"/>
                <a:ea typeface="Aptos"/>
                <a:cs typeface="Aptos"/>
              </a:defRPr>
            </a:pPr>
            <a:r>
              <a:rPr sz="2400" b="1">
                <a:solidFill>
                  <a:srgbClr val="192337"/>
                </a:solidFill>
                <a:latin typeface="Aptos"/>
                <a:ea typeface="Aptos"/>
                <a:cs typeface="Aptos"/>
              </a:rPr>
              <a:t>and improves cache efficiency.</a:t>
            </a:r>
            <a:endParaRPr sz="2400" b="1">
              <a:solidFill>
                <a:srgbClr val="192337"/>
              </a:solidFill>
              <a:latin typeface="Aptos"/>
              <a:ea typeface="Aptos"/>
              <a:cs typeface="Aptos"/>
            </a:endParaRPr>
          </a:p>
        </p:txBody>
      </p:sp>
      <p:sp>
        <p:nvSpPr>
          <p:cNvPr id="15" name="Now, let's look at the experimental results."/>
          <p:cNvSpPr>
            <a:spLocks noGrp="1"/>
          </p:cNvSpPr>
          <p:nvPr/>
        </p:nvSpPr>
        <p:spPr>
          <a:xfrm>
            <a:off x="762000" y="5943600"/>
            <a:ext cx="10668000" cy="495300"/>
          </a:xfrm>
          <a:prstGeom prst="rect">
            <a:avLst/>
          </a:prstGeom>
          <a:noFill/>
          <a:ln w="0">
            <a:noFill/>
          </a:ln>
        </p:spPr>
        <p:txBody>
          <a:bodyPr wrap="square" lIns="0" tIns="0" rIns="0" bIns="0" anchor="t">
            <a:noAutofit/>
          </a:bodyPr>
          <a:lstStyle>
            <a:defPPr algn="l">
              <a:defRPr sz="2325" b="1">
                <a:solidFill>
                  <a:srgbClr val="2E6FB5"/>
                </a:solidFill>
                <a:latin typeface="Aptos"/>
                <a:ea typeface="Aptos"/>
                <a:cs typeface="Aptos"/>
              </a:defRPr>
            </a:defPPr>
            <a:lvl1pPr algn="l">
              <a:defRPr sz="2325" b="1">
                <a:solidFill>
                  <a:srgbClr val="2E6FB5"/>
                </a:solidFill>
                <a:latin typeface="Aptos"/>
                <a:ea typeface="Aptos"/>
                <a:cs typeface="Aptos"/>
              </a:defRPr>
            </a:lvl1pPr>
            <a:lvl2pPr algn="l">
              <a:defRPr sz="2325" b="1">
                <a:solidFill>
                  <a:srgbClr val="2E6FB5"/>
                </a:solidFill>
                <a:latin typeface="Aptos"/>
                <a:ea typeface="Aptos"/>
                <a:cs typeface="Aptos"/>
              </a:defRPr>
            </a:lvl2pPr>
            <a:lvl3pPr algn="l">
              <a:defRPr sz="2325" b="1">
                <a:solidFill>
                  <a:srgbClr val="2E6FB5"/>
                </a:solidFill>
                <a:latin typeface="Aptos"/>
                <a:ea typeface="Aptos"/>
                <a:cs typeface="Aptos"/>
              </a:defRPr>
            </a:lvl3pPr>
            <a:lvl4pPr algn="l">
              <a:defRPr sz="2325" b="1">
                <a:solidFill>
                  <a:srgbClr val="2E6FB5"/>
                </a:solidFill>
                <a:latin typeface="Aptos"/>
                <a:ea typeface="Aptos"/>
                <a:cs typeface="Aptos"/>
              </a:defRPr>
            </a:lvl4pPr>
            <a:lvl5pPr algn="l">
              <a:defRPr sz="2325" b="1">
                <a:solidFill>
                  <a:srgbClr val="2E6FB5"/>
                </a:solidFill>
                <a:latin typeface="Aptos"/>
                <a:ea typeface="Aptos"/>
                <a:cs typeface="Aptos"/>
              </a:defRPr>
            </a:lvl5pPr>
            <a:lvl6pPr algn="l">
              <a:defRPr sz="2325" b="1">
                <a:solidFill>
                  <a:srgbClr val="2E6FB5"/>
                </a:solidFill>
                <a:latin typeface="Aptos"/>
                <a:ea typeface="Aptos"/>
                <a:cs typeface="Aptos"/>
              </a:defRPr>
            </a:lvl6pPr>
            <a:lvl7pPr algn="l">
              <a:defRPr sz="2325" b="1">
                <a:solidFill>
                  <a:srgbClr val="2E6FB5"/>
                </a:solidFill>
                <a:latin typeface="Aptos"/>
                <a:ea typeface="Aptos"/>
                <a:cs typeface="Aptos"/>
              </a:defRPr>
            </a:lvl7pPr>
            <a:lvl8pPr algn="l">
              <a:defRPr sz="2325" b="1">
                <a:solidFill>
                  <a:srgbClr val="2E6FB5"/>
                </a:solidFill>
                <a:latin typeface="Aptos"/>
                <a:ea typeface="Aptos"/>
                <a:cs typeface="Aptos"/>
              </a:defRPr>
            </a:lvl8pPr>
            <a:lvl9pPr algn="l">
              <a:defRPr sz="2325" b="1">
                <a:solidFill>
                  <a:srgbClr val="2E6FB5"/>
                </a:solidFill>
                <a:latin typeface="Aptos"/>
                <a:ea typeface="Aptos"/>
                <a:cs typeface="Aptos"/>
              </a:defRPr>
            </a:lvl9pPr>
          </a:lstStyle>
          <a:p>
            <a:pPr algn="l">
              <a:defRPr sz="2325" b="1">
                <a:solidFill>
                  <a:srgbClr val="2E6FB5"/>
                </a:solidFill>
                <a:latin typeface="Aptos"/>
                <a:ea typeface="Aptos"/>
                <a:cs typeface="Aptos"/>
              </a:defRPr>
            </a:pPr>
            <a:r>
              <a:rPr sz="2325" b="1">
                <a:solidFill>
                  <a:srgbClr val="2E6FB5"/>
                </a:solidFill>
                <a:latin typeface="Aptos"/>
                <a:ea typeface="Aptos"/>
                <a:cs typeface="Aptos"/>
              </a:rPr>
              <a:t>Now, let's look at the experimental results.</a:t>
            </a:r>
            <a:endParaRPr sz="2325" b="1">
              <a:solidFill>
                <a:srgbClr val="2E6FB5"/>
              </a:solidFill>
              <a:latin typeface="Aptos"/>
              <a:ea typeface="Aptos"/>
              <a:cs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tIns="0" rIns="0" bIns="0">
            <a:spAutoFit/>
          </a:bodyPr>
          <a:lstStyle/>
          <a:p>
            <a:pPr algn="l">
              <a:lnSpc>
                <a:spcPct val="112000"/>
              </a:lnSpc>
              <a:spcBef>
                <a:spcPts val="0"/>
              </a:spcBef>
              <a:spcAft>
                <a:spcPts val="500"/>
              </a:spcAft>
            </a:pPr>
            <a:r>
              <a:rPr sz="1600" b="1">
                <a:solidFill>
                  <a:srgbClr val="F5B841"/>
                </a:solidFill>
                <a:latin typeface="Aptos"/>
              </a:rPr>
              <a:t>PART 3 · MEMBER 3</a:t>
            </a:r>
            <a:endParaRPr sz="1600" b="1">
              <a:solidFill>
                <a:srgbClr val="F5B841"/>
              </a:solidFill>
              <a:latin typeface="Aptos"/>
            </a:endParaRPr>
          </a:p>
        </p:txBody>
      </p:sp>
      <p:sp>
        <p:nvSpPr>
          <p:cNvPr id="3" name="TextBox 2"/>
          <p:cNvSpPr txBox="1"/>
          <p:nvPr/>
        </p:nvSpPr>
        <p:spPr>
          <a:xfrm>
            <a:off x="713232" y="1737360"/>
            <a:ext cx="10652760" cy="1005840"/>
          </a:xfrm>
          <a:prstGeom prst="rect">
            <a:avLst/>
          </a:prstGeom>
          <a:noFill/>
        </p:spPr>
        <p:txBody>
          <a:bodyPr wrap="square" lIns="0" tIns="0" rIns="0" bIns="0">
            <a:spAutoFit/>
          </a:bodyPr>
          <a:lstStyle/>
          <a:p>
            <a:pPr algn="l">
              <a:lnSpc>
                <a:spcPct val="112000"/>
              </a:lnSpc>
              <a:spcBef>
                <a:spcPts val="0"/>
              </a:spcBef>
              <a:spcAft>
                <a:spcPts val="500"/>
              </a:spcAft>
            </a:pPr>
            <a:r>
              <a:rPr sz="3700" b="1">
                <a:solidFill>
                  <a:srgbClr val="FFFFFF"/>
                </a:solidFill>
                <a:latin typeface="Aptos Display"/>
              </a:rPr>
              <a:t>Evaluation &amp; Conclusion</a:t>
            </a:r>
            <a:endParaRPr sz="3700" b="1">
              <a:solidFill>
                <a:srgbClr val="FFFFFF"/>
              </a:solidFill>
              <a:latin typeface="Aptos Display"/>
            </a:endParaRPr>
          </a:p>
        </p:txBody>
      </p:sp>
      <p:sp>
        <p:nvSpPr>
          <p:cNvPr id="4" name="TextBox 3"/>
          <p:cNvSpPr txBox="1"/>
          <p:nvPr/>
        </p:nvSpPr>
        <p:spPr>
          <a:xfrm>
            <a:off x="777240" y="2871216"/>
            <a:ext cx="9784080" cy="822960"/>
          </a:xfrm>
          <a:prstGeom prst="rect">
            <a:avLst/>
          </a:prstGeom>
          <a:noFill/>
        </p:spPr>
        <p:txBody>
          <a:bodyPr wrap="square" lIns="0" tIns="0" rIns="0" bIns="0">
            <a:spAutoFit/>
          </a:bodyPr>
          <a:lstStyle/>
          <a:p>
            <a:pPr algn="l">
              <a:lnSpc>
                <a:spcPct val="112000"/>
              </a:lnSpc>
              <a:spcBef>
                <a:spcPts val="0"/>
              </a:spcBef>
              <a:spcAft>
                <a:spcPts val="500"/>
              </a:spcAft>
            </a:pPr>
            <a:r>
              <a:rPr sz="2100" b="0">
                <a:solidFill>
                  <a:srgbClr val="BED6F0"/>
                </a:solidFill>
                <a:latin typeface="Aptos"/>
              </a:rPr>
              <a:t>What do the paper’s experiments show?</a:t>
            </a:r>
            <a:endParaRPr sz="2100" b="0">
              <a:solidFill>
                <a:srgbClr val="BED6F0"/>
              </a:solidFill>
              <a:latin typeface="Aptos"/>
            </a:endParaRP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tIns="0" rIns="0" bIns="0">
            <a:spAutoFit/>
          </a:bodyPr>
          <a:lstStyle/>
          <a:p>
            <a:pPr algn="l">
              <a:lnSpc>
                <a:spcPct val="112000"/>
              </a:lnSpc>
              <a:spcBef>
                <a:spcPts val="0"/>
              </a:spcBef>
              <a:spcAft>
                <a:spcPts val="500"/>
              </a:spcAft>
            </a:pPr>
            <a:r>
              <a:rPr sz="1500" b="0">
                <a:solidFill>
                  <a:srgbClr val="BED6F0"/>
                </a:solidFill>
                <a:latin typeface="Aptos"/>
              </a:rPr>
              <a:t>Experimental setup → Efficiency → Scalability</a:t>
            </a:r>
            <a:endParaRPr sz="1500" b="0">
              <a:solidFill>
                <a:srgbClr val="BED6F0"/>
              </a:solidFill>
              <a:latin typeface="Aptos"/>
            </a:endParaRPr>
          </a:p>
        </p:txBody>
      </p:sp>
      <p:sp>
        <p:nvSpPr>
          <p:cNvPr id="7" name="TextBox 6"/>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endParaRPr sz="850" b="0">
              <a:solidFill>
                <a:srgbClr val="B8CBE0"/>
              </a:solidFill>
              <a:latin typeface="Aptos"/>
            </a:endParaRPr>
          </a:p>
        </p:txBody>
      </p:sp>
      <p:sp>
        <p:nvSpPr>
          <p:cNvPr id="8" name="TextBox 7"/>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B8CBE0"/>
                </a:solidFill>
                <a:latin typeface="Aptos"/>
              </a:rPr>
              <a:t>Slide 15</a:t>
            </a:r>
            <a:endParaRPr sz="850" b="0">
              <a:solidFill>
                <a:srgbClr val="B8CBE0"/>
              </a:solidFill>
              <a:latin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3 · Evaluation</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Experimental Setup: Real-World Workloads</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The researchers evaluated S3-FIFO using a broad collection of cache traces.</a:t>
            </a:r>
            <a:endParaRPr sz="1400" b="0">
              <a:solidFill>
                <a:srgbClr val="5B6472"/>
              </a:solidFill>
              <a:latin typeface="Aptos"/>
            </a:endParaRP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57400"/>
            <a:ext cx="4114800" cy="777240"/>
          </a:xfrm>
          <a:prstGeom prst="rect">
            <a:avLst/>
          </a:prstGeom>
          <a:noFill/>
        </p:spPr>
        <p:txBody>
          <a:bodyPr wrap="square" lIns="0" tIns="0" rIns="0" bIns="0">
            <a:spAutoFit/>
          </a:bodyPr>
          <a:lstStyle/>
          <a:p>
            <a:pPr algn="l">
              <a:lnSpc>
                <a:spcPct val="112000"/>
              </a:lnSpc>
              <a:spcBef>
                <a:spcPts val="0"/>
              </a:spcBef>
              <a:spcAft>
                <a:spcPts val="500"/>
              </a:spcAft>
            </a:pPr>
            <a:r>
              <a:rPr sz="4700" b="1">
                <a:solidFill>
                  <a:srgbClr val="2D6DAF"/>
                </a:solidFill>
                <a:latin typeface="Aptos"/>
              </a:rPr>
              <a:t>6,594</a:t>
            </a:r>
            <a:endParaRPr sz="4700" b="1">
              <a:solidFill>
                <a:srgbClr val="2D6DAF"/>
              </a:solidFill>
              <a:latin typeface="Aptos"/>
            </a:endParaRPr>
          </a:p>
        </p:txBody>
      </p:sp>
      <p:sp>
        <p:nvSpPr>
          <p:cNvPr id="9" name="TextBox 8"/>
          <p:cNvSpPr txBox="1"/>
          <p:nvPr/>
        </p:nvSpPr>
        <p:spPr>
          <a:xfrm>
            <a:off x="987552" y="2926080"/>
            <a:ext cx="4114800" cy="365760"/>
          </a:xfrm>
          <a:prstGeom prst="rect">
            <a:avLst/>
          </a:prstGeom>
          <a:noFill/>
        </p:spPr>
        <p:txBody>
          <a:bodyPr wrap="square" lIns="0" tIns="0" rIns="0" bIns="0">
            <a:spAutoFit/>
          </a:bodyPr>
          <a:lstStyle/>
          <a:p>
            <a:pPr algn="l">
              <a:lnSpc>
                <a:spcPct val="112000"/>
              </a:lnSpc>
              <a:spcBef>
                <a:spcPts val="0"/>
              </a:spcBef>
              <a:spcAft>
                <a:spcPts val="500"/>
              </a:spcAft>
            </a:pPr>
            <a:r>
              <a:rPr sz="2300" b="0">
                <a:solidFill>
                  <a:srgbClr val="5B6472"/>
                </a:solidFill>
                <a:latin typeface="Aptos"/>
              </a:rPr>
              <a:t>real cache traces</a:t>
            </a:r>
            <a:endParaRPr sz="2300" b="0">
              <a:solidFill>
                <a:srgbClr val="5B6472"/>
              </a:solidFill>
              <a:latin typeface="Aptos"/>
            </a:endParaRPr>
          </a:p>
        </p:txBody>
      </p:sp>
      <p:sp>
        <p:nvSpPr>
          <p:cNvPr id="10" name="TextBox 9"/>
          <p:cNvSpPr txBox="1"/>
          <p:nvPr/>
        </p:nvSpPr>
        <p:spPr>
          <a:xfrm>
            <a:off x="6062472" y="2057400"/>
            <a:ext cx="4114800" cy="777240"/>
          </a:xfrm>
          <a:prstGeom prst="rect">
            <a:avLst/>
          </a:prstGeom>
          <a:noFill/>
        </p:spPr>
        <p:txBody>
          <a:bodyPr wrap="square" lIns="0" tIns="0" rIns="0" bIns="0">
            <a:spAutoFit/>
          </a:bodyPr>
          <a:lstStyle/>
          <a:p>
            <a:pPr algn="l">
              <a:lnSpc>
                <a:spcPct val="112000"/>
              </a:lnSpc>
              <a:spcBef>
                <a:spcPts val="0"/>
              </a:spcBef>
              <a:spcAft>
                <a:spcPts val="500"/>
              </a:spcAft>
            </a:pPr>
            <a:r>
              <a:rPr sz="4700" b="1">
                <a:solidFill>
                  <a:srgbClr val="2D6DAF"/>
                </a:solidFill>
                <a:latin typeface="Aptos"/>
              </a:rPr>
              <a:t>14</a:t>
            </a:r>
            <a:endParaRPr sz="4700" b="1">
              <a:solidFill>
                <a:srgbClr val="2D6DAF"/>
              </a:solidFill>
              <a:latin typeface="Aptos"/>
            </a:endParaRPr>
          </a:p>
        </p:txBody>
      </p:sp>
      <p:sp>
        <p:nvSpPr>
          <p:cNvPr id="11" name="TextBox 10"/>
          <p:cNvSpPr txBox="1"/>
          <p:nvPr/>
        </p:nvSpPr>
        <p:spPr>
          <a:xfrm>
            <a:off x="6062472" y="2926080"/>
            <a:ext cx="4114800" cy="365760"/>
          </a:xfrm>
          <a:prstGeom prst="rect">
            <a:avLst/>
          </a:prstGeom>
          <a:noFill/>
        </p:spPr>
        <p:txBody>
          <a:bodyPr wrap="square" lIns="0" tIns="0" rIns="0" bIns="0">
            <a:spAutoFit/>
          </a:bodyPr>
          <a:lstStyle/>
          <a:p>
            <a:pPr algn="l">
              <a:lnSpc>
                <a:spcPct val="112000"/>
              </a:lnSpc>
              <a:spcBef>
                <a:spcPts val="0"/>
              </a:spcBef>
              <a:spcAft>
                <a:spcPts val="500"/>
              </a:spcAft>
            </a:pPr>
            <a:r>
              <a:rPr sz="2300" b="0">
                <a:solidFill>
                  <a:srgbClr val="5B6472"/>
                </a:solidFill>
                <a:latin typeface="Aptos"/>
              </a:rPr>
              <a:t>datasets / data groups</a:t>
            </a:r>
            <a:endParaRPr sz="2300" b="0">
              <a:solidFill>
                <a:srgbClr val="5B6472"/>
              </a:solidFill>
              <a:latin typeface="Aptos"/>
            </a:endParaRPr>
          </a:p>
        </p:txBody>
      </p:sp>
      <p:sp>
        <p:nvSpPr>
          <p:cNvPr id="12" name="Rectangle 11"/>
          <p:cNvSpPr/>
          <p:nvPr/>
        </p:nvSpPr>
        <p:spPr>
          <a:xfrm>
            <a:off x="987552" y="3602736"/>
            <a:ext cx="10040112" cy="13716"/>
          </a:xfrm>
          <a:prstGeom prst="rect">
            <a:avLst/>
          </a:prstGeom>
          <a:solidFill>
            <a:srgbClr val="DCE5EF"/>
          </a:solidFill>
          <a:ln>
            <a:noFill/>
          </a:ln>
        </p:spPr>
        <p:txBody>
          <a:bodyPr rtlCol="0" anchor="ctr"/>
          <a:lstStyle/>
          <a:p>
            <a:pPr algn="ctr"/>
          </a:p>
        </p:txBody>
      </p:sp>
      <p:sp>
        <p:nvSpPr>
          <p:cNvPr id="13" name="TextBox 12"/>
          <p:cNvSpPr txBox="1"/>
          <p:nvPr/>
        </p:nvSpPr>
        <p:spPr>
          <a:xfrm>
            <a:off x="987552" y="3950208"/>
            <a:ext cx="10012680" cy="329184"/>
          </a:xfrm>
          <a:prstGeom prst="rect">
            <a:avLst/>
          </a:prstGeom>
          <a:noFill/>
        </p:spPr>
        <p:txBody>
          <a:bodyPr wrap="square" lIns="0" tIns="0" rIns="0" bIns="0">
            <a:spAutoFit/>
          </a:bodyPr>
          <a:lstStyle/>
          <a:p>
            <a:pPr algn="l">
              <a:lnSpc>
                <a:spcPct val="112000"/>
              </a:lnSpc>
              <a:spcBef>
                <a:spcPts val="0"/>
              </a:spcBef>
              <a:spcAft>
                <a:spcPts val="500"/>
              </a:spcAft>
            </a:pPr>
            <a:r>
              <a:rPr sz="1600" b="1">
                <a:solidFill>
                  <a:srgbClr val="2D6DAF"/>
                </a:solidFill>
                <a:latin typeface="Aptos"/>
              </a:rPr>
              <a:t>WORKLOAD CATEGORIES</a:t>
            </a:r>
            <a:endParaRPr sz="1600" b="1">
              <a:solidFill>
                <a:srgbClr val="2D6DAF"/>
              </a:solidFill>
              <a:latin typeface="Aptos"/>
            </a:endParaRPr>
          </a:p>
        </p:txBody>
      </p:sp>
      <p:sp>
        <p:nvSpPr>
          <p:cNvPr id="14" name="Rounded Rectangle 13"/>
          <p:cNvSpPr/>
          <p:nvPr/>
        </p:nvSpPr>
        <p:spPr>
          <a:xfrm>
            <a:off x="987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5" name="TextBox 14"/>
          <p:cNvSpPr txBox="1"/>
          <p:nvPr/>
        </p:nvSpPr>
        <p:spPr>
          <a:xfrm>
            <a:off x="1097280" y="4764024"/>
            <a:ext cx="2843784" cy="374904"/>
          </a:xfrm>
          <a:prstGeom prst="rect">
            <a:avLst/>
          </a:prstGeom>
          <a:noFill/>
        </p:spPr>
        <p:txBody>
          <a:bodyPr wrap="square" lIns="0" tIns="0" rIns="0" bIns="0">
            <a:spAutoFit/>
          </a:bodyPr>
          <a:lstStyle/>
          <a:p>
            <a:pPr algn="ctr">
              <a:lnSpc>
                <a:spcPct val="112000"/>
              </a:lnSpc>
              <a:spcBef>
                <a:spcPts val="0"/>
              </a:spcBef>
              <a:spcAft>
                <a:spcPts val="500"/>
              </a:spcAft>
            </a:pPr>
            <a:r>
              <a:rPr sz="1900" b="1">
                <a:solidFill>
                  <a:srgbClr val="2D6DAF"/>
                </a:solidFill>
                <a:latin typeface="Aptos"/>
              </a:rPr>
              <a:t>Storage blocks</a:t>
            </a:r>
            <a:endParaRPr sz="1900" b="1">
              <a:solidFill>
                <a:srgbClr val="2D6DAF"/>
              </a:solidFill>
              <a:latin typeface="Aptos"/>
            </a:endParaRPr>
          </a:p>
        </p:txBody>
      </p:sp>
      <p:sp>
        <p:nvSpPr>
          <p:cNvPr id="16" name="Rounded Rectangle 15"/>
          <p:cNvSpPr/>
          <p:nvPr/>
        </p:nvSpPr>
        <p:spPr>
          <a:xfrm>
            <a:off x="4416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7" name="TextBox 16"/>
          <p:cNvSpPr txBox="1"/>
          <p:nvPr/>
        </p:nvSpPr>
        <p:spPr>
          <a:xfrm>
            <a:off x="4526280" y="4764024"/>
            <a:ext cx="2843784" cy="374904"/>
          </a:xfrm>
          <a:prstGeom prst="rect">
            <a:avLst/>
          </a:prstGeom>
          <a:noFill/>
        </p:spPr>
        <p:txBody>
          <a:bodyPr wrap="square" lIns="0" tIns="0" rIns="0" bIns="0">
            <a:spAutoFit/>
          </a:bodyPr>
          <a:lstStyle/>
          <a:p>
            <a:pPr algn="ctr">
              <a:lnSpc>
                <a:spcPct val="112000"/>
              </a:lnSpc>
              <a:spcBef>
                <a:spcPts val="0"/>
              </a:spcBef>
              <a:spcAft>
                <a:spcPts val="500"/>
              </a:spcAft>
            </a:pPr>
            <a:r>
              <a:rPr sz="1900" b="1">
                <a:solidFill>
                  <a:srgbClr val="2D6DAF"/>
                </a:solidFill>
                <a:latin typeface="Aptos"/>
              </a:rPr>
              <a:t>Key-value data</a:t>
            </a:r>
            <a:endParaRPr sz="1900" b="1">
              <a:solidFill>
                <a:srgbClr val="2D6DAF"/>
              </a:solidFill>
              <a:latin typeface="Aptos"/>
            </a:endParaRPr>
          </a:p>
        </p:txBody>
      </p:sp>
      <p:sp>
        <p:nvSpPr>
          <p:cNvPr id="18" name="Rounded Rectangle 17"/>
          <p:cNvSpPr/>
          <p:nvPr/>
        </p:nvSpPr>
        <p:spPr>
          <a:xfrm>
            <a:off x="7845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9" name="TextBox 18"/>
          <p:cNvSpPr txBox="1"/>
          <p:nvPr/>
        </p:nvSpPr>
        <p:spPr>
          <a:xfrm>
            <a:off x="7955279" y="4764024"/>
            <a:ext cx="2843784" cy="374904"/>
          </a:xfrm>
          <a:prstGeom prst="rect">
            <a:avLst/>
          </a:prstGeom>
          <a:noFill/>
        </p:spPr>
        <p:txBody>
          <a:bodyPr wrap="square" lIns="0" tIns="0" rIns="0" bIns="0">
            <a:spAutoFit/>
          </a:bodyPr>
          <a:lstStyle/>
          <a:p>
            <a:pPr algn="ctr">
              <a:lnSpc>
                <a:spcPct val="112000"/>
              </a:lnSpc>
              <a:spcBef>
                <a:spcPts val="0"/>
              </a:spcBef>
              <a:spcAft>
                <a:spcPts val="500"/>
              </a:spcAft>
            </a:pPr>
            <a:r>
              <a:rPr sz="1900" b="1">
                <a:solidFill>
                  <a:srgbClr val="2D6DAF"/>
                </a:solidFill>
                <a:latin typeface="Aptos"/>
              </a:rPr>
              <a:t>Web content</a:t>
            </a:r>
            <a:endParaRPr sz="1900" b="1">
              <a:solidFill>
                <a:srgbClr val="2D6DAF"/>
              </a:solidFill>
              <a:latin typeface="Aptos"/>
            </a:endParaRPr>
          </a:p>
        </p:txBody>
      </p:sp>
      <p:sp>
        <p:nvSpPr>
          <p:cNvPr id="20" name="Rounded Rectangle 19"/>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1" name="TextBox 20"/>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13294B"/>
                </a:solidFill>
                <a:latin typeface="Aptos"/>
              </a:rPr>
              <a:t>All experimental results are reported by the original paper’s authors.</a:t>
            </a:r>
            <a:endParaRPr sz="1500" b="1">
              <a:solidFill>
                <a:srgbClr val="13294B"/>
              </a:solidFill>
              <a:latin typeface="Aptos"/>
            </a:endParaRPr>
          </a:p>
        </p:txBody>
      </p:sp>
      <p:sp>
        <p:nvSpPr>
          <p:cNvPr id="22" name="TextBox 21"/>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Table 1 and §5.1, Yang et al., SOSP 2023.</a:t>
            </a:r>
            <a:endParaRPr sz="920" b="0">
              <a:solidFill>
                <a:srgbClr val="738096"/>
              </a:solidFill>
              <a:latin typeface="Aptos"/>
            </a:endParaRPr>
          </a:p>
        </p:txBody>
      </p:sp>
      <p:sp>
        <p:nvSpPr>
          <p:cNvPr id="23" name="TextBox 22"/>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24" name="TextBox 23"/>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16</a:t>
            </a:r>
            <a:endParaRPr sz="850" b="0">
              <a:solidFill>
                <a:srgbClr val="738096"/>
              </a:solidFill>
              <a:latin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3 · Comparison</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What Did the Researchers Compare?</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S3-FIFO was compared with FIFO, LRU and other cache replacement methods.</a:t>
            </a:r>
            <a:endParaRPr sz="1400" b="0">
              <a:solidFill>
                <a:srgbClr val="5B6472"/>
              </a:solidFill>
              <a:latin typeface="Aptos"/>
            </a:endParaRP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249424"/>
            <a:ext cx="3191256" cy="640080"/>
          </a:xfrm>
          <a:prstGeom prst="rect">
            <a:avLst/>
          </a:prstGeom>
          <a:noFill/>
        </p:spPr>
        <p:txBody>
          <a:bodyPr wrap="square" lIns="0" tIns="0" rIns="0" bIns="0">
            <a:spAutoFit/>
          </a:bodyPr>
          <a:lstStyle/>
          <a:p>
            <a:pPr algn="l">
              <a:lnSpc>
                <a:spcPct val="112000"/>
              </a:lnSpc>
              <a:spcBef>
                <a:spcPts val="0"/>
              </a:spcBef>
              <a:spcAft>
                <a:spcPts val="500"/>
              </a:spcAft>
            </a:pPr>
            <a:r>
              <a:rPr sz="3400" b="1">
                <a:solidFill>
                  <a:srgbClr val="2D6DAF"/>
                </a:solidFill>
                <a:latin typeface="Aptos"/>
              </a:rPr>
              <a:t>FIFO</a:t>
            </a:r>
            <a:endParaRPr sz="3400" b="1">
              <a:solidFill>
                <a:srgbClr val="2D6DAF"/>
              </a:solidFill>
              <a:latin typeface="Aptos"/>
            </a:endParaRPr>
          </a:p>
        </p:txBody>
      </p:sp>
      <p:sp>
        <p:nvSpPr>
          <p:cNvPr id="9" name="TextBox 8"/>
          <p:cNvSpPr txBox="1"/>
          <p:nvPr/>
        </p:nvSpPr>
        <p:spPr>
          <a:xfrm>
            <a:off x="987552" y="3145536"/>
            <a:ext cx="3127248" cy="1024128"/>
          </a:xfrm>
          <a:prstGeom prst="rect">
            <a:avLst/>
          </a:prstGeom>
          <a:noFill/>
        </p:spPr>
        <p:txBody>
          <a:bodyPr wrap="square" lIns="0" tIns="0" rIns="0" bIns="0">
            <a:spAutoFit/>
          </a:bodyPr>
          <a:lstStyle/>
          <a:p>
            <a:pPr algn="l">
              <a:lnSpc>
                <a:spcPct val="112000"/>
              </a:lnSpc>
              <a:spcBef>
                <a:spcPts val="0"/>
              </a:spcBef>
              <a:spcAft>
                <a:spcPts val="500"/>
              </a:spcAft>
            </a:pPr>
            <a:r>
              <a:rPr sz="2200" b="0">
                <a:solidFill>
                  <a:srgbClr val="172033"/>
                </a:solidFill>
                <a:latin typeface="Aptos"/>
              </a:rPr>
              <a:t>Simple insertion-order eviction</a:t>
            </a:r>
            <a:endParaRPr sz="2200" b="0">
              <a:solidFill>
                <a:srgbClr val="172033"/>
              </a:solidFill>
              <a:latin typeface="Aptos"/>
            </a:endParaRPr>
          </a:p>
        </p:txBody>
      </p:sp>
      <p:sp>
        <p:nvSpPr>
          <p:cNvPr id="10" name="TextBox 9"/>
          <p:cNvSpPr txBox="1"/>
          <p:nvPr/>
        </p:nvSpPr>
        <p:spPr>
          <a:xfrm>
            <a:off x="4489704" y="2249424"/>
            <a:ext cx="3191256" cy="640080"/>
          </a:xfrm>
          <a:prstGeom prst="rect">
            <a:avLst/>
          </a:prstGeom>
          <a:noFill/>
        </p:spPr>
        <p:txBody>
          <a:bodyPr wrap="square" lIns="0" tIns="0" rIns="0" bIns="0">
            <a:spAutoFit/>
          </a:bodyPr>
          <a:lstStyle/>
          <a:p>
            <a:pPr algn="l">
              <a:lnSpc>
                <a:spcPct val="112000"/>
              </a:lnSpc>
              <a:spcBef>
                <a:spcPts val="0"/>
              </a:spcBef>
              <a:spcAft>
                <a:spcPts val="500"/>
              </a:spcAft>
            </a:pPr>
            <a:r>
              <a:rPr sz="3400" b="1">
                <a:solidFill>
                  <a:srgbClr val="238B6D"/>
                </a:solidFill>
                <a:latin typeface="Aptos"/>
              </a:rPr>
              <a:t>LRU</a:t>
            </a:r>
            <a:endParaRPr sz="3400" b="1">
              <a:solidFill>
                <a:srgbClr val="238B6D"/>
              </a:solidFill>
              <a:latin typeface="Aptos"/>
            </a:endParaRPr>
          </a:p>
        </p:txBody>
      </p:sp>
      <p:sp>
        <p:nvSpPr>
          <p:cNvPr id="11" name="TextBox 10"/>
          <p:cNvSpPr txBox="1"/>
          <p:nvPr/>
        </p:nvSpPr>
        <p:spPr>
          <a:xfrm>
            <a:off x="4489704" y="3145536"/>
            <a:ext cx="3127248" cy="1024128"/>
          </a:xfrm>
          <a:prstGeom prst="rect">
            <a:avLst/>
          </a:prstGeom>
          <a:noFill/>
        </p:spPr>
        <p:txBody>
          <a:bodyPr wrap="square" lIns="0" tIns="0" rIns="0" bIns="0">
            <a:spAutoFit/>
          </a:bodyPr>
          <a:lstStyle/>
          <a:p>
            <a:pPr algn="l">
              <a:lnSpc>
                <a:spcPct val="112000"/>
              </a:lnSpc>
              <a:spcBef>
                <a:spcPts val="0"/>
              </a:spcBef>
              <a:spcAft>
                <a:spcPts val="500"/>
              </a:spcAft>
            </a:pPr>
            <a:r>
              <a:rPr sz="2200" b="0">
                <a:solidFill>
                  <a:srgbClr val="172033"/>
                </a:solidFill>
                <a:latin typeface="Aptos"/>
              </a:rPr>
              <a:t>Evict the least recently used object</a:t>
            </a:r>
            <a:endParaRPr sz="2200" b="0">
              <a:solidFill>
                <a:srgbClr val="172033"/>
              </a:solidFill>
              <a:latin typeface="Aptos"/>
            </a:endParaRPr>
          </a:p>
        </p:txBody>
      </p:sp>
      <p:sp>
        <p:nvSpPr>
          <p:cNvPr id="12" name="TextBox 11"/>
          <p:cNvSpPr txBox="1"/>
          <p:nvPr/>
        </p:nvSpPr>
        <p:spPr>
          <a:xfrm>
            <a:off x="7991856" y="2249424"/>
            <a:ext cx="3191256" cy="640080"/>
          </a:xfrm>
          <a:prstGeom prst="rect">
            <a:avLst/>
          </a:prstGeom>
          <a:noFill/>
        </p:spPr>
        <p:txBody>
          <a:bodyPr wrap="square" lIns="0" tIns="0" rIns="0" bIns="0">
            <a:spAutoFit/>
          </a:bodyPr>
          <a:lstStyle/>
          <a:p>
            <a:pPr algn="l">
              <a:lnSpc>
                <a:spcPct val="112000"/>
              </a:lnSpc>
              <a:spcBef>
                <a:spcPts val="0"/>
              </a:spcBef>
              <a:spcAft>
                <a:spcPts val="500"/>
              </a:spcAft>
            </a:pPr>
            <a:r>
              <a:rPr sz="3400" b="1">
                <a:solidFill>
                  <a:srgbClr val="D9852A"/>
                </a:solidFill>
                <a:latin typeface="Aptos"/>
              </a:rPr>
              <a:t>S3-FIFO</a:t>
            </a:r>
            <a:endParaRPr sz="3400" b="1">
              <a:solidFill>
                <a:srgbClr val="D9852A"/>
              </a:solidFill>
              <a:latin typeface="Aptos"/>
            </a:endParaRPr>
          </a:p>
        </p:txBody>
      </p:sp>
      <p:sp>
        <p:nvSpPr>
          <p:cNvPr id="13" name="TextBox 12"/>
          <p:cNvSpPr txBox="1"/>
          <p:nvPr/>
        </p:nvSpPr>
        <p:spPr>
          <a:xfrm>
            <a:off x="7991856" y="3145536"/>
            <a:ext cx="3127248" cy="1024128"/>
          </a:xfrm>
          <a:prstGeom prst="rect">
            <a:avLst/>
          </a:prstGeom>
          <a:noFill/>
        </p:spPr>
        <p:txBody>
          <a:bodyPr wrap="square" lIns="0" tIns="0" rIns="0" bIns="0">
            <a:spAutoFit/>
          </a:bodyPr>
          <a:lstStyle/>
          <a:p>
            <a:pPr algn="l">
              <a:lnSpc>
                <a:spcPct val="112000"/>
              </a:lnSpc>
              <a:spcBef>
                <a:spcPts val="0"/>
              </a:spcBef>
              <a:spcAft>
                <a:spcPts val="500"/>
              </a:spcAft>
            </a:pPr>
            <a:r>
              <a:rPr sz="2200" b="0">
                <a:solidFill>
                  <a:srgbClr val="172033"/>
                </a:solidFill>
                <a:latin typeface="Aptos"/>
              </a:rPr>
              <a:t>Three static FIFO queues</a:t>
            </a:r>
            <a:endParaRPr sz="2200" b="0">
              <a:solidFill>
                <a:srgbClr val="172033"/>
              </a:solidFill>
              <a:latin typeface="Aptos"/>
            </a:endParaRPr>
          </a:p>
        </p:txBody>
      </p:sp>
      <p:sp>
        <p:nvSpPr>
          <p:cNvPr id="14" name="Rectangle 13"/>
          <p:cNvSpPr/>
          <p:nvPr/>
        </p:nvSpPr>
        <p:spPr>
          <a:xfrm>
            <a:off x="987552" y="4517136"/>
            <a:ext cx="10040112" cy="13716"/>
          </a:xfrm>
          <a:prstGeom prst="rect">
            <a:avLst/>
          </a:prstGeom>
          <a:solidFill>
            <a:srgbClr val="DCE5EF"/>
          </a:solidFill>
          <a:ln>
            <a:noFill/>
          </a:ln>
        </p:spPr>
        <p:txBody>
          <a:bodyPr rtlCol="0" anchor="ctr"/>
          <a:lstStyle/>
          <a:p>
            <a:pPr algn="ctr"/>
          </a:p>
        </p:txBody>
      </p:sp>
      <p:sp>
        <p:nvSpPr>
          <p:cNvPr id="15" name="TextBox 14"/>
          <p:cNvSpPr txBox="1"/>
          <p:nvPr/>
        </p:nvSpPr>
        <p:spPr>
          <a:xfrm>
            <a:off x="987552" y="4809744"/>
            <a:ext cx="10040112" cy="365760"/>
          </a:xfrm>
          <a:prstGeom prst="rect">
            <a:avLst/>
          </a:prstGeom>
          <a:noFill/>
        </p:spPr>
        <p:txBody>
          <a:bodyPr wrap="square" lIns="0" tIns="0" rIns="0" bIns="0">
            <a:spAutoFit/>
          </a:bodyPr>
          <a:lstStyle/>
          <a:p>
            <a:pPr algn="l">
              <a:lnSpc>
                <a:spcPct val="112000"/>
              </a:lnSpc>
              <a:spcBef>
                <a:spcPts val="0"/>
              </a:spcBef>
              <a:spcAft>
                <a:spcPts val="500"/>
              </a:spcAft>
            </a:pPr>
            <a:r>
              <a:rPr sz="2000" b="0">
                <a:solidFill>
                  <a:srgbClr val="5B6472"/>
                </a:solidFill>
                <a:latin typeface="Aptos"/>
              </a:rPr>
              <a:t>Other eviction policies were included in the paper’s evaluation as well.</a:t>
            </a:r>
            <a:endParaRPr sz="2000" b="0">
              <a:solidFill>
                <a:srgbClr val="5B6472"/>
              </a:solidFill>
              <a:latin typeface="Aptos"/>
            </a:endParaRPr>
          </a:p>
        </p:txBody>
      </p:sp>
      <p:sp>
        <p:nvSpPr>
          <p:cNvPr id="16" name="Rounded Rectangle 15"/>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17" name="TextBox 16"/>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13294B"/>
                </a:solidFill>
                <a:latin typeface="Aptos"/>
              </a:rPr>
              <a:t>Compare both cache efficiency and the cost of serving requests.</a:t>
            </a:r>
            <a:endParaRPr sz="1500" b="1">
              <a:solidFill>
                <a:srgbClr val="13294B"/>
              </a:solidFill>
              <a:latin typeface="Aptos"/>
            </a:endParaRPr>
          </a:p>
        </p:txBody>
      </p:sp>
      <p:sp>
        <p:nvSpPr>
          <p:cNvPr id="18" name="TextBox 17"/>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§§5.1–5.3, Yang et al., SOSP 2023.</a:t>
            </a:r>
            <a:endParaRPr sz="920" b="0">
              <a:solidFill>
                <a:srgbClr val="738096"/>
              </a:solidFill>
              <a:latin typeface="Aptos"/>
            </a:endParaRPr>
          </a:p>
        </p:txBody>
      </p:sp>
      <p:sp>
        <p:nvSpPr>
          <p:cNvPr id="19" name="TextBox 18"/>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20" name="TextBox 19"/>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17</a:t>
            </a:r>
            <a:endParaRPr sz="850" b="0">
              <a:solidFill>
                <a:srgbClr val="738096"/>
              </a:solidFill>
              <a:latin typeface="Apto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3 · Efficiency Metric</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What Does Miss Ratio Mean?</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A cache miss occurs when the requested data is not in the cache.</a:t>
            </a:r>
            <a:endParaRPr sz="1400" b="0">
              <a:solidFill>
                <a:srgbClr val="5B6472"/>
              </a:solidFill>
              <a:latin typeface="Aptos"/>
            </a:endParaRP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148840"/>
            <a:ext cx="10040112" cy="457200"/>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2D6DAF"/>
                </a:solidFill>
                <a:latin typeface="Aptos"/>
              </a:rPr>
              <a:t>Miss ratio = cache misses / total requests</a:t>
            </a:r>
            <a:endParaRPr sz="2900" b="1">
              <a:solidFill>
                <a:srgbClr val="2D6DAF"/>
              </a:solidFill>
              <a:latin typeface="Aptos"/>
            </a:endParaRPr>
          </a:p>
        </p:txBody>
      </p:sp>
      <p:sp>
        <p:nvSpPr>
          <p:cNvPr id="9" name="Rectangle 8"/>
          <p:cNvSpPr/>
          <p:nvPr/>
        </p:nvSpPr>
        <p:spPr>
          <a:xfrm>
            <a:off x="1005840" y="3017520"/>
            <a:ext cx="10040112" cy="13716"/>
          </a:xfrm>
          <a:prstGeom prst="rect">
            <a:avLst/>
          </a:prstGeom>
          <a:solidFill>
            <a:srgbClr val="DCE5EF"/>
          </a:solidFill>
          <a:ln>
            <a:noFill/>
          </a:ln>
        </p:spPr>
        <p:txBody>
          <a:bodyPr rtlCol="0" anchor="ctr"/>
          <a:lstStyle/>
          <a:p>
            <a:pPr algn="ctr"/>
          </a:p>
        </p:txBody>
      </p:sp>
      <p:sp>
        <p:nvSpPr>
          <p:cNvPr id="10" name="TextBox 9"/>
          <p:cNvSpPr txBox="1"/>
          <p:nvPr/>
        </p:nvSpPr>
        <p:spPr>
          <a:xfrm>
            <a:off x="1005840" y="3364992"/>
            <a:ext cx="10012680" cy="1572768"/>
          </a:xfrm>
          <a:prstGeom prst="rect">
            <a:avLst/>
          </a:prstGeom>
          <a:noFill/>
        </p:spPr>
        <p:txBody>
          <a:bodyPr wrap="square" lIns="0" tIns="0" rIns="0" bIns="0">
            <a:spAutoFit/>
          </a:bodyPr>
          <a:lstStyle/>
          <a:p>
            <a:pPr algn="l">
              <a:lnSpc>
                <a:spcPct val="114000"/>
              </a:lnSpc>
              <a:spcBef>
                <a:spcPts val="0"/>
              </a:spcBef>
              <a:spcAft>
                <a:spcPts val="2100"/>
              </a:spcAft>
            </a:pPr>
            <a:r>
              <a:rPr sz="2700">
                <a:solidFill>
                  <a:srgbClr val="172033"/>
                </a:solidFill>
                <a:latin typeface="Aptos"/>
              </a:rPr>
              <a:t>A lower miss ratio is better.</a:t>
            </a:r>
            <a:endParaRPr sz="2700">
              <a:solidFill>
                <a:srgbClr val="172033"/>
              </a:solidFill>
              <a:latin typeface="Aptos"/>
            </a:endParaRPr>
          </a:p>
          <a:p>
            <a:pPr>
              <a:lnSpc>
                <a:spcPct val="114000"/>
              </a:lnSpc>
              <a:spcAft>
                <a:spcPts val="2100"/>
              </a:spcAft>
            </a:pPr>
            <a:r>
              <a:rPr sz="2700">
                <a:solidFill>
                  <a:srgbClr val="172033"/>
                </a:solidFill>
                <a:latin typeface="Aptos"/>
              </a:rPr>
              <a:t>It means more requests can be served directly from the cache.</a:t>
            </a:r>
            <a:endParaRPr sz="2700">
              <a:solidFill>
                <a:srgbClr val="172033"/>
              </a:solidFill>
              <a:latin typeface="Aptos"/>
            </a:endParaRPr>
          </a:p>
        </p:txBody>
      </p:sp>
      <p:sp>
        <p:nvSpPr>
          <p:cNvPr id="11" name="Rounded Rectangle 10"/>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2" name="TextBox 11"/>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238B6D"/>
                </a:solidFill>
                <a:latin typeface="Aptos"/>
              </a:rPr>
              <a:t>Miss ratio measures cache efficiency: lower is better.</a:t>
            </a:r>
            <a:endParaRPr sz="1500" b="1">
              <a:solidFill>
                <a:srgbClr val="238B6D"/>
              </a:solidFill>
              <a:latin typeface="Aptos"/>
            </a:endParaRPr>
          </a:p>
        </p:txBody>
      </p:sp>
      <p:sp>
        <p:nvSpPr>
          <p:cNvPr id="13" name="TextBox 12"/>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§5.2, Yang et al., SOSP 2023.</a:t>
            </a:r>
            <a:endParaRPr sz="920" b="0">
              <a:solidFill>
                <a:srgbClr val="738096"/>
              </a:solidFill>
              <a:latin typeface="Aptos"/>
            </a:endParaRPr>
          </a:p>
        </p:txBody>
      </p:sp>
      <p:sp>
        <p:nvSpPr>
          <p:cNvPr id="14" name="TextBox 13"/>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15" name="TextBox 14"/>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18</a:t>
            </a:r>
            <a:endParaRPr sz="850" b="0">
              <a:solidFill>
                <a:srgbClr val="738096"/>
              </a:solidFill>
              <a:latin typeface="Apto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3 · Results</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Result 1: Cache Efficiency</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Figure 6 compares miss-ratio reduction relative to FIFO, rather than raw miss ratios.</a:t>
            </a:r>
            <a:endParaRPr sz="1400" b="0">
              <a:solidFill>
                <a:srgbClr val="5B6472"/>
              </a:solidFill>
              <a:latin typeface="Aptos"/>
            </a:endParaRPr>
          </a:p>
        </p:txBody>
      </p:sp>
      <p:sp>
        <p:nvSpPr>
          <p:cNvPr id="7" name="Rounded Rectangle 6"/>
          <p:cNvSpPr/>
          <p:nvPr/>
        </p:nvSpPr>
        <p:spPr>
          <a:xfrm>
            <a:off x="685800" y="1783080"/>
            <a:ext cx="10789920" cy="2761488"/>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1"/>
          <a:stretch>
            <a:fillRect/>
          </a:stretch>
        </p:blipFill>
        <p:spPr>
          <a:xfrm>
            <a:off x="859536" y="1904251"/>
            <a:ext cx="10442448" cy="2381984"/>
          </a:xfrm>
          <a:prstGeom prst="rect">
            <a:avLst/>
          </a:prstGeom>
        </p:spPr>
      </p:pic>
      <p:sp>
        <p:nvSpPr>
          <p:cNvPr id="9" name="TextBox 8"/>
          <p:cNvSpPr txBox="1"/>
          <p:nvPr/>
        </p:nvSpPr>
        <p:spPr>
          <a:xfrm>
            <a:off x="914400" y="4297680"/>
            <a:ext cx="10287000" cy="201168"/>
          </a:xfrm>
          <a:prstGeom prst="rect">
            <a:avLst/>
          </a:prstGeom>
          <a:noFill/>
        </p:spPr>
        <p:txBody>
          <a:bodyPr wrap="square" lIns="0" tIns="0" rIns="0" bIns="0">
            <a:spAutoFit/>
          </a:bodyPr>
          <a:lstStyle/>
          <a:p>
            <a:pPr algn="l">
              <a:lnSpc>
                <a:spcPct val="112000"/>
              </a:lnSpc>
              <a:spcBef>
                <a:spcPts val="0"/>
              </a:spcBef>
              <a:spcAft>
                <a:spcPts val="500"/>
              </a:spcAft>
            </a:pPr>
            <a:r>
              <a:rPr sz="1100" b="0">
                <a:solidFill>
                  <a:srgbClr val="5B6472"/>
                </a:solidFill>
                <a:latin typeface="Aptos"/>
              </a:rPr>
              <a:t>Original Figure 6 · Miss-ratio reduction relative to FIFO: a larger reduction is better.</a:t>
            </a:r>
            <a:endParaRPr sz="1100" b="0">
              <a:solidFill>
                <a:srgbClr val="5B6472"/>
              </a:solidFill>
              <a:latin typeface="Aptos"/>
            </a:endParaRPr>
          </a:p>
        </p:txBody>
      </p:sp>
      <p:sp>
        <p:nvSpPr>
          <p:cNvPr id="10" name="Rounded Rectangle 9"/>
          <p:cNvSpPr/>
          <p:nvPr/>
        </p:nvSpPr>
        <p:spPr>
          <a:xfrm>
            <a:off x="731520" y="4773168"/>
            <a:ext cx="2468880" cy="585216"/>
          </a:xfrm>
          <a:prstGeom prst="roundRect">
            <a:avLst>
              <a:gd name="adj" fmla="val 12000"/>
            </a:avLst>
          </a:prstGeom>
          <a:solidFill>
            <a:srgbClr val="EAF3FF"/>
          </a:solidFill>
          <a:ln>
            <a:noFill/>
          </a:ln>
        </p:spPr>
        <p:txBody>
          <a:bodyPr rtlCol="0" anchor="ctr"/>
          <a:lstStyle/>
          <a:p>
            <a:pPr algn="ctr"/>
          </a:p>
        </p:txBody>
      </p:sp>
      <p:sp>
        <p:nvSpPr>
          <p:cNvPr id="11" name="TextBox 10"/>
          <p:cNvSpPr txBox="1"/>
          <p:nvPr/>
        </p:nvSpPr>
        <p:spPr>
          <a:xfrm>
            <a:off x="932688" y="4837176"/>
            <a:ext cx="2066543" cy="457200"/>
          </a:xfrm>
          <a:prstGeom prst="rect">
            <a:avLst/>
          </a:prstGeom>
          <a:noFill/>
        </p:spPr>
        <p:txBody>
          <a:bodyPr wrap="square" lIns="0" tIns="0" rIns="0" bIns="0">
            <a:spAutoFit/>
          </a:bodyPr>
          <a:lstStyle/>
          <a:p>
            <a:pPr algn="l">
              <a:lnSpc>
                <a:spcPct val="112000"/>
              </a:lnSpc>
              <a:spcBef>
                <a:spcPts val="0"/>
              </a:spcBef>
              <a:spcAft>
                <a:spcPts val="500"/>
              </a:spcAft>
            </a:pPr>
            <a:r>
              <a:rPr sz="2600" b="1">
                <a:solidFill>
                  <a:srgbClr val="2D6DAF"/>
                </a:solidFill>
                <a:latin typeface="Aptos"/>
              </a:rPr>
              <a:t>10 / 14</a:t>
            </a:r>
            <a:endParaRPr sz="2600" b="1">
              <a:solidFill>
                <a:srgbClr val="2D6DAF"/>
              </a:solidFill>
              <a:latin typeface="Aptos"/>
            </a:endParaRPr>
          </a:p>
        </p:txBody>
      </p:sp>
      <p:sp>
        <p:nvSpPr>
          <p:cNvPr id="12" name="TextBox 11"/>
          <p:cNvSpPr txBox="1"/>
          <p:nvPr/>
        </p:nvSpPr>
        <p:spPr>
          <a:xfrm>
            <a:off x="3447288" y="4782312"/>
            <a:ext cx="7790688" cy="585216"/>
          </a:xfrm>
          <a:prstGeom prst="rect">
            <a:avLst/>
          </a:prstGeom>
          <a:noFill/>
        </p:spPr>
        <p:txBody>
          <a:bodyPr wrap="square" lIns="0" tIns="0" rIns="0" bIns="0">
            <a:spAutoFit/>
          </a:bodyPr>
          <a:lstStyle/>
          <a:p>
            <a:pPr algn="l">
              <a:lnSpc>
                <a:spcPct val="112000"/>
              </a:lnSpc>
              <a:spcBef>
                <a:spcPts val="0"/>
              </a:spcBef>
              <a:spcAft>
                <a:spcPts val="500"/>
              </a:spcAft>
            </a:pPr>
            <a:r>
              <a:rPr sz="1800" b="1">
                <a:solidFill>
                  <a:srgbClr val="172033"/>
                </a:solidFill>
                <a:latin typeface="Aptos"/>
              </a:rPr>
              <a:t>Lowest average miss ratio in 10 of 14 datasets</a:t>
            </a:r>
            <a:endParaRPr sz="1800" b="1">
              <a:solidFill>
                <a:srgbClr val="172033"/>
              </a:solidFill>
              <a:latin typeface="Aptos"/>
            </a:endParaRPr>
          </a:p>
          <a:p>
            <a:pPr algn="l">
              <a:lnSpc>
                <a:spcPct val="112000"/>
              </a:lnSpc>
              <a:spcBef>
                <a:spcPts val="0"/>
              </a:spcBef>
              <a:spcAft>
                <a:spcPts val="500"/>
              </a:spcAft>
            </a:pPr>
            <a:r>
              <a:rPr sz="1800" b="1">
                <a:solidFill>
                  <a:srgbClr val="172033"/>
                </a:solidFill>
                <a:latin typeface="Aptos"/>
              </a:rPr>
              <a:t>with a relatively large cache.</a:t>
            </a:r>
            <a:endParaRPr sz="1800" b="1">
              <a:solidFill>
                <a:srgbClr val="172033"/>
              </a:solidFill>
              <a:latin typeface="Aptos"/>
            </a:endParaRP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238B6D"/>
                </a:solidFill>
                <a:latin typeface="Aptos"/>
              </a:rPr>
              <a:t>S3-FIFO performs well across many workloads.</a:t>
            </a:r>
            <a:endParaRPr sz="1500" b="1">
              <a:solidFill>
                <a:srgbClr val="238B6D"/>
              </a:solidFill>
              <a:latin typeface="Aptos"/>
            </a:endParaRPr>
          </a:p>
        </p:txBody>
      </p:sp>
      <p:sp>
        <p:nvSpPr>
          <p:cNvPr id="15" name="TextBox 14"/>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Figure 6 and §5.2, Yang et al., SOSP 2023. The 10/14 dataset result is reported in §5.2 / Figure 7.</a:t>
            </a:r>
            <a:endParaRPr sz="920" b="0">
              <a:solidFill>
                <a:srgbClr val="738096"/>
              </a:solidFill>
              <a:latin typeface="Aptos"/>
            </a:endParaRPr>
          </a:p>
        </p:txBody>
      </p:sp>
      <p:sp>
        <p:nvSpPr>
          <p:cNvPr id="16" name="TextBox 15"/>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17" name="TextBox 16"/>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19</a:t>
            </a:r>
            <a:endParaRPr sz="850" b="0">
              <a:solidFill>
                <a:srgbClr val="738096"/>
              </a:solidFill>
              <a:latin typeface="Apto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3 · Throughput Metric</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What Does Throughput Mean?</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Throughput describes how many requests a system can handle in one second.</a:t>
            </a:r>
            <a:endParaRPr sz="1400" b="0">
              <a:solidFill>
                <a:srgbClr val="5B6472"/>
              </a:solidFill>
              <a:latin typeface="Aptos"/>
            </a:endParaRP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148840"/>
            <a:ext cx="10040112" cy="502920"/>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2D6DAF"/>
                </a:solidFill>
                <a:latin typeface="Aptos"/>
              </a:rPr>
              <a:t>Throughput = requests handled per second</a:t>
            </a:r>
            <a:endParaRPr sz="2900" b="1">
              <a:solidFill>
                <a:srgbClr val="2D6DAF"/>
              </a:solidFill>
              <a:latin typeface="Aptos"/>
            </a:endParaRPr>
          </a:p>
        </p:txBody>
      </p:sp>
      <p:sp>
        <p:nvSpPr>
          <p:cNvPr id="9" name="Rectangle 8"/>
          <p:cNvSpPr/>
          <p:nvPr/>
        </p:nvSpPr>
        <p:spPr>
          <a:xfrm>
            <a:off x="1005840" y="3017520"/>
            <a:ext cx="10040112" cy="13716"/>
          </a:xfrm>
          <a:prstGeom prst="rect">
            <a:avLst/>
          </a:prstGeom>
          <a:solidFill>
            <a:srgbClr val="DCE5EF"/>
          </a:solidFill>
          <a:ln>
            <a:noFill/>
          </a:ln>
        </p:spPr>
        <p:txBody>
          <a:bodyPr rtlCol="0" anchor="ctr"/>
          <a:lstStyle/>
          <a:p>
            <a:pPr algn="ctr"/>
          </a:p>
        </p:txBody>
      </p:sp>
      <p:sp>
        <p:nvSpPr>
          <p:cNvPr id="10" name="TextBox 9"/>
          <p:cNvSpPr txBox="1"/>
          <p:nvPr/>
        </p:nvSpPr>
        <p:spPr>
          <a:xfrm>
            <a:off x="1005840" y="3374136"/>
            <a:ext cx="10012680" cy="1481328"/>
          </a:xfrm>
          <a:prstGeom prst="rect">
            <a:avLst/>
          </a:prstGeom>
          <a:noFill/>
        </p:spPr>
        <p:txBody>
          <a:bodyPr wrap="square" lIns="0" tIns="0" rIns="0" bIns="0">
            <a:spAutoFit/>
          </a:bodyPr>
          <a:lstStyle/>
          <a:p>
            <a:pPr algn="l">
              <a:lnSpc>
                <a:spcPct val="114000"/>
              </a:lnSpc>
              <a:spcBef>
                <a:spcPts val="0"/>
              </a:spcBef>
              <a:spcAft>
                <a:spcPts val="1700"/>
              </a:spcAft>
            </a:pPr>
            <a:r>
              <a:rPr sz="2300">
                <a:solidFill>
                  <a:srgbClr val="172033"/>
                </a:solidFill>
                <a:latin typeface="Aptos"/>
              </a:rPr>
              <a:t>Higher throughput means more requests can be processed in the same time.</a:t>
            </a:r>
            <a:endParaRPr sz="2300">
              <a:solidFill>
                <a:srgbClr val="172033"/>
              </a:solidFill>
              <a:latin typeface="Aptos"/>
            </a:endParaRPr>
          </a:p>
          <a:p>
            <a:pPr>
              <a:lnSpc>
                <a:spcPct val="114000"/>
              </a:lnSpc>
              <a:spcAft>
                <a:spcPts val="1700"/>
              </a:spcAft>
            </a:pPr>
            <a:r>
              <a:rPr sz="2300">
                <a:solidFill>
                  <a:srgbClr val="172033"/>
                </a:solidFill>
                <a:latin typeface="Aptos"/>
              </a:rPr>
              <a:t>The next figure shows how throughput changes as thread count increases.</a:t>
            </a:r>
            <a:endParaRPr sz="2300">
              <a:solidFill>
                <a:srgbClr val="172033"/>
              </a:solidFill>
              <a:latin typeface="Aptos"/>
            </a:endParaRPr>
          </a:p>
        </p:txBody>
      </p:sp>
      <p:sp>
        <p:nvSpPr>
          <p:cNvPr id="11" name="Rounded Rectangle 10"/>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2" name="TextBox 11"/>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238B6D"/>
                </a:solidFill>
                <a:latin typeface="Aptos"/>
              </a:rPr>
              <a:t>Throughput measures processing performance: higher is better.</a:t>
            </a:r>
            <a:endParaRPr sz="1500" b="1">
              <a:solidFill>
                <a:srgbClr val="238B6D"/>
              </a:solidFill>
              <a:latin typeface="Aptos"/>
            </a:endParaRPr>
          </a:p>
        </p:txBody>
      </p:sp>
      <p:sp>
        <p:nvSpPr>
          <p:cNvPr id="13" name="TextBox 12"/>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§5.3, Yang et al., SOSP 2023.</a:t>
            </a:r>
            <a:endParaRPr sz="920" b="0">
              <a:solidFill>
                <a:srgbClr val="738096"/>
              </a:solidFill>
              <a:latin typeface="Aptos"/>
            </a:endParaRPr>
          </a:p>
        </p:txBody>
      </p:sp>
      <p:sp>
        <p:nvSpPr>
          <p:cNvPr id="14" name="TextBox 13"/>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15" name="TextBox 14"/>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20</a:t>
            </a:r>
            <a:endParaRPr sz="850" b="0">
              <a:solidFill>
                <a:srgbClr val="738096"/>
              </a:solidFill>
              <a:latin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3 · Results</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Result 2: Throughput &amp; Scalability</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Figure 8 compares throughput as thread count increases.</a:t>
            </a:r>
            <a:endParaRPr sz="1400" b="0">
              <a:solidFill>
                <a:srgbClr val="5B6472"/>
              </a:solidFill>
              <a:latin typeface="Aptos"/>
            </a:endParaRPr>
          </a:p>
        </p:txBody>
      </p:sp>
      <p:sp>
        <p:nvSpPr>
          <p:cNvPr id="7" name="Rounded Rectangle 6"/>
          <p:cNvSpPr/>
          <p:nvPr/>
        </p:nvSpPr>
        <p:spPr>
          <a:xfrm>
            <a:off x="685800" y="1783080"/>
            <a:ext cx="7461504" cy="3639312"/>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1"/>
          <a:stretch>
            <a:fillRect/>
          </a:stretch>
        </p:blipFill>
        <p:spPr>
          <a:xfrm>
            <a:off x="896112" y="1993392"/>
            <a:ext cx="7040879" cy="3017520"/>
          </a:xfrm>
          <a:prstGeom prst="rect">
            <a:avLst/>
          </a:prstGeom>
        </p:spPr>
      </p:pic>
      <p:sp>
        <p:nvSpPr>
          <p:cNvPr id="9" name="TextBox 8"/>
          <p:cNvSpPr txBox="1"/>
          <p:nvPr/>
        </p:nvSpPr>
        <p:spPr>
          <a:xfrm>
            <a:off x="914400" y="5157216"/>
            <a:ext cx="6995160" cy="201168"/>
          </a:xfrm>
          <a:prstGeom prst="rect">
            <a:avLst/>
          </a:prstGeom>
          <a:noFill/>
        </p:spPr>
        <p:txBody>
          <a:bodyPr wrap="square" lIns="0" tIns="0" rIns="0" bIns="0">
            <a:spAutoFit/>
          </a:bodyPr>
          <a:lstStyle/>
          <a:p>
            <a:pPr algn="l">
              <a:lnSpc>
                <a:spcPct val="112000"/>
              </a:lnSpc>
              <a:spcBef>
                <a:spcPts val="0"/>
              </a:spcBef>
              <a:spcAft>
                <a:spcPts val="500"/>
              </a:spcAft>
            </a:pPr>
            <a:r>
              <a:rPr sz="1100" b="0">
                <a:solidFill>
                  <a:srgbClr val="5B6472"/>
                </a:solidFill>
                <a:latin typeface="Aptos"/>
              </a:rPr>
              <a:t>Original Figure 8 · Synthetic Zipf workload (α = 1.0)</a:t>
            </a:r>
            <a:endParaRPr sz="1100" b="0">
              <a:solidFill>
                <a:srgbClr val="5B6472"/>
              </a:solidFill>
              <a:latin typeface="Aptos"/>
            </a:endParaRPr>
          </a:p>
        </p:txBody>
      </p:sp>
      <p:sp>
        <p:nvSpPr>
          <p:cNvPr id="10" name="Rounded Rectangle 9"/>
          <p:cNvSpPr/>
          <p:nvPr/>
        </p:nvSpPr>
        <p:spPr>
          <a:xfrm>
            <a:off x="8366760" y="1783080"/>
            <a:ext cx="3108960"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1" name="TextBox 10"/>
          <p:cNvSpPr txBox="1"/>
          <p:nvPr/>
        </p:nvSpPr>
        <p:spPr>
          <a:xfrm>
            <a:off x="8641080" y="2103120"/>
            <a:ext cx="2560320" cy="822960"/>
          </a:xfrm>
          <a:prstGeom prst="rect">
            <a:avLst/>
          </a:prstGeom>
          <a:noFill/>
        </p:spPr>
        <p:txBody>
          <a:bodyPr wrap="square" lIns="0" tIns="0" rIns="0" bIns="0">
            <a:spAutoFit/>
          </a:bodyPr>
          <a:lstStyle/>
          <a:p>
            <a:pPr algn="l">
              <a:lnSpc>
                <a:spcPct val="112000"/>
              </a:lnSpc>
              <a:spcBef>
                <a:spcPts val="0"/>
              </a:spcBef>
              <a:spcAft>
                <a:spcPts val="500"/>
              </a:spcAft>
            </a:pPr>
            <a:r>
              <a:rPr sz="4300" b="1">
                <a:solidFill>
                  <a:srgbClr val="2D6DAF"/>
                </a:solidFill>
                <a:latin typeface="Aptos"/>
              </a:rPr>
              <a:t>&gt;6×</a:t>
            </a:r>
            <a:endParaRPr sz="4300" b="1">
              <a:solidFill>
                <a:srgbClr val="2D6DAF"/>
              </a:solidFill>
              <a:latin typeface="Aptos"/>
            </a:endParaRPr>
          </a:p>
        </p:txBody>
      </p:sp>
      <p:sp>
        <p:nvSpPr>
          <p:cNvPr id="12" name="TextBox 11"/>
          <p:cNvSpPr txBox="1"/>
          <p:nvPr/>
        </p:nvSpPr>
        <p:spPr>
          <a:xfrm>
            <a:off x="8641080" y="3054096"/>
            <a:ext cx="2560320" cy="2048256"/>
          </a:xfrm>
          <a:prstGeom prst="rect">
            <a:avLst/>
          </a:prstGeom>
          <a:noFill/>
        </p:spPr>
        <p:txBody>
          <a:bodyPr wrap="square" lIns="0" tIns="0" rIns="0" bIns="0">
            <a:spAutoFit/>
          </a:bodyPr>
          <a:lstStyle/>
          <a:p>
            <a:pPr algn="l">
              <a:lnSpc>
                <a:spcPct val="114000"/>
              </a:lnSpc>
              <a:spcBef>
                <a:spcPts val="0"/>
              </a:spcBef>
              <a:spcAft>
                <a:spcPts val="1500"/>
              </a:spcAft>
            </a:pPr>
            <a:r>
              <a:rPr sz="1800">
                <a:solidFill>
                  <a:srgbClr val="172033"/>
                </a:solidFill>
                <a:latin typeface="Aptos"/>
              </a:rPr>
              <a:t>Compared with optimized LRU at 16 threads.</a:t>
            </a:r>
            <a:endParaRPr sz="1800">
              <a:solidFill>
                <a:srgbClr val="172033"/>
              </a:solidFill>
              <a:latin typeface="Aptos"/>
            </a:endParaRPr>
          </a:p>
          <a:p>
            <a:pPr>
              <a:lnSpc>
                <a:spcPct val="114000"/>
              </a:lnSpc>
              <a:spcAft>
                <a:spcPts val="1500"/>
              </a:spcAft>
            </a:pPr>
            <a:r>
              <a:rPr sz="1800">
                <a:solidFill>
                  <a:srgbClr val="172033"/>
                </a:solidFill>
                <a:latin typeface="Aptos"/>
              </a:rPr>
              <a:t>S3-FIFO scales as the number of threads grows.</a:t>
            </a:r>
            <a:endParaRPr sz="1800">
              <a:solidFill>
                <a:srgbClr val="172033"/>
              </a:solidFill>
              <a:latin typeface="Aptos"/>
            </a:endParaRP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238B6D"/>
                </a:solidFill>
                <a:latin typeface="Aptos"/>
              </a:rPr>
              <a:t>Fewer operations on cache hits support better performance under concurrency.</a:t>
            </a:r>
            <a:endParaRPr sz="1500" b="1">
              <a:solidFill>
                <a:srgbClr val="238B6D"/>
              </a:solidFill>
              <a:latin typeface="Aptos"/>
            </a:endParaRPr>
          </a:p>
        </p:txBody>
      </p:sp>
      <p:sp>
        <p:nvSpPr>
          <p:cNvPr id="15" name="TextBox 14"/>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original Figure 8 and §5.3, Yang et al., SOSP 2023. Reported authors’ experiments.</a:t>
            </a:r>
            <a:endParaRPr sz="920" b="0">
              <a:solidFill>
                <a:srgbClr val="738096"/>
              </a:solidFill>
              <a:latin typeface="Aptos"/>
            </a:endParaRPr>
          </a:p>
        </p:txBody>
      </p:sp>
      <p:sp>
        <p:nvSpPr>
          <p:cNvPr id="16" name="TextBox 15"/>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17" name="TextBox 16"/>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21</a:t>
            </a:r>
            <a:endParaRPr sz="850" b="0">
              <a:solidFill>
                <a:srgbClr val="738096"/>
              </a:solidFill>
              <a:latin typeface="Apto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Part 3 · Limitations</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A Limitation: The Second Request May Arrive Late</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Performance still depends on how users access the data.</a:t>
            </a:r>
            <a:endParaRPr sz="1400" b="0">
              <a:solidFill>
                <a:srgbClr val="5B6472"/>
              </a:solidFill>
              <a:latin typeface="Aptos"/>
            </a:endParaRP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093976"/>
            <a:ext cx="10149840" cy="1508760"/>
          </a:xfrm>
          <a:prstGeom prst="rect">
            <a:avLst/>
          </a:prstGeom>
          <a:noFill/>
        </p:spPr>
        <p:txBody>
          <a:bodyPr wrap="square" lIns="0" tIns="0" rIns="0" bIns="0">
            <a:spAutoFit/>
          </a:bodyPr>
          <a:lstStyle/>
          <a:p>
            <a:pPr algn="l">
              <a:lnSpc>
                <a:spcPct val="114000"/>
              </a:lnSpc>
              <a:spcBef>
                <a:spcPts val="0"/>
              </a:spcBef>
              <a:spcAft>
                <a:spcPts val="1700"/>
              </a:spcAft>
            </a:pPr>
            <a:r>
              <a:rPr sz="2500">
                <a:solidFill>
                  <a:srgbClr val="172033"/>
                </a:solidFill>
                <a:latin typeface="Aptos"/>
              </a:rPr>
              <a:t>Sometimes an object is removed from the Small Queue before its second request arrives.</a:t>
            </a:r>
            <a:endParaRPr sz="2500">
              <a:solidFill>
                <a:srgbClr val="172033"/>
              </a:solidFill>
              <a:latin typeface="Aptos"/>
            </a:endParaRPr>
          </a:p>
          <a:p>
            <a:pPr>
              <a:lnSpc>
                <a:spcPct val="114000"/>
              </a:lnSpc>
              <a:spcAft>
                <a:spcPts val="1700"/>
              </a:spcAft>
            </a:pPr>
            <a:r>
              <a:rPr sz="2500">
                <a:solidFill>
                  <a:srgbClr val="172033"/>
                </a:solidFill>
                <a:latin typeface="Aptos"/>
              </a:rPr>
              <a:t>This can cause an extra cache miss.</a:t>
            </a:r>
            <a:endParaRPr sz="2500">
              <a:solidFill>
                <a:srgbClr val="172033"/>
              </a:solidFill>
              <a:latin typeface="Aptos"/>
            </a:endParaRPr>
          </a:p>
        </p:txBody>
      </p:sp>
      <p:sp>
        <p:nvSpPr>
          <p:cNvPr id="9" name="Rounded Rectangle 8"/>
          <p:cNvSpPr/>
          <p:nvPr/>
        </p:nvSpPr>
        <p:spPr>
          <a:xfrm>
            <a:off x="1042415" y="4315968"/>
            <a:ext cx="2377440" cy="658368"/>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0" name="TextBox 9"/>
          <p:cNvSpPr txBox="1"/>
          <p:nvPr/>
        </p:nvSpPr>
        <p:spPr>
          <a:xfrm>
            <a:off x="1152143" y="4462272"/>
            <a:ext cx="2157984" cy="475488"/>
          </a:xfrm>
          <a:prstGeom prst="rect">
            <a:avLst/>
          </a:prstGeom>
          <a:noFill/>
        </p:spPr>
        <p:txBody>
          <a:bodyPr wrap="square" lIns="0" tIns="0" rIns="0" bIns="0">
            <a:spAutoFit/>
          </a:bodyPr>
          <a:lstStyle/>
          <a:p>
            <a:pPr algn="ctr">
              <a:lnSpc>
                <a:spcPct val="112000"/>
              </a:lnSpc>
              <a:spcBef>
                <a:spcPts val="0"/>
              </a:spcBef>
              <a:spcAft>
                <a:spcPts val="500"/>
              </a:spcAft>
            </a:pPr>
            <a:r>
              <a:rPr sz="1900" b="1">
                <a:solidFill>
                  <a:srgbClr val="D9852A"/>
                </a:solidFill>
                <a:latin typeface="Aptos"/>
              </a:rPr>
              <a:t>Object enters S</a:t>
            </a:r>
            <a:endParaRPr sz="1900" b="1">
              <a:solidFill>
                <a:srgbClr val="D9852A"/>
              </a:solidFill>
              <a:latin typeface="Aptos"/>
            </a:endParaRPr>
          </a:p>
        </p:txBody>
      </p:sp>
      <p:cxnSp>
        <p:nvCxnSpPr>
          <p:cNvPr id="11" name="Connector 10"/>
          <p:cNvCxnSpPr/>
          <p:nvPr/>
        </p:nvCxnSpPr>
        <p:spPr>
          <a:xfrm>
            <a:off x="3419856" y="4645152"/>
            <a:ext cx="457200" cy="0"/>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77056" y="4315968"/>
            <a:ext cx="2743200" cy="658368"/>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3" name="TextBox 12"/>
          <p:cNvSpPr txBox="1"/>
          <p:nvPr/>
        </p:nvSpPr>
        <p:spPr>
          <a:xfrm>
            <a:off x="3986784" y="4462272"/>
            <a:ext cx="2523744" cy="475488"/>
          </a:xfrm>
          <a:prstGeom prst="rect">
            <a:avLst/>
          </a:prstGeom>
          <a:noFill/>
        </p:spPr>
        <p:txBody>
          <a:bodyPr wrap="square" lIns="0" tIns="0" rIns="0" bIns="0">
            <a:spAutoFit/>
          </a:bodyPr>
          <a:lstStyle/>
          <a:p>
            <a:pPr algn="ctr">
              <a:lnSpc>
                <a:spcPct val="112000"/>
              </a:lnSpc>
              <a:spcBef>
                <a:spcPts val="0"/>
              </a:spcBef>
              <a:spcAft>
                <a:spcPts val="500"/>
              </a:spcAft>
            </a:pPr>
            <a:r>
              <a:rPr sz="1900" b="1">
                <a:solidFill>
                  <a:srgbClr val="788594"/>
                </a:solidFill>
                <a:latin typeface="Aptos"/>
              </a:rPr>
              <a:t>Removed from S</a:t>
            </a:r>
            <a:endParaRPr sz="1900" b="1">
              <a:solidFill>
                <a:srgbClr val="788594"/>
              </a:solidFill>
              <a:latin typeface="Aptos"/>
            </a:endParaRPr>
          </a:p>
        </p:txBody>
      </p:sp>
      <p:cxnSp>
        <p:nvCxnSpPr>
          <p:cNvPr id="14" name="Connector 13"/>
          <p:cNvCxnSpPr/>
          <p:nvPr/>
        </p:nvCxnSpPr>
        <p:spPr>
          <a:xfrm>
            <a:off x="6620256" y="4645152"/>
            <a:ext cx="457200" cy="0"/>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077456" y="4315968"/>
            <a:ext cx="3931920" cy="658368"/>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7187184" y="4462272"/>
            <a:ext cx="3712463" cy="475488"/>
          </a:xfrm>
          <a:prstGeom prst="rect">
            <a:avLst/>
          </a:prstGeom>
          <a:noFill/>
        </p:spPr>
        <p:txBody>
          <a:bodyPr wrap="square" lIns="0" tIns="0" rIns="0" bIns="0">
            <a:spAutoFit/>
          </a:bodyPr>
          <a:lstStyle/>
          <a:p>
            <a:pPr algn="ctr">
              <a:lnSpc>
                <a:spcPct val="112000"/>
              </a:lnSpc>
              <a:spcBef>
                <a:spcPts val="0"/>
              </a:spcBef>
              <a:spcAft>
                <a:spcPts val="500"/>
              </a:spcAft>
            </a:pPr>
            <a:r>
              <a:rPr sz="1900" b="1">
                <a:solidFill>
                  <a:srgbClr val="2D6DAF"/>
                </a:solidFill>
                <a:latin typeface="Aptos"/>
              </a:rPr>
              <a:t>Second request → cache miss</a:t>
            </a:r>
            <a:endParaRPr sz="1900" b="1">
              <a:solidFill>
                <a:srgbClr val="2D6DAF"/>
              </a:solidFill>
              <a:latin typeface="Aptos"/>
            </a:endParaRPr>
          </a:p>
        </p:txBody>
      </p:sp>
      <p:sp>
        <p:nvSpPr>
          <p:cNvPr id="17" name="Rounded Rectangle 16"/>
          <p:cNvSpPr/>
          <p:nvPr/>
        </p:nvSpPr>
        <p:spPr>
          <a:xfrm>
            <a:off x="731520" y="5632704"/>
            <a:ext cx="10789920" cy="475488"/>
          </a:xfrm>
          <a:prstGeom prst="roundRect">
            <a:avLst>
              <a:gd name="adj" fmla="val 12000"/>
            </a:avLst>
          </a:prstGeom>
          <a:solidFill>
            <a:srgbClr val="FFF6E2"/>
          </a:solidFill>
          <a:ln>
            <a:noFill/>
          </a:ln>
        </p:spPr>
        <p:txBody>
          <a:bodyPr rtlCol="0" anchor="ctr"/>
          <a:lstStyle/>
          <a:p>
            <a:pPr algn="ctr"/>
          </a:p>
        </p:txBody>
      </p:sp>
      <p:sp>
        <p:nvSpPr>
          <p:cNvPr id="18" name="TextBox 17"/>
          <p:cNvSpPr txBox="1"/>
          <p:nvPr/>
        </p:nvSpPr>
        <p:spPr>
          <a:xfrm>
            <a:off x="960120" y="5751576"/>
            <a:ext cx="10332720" cy="256032"/>
          </a:xfrm>
          <a:prstGeom prst="rect">
            <a:avLst/>
          </a:prstGeom>
          <a:noFill/>
        </p:spPr>
        <p:txBody>
          <a:bodyPr wrap="square" lIns="0" tIns="0" rIns="0" bIns="0">
            <a:spAutoFit/>
          </a:bodyPr>
          <a:lstStyle/>
          <a:p>
            <a:pPr algn="l">
              <a:lnSpc>
                <a:spcPct val="112000"/>
              </a:lnSpc>
              <a:spcBef>
                <a:spcPts val="0"/>
              </a:spcBef>
              <a:spcAft>
                <a:spcPts val="500"/>
              </a:spcAft>
            </a:pPr>
            <a:r>
              <a:rPr sz="1500" b="1">
                <a:solidFill>
                  <a:srgbClr val="946812"/>
                </a:solidFill>
                <a:latin typeface="Aptos"/>
              </a:rPr>
              <a:t>Quick demotion is useful, but a late reuse can still cause an additional miss.</a:t>
            </a:r>
            <a:endParaRPr sz="1500" b="1">
              <a:solidFill>
                <a:srgbClr val="946812"/>
              </a:solidFill>
              <a:latin typeface="Aptos"/>
            </a:endParaRPr>
          </a:p>
        </p:txBody>
      </p:sp>
      <p:sp>
        <p:nvSpPr>
          <p:cNvPr id="19" name="TextBox 18"/>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Source: §5.2, Yang et al., SOSP 2023.</a:t>
            </a:r>
            <a:endParaRPr sz="920" b="0">
              <a:solidFill>
                <a:srgbClr val="738096"/>
              </a:solidFill>
              <a:latin typeface="Aptos"/>
            </a:endParaRPr>
          </a:p>
        </p:txBody>
      </p:sp>
      <p:sp>
        <p:nvSpPr>
          <p:cNvPr id="20" name="TextBox 19"/>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21" name="TextBox 20"/>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22</a:t>
            </a:r>
            <a:endParaRPr sz="850" b="0">
              <a:solidFill>
                <a:srgbClr val="738096"/>
              </a:solidFill>
              <a:latin typeface="Apto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
        <p:cNvGrpSpPr/>
        <p:nvPr/>
      </p:nvGrpSpPr>
      <p:grpSpPr/>
      <p:sp>
        <p:nvSpPr>
          <p:cNvPr id="2" name="TextBox 1"/>
          <p:cNvSpPr txBox="1"/>
          <p:nvPr/>
        </p:nvSpPr>
        <p:spPr>
          <a:xfrm>
            <a:off x="731520" y="777240"/>
            <a:ext cx="9144000" cy="411480"/>
          </a:xfrm>
          <a:prstGeom prst="rect">
            <a:avLst/>
          </a:prstGeom>
          <a:noFill/>
        </p:spPr>
        <p:txBody>
          <a:bodyPr wrap="square" lIns="0" tIns="0" rIns="0" bIns="0">
            <a:spAutoFit/>
          </a:bodyPr>
          <a:lstStyle/>
          <a:p>
            <a:pPr algn="l">
              <a:lnSpc>
                <a:spcPct val="112000"/>
              </a:lnSpc>
              <a:spcBef>
                <a:spcPts val="0"/>
              </a:spcBef>
              <a:spcAft>
                <a:spcPts val="500"/>
              </a:spcAft>
            </a:pPr>
            <a:r>
              <a:rPr sz="2400" b="1">
                <a:solidFill>
                  <a:srgbClr val="F5B841"/>
                </a:solidFill>
                <a:latin typeface="Aptos"/>
              </a:rPr>
              <a:t>Final Takeaway</a:t>
            </a:r>
            <a:endParaRPr sz="2400" b="1">
              <a:solidFill>
                <a:srgbClr val="F5B841"/>
              </a:solidFill>
              <a:latin typeface="Aptos"/>
            </a:endParaRPr>
          </a:p>
        </p:txBody>
      </p:sp>
      <p:sp>
        <p:nvSpPr>
          <p:cNvPr id="3" name="TextBox 2"/>
          <p:cNvSpPr txBox="1"/>
          <p:nvPr/>
        </p:nvSpPr>
        <p:spPr>
          <a:xfrm>
            <a:off x="731520" y="1673352"/>
            <a:ext cx="10698480" cy="1325880"/>
          </a:xfrm>
          <a:prstGeom prst="rect">
            <a:avLst/>
          </a:prstGeom>
          <a:noFill/>
        </p:spPr>
        <p:txBody>
          <a:bodyPr wrap="square" lIns="0" tIns="0" rIns="0" bIns="0">
            <a:spAutoFit/>
          </a:bodyPr>
          <a:lstStyle/>
          <a:p>
            <a:pPr algn="l">
              <a:lnSpc>
                <a:spcPct val="112000"/>
              </a:lnSpc>
              <a:spcBef>
                <a:spcPts val="0"/>
              </a:spcBef>
              <a:spcAft>
                <a:spcPts val="500"/>
              </a:spcAft>
            </a:pPr>
            <a:r>
              <a:rPr sz="3400" b="1">
                <a:solidFill>
                  <a:srgbClr val="FFFFFF"/>
                </a:solidFill>
                <a:latin typeface="Aptos Display"/>
              </a:rPr>
              <a:t>A simple cache algorithm can still</a:t>
            </a:r>
            <a:endParaRPr sz="3400" b="1">
              <a:solidFill>
                <a:srgbClr val="FFFFFF"/>
              </a:solidFill>
              <a:latin typeface="Aptos Display"/>
            </a:endParaRPr>
          </a:p>
          <a:p>
            <a:pPr algn="l">
              <a:lnSpc>
                <a:spcPct val="112000"/>
              </a:lnSpc>
              <a:spcBef>
                <a:spcPts val="0"/>
              </a:spcBef>
              <a:spcAft>
                <a:spcPts val="500"/>
              </a:spcAft>
            </a:pPr>
            <a:r>
              <a:rPr sz="3400" b="1">
                <a:solidFill>
                  <a:srgbClr val="FFFFFF"/>
                </a:solidFill>
                <a:latin typeface="Aptos Display"/>
              </a:rPr>
              <a:t>deliver strong performance.</a:t>
            </a:r>
            <a:endParaRPr sz="3400" b="1">
              <a:solidFill>
                <a:srgbClr val="FFFFFF"/>
              </a:solidFill>
              <a:latin typeface="Aptos Display"/>
            </a:endParaRPr>
          </a:p>
        </p:txBody>
      </p:sp>
      <p:sp>
        <p:nvSpPr>
          <p:cNvPr id="4" name="TextBox 3"/>
          <p:cNvSpPr txBox="1"/>
          <p:nvPr/>
        </p:nvSpPr>
        <p:spPr>
          <a:xfrm>
            <a:off x="768096" y="3227832"/>
            <a:ext cx="10561320" cy="914400"/>
          </a:xfrm>
          <a:prstGeom prst="rect">
            <a:avLst/>
          </a:prstGeom>
          <a:noFill/>
        </p:spPr>
        <p:txBody>
          <a:bodyPr wrap="square" lIns="0" tIns="0" rIns="0" bIns="0">
            <a:spAutoFit/>
          </a:bodyPr>
          <a:lstStyle/>
          <a:p>
            <a:pPr algn="l">
              <a:lnSpc>
                <a:spcPct val="112000"/>
              </a:lnSpc>
              <a:spcBef>
                <a:spcPts val="0"/>
              </a:spcBef>
              <a:spcAft>
                <a:spcPts val="500"/>
              </a:spcAft>
            </a:pPr>
            <a:r>
              <a:rPr sz="2300" b="0">
                <a:solidFill>
                  <a:srgbClr val="BED6F0"/>
                </a:solidFill>
                <a:latin typeface="Aptos"/>
              </a:rPr>
              <a:t>Three FIFO queues remove less useful data quickly</a:t>
            </a:r>
            <a:endParaRPr sz="2300" b="0">
              <a:solidFill>
                <a:srgbClr val="BED6F0"/>
              </a:solidFill>
              <a:latin typeface="Aptos"/>
            </a:endParaRPr>
          </a:p>
          <a:p>
            <a:pPr algn="l">
              <a:lnSpc>
                <a:spcPct val="112000"/>
              </a:lnSpc>
              <a:spcBef>
                <a:spcPts val="0"/>
              </a:spcBef>
              <a:spcAft>
                <a:spcPts val="500"/>
              </a:spcAft>
            </a:pPr>
            <a:r>
              <a:rPr sz="2300" b="0">
                <a:solidFill>
                  <a:srgbClr val="BED6F0"/>
                </a:solidFill>
                <a:latin typeface="Aptos"/>
              </a:rPr>
              <a:t>while keeping useful data for longer.</a:t>
            </a:r>
            <a:endParaRPr sz="2300" b="0">
              <a:solidFill>
                <a:srgbClr val="BED6F0"/>
              </a:solidFill>
              <a:latin typeface="Aptos"/>
            </a:endParaRPr>
          </a:p>
        </p:txBody>
      </p:sp>
      <p:sp>
        <p:nvSpPr>
          <p:cNvPr id="5" name="TextBox 4"/>
          <p:cNvSpPr txBox="1"/>
          <p:nvPr/>
        </p:nvSpPr>
        <p:spPr>
          <a:xfrm>
            <a:off x="768096" y="4434840"/>
            <a:ext cx="10561320" cy="457200"/>
          </a:xfrm>
          <a:prstGeom prst="rect">
            <a:avLst/>
          </a:prstGeom>
          <a:noFill/>
        </p:spPr>
        <p:txBody>
          <a:bodyPr wrap="square" lIns="0" tIns="0" rIns="0" bIns="0">
            <a:spAutoFit/>
          </a:bodyPr>
          <a:lstStyle/>
          <a:p>
            <a:pPr algn="l">
              <a:lnSpc>
                <a:spcPct val="112000"/>
              </a:lnSpc>
              <a:spcBef>
                <a:spcPts val="0"/>
              </a:spcBef>
              <a:spcAft>
                <a:spcPts val="500"/>
              </a:spcAft>
            </a:pPr>
            <a:r>
              <a:rPr sz="2400" b="1">
                <a:solidFill>
                  <a:srgbClr val="F5B841"/>
                </a:solidFill>
                <a:latin typeface="Aptos"/>
              </a:rPr>
              <a:t>Lower miss ratios · Better scalability</a:t>
            </a:r>
            <a:endParaRPr sz="2400" b="1">
              <a:solidFill>
                <a:srgbClr val="F5B841"/>
              </a:solidFill>
              <a:latin typeface="Aptos"/>
            </a:endParaRPr>
          </a:p>
        </p:txBody>
      </p:sp>
      <p:sp>
        <p:nvSpPr>
          <p:cNvPr id="6" name="Rounded Rectangle 5"/>
          <p:cNvSpPr/>
          <p:nvPr/>
        </p:nvSpPr>
        <p:spPr>
          <a:xfrm>
            <a:off x="822960" y="5276088"/>
            <a:ext cx="10515600" cy="777240"/>
          </a:xfrm>
          <a:prstGeom prst="roundRect">
            <a:avLst>
              <a:gd name="adj" fmla="val 12000"/>
            </a:avLst>
          </a:prstGeom>
          <a:solidFill>
            <a:srgbClr val="1F3B63"/>
          </a:solidFill>
          <a:ln>
            <a:noFill/>
          </a:ln>
        </p:spPr>
        <p:txBody>
          <a:bodyPr rtlCol="0" anchor="ctr"/>
          <a:lstStyle/>
          <a:p>
            <a:pPr algn="ctr"/>
          </a:p>
        </p:txBody>
      </p:sp>
      <p:sp>
        <p:nvSpPr>
          <p:cNvPr id="7" name="TextBox 6"/>
          <p:cNvSpPr txBox="1"/>
          <p:nvPr/>
        </p:nvSpPr>
        <p:spPr>
          <a:xfrm>
            <a:off x="1005840" y="5449824"/>
            <a:ext cx="10149840" cy="457200"/>
          </a:xfrm>
          <a:prstGeom prst="rect">
            <a:avLst/>
          </a:prstGeom>
          <a:noFill/>
        </p:spPr>
        <p:txBody>
          <a:bodyPr wrap="square" lIns="0" tIns="0" rIns="0" bIns="0">
            <a:spAutoFit/>
          </a:bodyPr>
          <a:lstStyle/>
          <a:p>
            <a:pPr algn="ctr">
              <a:lnSpc>
                <a:spcPct val="112000"/>
              </a:lnSpc>
              <a:spcBef>
                <a:spcPts val="0"/>
              </a:spcBef>
              <a:spcAft>
                <a:spcPts val="500"/>
              </a:spcAft>
            </a:pPr>
            <a:r>
              <a:rPr sz="2900" b="0">
                <a:solidFill>
                  <a:srgbClr val="FFFFFF"/>
                </a:solidFill>
                <a:latin typeface="Aptos"/>
              </a:rPr>
              <a:t>Thank you for listening.</a:t>
            </a:r>
            <a:endParaRPr sz="2900" b="0">
              <a:solidFill>
                <a:srgbClr val="FFFFFF"/>
              </a:solidFill>
              <a:latin typeface="Aptos"/>
            </a:endParaRPr>
          </a:p>
        </p:txBody>
      </p:sp>
      <p:sp>
        <p:nvSpPr>
          <p:cNvPr id="8" name="TextBox 7"/>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endParaRPr sz="850" b="0">
              <a:solidFill>
                <a:srgbClr val="B8CBE0"/>
              </a:solidFill>
              <a:latin typeface="Aptos"/>
            </a:endParaRPr>
          </a:p>
        </p:txBody>
      </p:sp>
      <p:sp>
        <p:nvSpPr>
          <p:cNvPr id="9" name="TextBox 8"/>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B8CBE0"/>
                </a:solidFill>
                <a:latin typeface="Aptos"/>
              </a:rPr>
              <a:t>Slide 23</a:t>
            </a:r>
            <a:endParaRPr sz="850" b="0">
              <a:solidFill>
                <a:srgbClr val="B8CBE0"/>
              </a:solidFill>
              <a:latin typeface="Apto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tIns="0" rIns="0" bIns="0">
            <a:spAutoFit/>
          </a:bodyPr>
          <a:lstStyle/>
          <a:p>
            <a:pPr algn="l">
              <a:lnSpc>
                <a:spcPct val="112000"/>
              </a:lnSpc>
              <a:spcBef>
                <a:spcPts val="0"/>
              </a:spcBef>
              <a:spcAft>
                <a:spcPts val="500"/>
              </a:spcAft>
            </a:pPr>
            <a:r>
              <a:rPr sz="950" b="1">
                <a:solidFill>
                  <a:srgbClr val="FFFFFF"/>
                </a:solidFill>
                <a:latin typeface="Aptos"/>
              </a:rPr>
              <a:t>References</a:t>
            </a:r>
            <a:endParaRPr sz="950" b="1">
              <a:solidFill>
                <a:srgbClr val="FFFFFF"/>
              </a:solidFill>
              <a:latin typeface="Aptos"/>
            </a:endParaRPr>
          </a:p>
        </p:txBody>
      </p:sp>
      <p:sp>
        <p:nvSpPr>
          <p:cNvPr id="4" name="TextBox 3"/>
          <p:cNvSpPr txBox="1"/>
          <p:nvPr/>
        </p:nvSpPr>
        <p:spPr>
          <a:xfrm>
            <a:off x="6400800" y="96012"/>
            <a:ext cx="5303520" cy="210312"/>
          </a:xfrm>
          <a:prstGeom prst="rect">
            <a:avLst/>
          </a:prstGeom>
          <a:noFill/>
        </p:spPr>
        <p:txBody>
          <a:bodyPr wrap="square" lIns="0" tIns="0" r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endParaRPr sz="950" b="0">
              <a:solidFill>
                <a:srgbClr val="CFE8FF"/>
              </a:solidFill>
              <a:latin typeface="Aptos"/>
            </a:endParaRPr>
          </a:p>
        </p:txBody>
      </p:sp>
      <p:sp>
        <p:nvSpPr>
          <p:cNvPr id="5" name="TextBox 4"/>
          <p:cNvSpPr txBox="1"/>
          <p:nvPr/>
        </p:nvSpPr>
        <p:spPr>
          <a:xfrm>
            <a:off x="548640" y="694944"/>
            <a:ext cx="10789920" cy="484632"/>
          </a:xfrm>
          <a:prstGeom prst="rect">
            <a:avLst/>
          </a:prstGeom>
          <a:noFill/>
        </p:spPr>
        <p:txBody>
          <a:bodyPr wrap="square" lIns="0" tIns="0" rIns="0" bIns="0">
            <a:spAutoFit/>
          </a:bodyPr>
          <a:lstStyle/>
          <a:p>
            <a:pPr algn="l">
              <a:lnSpc>
                <a:spcPct val="112000"/>
              </a:lnSpc>
              <a:spcBef>
                <a:spcPts val="0"/>
              </a:spcBef>
              <a:spcAft>
                <a:spcPts val="500"/>
              </a:spcAft>
            </a:pPr>
            <a:r>
              <a:rPr sz="2900" b="1">
                <a:solidFill>
                  <a:srgbClr val="172033"/>
                </a:solidFill>
                <a:latin typeface="Aptos Display"/>
              </a:rPr>
              <a:t>References</a:t>
            </a:r>
            <a:endParaRPr sz="2900" b="1">
              <a:solidFill>
                <a:srgbClr val="172033"/>
              </a:solidFill>
              <a:latin typeface="Aptos Display"/>
            </a:endParaRPr>
          </a:p>
        </p:txBody>
      </p:sp>
      <p:sp>
        <p:nvSpPr>
          <p:cNvPr id="6" name="TextBox 5"/>
          <p:cNvSpPr txBox="1"/>
          <p:nvPr/>
        </p:nvSpPr>
        <p:spPr>
          <a:xfrm>
            <a:off x="566928" y="1225296"/>
            <a:ext cx="10972800" cy="338328"/>
          </a:xfrm>
          <a:prstGeom prst="rect">
            <a:avLst/>
          </a:prstGeom>
          <a:noFill/>
        </p:spPr>
        <p:txBody>
          <a:bodyPr wrap="square" lIns="0" tIns="0" rIns="0" bIns="0">
            <a:spAutoFit/>
          </a:bodyPr>
          <a:lstStyle/>
          <a:p>
            <a:pPr algn="l">
              <a:lnSpc>
                <a:spcPct val="112000"/>
              </a:lnSpc>
              <a:spcBef>
                <a:spcPts val="0"/>
              </a:spcBef>
              <a:spcAft>
                <a:spcPts val="500"/>
              </a:spcAft>
            </a:pPr>
            <a:r>
              <a:rPr sz="1400" b="0">
                <a:solidFill>
                  <a:srgbClr val="5B6472"/>
                </a:solidFill>
                <a:latin typeface="Aptos"/>
              </a:rPr>
              <a:t>Primary paper, original figures, and the official code and data.</a:t>
            </a:r>
            <a:endParaRPr sz="1400" b="0">
              <a:solidFill>
                <a:srgbClr val="5B6472"/>
              </a:solidFill>
              <a:latin typeface="Aptos"/>
            </a:endParaRPr>
          </a:p>
        </p:txBody>
      </p:sp>
      <p:sp>
        <p:nvSpPr>
          <p:cNvPr id="7" name="Rounded Rectangle 6"/>
          <p:cNvSpPr/>
          <p:nvPr/>
        </p:nvSpPr>
        <p:spPr>
          <a:xfrm>
            <a:off x="685800" y="1783080"/>
            <a:ext cx="10789920" cy="43159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57400"/>
            <a:ext cx="10012680" cy="274320"/>
          </a:xfrm>
          <a:prstGeom prst="rect">
            <a:avLst/>
          </a:prstGeom>
          <a:noFill/>
        </p:spPr>
        <p:txBody>
          <a:bodyPr wrap="square" lIns="0" tIns="0" rIns="0" bIns="0">
            <a:spAutoFit/>
          </a:bodyPr>
          <a:lstStyle/>
          <a:p>
            <a:pPr algn="l">
              <a:lnSpc>
                <a:spcPct val="112000"/>
              </a:lnSpc>
              <a:spcBef>
                <a:spcPts val="0"/>
              </a:spcBef>
              <a:spcAft>
                <a:spcPts val="500"/>
              </a:spcAft>
            </a:pPr>
            <a:r>
              <a:rPr sz="1400" b="1">
                <a:solidFill>
                  <a:srgbClr val="2D6DAF"/>
                </a:solidFill>
                <a:latin typeface="Aptos"/>
              </a:rPr>
              <a:t>PRIMARY PAPER</a:t>
            </a:r>
            <a:endParaRPr sz="1400" b="1">
              <a:solidFill>
                <a:srgbClr val="2D6DAF"/>
              </a:solidFill>
              <a:latin typeface="Aptos"/>
            </a:endParaRPr>
          </a:p>
        </p:txBody>
      </p:sp>
      <p:sp>
        <p:nvSpPr>
          <p:cNvPr id="9" name="TextBox 8"/>
          <p:cNvSpPr txBox="1"/>
          <p:nvPr/>
        </p:nvSpPr>
        <p:spPr>
          <a:xfrm>
            <a:off x="987552" y="2569464"/>
            <a:ext cx="10012680" cy="1161288"/>
          </a:xfrm>
          <a:prstGeom prst="rect">
            <a:avLst/>
          </a:prstGeom>
          <a:noFill/>
        </p:spPr>
        <p:txBody>
          <a:bodyPr wrap="square" lIns="0" tIns="0" rIns="0" bIns="0">
            <a:spAutoFit/>
          </a:bodyPr>
          <a:lstStyle/>
          <a:p>
            <a:pPr algn="l">
              <a:lnSpc>
                <a:spcPct val="114000"/>
              </a:lnSpc>
              <a:spcBef>
                <a:spcPts val="0"/>
              </a:spcBef>
              <a:spcAft>
                <a:spcPts val="1000"/>
              </a:spcAft>
            </a:pPr>
            <a:r>
              <a:rPr sz="2200">
                <a:solidFill>
                  <a:srgbClr val="172033"/>
                </a:solidFill>
                <a:latin typeface="Aptos"/>
              </a:rPr>
              <a:t>Yang, J., Zhang, Y., Qiu, Z., Yue, Y., &amp; Rashmi, K. V. (2023).</a:t>
            </a:r>
            <a:endParaRPr sz="2200">
              <a:solidFill>
                <a:srgbClr val="172033"/>
              </a:solidFill>
              <a:latin typeface="Aptos"/>
            </a:endParaRPr>
          </a:p>
          <a:p>
            <a:pPr>
              <a:lnSpc>
                <a:spcPct val="114000"/>
              </a:lnSpc>
              <a:spcAft>
                <a:spcPts val="1000"/>
              </a:spcAft>
            </a:pPr>
            <a:r>
              <a:rPr sz="2200">
                <a:solidFill>
                  <a:srgbClr val="172033"/>
                </a:solidFill>
                <a:latin typeface="Aptos"/>
              </a:rPr>
              <a:t>FIFO Queues Are All You Need for Cache Eviction. SOSP ’23.</a:t>
            </a:r>
            <a:endParaRPr sz="2200">
              <a:solidFill>
                <a:srgbClr val="172033"/>
              </a:solidFill>
              <a:latin typeface="Aptos"/>
            </a:endParaRPr>
          </a:p>
        </p:txBody>
      </p:sp>
      <p:sp>
        <p:nvSpPr>
          <p:cNvPr id="10" name="TextBox 9"/>
          <p:cNvSpPr txBox="1"/>
          <p:nvPr/>
        </p:nvSpPr>
        <p:spPr>
          <a:xfrm>
            <a:off x="987552" y="4041648"/>
            <a:ext cx="10012680" cy="256032"/>
          </a:xfrm>
          <a:prstGeom prst="rect">
            <a:avLst/>
          </a:prstGeom>
          <a:noFill/>
        </p:spPr>
        <p:txBody>
          <a:bodyPr wrap="square" lIns="0" tIns="0" rIns="0" bIns="0">
            <a:spAutoFit/>
          </a:bodyPr>
          <a:lstStyle/>
          <a:p>
            <a:pPr algn="l">
              <a:lnSpc>
                <a:spcPct val="112000"/>
              </a:lnSpc>
              <a:spcBef>
                <a:spcPts val="0"/>
              </a:spcBef>
              <a:spcAft>
                <a:spcPts val="500"/>
              </a:spcAft>
            </a:pPr>
            <a:r>
              <a:rPr sz="1300" b="1">
                <a:solidFill>
                  <a:srgbClr val="2D6DAF"/>
                </a:solidFill>
                <a:latin typeface="Aptos"/>
              </a:rPr>
              <a:t>DOI</a:t>
            </a:r>
            <a:endParaRPr sz="1300" b="1">
              <a:solidFill>
                <a:srgbClr val="2D6DAF"/>
              </a:solidFill>
              <a:latin typeface="Aptos"/>
            </a:endParaRPr>
          </a:p>
        </p:txBody>
      </p:sp>
      <p:sp>
        <p:nvSpPr>
          <p:cNvPr id="11" name="TextBox 10"/>
          <p:cNvSpPr txBox="1"/>
          <p:nvPr/>
        </p:nvSpPr>
        <p:spPr>
          <a:xfrm>
            <a:off x="987552" y="4425696"/>
            <a:ext cx="10012680" cy="384048"/>
          </a:xfrm>
          <a:prstGeom prst="rect">
            <a:avLst/>
          </a:prstGeom>
          <a:noFill/>
        </p:spPr>
        <p:txBody>
          <a:bodyPr wrap="square" lIns="0" tIns="0" rIns="0" bIns="0">
            <a:spAutoFit/>
          </a:bodyPr>
          <a:lstStyle/>
          <a:p>
            <a:pPr algn="l">
              <a:lnSpc>
                <a:spcPct val="112000"/>
              </a:lnSpc>
              <a:spcBef>
                <a:spcPts val="0"/>
              </a:spcBef>
              <a:spcAft>
                <a:spcPts val="500"/>
              </a:spcAft>
            </a:pPr>
            <a:r>
              <a:rPr sz="2000" b="0">
                <a:solidFill>
                  <a:srgbClr val="13294B"/>
                </a:solidFill>
                <a:latin typeface="Aptos"/>
                <a:hlinkClick r:id="rId1"/>
              </a:rPr>
              <a:t>https://doi.org/10.1145/3600006.3613147</a:t>
            </a:r>
            <a:endParaRPr sz="2000" b="0">
              <a:solidFill>
                <a:srgbClr val="13294B"/>
              </a:solidFill>
              <a:latin typeface="Aptos"/>
              <a:hlinkClick r:id="rId1"/>
            </a:endParaRPr>
          </a:p>
        </p:txBody>
      </p:sp>
      <p:sp>
        <p:nvSpPr>
          <p:cNvPr id="12" name="TextBox 11"/>
          <p:cNvSpPr txBox="1"/>
          <p:nvPr/>
        </p:nvSpPr>
        <p:spPr>
          <a:xfrm>
            <a:off x="987552" y="5056632"/>
            <a:ext cx="10012680" cy="256032"/>
          </a:xfrm>
          <a:prstGeom prst="rect">
            <a:avLst/>
          </a:prstGeom>
          <a:noFill/>
        </p:spPr>
        <p:txBody>
          <a:bodyPr wrap="square" lIns="0" tIns="0" rIns="0" bIns="0">
            <a:spAutoFit/>
          </a:bodyPr>
          <a:lstStyle/>
          <a:p>
            <a:pPr algn="l">
              <a:lnSpc>
                <a:spcPct val="112000"/>
              </a:lnSpc>
              <a:spcBef>
                <a:spcPts val="0"/>
              </a:spcBef>
              <a:spcAft>
                <a:spcPts val="500"/>
              </a:spcAft>
            </a:pPr>
            <a:r>
              <a:rPr sz="1300" b="1">
                <a:solidFill>
                  <a:srgbClr val="2D6DAF"/>
                </a:solidFill>
                <a:latin typeface="Aptos"/>
              </a:rPr>
              <a:t>OFFICIAL CODE &amp; DATA</a:t>
            </a:r>
            <a:endParaRPr sz="1300" b="1">
              <a:solidFill>
                <a:srgbClr val="2D6DAF"/>
              </a:solidFill>
              <a:latin typeface="Aptos"/>
            </a:endParaRPr>
          </a:p>
        </p:txBody>
      </p:sp>
      <p:sp>
        <p:nvSpPr>
          <p:cNvPr id="13" name="TextBox 12"/>
          <p:cNvSpPr txBox="1"/>
          <p:nvPr/>
        </p:nvSpPr>
        <p:spPr>
          <a:xfrm>
            <a:off x="987552" y="5440680"/>
            <a:ext cx="10012680" cy="384048"/>
          </a:xfrm>
          <a:prstGeom prst="rect">
            <a:avLst/>
          </a:prstGeom>
          <a:noFill/>
        </p:spPr>
        <p:txBody>
          <a:bodyPr wrap="square" lIns="0" tIns="0" rIns="0" bIns="0">
            <a:spAutoFit/>
          </a:bodyPr>
          <a:lstStyle/>
          <a:p>
            <a:pPr algn="l">
              <a:lnSpc>
                <a:spcPct val="112000"/>
              </a:lnSpc>
              <a:spcBef>
                <a:spcPts val="0"/>
              </a:spcBef>
              <a:spcAft>
                <a:spcPts val="500"/>
              </a:spcAft>
            </a:pPr>
            <a:r>
              <a:rPr sz="2000" b="0">
                <a:solidFill>
                  <a:srgbClr val="13294B"/>
                </a:solidFill>
                <a:latin typeface="Aptos"/>
                <a:hlinkClick r:id="rId2"/>
              </a:rPr>
              <a:t>https://github.com/TheSys-lab/sosp23-s3fifo</a:t>
            </a:r>
            <a:endParaRPr sz="2000" b="0">
              <a:solidFill>
                <a:srgbClr val="13294B"/>
              </a:solidFill>
              <a:latin typeface="Aptos"/>
              <a:hlinkClick r:id="rId2"/>
            </a:endParaRPr>
          </a:p>
        </p:txBody>
      </p:sp>
      <p:sp>
        <p:nvSpPr>
          <p:cNvPr id="14" name="TextBox 13"/>
          <p:cNvSpPr txBox="1"/>
          <p:nvPr/>
        </p:nvSpPr>
        <p:spPr>
          <a:xfrm>
            <a:off x="530352" y="6281928"/>
            <a:ext cx="11064240" cy="210312"/>
          </a:xfrm>
          <a:prstGeom prst="rect">
            <a:avLst/>
          </a:prstGeom>
          <a:noFill/>
        </p:spPr>
        <p:txBody>
          <a:bodyPr wrap="square" lIns="0" tIns="0" rIns="0" bIns="0">
            <a:spAutoFit/>
          </a:bodyPr>
          <a:lstStyle/>
          <a:p>
            <a:pPr algn="l">
              <a:lnSpc>
                <a:spcPct val="112000"/>
              </a:lnSpc>
              <a:spcBef>
                <a:spcPts val="0"/>
              </a:spcBef>
              <a:spcAft>
                <a:spcPts val="500"/>
              </a:spcAft>
            </a:pPr>
            <a:r>
              <a:rPr sz="920" b="0">
                <a:solidFill>
                  <a:srgbClr val="738096"/>
                </a:solidFill>
                <a:latin typeface="Aptos"/>
              </a:rPr>
              <a:t>Figures 1, 5, 6 and 8: Yang et al., SOSP 2023. Mechanism diagrams redrawn from Algorithm 1.</a:t>
            </a:r>
            <a:endParaRPr sz="920" b="0">
              <a:solidFill>
                <a:srgbClr val="738096"/>
              </a:solidFill>
              <a:latin typeface="Aptos"/>
            </a:endParaRPr>
          </a:p>
        </p:txBody>
      </p:sp>
      <p:sp>
        <p:nvSpPr>
          <p:cNvPr id="15" name="TextBox 14"/>
          <p:cNvSpPr txBox="1"/>
          <p:nvPr/>
        </p:nvSpPr>
        <p:spPr>
          <a:xfrm>
            <a:off x="530352" y="6537960"/>
            <a:ext cx="9875520" cy="182880"/>
          </a:xfrm>
          <a:prstGeom prst="rect">
            <a:avLst/>
          </a:prstGeom>
          <a:noFill/>
        </p:spPr>
        <p:txBody>
          <a:bodyPr wrap="square" lIns="0" tIns="0" r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endParaRPr sz="850" b="0">
              <a:solidFill>
                <a:srgbClr val="738096"/>
              </a:solidFill>
              <a:latin typeface="Aptos"/>
            </a:endParaRPr>
          </a:p>
        </p:txBody>
      </p:sp>
      <p:sp>
        <p:nvSpPr>
          <p:cNvPr id="16" name="TextBox 15"/>
          <p:cNvSpPr txBox="1"/>
          <p:nvPr/>
        </p:nvSpPr>
        <p:spPr>
          <a:xfrm>
            <a:off x="10744200" y="6537960"/>
            <a:ext cx="868680" cy="182880"/>
          </a:xfrm>
          <a:prstGeom prst="rect">
            <a:avLst/>
          </a:prstGeom>
          <a:noFill/>
        </p:spPr>
        <p:txBody>
          <a:bodyPr wrap="square" lIns="0" tIns="0" rIns="0" bIns="0">
            <a:spAutoFit/>
          </a:bodyPr>
          <a:lstStyle/>
          <a:p>
            <a:pPr algn="r">
              <a:lnSpc>
                <a:spcPct val="112000"/>
              </a:lnSpc>
              <a:spcBef>
                <a:spcPts val="0"/>
              </a:spcBef>
              <a:spcAft>
                <a:spcPts val="500"/>
              </a:spcAft>
            </a:pPr>
            <a:r>
              <a:rPr sz="850" b="0">
                <a:solidFill>
                  <a:srgbClr val="738096"/>
                </a:solidFill>
                <a:latin typeface="Aptos"/>
              </a:rPr>
              <a:t>Slide 24</a:t>
            </a:r>
            <a:endParaRPr sz="850" b="0">
              <a:solidFill>
                <a:srgbClr val="738096"/>
              </a:solidFill>
              <a:latin typeface="Aptos"/>
            </a:endParaRPr>
          </a:p>
        </p:txBody>
      </p:sp>
    </p:spTree>
  </p:cSld>
  <p:clrMapOvr>
    <a:masterClrMapping/>
  </p:clrMapOvr>
</p:sld>
</file>

<file path=ppt/tags/tag1.xml><?xml version="1.0" encoding="utf-8"?>
<p:tagLst xmlns:p="http://schemas.openxmlformats.org/presentationml/2006/main">
  <p:tag name="KSO_WM_DIAGRAM_VIRTUALLY_FRAME" val="{&quot;height&quot;:176.39992125984253,&quot;left&quot;:69.12,&quot;top&quot;:200.16,&quot;width&quot;:817.2}"/>
</p:tagLst>
</file>

<file path=ppt/tags/tag2.xml><?xml version="1.0" encoding="utf-8"?>
<p:tagLst xmlns:p="http://schemas.openxmlformats.org/presentationml/2006/main">
  <p:tag name="KSO_WM_DIAGRAM_VIRTUALLY_FRAME" val="{&quot;height&quot;:176.39992125984253,&quot;left&quot;:69.12,&quot;top&quot;:200.16,&quot;width&quot;:817.2}"/>
</p:tagLst>
</file>

<file path=ppt/tags/tag3.xml><?xml version="1.0" encoding="utf-8"?>
<p:tagLst xmlns:p="http://schemas.openxmlformats.org/presentationml/2006/main">
  <p:tag name="KSO_WM_DIAGRAM_VIRTUALLY_FRAME" val="{&quot;height&quot;:176.39992125984253,&quot;left&quot;:69.12,&quot;top&quot;:200.16,&quot;width&quot;:817.2}"/>
</p:tagLst>
</file>

<file path=ppt/tags/tag4.xml><?xml version="1.0" encoding="utf-8"?>
<p:tagLst xmlns:p="http://schemas.openxmlformats.org/presentationml/2006/main">
  <p:tag name="KSO_WM_DIAGRAM_VIRTUALLY_FRAME" val="{&quot;height&quot;:176.39992125984253,&quot;left&quot;:69.12,&quot;top&quot;:200.16,&quot;width&quot;:817.2}"/>
</p:tagLst>
</file>

<file path=ppt/tags/tag5.xml><?xml version="1.0" encoding="utf-8"?>
<p:tagLst xmlns:p="http://schemas.openxmlformats.org/presentationml/2006/main">
  <p:tag name="KSO_WM_DIAGRAM_VIRTUALLY_FRAME" val="{&quot;height&quot;:176.39992125984253,&quot;left&quot;:69.12,&quot;top&quot;:200.16,&quot;width&quot;:817.2}"/>
</p:tagLst>
</file>

<file path=ppt/tags/tag6.xml><?xml version="1.0" encoding="utf-8"?>
<p:tagLst xmlns:p="http://schemas.openxmlformats.org/presentationml/2006/main">
  <p:tag name="KSO_WM_DIAGRAM_VIRTUALLY_FRAME" val="{&quot;height&quot;:176.39992125984253,&quot;left&quot;:69.12,&quot;top&quot;:200.16,&quot;width&quot;:817.2}"/>
</p:tagLst>
</file>

<file path=ppt/tags/tag7.xml><?xml version="1.0" encoding="utf-8"?>
<p:tagLst xmlns:p="http://schemas.openxmlformats.org/presentationml/2006/main">
  <p:tag name="KSO_WM_DIAGRAM_VIRTUALLY_FRAME" val="{&quot;height&quot;:176.39992125984253,&quot;left&quot;:69.12,&quot;top&quot;:200.16,&quot;width&quot;:817.2}"/>
</p:tagLst>
</file>

<file path=ppt/tags/tag8.xml><?xml version="1.0" encoding="utf-8"?>
<p:tagLst xmlns:p="http://schemas.openxmlformats.org/presentationml/2006/main">
  <p:tag name="KSO_WM_DIAGRAM_VIRTUALLY_FRAME" val="{&quot;height&quot;:176.39992125984253,&quot;left&quot;:69.12,&quot;top&quot;:200.16,&quot;width&quot;:81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13221</Words>
  <Application>WPS 演示</Application>
  <PresentationFormat>On-screen Show (16:9)</PresentationFormat>
  <Paragraphs>739</Paragraphs>
  <Slides>28</Slides>
  <Notes>43</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28</vt:i4>
      </vt:variant>
    </vt:vector>
  </HeadingPairs>
  <TitlesOfParts>
    <vt:vector size="44" baseType="lpstr">
      <vt:lpstr>Arial</vt:lpstr>
      <vt:lpstr>宋体</vt:lpstr>
      <vt:lpstr>Wingdings</vt:lpstr>
      <vt:lpstr>Aptos</vt:lpstr>
      <vt:lpstr>Segoe UI</vt:lpstr>
      <vt:lpstr>Aptos Display</vt:lpstr>
      <vt:lpstr>Segoe UI Variable Display</vt:lpstr>
      <vt:lpstr>微软雅黑</vt:lpstr>
      <vt:lpstr>Arial Unicode MS</vt:lpstr>
      <vt:lpstr>Calibri</vt:lpstr>
      <vt:lpstr>Aptos</vt:lpstr>
      <vt:lpstr>Aptos Display</vt:lpstr>
      <vt:lpstr>等线</vt:lpstr>
      <vt:lpstr>Office Theme</vt:lpstr>
      <vt:lpstr>1_Office Theme</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CS112 Web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S3-FIFO — Theoretical Presentation (DIG Style)</dc:title>
  <dc:creator>Course presentation group</dc:creator>
  <dc:description>Original One-hit Wonders Figure 1 preserved in full on slide 6.</dc:description>
  <dc:subject>Restyled using Group 10 DIG, aligned to the supplied three-member speaking script</dc:subject>
  <cp:lastModifiedBy>181s.</cp:lastModifiedBy>
  <cp:revision>24</cp:revision>
  <dcterms:created xsi:type="dcterms:W3CDTF">2026-04-25T06:13:00Z</dcterms:created>
  <dcterms:modified xsi:type="dcterms:W3CDTF">2026-10-28T11:07:21Z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2052-12.1.0.29680</vt:lpwstr>
  </property>
  <property fmtid="{D5CDD505-2E9C-101B-9397-08002B2CF9AE}" pid="3" name="ICV">
    <vt:lpwstr>F315D05C35AB492F98740622331D26EC_13</vt:lpwstr>
  </property>
</Properties>
</file>